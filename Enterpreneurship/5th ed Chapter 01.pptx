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3" r:id="rId1"/>
  </p:sldMasterIdLst>
  <p:notesMasterIdLst>
    <p:notesMasterId r:id="rId26"/>
  </p:notesMasterIdLst>
  <p:handoutMasterIdLst>
    <p:handoutMasterId r:id="rId27"/>
  </p:handoutMasterIdLst>
  <p:sldIdLst>
    <p:sldId id="329" r:id="rId2"/>
    <p:sldId id="301" r:id="rId3"/>
    <p:sldId id="302" r:id="rId4"/>
    <p:sldId id="303" r:id="rId5"/>
    <p:sldId id="304" r:id="rId6"/>
    <p:sldId id="305" r:id="rId7"/>
    <p:sldId id="306" r:id="rId8"/>
    <p:sldId id="308" r:id="rId9"/>
    <p:sldId id="309" r:id="rId10"/>
    <p:sldId id="310" r:id="rId11"/>
    <p:sldId id="311" r:id="rId12"/>
    <p:sldId id="325" r:id="rId13"/>
    <p:sldId id="326" r:id="rId14"/>
    <p:sldId id="327" r:id="rId15"/>
    <p:sldId id="328" r:id="rId16"/>
    <p:sldId id="316" r:id="rId17"/>
    <p:sldId id="317" r:id="rId18"/>
    <p:sldId id="318" r:id="rId19"/>
    <p:sldId id="319" r:id="rId20"/>
    <p:sldId id="320" r:id="rId21"/>
    <p:sldId id="321" r:id="rId22"/>
    <p:sldId id="322" r:id="rId23"/>
    <p:sldId id="323" r:id="rId24"/>
    <p:sldId id="33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bitha Kamath" initials="SK" lastIdx="20" clrIdx="0">
    <p:extLst>
      <p:ext uri="{19B8F6BF-5375-455C-9EA6-DF929625EA0E}">
        <p15:presenceInfo xmlns:p15="http://schemas.microsoft.com/office/powerpoint/2012/main" userId="426981563e065a78" providerId="Windows Live"/>
      </p:ext>
    </p:extLst>
  </p:cmAuthor>
  <p:cmAuthor id="2" name="Merrill, Anne" initials="MA" lastIdx="5" clrIdx="1">
    <p:extLst>
      <p:ext uri="{19B8F6BF-5375-455C-9EA6-DF929625EA0E}">
        <p15:presenceInfo xmlns:p15="http://schemas.microsoft.com/office/powerpoint/2012/main" userId="S-1-5-21-4027829005-1107895287-290554039-691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CC2A1E"/>
    <a:srgbClr val="E20000"/>
    <a:srgbClr val="CC0000"/>
    <a:srgbClr val="BF3B17"/>
    <a:srgbClr val="C03E16"/>
    <a:srgbClr val="BF2317"/>
    <a:srgbClr val="C11515"/>
    <a:srgbClr val="BF2F17"/>
    <a:srgbClr val="BD1D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outlineView">
  <p:normalViewPr showOutlineIcons="0">
    <p:restoredLeft sz="34587" autoAdjust="0"/>
    <p:restoredTop sz="86427" autoAdjust="0"/>
  </p:normalViewPr>
  <p:slideViewPr>
    <p:cSldViewPr snapToGrid="0">
      <p:cViewPr varScale="1">
        <p:scale>
          <a:sx n="94" d="100"/>
          <a:sy n="94" d="100"/>
        </p:scale>
        <p:origin x="108" y="210"/>
      </p:cViewPr>
      <p:guideLst>
        <p:guide orient="horz" pos="2160"/>
        <p:guide pos="3840"/>
      </p:guideLst>
    </p:cSldViewPr>
  </p:slideViewPr>
  <p:outlineViewPr>
    <p:cViewPr>
      <p:scale>
        <a:sx n="33" d="100"/>
        <a:sy n="33" d="100"/>
      </p:scale>
      <p:origin x="0" y="-13692"/>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2502"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Modern Business Statistics 6e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DD9652-D087-4710-B9C0-8D1F215735CE}" type="datetimeFigureOut">
              <a:rPr lang="en-IN" smtClean="0"/>
              <a:t>05-09-2018</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B66738B-3CC6-483B-A655-87225B2AA16F}" type="slidenum">
              <a:rPr lang="en-IN" smtClean="0"/>
              <a:t>‹#›</a:t>
            </a:fld>
            <a:endParaRPr lang="en-IN"/>
          </a:p>
        </p:txBody>
      </p:sp>
    </p:spTree>
    <p:extLst>
      <p:ext uri="{BB962C8B-B14F-4D97-AF65-F5344CB8AC3E}">
        <p14:creationId xmlns:p14="http://schemas.microsoft.com/office/powerpoint/2010/main" val="89547830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Modern Business Statistics 6e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D4D6AC-7EC9-46DC-9BF9-22D63BF27C8D}" type="datetimeFigureOut">
              <a:rPr lang="en-US" smtClean="0"/>
              <a:t>9/5/2018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83C1DF-5E15-4B5F-BDE0-920118E0A9B4}" type="slidenum">
              <a:rPr lang="en-US" smtClean="0"/>
              <a:t>‹#›</a:t>
            </a:fld>
            <a:endParaRPr lang="en-US"/>
          </a:p>
        </p:txBody>
      </p:sp>
    </p:spTree>
    <p:extLst>
      <p:ext uri="{BB962C8B-B14F-4D97-AF65-F5344CB8AC3E}">
        <p14:creationId xmlns:p14="http://schemas.microsoft.com/office/powerpoint/2010/main" val="3945947573"/>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charset="0"/>
              <a:ea typeface="ＭＳ Ｐゴシック" pitchFamily="-105" charset="-128"/>
            </a:endParaRPr>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ＭＳ Ｐゴシック" pitchFamily="-105" charset="-128"/>
              </a:defRPr>
            </a:lvl1pPr>
            <a:lvl2pPr marL="742950" indent="-285750">
              <a:defRPr sz="1200">
                <a:solidFill>
                  <a:schemeClr val="tx1"/>
                </a:solidFill>
                <a:latin typeface="Arial" charset="0"/>
                <a:ea typeface="ＭＳ Ｐゴシック" pitchFamily="-105" charset="-128"/>
              </a:defRPr>
            </a:lvl2pPr>
            <a:lvl3pPr marL="1143000" indent="-228600">
              <a:defRPr sz="1200">
                <a:solidFill>
                  <a:schemeClr val="tx1"/>
                </a:solidFill>
                <a:latin typeface="Arial" charset="0"/>
                <a:ea typeface="ＭＳ Ｐゴシック" pitchFamily="-105" charset="-128"/>
              </a:defRPr>
            </a:lvl3pPr>
            <a:lvl4pPr marL="1600200" indent="-228600">
              <a:defRPr sz="1200">
                <a:solidFill>
                  <a:schemeClr val="tx1"/>
                </a:solidFill>
                <a:latin typeface="Arial" charset="0"/>
                <a:ea typeface="ＭＳ Ｐゴシック" pitchFamily="-105" charset="-128"/>
              </a:defRPr>
            </a:lvl4pPr>
            <a:lvl5pPr marL="2057400" indent="-228600">
              <a:defRPr sz="1200">
                <a:solidFill>
                  <a:schemeClr val="tx1"/>
                </a:solidFill>
                <a:latin typeface="Arial" charset="0"/>
                <a:ea typeface="ＭＳ Ｐゴシック" pitchFamily="-105" charset="-128"/>
              </a:defRPr>
            </a:lvl5pPr>
            <a:lvl6pPr marL="2514600" indent="-228600" eaLnBrk="0" fontAlgn="base" hangingPunct="0">
              <a:spcBef>
                <a:spcPct val="30000"/>
              </a:spcBef>
              <a:spcAft>
                <a:spcPct val="0"/>
              </a:spcAft>
              <a:defRPr sz="1200">
                <a:solidFill>
                  <a:schemeClr val="tx1"/>
                </a:solidFill>
                <a:latin typeface="Arial" charset="0"/>
                <a:ea typeface="ＭＳ Ｐゴシック" pitchFamily="-105" charset="-128"/>
              </a:defRPr>
            </a:lvl6pPr>
            <a:lvl7pPr marL="2971800" indent="-228600" eaLnBrk="0" fontAlgn="base" hangingPunct="0">
              <a:spcBef>
                <a:spcPct val="30000"/>
              </a:spcBef>
              <a:spcAft>
                <a:spcPct val="0"/>
              </a:spcAft>
              <a:defRPr sz="1200">
                <a:solidFill>
                  <a:schemeClr val="tx1"/>
                </a:solidFill>
                <a:latin typeface="Arial" charset="0"/>
                <a:ea typeface="ＭＳ Ｐゴシック" pitchFamily="-105" charset="-128"/>
              </a:defRPr>
            </a:lvl7pPr>
            <a:lvl8pPr marL="3429000" indent="-228600" eaLnBrk="0" fontAlgn="base" hangingPunct="0">
              <a:spcBef>
                <a:spcPct val="30000"/>
              </a:spcBef>
              <a:spcAft>
                <a:spcPct val="0"/>
              </a:spcAft>
              <a:defRPr sz="1200">
                <a:solidFill>
                  <a:schemeClr val="tx1"/>
                </a:solidFill>
                <a:latin typeface="Arial" charset="0"/>
                <a:ea typeface="ＭＳ Ｐゴシック" pitchFamily="-105" charset="-128"/>
              </a:defRPr>
            </a:lvl8pPr>
            <a:lvl9pPr marL="3886200" indent="-228600" eaLnBrk="0" fontAlgn="base" hangingPunct="0">
              <a:spcBef>
                <a:spcPct val="30000"/>
              </a:spcBef>
              <a:spcAft>
                <a:spcPct val="0"/>
              </a:spcAft>
              <a:defRPr sz="1200">
                <a:solidFill>
                  <a:schemeClr val="tx1"/>
                </a:solidFill>
                <a:latin typeface="Arial" charset="0"/>
                <a:ea typeface="ＭＳ Ｐゴシック" pitchFamily="-105" charset="-128"/>
              </a:defRPr>
            </a:lvl9pPr>
          </a:lstStyle>
          <a:p>
            <a:fld id="{7CEB7038-1EE4-4CC8-857C-4D89B7380980}" type="slidenum">
              <a:rPr lang="en-US" altLang="en-US" smtClean="0"/>
              <a:pPr/>
              <a:t>6</a:t>
            </a:fld>
            <a:endParaRPr lang="en-US" altLang="en-US"/>
          </a:p>
        </p:txBody>
      </p:sp>
    </p:spTree>
    <p:extLst>
      <p:ext uri="{BB962C8B-B14F-4D97-AF65-F5344CB8AC3E}">
        <p14:creationId xmlns:p14="http://schemas.microsoft.com/office/powerpoint/2010/main" val="4529619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IN" dirty="0"/>
          </a:p>
        </p:txBody>
      </p:sp>
      <p:sp>
        <p:nvSpPr>
          <p:cNvPr id="4" name="Date Placeholder 3"/>
          <p:cNvSpPr>
            <a:spLocks noGrp="1"/>
          </p:cNvSpPr>
          <p:nvPr>
            <p:ph type="dt" sz="half" idx="10"/>
          </p:nvPr>
        </p:nvSpPr>
        <p:spPr/>
        <p:txBody>
          <a:bodyPr/>
          <a:lstStyle/>
          <a:p>
            <a:fld id="{0099D9E2-8D42-4B9A-BF93-BA2D2EEE602A}" type="datetime1">
              <a:rPr lang="en-US" smtClean="0"/>
              <a:t>9/5/2018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pic>
        <p:nvPicPr>
          <p:cNvPr id="8" name="Picture 7">
            <a:extLst>
              <a:ext uri="{FF2B5EF4-FFF2-40B4-BE49-F238E27FC236}">
                <a16:creationId xmlns:a16="http://schemas.microsoft.com/office/drawing/2014/main" id="{55420A35-9873-4462-AB55-12B545746D1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817"/>
          <a:stretch/>
        </p:blipFill>
        <p:spPr>
          <a:xfrm>
            <a:off x="0" y="0"/>
            <a:ext cx="4903596" cy="6250075"/>
          </a:xfrm>
          <a:prstGeom prst="rect">
            <a:avLst/>
          </a:prstGeom>
        </p:spPr>
      </p:pic>
    </p:spTree>
    <p:extLst>
      <p:ext uri="{BB962C8B-B14F-4D97-AF65-F5344CB8AC3E}">
        <p14:creationId xmlns:p14="http://schemas.microsoft.com/office/powerpoint/2010/main" val="3402116256"/>
      </p:ext>
    </p:extLst>
  </p:cSld>
  <p:clrMapOvr>
    <a:overrideClrMapping bg1="lt1" tx1="dk1" bg2="lt2" tx2="dk2" accent1="accent1" accent2="accent2" accent3="accent3" accent4="accent4" accent5="accent5" accent6="accent6" hlink="hlink" folHlink="folHlink"/>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p:txBody>
          <a:bodyPr/>
          <a:lstStyle/>
          <a:p>
            <a:fld id="{DAC9364D-1305-42D0-AF26-134D32B53357}" type="datetime1">
              <a:rPr lang="en-US" smtClean="0"/>
              <a:t>9/5/2018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Tree>
    <p:extLst>
      <p:ext uri="{BB962C8B-B14F-4D97-AF65-F5344CB8AC3E}">
        <p14:creationId xmlns:p14="http://schemas.microsoft.com/office/powerpoint/2010/main" val="1746756178"/>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a:xfrm>
            <a:off x="838200" y="1825625"/>
            <a:ext cx="10515600" cy="167110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p:txBody>
          <a:bodyPr/>
          <a:lstStyle/>
          <a:p>
            <a:fld id="{DAC9364D-1305-42D0-AF26-134D32B53357}" type="datetime1">
              <a:rPr lang="en-US" smtClean="0"/>
              <a:t>9/5/2018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
        <p:nvSpPr>
          <p:cNvPr id="8" name="Content Placeholder 7"/>
          <p:cNvSpPr>
            <a:spLocks noGrp="1"/>
          </p:cNvSpPr>
          <p:nvPr>
            <p:ph sz="quarter" idx="13"/>
          </p:nvPr>
        </p:nvSpPr>
        <p:spPr>
          <a:xfrm>
            <a:off x="838200" y="3548064"/>
            <a:ext cx="10515600" cy="128640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9"/>
          <p:cNvSpPr>
            <a:spLocks noGrp="1"/>
          </p:cNvSpPr>
          <p:nvPr>
            <p:ph sz="quarter" idx="14"/>
          </p:nvPr>
        </p:nvSpPr>
        <p:spPr>
          <a:xfrm>
            <a:off x="838200" y="4885799"/>
            <a:ext cx="10515600" cy="126893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71085315"/>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30CA518-3085-479A-A06B-3219276ADB37}" type="datetime1">
              <a:rPr lang="en-US" smtClean="0"/>
              <a:t>9/5/2018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Tree>
    <p:extLst>
      <p:ext uri="{BB962C8B-B14F-4D97-AF65-F5344CB8AC3E}">
        <p14:creationId xmlns:p14="http://schemas.microsoft.com/office/powerpoint/2010/main" val="176494970"/>
      </p:ext>
    </p:extLst>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CBE4B35-9543-4DBD-95C9-A535365694CD}" type="datetime1">
              <a:rPr lang="en-US" smtClean="0"/>
              <a:t>9/5/2018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49EBC64-41CB-41B8-B6DF-9B1367312BD4}" type="slidenum">
              <a:rPr lang="en-US" smtClean="0"/>
              <a:t>‹#›</a:t>
            </a:fld>
            <a:endParaRPr lang="en-US"/>
          </a:p>
        </p:txBody>
      </p:sp>
    </p:spTree>
    <p:extLst>
      <p:ext uri="{BB962C8B-B14F-4D97-AF65-F5344CB8AC3E}">
        <p14:creationId xmlns:p14="http://schemas.microsoft.com/office/powerpoint/2010/main" val="2262500034"/>
      </p:ext>
    </p:extLst>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6D5A397-9BA3-4C7B-A717-FBDFB7273163}" type="datetime1">
              <a:rPr lang="en-US" smtClean="0"/>
              <a:t>9/5/2018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49EBC64-41CB-41B8-B6DF-9B1367312BD4}" type="slidenum">
              <a:rPr lang="en-US" smtClean="0"/>
              <a:t>‹#›</a:t>
            </a:fld>
            <a:endParaRPr lang="en-US"/>
          </a:p>
        </p:txBody>
      </p:sp>
    </p:spTree>
    <p:extLst>
      <p:ext uri="{BB962C8B-B14F-4D97-AF65-F5344CB8AC3E}">
        <p14:creationId xmlns:p14="http://schemas.microsoft.com/office/powerpoint/2010/main" val="1499341930"/>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E5AEF59-F8EC-4250-A1C8-12881573B4C2}" type="datetime1">
              <a:rPr lang="en-US" smtClean="0"/>
              <a:t>9/5/2018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49EBC64-41CB-41B8-B6DF-9B1367312BD4}" type="slidenum">
              <a:rPr lang="en-US" smtClean="0"/>
              <a:t>‹#›</a:t>
            </a:fld>
            <a:endParaRPr lang="en-US"/>
          </a:p>
        </p:txBody>
      </p:sp>
    </p:spTree>
    <p:extLst>
      <p:ext uri="{BB962C8B-B14F-4D97-AF65-F5344CB8AC3E}">
        <p14:creationId xmlns:p14="http://schemas.microsoft.com/office/powerpoint/2010/main" val="2993070865"/>
      </p:ext>
    </p:extLst>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EED40D-12D2-452E-9D6A-7895667F6CB9}" type="datetime1">
              <a:rPr lang="en-US" smtClean="0"/>
              <a:t>9/5/2018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49EBC64-41CB-41B8-B6DF-9B1367312BD4}" type="slidenum">
              <a:rPr lang="en-US" smtClean="0"/>
              <a:t>‹#›</a:t>
            </a:fld>
            <a:endParaRPr lang="en-US"/>
          </a:p>
        </p:txBody>
      </p:sp>
    </p:spTree>
    <p:extLst>
      <p:ext uri="{BB962C8B-B14F-4D97-AF65-F5344CB8AC3E}">
        <p14:creationId xmlns:p14="http://schemas.microsoft.com/office/powerpoint/2010/main" val="1218060235"/>
      </p:ext>
    </p:extLst>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6A6E7AD-7631-4B84-89F4-D02B1A531AC5}" type="datetime1">
              <a:rPr lang="en-US" smtClean="0"/>
              <a:t>9/5/2018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49EBC64-41CB-41B8-B6DF-9B1367312BD4}" type="slidenum">
              <a:rPr lang="en-US" smtClean="0"/>
              <a:t>‹#›</a:t>
            </a:fld>
            <a:endParaRPr lang="en-US"/>
          </a:p>
        </p:txBody>
      </p:sp>
    </p:spTree>
    <p:extLst>
      <p:ext uri="{BB962C8B-B14F-4D97-AF65-F5344CB8AC3E}">
        <p14:creationId xmlns:p14="http://schemas.microsoft.com/office/powerpoint/2010/main" val="1582958226"/>
      </p:ext>
    </p:extLst>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49EBC64-41CB-41B8-B6DF-9B1367312BD4}" type="slidenum">
              <a:rPr lang="en-US" smtClean="0"/>
              <a:t>‹#›</a:t>
            </a:fld>
            <a:endParaRPr lang="en-US"/>
          </a:p>
        </p:txBody>
      </p:sp>
    </p:spTree>
    <p:extLst>
      <p:ext uri="{BB962C8B-B14F-4D97-AF65-F5344CB8AC3E}">
        <p14:creationId xmlns:p14="http://schemas.microsoft.com/office/powerpoint/2010/main" val="3222582221"/>
      </p:ext>
    </p:extLst>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F2F9B47-95BB-4DC5-B13A-408B32EBE9F0}" type="datetime1">
              <a:rPr lang="en-US" smtClean="0"/>
              <a:t>9/5/2018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Tree>
    <p:extLst>
      <p:ext uri="{BB962C8B-B14F-4D97-AF65-F5344CB8AC3E}">
        <p14:creationId xmlns:p14="http://schemas.microsoft.com/office/powerpoint/2010/main" val="3155815704"/>
      </p:ext>
    </p:extLst>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B41685A-DF97-48F0-A0F1-E1BD38503B04}" type="datetime1">
              <a:rPr lang="en-US" smtClean="0"/>
              <a:t>9/5/2018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Tree>
    <p:extLst>
      <p:ext uri="{BB962C8B-B14F-4D97-AF65-F5344CB8AC3E}">
        <p14:creationId xmlns:p14="http://schemas.microsoft.com/office/powerpoint/2010/main" val="742939922"/>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1463040"/>
            <a:ext cx="5157787" cy="73988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298811"/>
            <a:ext cx="5157787" cy="36576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463040"/>
            <a:ext cx="5183188" cy="73988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298811"/>
            <a:ext cx="5183188"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949EBC64-41CB-41B8-B6DF-9B1367312BD4}" type="slidenum">
              <a:rPr lang="en-US" smtClean="0"/>
              <a:t>‹#›</a:t>
            </a:fld>
            <a:endParaRPr lang="en-US"/>
          </a:p>
        </p:txBody>
      </p:sp>
      <p:sp>
        <p:nvSpPr>
          <p:cNvPr id="10" name="Title 1"/>
          <p:cNvSpPr>
            <a:spLocks noGrp="1"/>
          </p:cNvSpPr>
          <p:nvPr>
            <p:ph type="title"/>
          </p:nvPr>
        </p:nvSpPr>
        <p:spPr>
          <a:xfrm>
            <a:off x="838200" y="640080"/>
            <a:ext cx="10515600" cy="727075"/>
          </a:xfrm>
        </p:spPr>
        <p:txBody>
          <a:bodyPr/>
          <a:lstStyle/>
          <a:p>
            <a:r>
              <a:rPr lang="en-US"/>
              <a:t>Click to edit Master title style</a:t>
            </a:r>
          </a:p>
        </p:txBody>
      </p:sp>
    </p:spTree>
    <p:extLst>
      <p:ext uri="{BB962C8B-B14F-4D97-AF65-F5344CB8AC3E}">
        <p14:creationId xmlns:p14="http://schemas.microsoft.com/office/powerpoint/2010/main" val="1837726921"/>
      </p:ext>
    </p:extLst>
  </p:cSld>
  <p:clrMapOvr>
    <a:masterClrMapping/>
  </p:clrMapOvr>
  <p:transition>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
        <p:nvSpPr>
          <p:cNvPr id="7" name="Title 1"/>
          <p:cNvSpPr>
            <a:spLocks noGrp="1"/>
          </p:cNvSpPr>
          <p:nvPr>
            <p:ph type="title"/>
          </p:nvPr>
        </p:nvSpPr>
        <p:spPr>
          <a:xfrm>
            <a:off x="838200" y="640080"/>
            <a:ext cx="10515600" cy="727075"/>
          </a:xfrm>
        </p:spPr>
        <p:txBody>
          <a:bodyPr/>
          <a:lstStyle/>
          <a:p>
            <a:r>
              <a:rPr lang="en-US"/>
              <a:t>Click to edit Master title style</a:t>
            </a:r>
          </a:p>
        </p:txBody>
      </p:sp>
    </p:spTree>
    <p:extLst>
      <p:ext uri="{BB962C8B-B14F-4D97-AF65-F5344CB8AC3E}">
        <p14:creationId xmlns:p14="http://schemas.microsoft.com/office/powerpoint/2010/main" val="85052012"/>
      </p:ext>
    </p:extLst>
  </p:cSld>
  <p:clrMapOvr>
    <a:masterClrMapping/>
  </p:clrMapOvr>
  <p:transition>
    <p:zo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844800" y="274638"/>
            <a:ext cx="8737600" cy="1143000"/>
          </a:xfrm>
        </p:spPr>
        <p:txBody>
          <a:bodyPr/>
          <a:lstStyle/>
          <a:p>
            <a:r>
              <a:rPr lang="en-US"/>
              <a:t>Click to edit Master title style</a:t>
            </a:r>
          </a:p>
        </p:txBody>
      </p:sp>
      <p:sp>
        <p:nvSpPr>
          <p:cNvPr id="3" name="Text Placeholder 2"/>
          <p:cNvSpPr>
            <a:spLocks noGrp="1"/>
          </p:cNvSpPr>
          <p:nvPr>
            <p:ph type="body" sz="half" idx="1"/>
          </p:nvPr>
        </p:nvSpPr>
        <p:spPr>
          <a:xfrm>
            <a:off x="2844800" y="1600201"/>
            <a:ext cx="42672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315200" y="1600201"/>
            <a:ext cx="42672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914400" y="6537326"/>
            <a:ext cx="9753600" cy="320675"/>
          </a:xfrm>
        </p:spPr>
        <p:txBody>
          <a:bodyPr/>
          <a:lstStyle>
            <a:lvl1pPr>
              <a:defRPr/>
            </a:lvl1pPr>
          </a:lstStyle>
          <a:p>
            <a:pPr>
              <a:defRPr/>
            </a:pPr>
            <a:r>
              <a:rPr lang="en-US"/>
              <a:t>©2015 Cengage Learning. All Rights Reserved. May not be scanned, copied or duplicated, or posted to a publicly accessible website, in whole or in part. </a:t>
            </a:r>
            <a:endParaRPr lang="en-US">
              <a:solidFill>
                <a:srgbClr val="898989"/>
              </a:solidFill>
            </a:endParaRPr>
          </a:p>
        </p:txBody>
      </p:sp>
      <p:sp>
        <p:nvSpPr>
          <p:cNvPr id="6" name="Slide Number Placeholder 5"/>
          <p:cNvSpPr>
            <a:spLocks noGrp="1"/>
          </p:cNvSpPr>
          <p:nvPr>
            <p:ph type="sldNum" sz="quarter" idx="11"/>
          </p:nvPr>
        </p:nvSpPr>
        <p:spPr>
          <a:xfrm>
            <a:off x="10769600" y="6400801"/>
            <a:ext cx="812800" cy="320675"/>
          </a:xfrm>
        </p:spPr>
        <p:txBody>
          <a:bodyPr/>
          <a:lstStyle>
            <a:lvl1pPr>
              <a:defRPr/>
            </a:lvl1pPr>
          </a:lstStyle>
          <a:p>
            <a:pPr>
              <a:defRPr/>
            </a:pPr>
            <a:fld id="{C0C70735-ADBC-4668-903F-B0572E2D88D9}" type="slidenum">
              <a:rPr lang="en-US"/>
              <a:pPr>
                <a:defRPr/>
              </a:pPr>
              <a:t>‹#›</a:t>
            </a:fld>
            <a:endParaRPr lang="en-US"/>
          </a:p>
        </p:txBody>
      </p:sp>
    </p:spTree>
    <p:extLst>
      <p:ext uri="{BB962C8B-B14F-4D97-AF65-F5344CB8AC3E}">
        <p14:creationId xmlns:p14="http://schemas.microsoft.com/office/powerpoint/2010/main" val="3997153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90DC01-5B6C-4917-81EA-F5776671B796}" type="datetime1">
              <a:rPr lang="en-US" smtClean="0"/>
              <a:t>9/5/2018</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ffectLst>
                  <a:outerShdw blurRad="38100" dist="38100" dir="2700000" algn="tl">
                    <a:srgbClr val="000000">
                      <a:alpha val="43137"/>
                    </a:srgbClr>
                  </a:outerShdw>
                </a:effectLst>
              </a:defRPr>
            </a:lvl1pPr>
          </a:lstStyle>
          <a:p>
            <a:fld id="{949EBC64-41CB-41B8-B6DF-9B1367312BD4}" type="slidenum">
              <a:rPr lang="en-US" smtClean="0"/>
              <a:pPr/>
              <a:t>‹#›</a:t>
            </a:fld>
            <a:endParaRPr lang="en-US" dirty="0"/>
          </a:p>
        </p:txBody>
      </p:sp>
      <p:sp>
        <p:nvSpPr>
          <p:cNvPr id="7" name="Rectangle 6"/>
          <p:cNvSpPr/>
          <p:nvPr userDrawn="1"/>
        </p:nvSpPr>
        <p:spPr>
          <a:xfrm>
            <a:off x="1" y="1"/>
            <a:ext cx="12191996" cy="464388"/>
          </a:xfrm>
          <a:prstGeom prst="rect">
            <a:avLst/>
          </a:prstGeom>
          <a:solidFill>
            <a:schemeClr val="accent2">
              <a:lumMod val="40000"/>
              <a:lumOff val="60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3"/>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0" y="464388"/>
            <a:ext cx="12226355" cy="1112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2" y="6248401"/>
            <a:ext cx="12226353" cy="1112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9"/>
          <p:cNvSpPr>
            <a:spLocks noChangeArrowheads="1"/>
          </p:cNvSpPr>
          <p:nvPr userDrawn="1"/>
        </p:nvSpPr>
        <p:spPr bwMode="auto">
          <a:xfrm>
            <a:off x="838200" y="6385486"/>
            <a:ext cx="9442837" cy="335989"/>
          </a:xfrm>
          <a:prstGeom prst="rect">
            <a:avLst/>
          </a:prstGeom>
          <a:noFill/>
          <a:ln w="12700">
            <a:noFill/>
            <a:miter lim="800000"/>
            <a:headEnd/>
            <a:tailEnd/>
          </a:ln>
          <a:effectLst/>
        </p:spPr>
        <p:txBody>
          <a:bodyPr wrap="square" lIns="90488" tIns="44450" rIns="90488" bIns="4445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800" dirty="0">
                <a:solidFill>
                  <a:srgbClr val="000000"/>
                </a:solidFill>
                <a:effectLst/>
                <a:latin typeface="+mj-lt"/>
                <a:cs typeface="Arial" panose="020B0604020202020204" pitchFamily="34" charset="0"/>
              </a:rPr>
              <a:t>© 2019 Cengage Learning.  May not be scanned, copied or duplicated, or posted to a publicly accessible website, in whole or in part, except for use as permitted</a:t>
            </a:r>
            <a:r>
              <a:rPr lang="en-US" sz="800" baseline="0" dirty="0">
                <a:solidFill>
                  <a:srgbClr val="000000"/>
                </a:solidFill>
                <a:effectLst/>
                <a:latin typeface="+mj-lt"/>
                <a:cs typeface="Arial" panose="020B0604020202020204" pitchFamily="34" charset="0"/>
              </a:rPr>
              <a:t> </a:t>
            </a:r>
            <a:r>
              <a:rPr lang="en-US" sz="800"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800" baseline="0" dirty="0">
                <a:solidFill>
                  <a:srgbClr val="000000"/>
                </a:solidFill>
                <a:effectLst/>
                <a:latin typeface="+mj-lt"/>
                <a:cs typeface="Arial" panose="020B0604020202020204" pitchFamily="34" charset="0"/>
              </a:rPr>
              <a:t> school-approved learning management system f</a:t>
            </a:r>
            <a:r>
              <a:rPr lang="en-US" sz="800" dirty="0">
                <a:solidFill>
                  <a:srgbClr val="000000"/>
                </a:solidFill>
                <a:effectLst/>
                <a:latin typeface="+mj-lt"/>
                <a:cs typeface="Arial" panose="020B0604020202020204" pitchFamily="34" charset="0"/>
              </a:rPr>
              <a:t>or classroom use.</a:t>
            </a:r>
          </a:p>
        </p:txBody>
      </p:sp>
      <p:sp>
        <p:nvSpPr>
          <p:cNvPr id="11" name="Rectangle 10"/>
          <p:cNvSpPr/>
          <p:nvPr userDrawn="1"/>
        </p:nvSpPr>
        <p:spPr>
          <a:xfrm>
            <a:off x="6851561" y="48578"/>
            <a:ext cx="4502239" cy="369332"/>
          </a:xfrm>
          <a:prstGeom prst="rect">
            <a:avLst/>
          </a:prstGeom>
        </p:spPr>
        <p:txBody>
          <a:bodyPr wrap="square">
            <a:spAutoFit/>
          </a:bodyPr>
          <a:lstStyle/>
          <a:p>
            <a:pPr algn="r"/>
            <a:r>
              <a:rPr lang="en-US" b="1" dirty="0">
                <a:solidFill>
                  <a:schemeClr val="bg1"/>
                </a:solidFill>
              </a:rPr>
              <a:t>Principles of Supply Chain Management (5e)</a:t>
            </a:r>
          </a:p>
        </p:txBody>
      </p:sp>
      <p:sp>
        <p:nvSpPr>
          <p:cNvPr id="12" name="Rectangle 11"/>
          <p:cNvSpPr/>
          <p:nvPr userDrawn="1"/>
        </p:nvSpPr>
        <p:spPr>
          <a:xfrm flipV="1">
            <a:off x="0" y="6175652"/>
            <a:ext cx="12191997" cy="7965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BB9E013-5439-45DA-B093-175CA922FA01}"/>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0" y="0"/>
            <a:ext cx="1909187" cy="1236901"/>
          </a:xfrm>
          <a:prstGeom prst="rect">
            <a:avLst/>
          </a:prstGeom>
        </p:spPr>
      </p:pic>
    </p:spTree>
    <p:extLst>
      <p:ext uri="{BB962C8B-B14F-4D97-AF65-F5344CB8AC3E}">
        <p14:creationId xmlns:p14="http://schemas.microsoft.com/office/powerpoint/2010/main" val="3286169892"/>
      </p:ext>
    </p:extLst>
  </p:cSld>
  <p:clrMap bg1="lt1" tx1="dk1" bg2="lt2" tx2="dk2" accent1="accent1" accent2="accent2" accent3="accent3" accent4="accent4" accent5="accent5" accent6="accent6" hlink="hlink" folHlink="folHlink"/>
  <p:sldLayoutIdLst>
    <p:sldLayoutId id="2147483864" r:id="rId1"/>
    <p:sldLayoutId id="2147483865" r:id="rId2"/>
    <p:sldLayoutId id="2147483876"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 id="2147483653" r:id="rId13"/>
    <p:sldLayoutId id="2147483658" r:id="rId14"/>
    <p:sldLayoutId id="2147483875" r:id="rId15"/>
  </p:sldLayoutIdLst>
  <p:transition>
    <p:zoom/>
  </p:transition>
  <p:hf hdr="0" ftr="0" dt="0"/>
  <p:txStyles>
    <p:titleStyle>
      <a:lvl1pPr algn="ctr" defTabSz="914400" rtl="0" eaLnBrk="1" latinLnBrk="0" hangingPunct="1">
        <a:lnSpc>
          <a:spcPct val="90000"/>
        </a:lnSpc>
        <a:spcBef>
          <a:spcPct val="0"/>
        </a:spcBef>
        <a:buNone/>
        <a:defRPr sz="4000" b="1" kern="1200">
          <a:solidFill>
            <a:schemeClr val="tx1"/>
          </a:solidFill>
          <a:latin typeface="Arial Narrow Bold" panose="020B0706020202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6699311" y="739467"/>
            <a:ext cx="4605338" cy="812800"/>
          </a:xfrm>
        </p:spPr>
        <p:txBody>
          <a:bodyPr>
            <a:normAutofit fontScale="90000"/>
          </a:bodyPr>
          <a:lstStyle/>
          <a:p>
            <a:pPr eaLnBrk="1" hangingPunct="1">
              <a:defRPr/>
            </a:pPr>
            <a:r>
              <a:rPr b="0" dirty="0">
                <a:effectLst>
                  <a:outerShdw blurRad="38100" dist="38100" dir="2700000" algn="tl">
                    <a:srgbClr val="C0C0C0"/>
                  </a:outerShdw>
                </a:effectLst>
                <a:latin typeface="Arial Narrow Bold" pitchFamily="-105" charset="0"/>
                <a:ea typeface="ＭＳ Ｐゴシック" pitchFamily="-105" charset="-128"/>
              </a:rPr>
              <a:t>Chapter </a:t>
            </a:r>
            <a:r>
              <a:rPr lang="en-US" b="0" dirty="0">
                <a:effectLst>
                  <a:outerShdw blurRad="38100" dist="38100" dir="2700000" algn="tl">
                    <a:srgbClr val="C0C0C0"/>
                  </a:outerShdw>
                </a:effectLst>
                <a:latin typeface="Arial Narrow Bold" pitchFamily="-105" charset="0"/>
                <a:ea typeface="ＭＳ Ｐゴシック" pitchFamily="-105" charset="-128"/>
              </a:rPr>
              <a:t>1</a:t>
            </a:r>
            <a:endParaRPr b="0" dirty="0">
              <a:effectLst>
                <a:outerShdw blurRad="38100" dist="38100" dir="2700000" algn="tl">
                  <a:srgbClr val="C0C0C0"/>
                </a:outerShdw>
              </a:effectLst>
              <a:latin typeface="Arial Narrow Bold" pitchFamily="-105" charset="0"/>
              <a:ea typeface="ＭＳ Ｐゴシック" pitchFamily="-105" charset="-128"/>
            </a:endParaRPr>
          </a:p>
        </p:txBody>
      </p:sp>
      <p:sp>
        <p:nvSpPr>
          <p:cNvPr id="5" name="Subtitle 4"/>
          <p:cNvSpPr>
            <a:spLocks noGrp="1"/>
          </p:cNvSpPr>
          <p:nvPr>
            <p:ph type="subTitle" idx="1"/>
          </p:nvPr>
        </p:nvSpPr>
        <p:spPr>
          <a:xfrm>
            <a:off x="7281360" y="1669107"/>
            <a:ext cx="3437497" cy="3262125"/>
          </a:xfrm>
        </p:spPr>
        <p:txBody>
          <a:bodyPr/>
          <a:lstStyle/>
          <a:p>
            <a:pPr>
              <a:defRPr/>
            </a:pPr>
            <a:r>
              <a:rPr lang="en-US" dirty="0">
                <a:latin typeface="Arial Narrow Bold" panose="020B0706020202030204" pitchFamily="34" charset="0"/>
                <a:ea typeface="ＭＳ Ｐゴシック" pitchFamily="-105" charset="-128"/>
              </a:rPr>
              <a:t>INTRODUCTION </a:t>
            </a:r>
            <a:br>
              <a:rPr lang="en-US" dirty="0">
                <a:latin typeface="Arial Narrow Bold" panose="020B0706020202030204" pitchFamily="34" charset="0"/>
                <a:ea typeface="ＭＳ Ｐゴシック" pitchFamily="-105" charset="-128"/>
              </a:rPr>
            </a:br>
            <a:r>
              <a:rPr lang="en-US" dirty="0">
                <a:latin typeface="Arial Narrow Bold" panose="020B0706020202030204" pitchFamily="34" charset="0"/>
                <a:ea typeface="ＭＳ Ｐゴシック" pitchFamily="-105" charset="-128"/>
              </a:rPr>
              <a:t>TO SUPPLY CHAIN MANAGEMENT</a:t>
            </a:r>
          </a:p>
        </p:txBody>
      </p:sp>
      <p:sp>
        <p:nvSpPr>
          <p:cNvPr id="7" name="Rectangle 6"/>
          <p:cNvSpPr/>
          <p:nvPr/>
        </p:nvSpPr>
        <p:spPr>
          <a:xfrm>
            <a:off x="7410877" y="5830448"/>
            <a:ext cx="3178465" cy="304882"/>
          </a:xfrm>
          <a:prstGeom prst="rect">
            <a:avLst/>
          </a:prstGeom>
        </p:spPr>
        <p:txBody>
          <a:bodyPr wrap="square">
            <a:spAutoFit/>
          </a:bodyPr>
          <a:lstStyle/>
          <a:p>
            <a:pPr>
              <a:defRPr/>
            </a:pPr>
            <a:r>
              <a:rPr lang="en-US" sz="1400" dirty="0">
                <a:solidFill>
                  <a:prstClr val="white">
                    <a:lumMod val="50000"/>
                  </a:prstClr>
                </a:solidFill>
                <a:latin typeface="Arial Narrow" pitchFamily="34" charset="0"/>
              </a:rPr>
              <a:t>Prepared by Cynthia Wisner, MBA</a:t>
            </a:r>
          </a:p>
        </p:txBody>
      </p:sp>
    </p:spTree>
    <p:extLst>
      <p:ext uri="{BB962C8B-B14F-4D97-AF65-F5344CB8AC3E}">
        <p14:creationId xmlns:p14="http://schemas.microsoft.com/office/powerpoint/2010/main" val="29155700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38200" y="564418"/>
            <a:ext cx="10515600" cy="1325563"/>
          </a:xfrm>
        </p:spPr>
        <p:txBody>
          <a:bodyPr/>
          <a:lstStyle/>
          <a:p>
            <a:pPr eaLnBrk="1" hangingPunct="1">
              <a:defRPr/>
            </a:pPr>
            <a:r>
              <a:rPr lang="en-US" cap="all" dirty="0">
                <a:solidFill>
                  <a:srgbClr val="BB7A05"/>
                </a:solidFill>
                <a:ea typeface="+mj-ea"/>
              </a:rPr>
              <a:t>Chapter 1</a:t>
            </a:r>
            <a:br>
              <a:rPr lang="en-US" cap="all" dirty="0">
                <a:solidFill>
                  <a:srgbClr val="BB7A05"/>
                </a:solidFill>
                <a:ea typeface="+mj-ea"/>
              </a:rPr>
            </a:br>
            <a:r>
              <a:rPr lang="en-US" cap="all" dirty="0">
                <a:solidFill>
                  <a:srgbClr val="BB7A05"/>
                </a:solidFill>
                <a:ea typeface="+mj-ea"/>
              </a:rPr>
              <a:t>Learning Objectives</a:t>
            </a:r>
          </a:p>
        </p:txBody>
      </p:sp>
      <p:sp>
        <p:nvSpPr>
          <p:cNvPr id="15365" name="Rectangle 3"/>
          <p:cNvSpPr>
            <a:spLocks noGrp="1" noChangeArrowheads="1"/>
          </p:cNvSpPr>
          <p:nvPr>
            <p:ph type="body" idx="1"/>
          </p:nvPr>
        </p:nvSpPr>
        <p:spPr>
          <a:xfrm>
            <a:off x="1864049" y="2101850"/>
            <a:ext cx="8463902" cy="4619625"/>
          </a:xfrm>
        </p:spPr>
        <p:txBody>
          <a:bodyPr/>
          <a:lstStyle/>
          <a:p>
            <a:pPr marL="0" indent="4763">
              <a:buNone/>
            </a:pPr>
            <a:r>
              <a:rPr lang="en-US" altLang="en-US" sz="2300" b="1" dirty="0">
                <a:ea typeface="ＭＳ Ｐゴシック" pitchFamily="-105" charset="-128"/>
                <a:cs typeface="Times New Roman" pitchFamily="18" charset="0"/>
              </a:rPr>
              <a:t>You should be able to:</a:t>
            </a:r>
          </a:p>
          <a:p>
            <a:pPr>
              <a:spcBef>
                <a:spcPts val="1125"/>
              </a:spcBef>
            </a:pPr>
            <a:r>
              <a:rPr lang="en-US" altLang="en-US" sz="2200" dirty="0">
                <a:ea typeface="ＭＳ Ｐゴシック" pitchFamily="-105" charset="-128"/>
              </a:rPr>
              <a:t>Describe a supply chain and define supply chain management.</a:t>
            </a:r>
          </a:p>
          <a:p>
            <a:pPr>
              <a:spcBef>
                <a:spcPts val="1125"/>
              </a:spcBef>
            </a:pPr>
            <a:r>
              <a:rPr lang="en-US" altLang="en-US" sz="2200" dirty="0">
                <a:ea typeface="ＭＳ Ｐゴシック" pitchFamily="-105" charset="-128"/>
              </a:rPr>
              <a:t>Describe the objectives and elements of supply chain management.</a:t>
            </a:r>
          </a:p>
          <a:p>
            <a:pPr>
              <a:spcBef>
                <a:spcPts val="1125"/>
              </a:spcBef>
            </a:pPr>
            <a:r>
              <a:rPr lang="en-US" altLang="en-US" sz="2200" dirty="0">
                <a:ea typeface="ＭＳ Ｐゴシック" pitchFamily="-105" charset="-128"/>
              </a:rPr>
              <a:t>Describe basic supply chain management activities.</a:t>
            </a:r>
          </a:p>
          <a:p>
            <a:pPr>
              <a:spcBef>
                <a:spcPts val="1125"/>
              </a:spcBef>
            </a:pPr>
            <a:r>
              <a:rPr lang="en-US" altLang="en-US" sz="2200" dirty="0">
                <a:ea typeface="ＭＳ Ｐゴシック" pitchFamily="-105" charset="-128"/>
              </a:rPr>
              <a:t>Describe a brief history and current trends of supply chain management.</a:t>
            </a:r>
          </a:p>
          <a:p>
            <a:pPr>
              <a:spcBef>
                <a:spcPts val="1125"/>
              </a:spcBef>
            </a:pPr>
            <a:r>
              <a:rPr lang="en-US" altLang="en-US" sz="2200" dirty="0">
                <a:ea typeface="ＭＳ Ｐゴシック" pitchFamily="-105" charset="-128"/>
              </a:rPr>
              <a:t>Understand the bullwhip effect and how it impacts supply chain.</a:t>
            </a:r>
          </a:p>
        </p:txBody>
      </p:sp>
      <p:sp>
        <p:nvSpPr>
          <p:cNvPr id="15363" name="Slide Number Placeholder 4"/>
          <p:cNvSpPr>
            <a:spLocks noGrp="1"/>
          </p:cNvSpPr>
          <p:nvPr>
            <p:ph type="sldNum" sz="quarter" idx="11"/>
          </p:nvPr>
        </p:nvSpPr>
        <p:spPr>
          <a:xfrm>
            <a:off x="10327951" y="6356350"/>
            <a:ext cx="1736546"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pitchFamily="-105" charset="-128"/>
              </a:defRPr>
            </a:lvl1pPr>
            <a:lvl2pPr>
              <a:defRPr sz="2400">
                <a:solidFill>
                  <a:schemeClr val="tx1"/>
                </a:solidFill>
                <a:latin typeface="Arial" charset="0"/>
                <a:ea typeface="ＭＳ Ｐゴシック" pitchFamily="-105" charset="-128"/>
              </a:defRPr>
            </a:lvl2pPr>
            <a:lvl3pPr>
              <a:defRPr sz="2000">
                <a:solidFill>
                  <a:schemeClr val="tx1"/>
                </a:solidFill>
                <a:latin typeface="Arial" charset="0"/>
                <a:ea typeface="ＭＳ Ｐゴシック" pitchFamily="-105" charset="-128"/>
              </a:defRPr>
            </a:lvl3pPr>
            <a:lvl4pPr>
              <a:defRPr sz="2000">
                <a:solidFill>
                  <a:schemeClr val="tx1"/>
                </a:solidFill>
                <a:latin typeface="Arial" charset="0"/>
                <a:ea typeface="ＭＳ Ｐゴシック" pitchFamily="-105" charset="-128"/>
              </a:defRPr>
            </a:lvl4pPr>
            <a:lvl5pPr>
              <a:defRPr sz="2000">
                <a:solidFill>
                  <a:schemeClr val="tx1"/>
                </a:solidFill>
                <a:latin typeface="Arial" charset="0"/>
                <a:ea typeface="ＭＳ Ｐゴシック" pitchFamily="-105" charset="-128"/>
              </a:defRPr>
            </a:lvl5pPr>
            <a:lvl6pPr eaLnBrk="0" hangingPunct="0">
              <a:defRPr sz="2000">
                <a:solidFill>
                  <a:schemeClr val="tx1"/>
                </a:solidFill>
                <a:latin typeface="Arial" charset="0"/>
                <a:ea typeface="ＭＳ Ｐゴシック" pitchFamily="-105" charset="-128"/>
              </a:defRPr>
            </a:lvl6pPr>
            <a:lvl7pPr eaLnBrk="0" hangingPunct="0">
              <a:defRPr sz="2000">
                <a:solidFill>
                  <a:schemeClr val="tx1"/>
                </a:solidFill>
                <a:latin typeface="Arial" charset="0"/>
                <a:ea typeface="ＭＳ Ｐゴシック" pitchFamily="-105" charset="-128"/>
              </a:defRPr>
            </a:lvl7pPr>
            <a:lvl8pPr eaLnBrk="0" hangingPunct="0">
              <a:defRPr sz="2000">
                <a:solidFill>
                  <a:schemeClr val="tx1"/>
                </a:solidFill>
                <a:latin typeface="Arial" charset="0"/>
                <a:ea typeface="ＭＳ Ｐゴシック" pitchFamily="-105" charset="-128"/>
              </a:defRPr>
            </a:lvl8pPr>
            <a:lvl9pPr eaLnBrk="0" hangingPunct="0">
              <a:defRPr sz="2000">
                <a:solidFill>
                  <a:schemeClr val="tx1"/>
                </a:solidFill>
                <a:latin typeface="Arial" charset="0"/>
                <a:ea typeface="ＭＳ Ｐゴシック" pitchFamily="-105" charset="-128"/>
              </a:defRPr>
            </a:lvl9pPr>
          </a:lstStyle>
          <a:p>
            <a:fld id="{C94CDAD0-9461-474B-91A3-507C13D9D3EE}" type="slidenum">
              <a:rPr lang="en-US" altLang="en-US" sz="1400">
                <a:solidFill>
                  <a:srgbClr val="404040"/>
                </a:solidFill>
              </a:rPr>
              <a:pPr/>
              <a:t>2</a:t>
            </a:fld>
            <a:endParaRPr lang="en-US" altLang="en-US" sz="1400" dirty="0">
              <a:solidFill>
                <a:srgbClr val="404040"/>
              </a:solidFill>
            </a:endParaRPr>
          </a:p>
        </p:txBody>
      </p:sp>
    </p:spTree>
    <p:extLst>
      <p:ext uri="{BB962C8B-B14F-4D97-AF65-F5344CB8AC3E}">
        <p14:creationId xmlns:p14="http://schemas.microsoft.com/office/powerpoint/2010/main" val="1037922041"/>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defRPr/>
            </a:pPr>
            <a:r>
              <a:rPr lang="en-US" cap="all" dirty="0">
                <a:solidFill>
                  <a:srgbClr val="BB7A05"/>
                </a:solidFill>
                <a:ea typeface="Times New Roman" pitchFamily="-109" charset="0"/>
                <a:cs typeface="Times New Roman" pitchFamily="-109" charset="0"/>
              </a:rPr>
              <a:t>Chapter Outline</a:t>
            </a:r>
          </a:p>
        </p:txBody>
      </p:sp>
      <p:sp>
        <p:nvSpPr>
          <p:cNvPr id="16389" name="Rectangle 3"/>
          <p:cNvSpPr>
            <a:spLocks noGrp="1" noChangeArrowheads="1"/>
          </p:cNvSpPr>
          <p:nvPr>
            <p:ph type="body" idx="1"/>
          </p:nvPr>
        </p:nvSpPr>
        <p:spPr>
          <a:xfrm>
            <a:off x="2251363" y="1747838"/>
            <a:ext cx="8001000" cy="4622800"/>
          </a:xfrm>
        </p:spPr>
        <p:txBody>
          <a:bodyPr/>
          <a:lstStyle/>
          <a:p>
            <a:pPr>
              <a:spcBef>
                <a:spcPts val="1175"/>
              </a:spcBef>
            </a:pPr>
            <a:r>
              <a:rPr lang="en-US" altLang="en-US" sz="2400" dirty="0">
                <a:ea typeface="ＭＳ Ｐゴシック" pitchFamily="-105" charset="-128"/>
              </a:rPr>
              <a:t>Introduction </a:t>
            </a:r>
          </a:p>
          <a:p>
            <a:pPr>
              <a:spcBef>
                <a:spcPts val="1175"/>
              </a:spcBef>
            </a:pPr>
            <a:r>
              <a:rPr lang="en-US" altLang="en-US" sz="2400" dirty="0">
                <a:ea typeface="ＭＳ Ｐゴシック" pitchFamily="-105" charset="-128"/>
              </a:rPr>
              <a:t>Supply Chain Management Defined</a:t>
            </a:r>
          </a:p>
          <a:p>
            <a:pPr>
              <a:spcBef>
                <a:spcPts val="1175"/>
              </a:spcBef>
            </a:pPr>
            <a:r>
              <a:rPr lang="en-US" altLang="en-US" sz="2400" dirty="0">
                <a:ea typeface="ＭＳ Ｐゴシック" pitchFamily="-105" charset="-128"/>
              </a:rPr>
              <a:t>The Importance of Supply Chain Management</a:t>
            </a:r>
          </a:p>
          <a:p>
            <a:pPr>
              <a:spcBef>
                <a:spcPts val="1175"/>
              </a:spcBef>
            </a:pPr>
            <a:r>
              <a:rPr lang="en-US" altLang="en-US" sz="2400" dirty="0">
                <a:ea typeface="ＭＳ Ｐゴシック" pitchFamily="-105" charset="-128"/>
              </a:rPr>
              <a:t>The Origins of Supply Chain Management in the U.S.</a:t>
            </a:r>
          </a:p>
          <a:p>
            <a:pPr>
              <a:spcBef>
                <a:spcPts val="1175"/>
              </a:spcBef>
            </a:pPr>
            <a:r>
              <a:rPr lang="en-US" altLang="en-US" sz="2400" dirty="0">
                <a:ea typeface="ＭＳ Ｐゴシック" pitchFamily="-105" charset="-128"/>
              </a:rPr>
              <a:t>The Foundations of Supply Chain Management</a:t>
            </a:r>
          </a:p>
          <a:p>
            <a:pPr>
              <a:spcBef>
                <a:spcPts val="1175"/>
              </a:spcBef>
            </a:pPr>
            <a:r>
              <a:rPr lang="en-US" altLang="en-US" sz="2400" dirty="0">
                <a:ea typeface="ＭＳ Ｐゴシック" pitchFamily="-105" charset="-128"/>
              </a:rPr>
              <a:t>Current Trends in Supply Chain </a:t>
            </a:r>
            <a:r>
              <a:rPr lang="en-US" altLang="en-US" sz="2400" dirty="0" smtClean="0">
                <a:ea typeface="ＭＳ Ｐゴシック" pitchFamily="-105" charset="-128"/>
              </a:rPr>
              <a:t>Management</a:t>
            </a:r>
            <a:endParaRPr lang="en-US" altLang="en-US" sz="2400" dirty="0">
              <a:ea typeface="ＭＳ Ｐゴシック" pitchFamily="-105" charset="-128"/>
            </a:endParaRPr>
          </a:p>
        </p:txBody>
      </p:sp>
      <p:sp>
        <p:nvSpPr>
          <p:cNvPr id="16387" name="Slide Number Placeholder 4"/>
          <p:cNvSpPr>
            <a:spLocks noGrp="1"/>
          </p:cNvSpPr>
          <p:nvPr>
            <p:ph type="sldNum" sz="quarter" idx="11"/>
          </p:nvPr>
        </p:nvSpPr>
        <p:spPr>
          <a:xfrm>
            <a:off x="9877331" y="6376690"/>
            <a:ext cx="2214326"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pitchFamily="-105" charset="-128"/>
              </a:defRPr>
            </a:lvl1pPr>
            <a:lvl2pPr>
              <a:defRPr sz="2400">
                <a:solidFill>
                  <a:schemeClr val="tx1"/>
                </a:solidFill>
                <a:latin typeface="Arial" charset="0"/>
                <a:ea typeface="ＭＳ Ｐゴシック" pitchFamily="-105" charset="-128"/>
              </a:defRPr>
            </a:lvl2pPr>
            <a:lvl3pPr>
              <a:defRPr sz="2000">
                <a:solidFill>
                  <a:schemeClr val="tx1"/>
                </a:solidFill>
                <a:latin typeface="Arial" charset="0"/>
                <a:ea typeface="ＭＳ Ｐゴシック" pitchFamily="-105" charset="-128"/>
              </a:defRPr>
            </a:lvl3pPr>
            <a:lvl4pPr>
              <a:defRPr sz="2000">
                <a:solidFill>
                  <a:schemeClr val="tx1"/>
                </a:solidFill>
                <a:latin typeface="Arial" charset="0"/>
                <a:ea typeface="ＭＳ Ｐゴシック" pitchFamily="-105" charset="-128"/>
              </a:defRPr>
            </a:lvl4pPr>
            <a:lvl5pPr>
              <a:defRPr sz="2000">
                <a:solidFill>
                  <a:schemeClr val="tx1"/>
                </a:solidFill>
                <a:latin typeface="Arial" charset="0"/>
                <a:ea typeface="ＭＳ Ｐゴシック" pitchFamily="-105" charset="-128"/>
              </a:defRPr>
            </a:lvl5pPr>
            <a:lvl6pPr eaLnBrk="0" hangingPunct="0">
              <a:defRPr sz="2000">
                <a:solidFill>
                  <a:schemeClr val="tx1"/>
                </a:solidFill>
                <a:latin typeface="Arial" charset="0"/>
                <a:ea typeface="ＭＳ Ｐゴシック" pitchFamily="-105" charset="-128"/>
              </a:defRPr>
            </a:lvl6pPr>
            <a:lvl7pPr eaLnBrk="0" hangingPunct="0">
              <a:defRPr sz="2000">
                <a:solidFill>
                  <a:schemeClr val="tx1"/>
                </a:solidFill>
                <a:latin typeface="Arial" charset="0"/>
                <a:ea typeface="ＭＳ Ｐゴシック" pitchFamily="-105" charset="-128"/>
              </a:defRPr>
            </a:lvl7pPr>
            <a:lvl8pPr eaLnBrk="0" hangingPunct="0">
              <a:defRPr sz="2000">
                <a:solidFill>
                  <a:schemeClr val="tx1"/>
                </a:solidFill>
                <a:latin typeface="Arial" charset="0"/>
                <a:ea typeface="ＭＳ Ｐゴシック" pitchFamily="-105" charset="-128"/>
              </a:defRPr>
            </a:lvl8pPr>
            <a:lvl9pPr eaLnBrk="0" hangingPunct="0">
              <a:defRPr sz="2000">
                <a:solidFill>
                  <a:schemeClr val="tx1"/>
                </a:solidFill>
                <a:latin typeface="Arial" charset="0"/>
                <a:ea typeface="ＭＳ Ｐゴシック" pitchFamily="-105" charset="-128"/>
              </a:defRPr>
            </a:lvl9pPr>
          </a:lstStyle>
          <a:p>
            <a:fld id="{98A6B543-D2C8-4431-ACC0-D05E3457695C}" type="slidenum">
              <a:rPr lang="en-US" altLang="en-US" sz="1400">
                <a:solidFill>
                  <a:srgbClr val="404040"/>
                </a:solidFill>
              </a:rPr>
              <a:pPr/>
              <a:t>3</a:t>
            </a:fld>
            <a:endParaRPr lang="en-US" altLang="en-US" sz="1400" dirty="0">
              <a:solidFill>
                <a:srgbClr val="404040"/>
              </a:solidFill>
            </a:endParaRPr>
          </a:p>
        </p:txBody>
      </p:sp>
    </p:spTree>
    <p:extLst>
      <p:ext uri="{BB962C8B-B14F-4D97-AF65-F5344CB8AC3E}">
        <p14:creationId xmlns:p14="http://schemas.microsoft.com/office/powerpoint/2010/main" val="4015166021"/>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838200" y="602092"/>
            <a:ext cx="10515600" cy="687820"/>
          </a:xfrm>
        </p:spPr>
        <p:txBody>
          <a:bodyPr/>
          <a:lstStyle/>
          <a:p>
            <a:pPr eaLnBrk="1" hangingPunct="1">
              <a:defRPr/>
            </a:pPr>
            <a:r>
              <a:rPr lang="en-US" dirty="0">
                <a:latin typeface="Arial Narrow" panose="020B0606020202030204" pitchFamily="34" charset="0"/>
              </a:rPr>
              <a:t>What is a Supply Chain</a:t>
            </a:r>
            <a:r>
              <a:rPr lang="en-US" dirty="0" smtClean="0">
                <a:latin typeface="Arial Narrow" panose="020B0606020202030204" pitchFamily="34" charset="0"/>
              </a:rPr>
              <a:t>?, Part 1</a:t>
            </a:r>
            <a:endParaRPr lang="en-US" dirty="0">
              <a:latin typeface="Arial Narrow" panose="020B0606020202030204" pitchFamily="34" charset="0"/>
            </a:endParaRPr>
          </a:p>
        </p:txBody>
      </p:sp>
      <p:sp>
        <p:nvSpPr>
          <p:cNvPr id="17413" name="Rectangle 3"/>
          <p:cNvSpPr>
            <a:spLocks noGrp="1" noChangeArrowheads="1"/>
          </p:cNvSpPr>
          <p:nvPr>
            <p:ph idx="1"/>
          </p:nvPr>
        </p:nvSpPr>
        <p:spPr>
          <a:xfrm>
            <a:off x="1978936" y="1503447"/>
            <a:ext cx="7644898" cy="2121687"/>
          </a:xfrm>
        </p:spPr>
        <p:txBody>
          <a:bodyPr>
            <a:normAutofit fontScale="70000" lnSpcReduction="20000"/>
          </a:bodyPr>
          <a:lstStyle/>
          <a:p>
            <a:pPr marL="0" indent="0">
              <a:lnSpc>
                <a:spcPct val="100000"/>
              </a:lnSpc>
              <a:buNone/>
            </a:pPr>
            <a:r>
              <a:rPr lang="en-US" altLang="en-US" sz="3100" dirty="0">
                <a:ea typeface="ＭＳ Ｐゴシック" pitchFamily="-105" charset="-128"/>
              </a:rPr>
              <a:t>A </a:t>
            </a:r>
            <a:r>
              <a:rPr lang="en-US" altLang="en-US" sz="3100" b="1" dirty="0">
                <a:solidFill>
                  <a:srgbClr val="FF6600"/>
                </a:solidFill>
                <a:ea typeface="ＭＳ Ｐゴシック" pitchFamily="-105" charset="-128"/>
              </a:rPr>
              <a:t>supply chain </a:t>
            </a:r>
            <a:r>
              <a:rPr lang="en-US" altLang="en-US" sz="3100" dirty="0">
                <a:ea typeface="ＭＳ Ｐゴシック" pitchFamily="-105" charset="-128"/>
              </a:rPr>
              <a:t>consists of the flow of products and services from:</a:t>
            </a:r>
          </a:p>
          <a:p>
            <a:pPr lvl="1" eaLnBrk="1" hangingPunct="1">
              <a:lnSpc>
                <a:spcPct val="100000"/>
              </a:lnSpc>
            </a:pPr>
            <a:r>
              <a:rPr lang="en-US" altLang="en-US" sz="2600" dirty="0">
                <a:ea typeface="ＭＳ Ｐゴシック" pitchFamily="-105" charset="-128"/>
              </a:rPr>
              <a:t>Raw materials manufacturers</a:t>
            </a:r>
          </a:p>
          <a:p>
            <a:pPr lvl="1" eaLnBrk="1" hangingPunct="1">
              <a:lnSpc>
                <a:spcPct val="100000"/>
              </a:lnSpc>
            </a:pPr>
            <a:r>
              <a:rPr lang="en-US" altLang="en-US" sz="2600" dirty="0">
                <a:ea typeface="ＭＳ Ｐゴシック" pitchFamily="-105" charset="-128"/>
              </a:rPr>
              <a:t>Component and intermediate manufacturers</a:t>
            </a:r>
          </a:p>
          <a:p>
            <a:pPr lvl="1" eaLnBrk="1" hangingPunct="1">
              <a:lnSpc>
                <a:spcPct val="100000"/>
              </a:lnSpc>
            </a:pPr>
            <a:r>
              <a:rPr lang="en-US" altLang="en-US" sz="2600" dirty="0">
                <a:ea typeface="ＭＳ Ｐゴシック" pitchFamily="-105" charset="-128"/>
              </a:rPr>
              <a:t>Final product manufacturers</a:t>
            </a:r>
          </a:p>
          <a:p>
            <a:pPr lvl="1" eaLnBrk="1" hangingPunct="1">
              <a:lnSpc>
                <a:spcPct val="100000"/>
              </a:lnSpc>
            </a:pPr>
            <a:r>
              <a:rPr lang="en-US" altLang="en-US" sz="2600" dirty="0">
                <a:ea typeface="ＭＳ Ｐゴシック" pitchFamily="-105" charset="-128"/>
              </a:rPr>
              <a:t>Wholesalers and distributors and</a:t>
            </a:r>
          </a:p>
          <a:p>
            <a:pPr lvl="1" eaLnBrk="1" hangingPunct="1">
              <a:lnSpc>
                <a:spcPct val="100000"/>
              </a:lnSpc>
            </a:pPr>
            <a:r>
              <a:rPr lang="en-US" altLang="en-US" sz="2600" dirty="0" smtClean="0">
                <a:ea typeface="ＭＳ Ｐゴシック" pitchFamily="-105" charset="-128"/>
              </a:rPr>
              <a:t>Retailers</a:t>
            </a:r>
            <a:endParaRPr lang="en-US" altLang="en-US" sz="2400" dirty="0">
              <a:ea typeface="ＭＳ Ｐゴシック" pitchFamily="-105" charset="-128"/>
            </a:endParaRPr>
          </a:p>
        </p:txBody>
      </p:sp>
      <p:sp>
        <p:nvSpPr>
          <p:cNvPr id="2" name="Content Placeholder 1"/>
          <p:cNvSpPr>
            <a:spLocks noGrp="1"/>
          </p:cNvSpPr>
          <p:nvPr>
            <p:ph sz="quarter" idx="13"/>
          </p:nvPr>
        </p:nvSpPr>
        <p:spPr>
          <a:xfrm>
            <a:off x="1978936" y="3838669"/>
            <a:ext cx="8369175" cy="1167897"/>
          </a:xfrm>
        </p:spPr>
        <p:txBody>
          <a:bodyPr>
            <a:normAutofit/>
          </a:bodyPr>
          <a:lstStyle/>
          <a:p>
            <a:pPr marL="0" lvl="0" indent="0">
              <a:lnSpc>
                <a:spcPts val="2575"/>
              </a:lnSpc>
              <a:spcBef>
                <a:spcPct val="0"/>
              </a:spcBef>
              <a:buNone/>
            </a:pPr>
            <a:r>
              <a:rPr lang="en-US" altLang="en-US" sz="2400" b="1" dirty="0">
                <a:solidFill>
                  <a:srgbClr val="FF6600"/>
                </a:solidFill>
                <a:ea typeface="ＭＳ Ｐゴシック" pitchFamily="-105" charset="-128"/>
              </a:rPr>
              <a:t>Connected by transportation </a:t>
            </a:r>
            <a:r>
              <a:rPr lang="en-US" altLang="en-US" sz="2400" dirty="0">
                <a:solidFill>
                  <a:prstClr val="black"/>
                </a:solidFill>
                <a:ea typeface="ＭＳ Ｐゴシック" pitchFamily="-105" charset="-128"/>
              </a:rPr>
              <a:t>and storage activities, and</a:t>
            </a:r>
          </a:p>
          <a:p>
            <a:pPr marL="0" lvl="0" indent="0">
              <a:lnSpc>
                <a:spcPts val="2575"/>
              </a:lnSpc>
              <a:spcBef>
                <a:spcPct val="0"/>
              </a:spcBef>
              <a:buNone/>
            </a:pPr>
            <a:r>
              <a:rPr lang="en-US" altLang="en-US" sz="2400" b="1" dirty="0">
                <a:solidFill>
                  <a:srgbClr val="FF6600"/>
                </a:solidFill>
                <a:ea typeface="ＭＳ Ｐゴシック" pitchFamily="-105" charset="-128"/>
              </a:rPr>
              <a:t>Integrated</a:t>
            </a:r>
            <a:r>
              <a:rPr lang="en-US" altLang="en-US" sz="2400" dirty="0">
                <a:solidFill>
                  <a:prstClr val="black"/>
                </a:solidFill>
                <a:ea typeface="ＭＳ Ｐゴシック" pitchFamily="-105" charset="-128"/>
              </a:rPr>
              <a:t> through information, planning, and integration </a:t>
            </a:r>
            <a:r>
              <a:rPr lang="en-US" altLang="en-US" sz="2400" dirty="0" smtClean="0">
                <a:solidFill>
                  <a:prstClr val="black"/>
                </a:solidFill>
                <a:ea typeface="ＭＳ Ｐゴシック" pitchFamily="-105" charset="-128"/>
              </a:rPr>
              <a:t>activities</a:t>
            </a:r>
            <a:endParaRPr lang="en-US" altLang="en-US" sz="2400" dirty="0">
              <a:solidFill>
                <a:prstClr val="black"/>
              </a:solidFill>
              <a:ea typeface="ＭＳ Ｐゴシック" pitchFamily="-105" charset="-128"/>
            </a:endParaRPr>
          </a:p>
        </p:txBody>
      </p:sp>
      <p:sp>
        <p:nvSpPr>
          <p:cNvPr id="3" name="Content Placeholder 2"/>
          <p:cNvSpPr>
            <a:spLocks noGrp="1"/>
          </p:cNvSpPr>
          <p:nvPr>
            <p:ph sz="quarter" idx="14"/>
          </p:nvPr>
        </p:nvSpPr>
        <p:spPr>
          <a:xfrm>
            <a:off x="1978936" y="5046988"/>
            <a:ext cx="8369175" cy="1268939"/>
          </a:xfrm>
        </p:spPr>
        <p:txBody>
          <a:bodyPr>
            <a:normAutofit/>
          </a:bodyPr>
          <a:lstStyle/>
          <a:p>
            <a:pPr marL="0" lvl="0" indent="0">
              <a:lnSpc>
                <a:spcPts val="2575"/>
              </a:lnSpc>
              <a:spcBef>
                <a:spcPct val="0"/>
              </a:spcBef>
              <a:buNone/>
            </a:pPr>
            <a:r>
              <a:rPr lang="en-US" altLang="en-US" sz="2400" dirty="0">
                <a:solidFill>
                  <a:prstClr val="black"/>
                </a:solidFill>
                <a:ea typeface="ＭＳ Ｐゴシック" pitchFamily="-105" charset="-128"/>
              </a:rPr>
              <a:t>Today large firms are moving away </a:t>
            </a:r>
            <a:r>
              <a:rPr lang="en-US" altLang="en-US" sz="2400" b="1" dirty="0">
                <a:solidFill>
                  <a:srgbClr val="FF6600"/>
                </a:solidFill>
                <a:ea typeface="ＭＳ Ｐゴシック" pitchFamily="-105" charset="-128"/>
              </a:rPr>
              <a:t>Vertically Integrated </a:t>
            </a:r>
            <a:r>
              <a:rPr lang="en-US" altLang="en-US" sz="2400" dirty="0">
                <a:solidFill>
                  <a:prstClr val="black"/>
                </a:solidFill>
                <a:ea typeface="ＭＳ Ｐゴシック" pitchFamily="-105" charset="-128"/>
              </a:rPr>
              <a:t>due to high cost and difficulty managing diverse </a:t>
            </a:r>
            <a:r>
              <a:rPr lang="en-US" altLang="en-US" sz="2400" dirty="0" smtClean="0">
                <a:solidFill>
                  <a:prstClr val="black"/>
                </a:solidFill>
                <a:ea typeface="ＭＳ Ｐゴシック" pitchFamily="-105" charset="-128"/>
              </a:rPr>
              <a:t>units</a:t>
            </a:r>
            <a:endParaRPr lang="en-US" altLang="en-US" sz="2400" dirty="0">
              <a:solidFill>
                <a:prstClr val="black"/>
              </a:solidFill>
              <a:ea typeface="ＭＳ Ｐゴシック" pitchFamily="-105" charset="-128"/>
            </a:endParaRPr>
          </a:p>
        </p:txBody>
      </p:sp>
      <p:sp>
        <p:nvSpPr>
          <p:cNvPr id="17411" name="Slide Number Placeholder 4"/>
          <p:cNvSpPr>
            <a:spLocks noGrp="1"/>
          </p:cNvSpPr>
          <p:nvPr>
            <p:ph type="sldNum" sz="quarter" idx="12"/>
          </p:nvPr>
        </p:nvSpPr>
        <p:spPr>
          <a:xfrm>
            <a:off x="10348110" y="6356349"/>
            <a:ext cx="1843889"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pitchFamily="-105" charset="-128"/>
              </a:defRPr>
            </a:lvl1pPr>
            <a:lvl2pPr>
              <a:defRPr sz="2400">
                <a:solidFill>
                  <a:schemeClr val="tx1"/>
                </a:solidFill>
                <a:latin typeface="Arial" charset="0"/>
                <a:ea typeface="ＭＳ Ｐゴシック" pitchFamily="-105" charset="-128"/>
              </a:defRPr>
            </a:lvl2pPr>
            <a:lvl3pPr>
              <a:defRPr sz="2000">
                <a:solidFill>
                  <a:schemeClr val="tx1"/>
                </a:solidFill>
                <a:latin typeface="Arial" charset="0"/>
                <a:ea typeface="ＭＳ Ｐゴシック" pitchFamily="-105" charset="-128"/>
              </a:defRPr>
            </a:lvl3pPr>
            <a:lvl4pPr>
              <a:defRPr sz="2000">
                <a:solidFill>
                  <a:schemeClr val="tx1"/>
                </a:solidFill>
                <a:latin typeface="Arial" charset="0"/>
                <a:ea typeface="ＭＳ Ｐゴシック" pitchFamily="-105" charset="-128"/>
              </a:defRPr>
            </a:lvl4pPr>
            <a:lvl5pPr>
              <a:defRPr sz="2000">
                <a:solidFill>
                  <a:schemeClr val="tx1"/>
                </a:solidFill>
                <a:latin typeface="Arial" charset="0"/>
                <a:ea typeface="ＭＳ Ｐゴシック" pitchFamily="-105" charset="-128"/>
              </a:defRPr>
            </a:lvl5pPr>
            <a:lvl6pPr eaLnBrk="0" hangingPunct="0">
              <a:defRPr sz="2000">
                <a:solidFill>
                  <a:schemeClr val="tx1"/>
                </a:solidFill>
                <a:latin typeface="Arial" charset="0"/>
                <a:ea typeface="ＭＳ Ｐゴシック" pitchFamily="-105" charset="-128"/>
              </a:defRPr>
            </a:lvl6pPr>
            <a:lvl7pPr eaLnBrk="0" hangingPunct="0">
              <a:defRPr sz="2000">
                <a:solidFill>
                  <a:schemeClr val="tx1"/>
                </a:solidFill>
                <a:latin typeface="Arial" charset="0"/>
                <a:ea typeface="ＭＳ Ｐゴシック" pitchFamily="-105" charset="-128"/>
              </a:defRPr>
            </a:lvl7pPr>
            <a:lvl8pPr eaLnBrk="0" hangingPunct="0">
              <a:defRPr sz="2000">
                <a:solidFill>
                  <a:schemeClr val="tx1"/>
                </a:solidFill>
                <a:latin typeface="Arial" charset="0"/>
                <a:ea typeface="ＭＳ Ｐゴシック" pitchFamily="-105" charset="-128"/>
              </a:defRPr>
            </a:lvl8pPr>
            <a:lvl9pPr eaLnBrk="0" hangingPunct="0">
              <a:defRPr sz="2000">
                <a:solidFill>
                  <a:schemeClr val="tx1"/>
                </a:solidFill>
                <a:latin typeface="Arial" charset="0"/>
                <a:ea typeface="ＭＳ Ｐゴシック" pitchFamily="-105" charset="-128"/>
              </a:defRPr>
            </a:lvl9pPr>
          </a:lstStyle>
          <a:p>
            <a:pPr algn="ctr"/>
            <a:fld id="{E84C74FA-3923-424A-9912-111E368A1293}" type="slidenum">
              <a:rPr lang="en-US" altLang="en-US" sz="1400">
                <a:solidFill>
                  <a:srgbClr val="404040"/>
                </a:solidFill>
              </a:rPr>
              <a:pPr algn="ctr"/>
              <a:t>4</a:t>
            </a:fld>
            <a:endParaRPr lang="en-US" altLang="en-US" sz="1400">
              <a:solidFill>
                <a:srgbClr val="404040"/>
              </a:solidFill>
            </a:endParaRPr>
          </a:p>
        </p:txBody>
      </p:sp>
    </p:spTree>
    <p:extLst>
      <p:ext uri="{BB962C8B-B14F-4D97-AF65-F5344CB8AC3E}">
        <p14:creationId xmlns:p14="http://schemas.microsoft.com/office/powerpoint/2010/main" val="4205368664"/>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2791311" y="460772"/>
            <a:ext cx="7010400" cy="803015"/>
          </a:xfrm>
        </p:spPr>
        <p:txBody>
          <a:bodyPr/>
          <a:lstStyle/>
          <a:p>
            <a:pPr eaLnBrk="1" hangingPunct="1">
              <a:defRPr/>
            </a:pPr>
            <a:r>
              <a:rPr lang="en-US" b="0" dirty="0">
                <a:latin typeface="Arial Narrow Bold" pitchFamily="-105" charset="0"/>
                <a:ea typeface="ＭＳ Ｐゴシック" pitchFamily="-105" charset="-128"/>
              </a:rPr>
              <a:t>What is a Supply Chain</a:t>
            </a:r>
            <a:r>
              <a:rPr lang="en-US" b="0" dirty="0" smtClean="0">
                <a:latin typeface="Arial Narrow Bold" pitchFamily="-105" charset="0"/>
                <a:ea typeface="ＭＳ Ｐゴシック" pitchFamily="-105" charset="-128"/>
              </a:rPr>
              <a:t>?,</a:t>
            </a:r>
            <a:r>
              <a:rPr lang="en-US" b="0" baseline="0" dirty="0" smtClean="0">
                <a:latin typeface="Arial Narrow Bold" pitchFamily="-105" charset="0"/>
                <a:ea typeface="ＭＳ Ｐゴシック" pitchFamily="-105" charset="-128"/>
              </a:rPr>
              <a:t> Part 2</a:t>
            </a:r>
            <a:endParaRPr lang="en-US" sz="1400" b="0" i="1" dirty="0">
              <a:latin typeface="Arial Narrow Bold" pitchFamily="-105" charset="0"/>
              <a:ea typeface="ＭＳ Ｐゴシック" pitchFamily="-105" charset="-128"/>
            </a:endParaRPr>
          </a:p>
        </p:txBody>
      </p:sp>
      <p:pic>
        <p:nvPicPr>
          <p:cNvPr id="2" name="Picture 1" descr="A diagram depicting a supply chain. An arrow above the diagram points to the right and reads: Product and service flow. Another arrow above the diagram points to the left and reads: Recycling and returns. In the diagram, Raw material Suppliers/mfgs flow to Intermediate component mfgs. Raw material Supplier/mfgs also flow to End-product manufacturer (focal firm). These are transportation and storage activities. Intermediate component mfgs also flow to End-product manufacturer (focal firm). This flows to Wholesalers and distributors, which flows to Retailers and then End-product consumers. Information/planning/activity integration flows from the center of the diagram, End product manufacturer, to the outside of the diagram on both side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5178" y="1443928"/>
            <a:ext cx="7802666" cy="4732281"/>
          </a:xfrm>
          <a:prstGeom prst="rect">
            <a:avLst/>
          </a:prstGeom>
        </p:spPr>
      </p:pic>
      <p:sp>
        <p:nvSpPr>
          <p:cNvPr id="18435" name="Slide Number Placeholder 4"/>
          <p:cNvSpPr>
            <a:spLocks noGrp="1"/>
          </p:cNvSpPr>
          <p:nvPr>
            <p:ph type="sldNum" sz="quarter" idx="11"/>
          </p:nvPr>
        </p:nvSpPr>
        <p:spPr>
          <a:xfrm>
            <a:off x="10197844" y="6356349"/>
            <a:ext cx="1994156"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pitchFamily="-105" charset="-128"/>
              </a:defRPr>
            </a:lvl1pPr>
            <a:lvl2pPr>
              <a:defRPr sz="2400">
                <a:solidFill>
                  <a:schemeClr val="tx1"/>
                </a:solidFill>
                <a:latin typeface="Arial" charset="0"/>
                <a:ea typeface="ＭＳ Ｐゴシック" pitchFamily="-105" charset="-128"/>
              </a:defRPr>
            </a:lvl2pPr>
            <a:lvl3pPr>
              <a:defRPr sz="2000">
                <a:solidFill>
                  <a:schemeClr val="tx1"/>
                </a:solidFill>
                <a:latin typeface="Arial" charset="0"/>
                <a:ea typeface="ＭＳ Ｐゴシック" pitchFamily="-105" charset="-128"/>
              </a:defRPr>
            </a:lvl3pPr>
            <a:lvl4pPr>
              <a:defRPr sz="2000">
                <a:solidFill>
                  <a:schemeClr val="tx1"/>
                </a:solidFill>
                <a:latin typeface="Arial" charset="0"/>
                <a:ea typeface="ＭＳ Ｐゴシック" pitchFamily="-105" charset="-128"/>
              </a:defRPr>
            </a:lvl4pPr>
            <a:lvl5pPr>
              <a:defRPr sz="2000">
                <a:solidFill>
                  <a:schemeClr val="tx1"/>
                </a:solidFill>
                <a:latin typeface="Arial" charset="0"/>
                <a:ea typeface="ＭＳ Ｐゴシック" pitchFamily="-105" charset="-128"/>
              </a:defRPr>
            </a:lvl5pPr>
            <a:lvl6pPr eaLnBrk="0" hangingPunct="0">
              <a:defRPr sz="2000">
                <a:solidFill>
                  <a:schemeClr val="tx1"/>
                </a:solidFill>
                <a:latin typeface="Arial" charset="0"/>
                <a:ea typeface="ＭＳ Ｐゴシック" pitchFamily="-105" charset="-128"/>
              </a:defRPr>
            </a:lvl6pPr>
            <a:lvl7pPr eaLnBrk="0" hangingPunct="0">
              <a:defRPr sz="2000">
                <a:solidFill>
                  <a:schemeClr val="tx1"/>
                </a:solidFill>
                <a:latin typeface="Arial" charset="0"/>
                <a:ea typeface="ＭＳ Ｐゴシック" pitchFamily="-105" charset="-128"/>
              </a:defRPr>
            </a:lvl7pPr>
            <a:lvl8pPr eaLnBrk="0" hangingPunct="0">
              <a:defRPr sz="2000">
                <a:solidFill>
                  <a:schemeClr val="tx1"/>
                </a:solidFill>
                <a:latin typeface="Arial" charset="0"/>
                <a:ea typeface="ＭＳ Ｐゴシック" pitchFamily="-105" charset="-128"/>
              </a:defRPr>
            </a:lvl8pPr>
            <a:lvl9pPr eaLnBrk="0" hangingPunct="0">
              <a:defRPr sz="2000">
                <a:solidFill>
                  <a:schemeClr val="tx1"/>
                </a:solidFill>
                <a:latin typeface="Arial" charset="0"/>
                <a:ea typeface="ＭＳ Ｐゴシック" pitchFamily="-105" charset="-128"/>
              </a:defRPr>
            </a:lvl9pPr>
          </a:lstStyle>
          <a:p>
            <a:fld id="{8619A4FE-3C2E-4644-AEFD-BEF53A513D07}" type="slidenum">
              <a:rPr lang="en-US" altLang="en-US" sz="1400">
                <a:solidFill>
                  <a:srgbClr val="404040"/>
                </a:solidFill>
              </a:rPr>
              <a:pPr/>
              <a:t>5</a:t>
            </a:fld>
            <a:endParaRPr lang="en-US" altLang="en-US" sz="1400" dirty="0">
              <a:solidFill>
                <a:srgbClr val="404040"/>
              </a:solidFill>
            </a:endParaRPr>
          </a:p>
        </p:txBody>
      </p:sp>
    </p:spTree>
    <p:extLst>
      <p:ext uri="{BB962C8B-B14F-4D97-AF65-F5344CB8AC3E}">
        <p14:creationId xmlns:p14="http://schemas.microsoft.com/office/powerpoint/2010/main" val="1465095057"/>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361332" y="688697"/>
            <a:ext cx="7196137" cy="606425"/>
          </a:xfrm>
        </p:spPr>
        <p:txBody>
          <a:bodyPr>
            <a:normAutofit fontScale="90000"/>
          </a:bodyPr>
          <a:lstStyle/>
          <a:p>
            <a:pPr eaLnBrk="1" hangingPunct="1">
              <a:defRPr/>
            </a:pPr>
            <a:r>
              <a:rPr lang="en-US" dirty="0">
                <a:latin typeface="Arial Narrow" panose="020B0606020202030204" pitchFamily="34" charset="0"/>
              </a:rPr>
              <a:t>What is Supply Chain Management</a:t>
            </a:r>
            <a:r>
              <a:rPr lang="en-US" dirty="0" smtClean="0">
                <a:latin typeface="Arial Narrow" panose="020B0606020202030204" pitchFamily="34" charset="0"/>
              </a:rPr>
              <a:t>?, Part 1</a:t>
            </a:r>
            <a:endParaRPr lang="en-US" dirty="0">
              <a:latin typeface="Arial Narrow" panose="020B0606020202030204" pitchFamily="34" charset="0"/>
            </a:endParaRPr>
          </a:p>
        </p:txBody>
      </p:sp>
      <p:sp>
        <p:nvSpPr>
          <p:cNvPr id="19461" name="Rectangle 3"/>
          <p:cNvSpPr>
            <a:spLocks noGrp="1" noChangeArrowheads="1"/>
          </p:cNvSpPr>
          <p:nvPr>
            <p:ph type="body" idx="1"/>
          </p:nvPr>
        </p:nvSpPr>
        <p:spPr>
          <a:xfrm>
            <a:off x="2084440" y="1449775"/>
            <a:ext cx="8662218" cy="4648200"/>
          </a:xfrm>
        </p:spPr>
        <p:txBody>
          <a:bodyPr>
            <a:normAutofit fontScale="92500" lnSpcReduction="10000"/>
          </a:bodyPr>
          <a:lstStyle/>
          <a:p>
            <a:pPr marL="0" indent="0">
              <a:spcBef>
                <a:spcPct val="0"/>
              </a:spcBef>
              <a:buNone/>
            </a:pPr>
            <a:r>
              <a:rPr lang="en-US" altLang="en-US" sz="2400" kern="0" spc="40" dirty="0">
                <a:ea typeface="ＭＳ Ｐゴシック" pitchFamily="-105" charset="-128"/>
              </a:rPr>
              <a:t>The planning and management of all activities involved in sourcing and procurement, conversion, and all logistics management activities … also includes coordination with channel partners, which can be suppliers, intermediaries, third party service providers, and customers.</a:t>
            </a:r>
          </a:p>
          <a:p>
            <a:pPr marL="0" indent="0" algn="r">
              <a:lnSpc>
                <a:spcPts val="2900"/>
              </a:lnSpc>
              <a:spcBef>
                <a:spcPct val="0"/>
              </a:spcBef>
              <a:spcAft>
                <a:spcPts val="1200"/>
              </a:spcAft>
              <a:buNone/>
            </a:pPr>
            <a:r>
              <a:rPr lang="en-US" altLang="en-US" sz="2000" b="1" dirty="0">
                <a:solidFill>
                  <a:srgbClr val="FF6600"/>
                </a:solidFill>
                <a:ea typeface="ＭＳ Ｐゴシック" pitchFamily="-105" charset="-128"/>
              </a:rPr>
              <a:t>Council of Supply Chain Management </a:t>
            </a:r>
            <a:r>
              <a:rPr lang="en-US" altLang="en-US" sz="2000" b="1" dirty="0" smtClean="0">
                <a:solidFill>
                  <a:srgbClr val="FF6600"/>
                </a:solidFill>
                <a:ea typeface="ＭＳ Ｐゴシック" pitchFamily="-105" charset="-128"/>
              </a:rPr>
              <a:t>Professionals</a:t>
            </a:r>
            <a:endParaRPr lang="en-US" altLang="en-US" sz="2000" dirty="0">
              <a:ea typeface="ＭＳ Ｐゴシック" pitchFamily="-105" charset="-128"/>
            </a:endParaRPr>
          </a:p>
          <a:p>
            <a:pPr marL="0" indent="0">
              <a:spcBef>
                <a:spcPct val="0"/>
              </a:spcBef>
              <a:spcAft>
                <a:spcPts val="1200"/>
              </a:spcAft>
              <a:buNone/>
            </a:pPr>
            <a:r>
              <a:rPr lang="en-US" altLang="en-US" sz="2400" kern="0" spc="20" dirty="0">
                <a:ea typeface="ＭＳ Ｐゴシック" pitchFamily="-105" charset="-128"/>
              </a:rPr>
              <a:t>The design and management of seamless, value-added processes across organizational boundaries to meet the real needs of the end customer</a:t>
            </a:r>
            <a:r>
              <a:rPr lang="en-US" altLang="en-US" sz="2400" kern="0" spc="20" dirty="0" smtClean="0">
                <a:ea typeface="ＭＳ Ｐゴシック" pitchFamily="-105" charset="-128"/>
              </a:rPr>
              <a:t>.</a:t>
            </a:r>
            <a:endParaRPr lang="en-US" altLang="en-US" sz="2000" dirty="0">
              <a:ea typeface="ＭＳ Ｐゴシック" pitchFamily="-105" charset="-128"/>
            </a:endParaRPr>
          </a:p>
          <a:p>
            <a:pPr marL="0" indent="0" algn="r">
              <a:lnSpc>
                <a:spcPts val="700"/>
              </a:lnSpc>
              <a:spcBef>
                <a:spcPct val="0"/>
              </a:spcBef>
              <a:spcAft>
                <a:spcPct val="50000"/>
              </a:spcAft>
              <a:buNone/>
            </a:pPr>
            <a:r>
              <a:rPr lang="en-US" altLang="en-US" sz="2000" b="1" dirty="0">
                <a:solidFill>
                  <a:srgbClr val="FF6600"/>
                </a:solidFill>
                <a:ea typeface="ＭＳ Ｐゴシック" pitchFamily="-105" charset="-128"/>
              </a:rPr>
              <a:t>Institute for Supply Management</a:t>
            </a:r>
          </a:p>
          <a:p>
            <a:pPr marL="0" indent="0">
              <a:spcBef>
                <a:spcPct val="0"/>
              </a:spcBef>
              <a:buNone/>
            </a:pPr>
            <a:r>
              <a:rPr lang="en-US" altLang="en-US" sz="2400" kern="0" spc="50" dirty="0">
                <a:ea typeface="ＭＳ Ｐゴシック" pitchFamily="-105" charset="-128"/>
              </a:rPr>
              <a:t>The design,  planning, execution, control and monitoring of supply chain activities with the objective of creating net value, building a competitive infrastructure, leveraging worldwide logistics, synchronizing supply with demand, and measuring performance globally</a:t>
            </a:r>
            <a:r>
              <a:rPr lang="en-US" altLang="en-US" sz="2400" kern="0" spc="50" dirty="0" smtClean="0">
                <a:ea typeface="ＭＳ Ｐゴシック" pitchFamily="-105" charset="-128"/>
              </a:rPr>
              <a:t>.</a:t>
            </a:r>
            <a:endParaRPr lang="en-US" altLang="en-US" sz="2000" dirty="0">
              <a:ea typeface="ＭＳ Ｐゴシック" pitchFamily="-105" charset="-128"/>
            </a:endParaRPr>
          </a:p>
          <a:p>
            <a:pPr marL="0" indent="0" algn="r">
              <a:lnSpc>
                <a:spcPts val="1200"/>
              </a:lnSpc>
              <a:spcBef>
                <a:spcPct val="0"/>
              </a:spcBef>
              <a:spcAft>
                <a:spcPct val="50000"/>
              </a:spcAft>
              <a:buNone/>
            </a:pPr>
            <a:r>
              <a:rPr lang="en-US" altLang="en-US" sz="2000" b="1" dirty="0">
                <a:solidFill>
                  <a:srgbClr val="FF6600"/>
                </a:solidFill>
                <a:ea typeface="ＭＳ Ｐゴシック" pitchFamily="-105" charset="-128"/>
              </a:rPr>
              <a:t>Association for Operations Management</a:t>
            </a:r>
          </a:p>
        </p:txBody>
      </p:sp>
      <p:sp>
        <p:nvSpPr>
          <p:cNvPr id="19459" name="Slide Number Placeholder 4"/>
          <p:cNvSpPr>
            <a:spLocks noGrp="1"/>
          </p:cNvSpPr>
          <p:nvPr>
            <p:ph type="sldNum" sz="quarter" idx="11"/>
          </p:nvPr>
        </p:nvSpPr>
        <p:spPr>
          <a:xfrm>
            <a:off x="10746658" y="6356350"/>
            <a:ext cx="1445342"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pitchFamily="-105" charset="-128"/>
              </a:defRPr>
            </a:lvl1pPr>
            <a:lvl2pPr>
              <a:defRPr sz="2400">
                <a:solidFill>
                  <a:schemeClr val="tx1"/>
                </a:solidFill>
                <a:latin typeface="Arial" charset="0"/>
                <a:ea typeface="ＭＳ Ｐゴシック" pitchFamily="-105" charset="-128"/>
              </a:defRPr>
            </a:lvl2pPr>
            <a:lvl3pPr>
              <a:defRPr sz="2000">
                <a:solidFill>
                  <a:schemeClr val="tx1"/>
                </a:solidFill>
                <a:latin typeface="Arial" charset="0"/>
                <a:ea typeface="ＭＳ Ｐゴシック" pitchFamily="-105" charset="-128"/>
              </a:defRPr>
            </a:lvl3pPr>
            <a:lvl4pPr>
              <a:defRPr sz="2000">
                <a:solidFill>
                  <a:schemeClr val="tx1"/>
                </a:solidFill>
                <a:latin typeface="Arial" charset="0"/>
                <a:ea typeface="ＭＳ Ｐゴシック" pitchFamily="-105" charset="-128"/>
              </a:defRPr>
            </a:lvl4pPr>
            <a:lvl5pPr>
              <a:defRPr sz="2000">
                <a:solidFill>
                  <a:schemeClr val="tx1"/>
                </a:solidFill>
                <a:latin typeface="Arial" charset="0"/>
                <a:ea typeface="ＭＳ Ｐゴシック" pitchFamily="-105" charset="-128"/>
              </a:defRPr>
            </a:lvl5pPr>
            <a:lvl6pPr eaLnBrk="0" hangingPunct="0">
              <a:defRPr sz="2000">
                <a:solidFill>
                  <a:schemeClr val="tx1"/>
                </a:solidFill>
                <a:latin typeface="Arial" charset="0"/>
                <a:ea typeface="ＭＳ Ｐゴシック" pitchFamily="-105" charset="-128"/>
              </a:defRPr>
            </a:lvl6pPr>
            <a:lvl7pPr eaLnBrk="0" hangingPunct="0">
              <a:defRPr sz="2000">
                <a:solidFill>
                  <a:schemeClr val="tx1"/>
                </a:solidFill>
                <a:latin typeface="Arial" charset="0"/>
                <a:ea typeface="ＭＳ Ｐゴシック" pitchFamily="-105" charset="-128"/>
              </a:defRPr>
            </a:lvl7pPr>
            <a:lvl8pPr eaLnBrk="0" hangingPunct="0">
              <a:defRPr sz="2000">
                <a:solidFill>
                  <a:schemeClr val="tx1"/>
                </a:solidFill>
                <a:latin typeface="Arial" charset="0"/>
                <a:ea typeface="ＭＳ Ｐゴシック" pitchFamily="-105" charset="-128"/>
              </a:defRPr>
            </a:lvl8pPr>
            <a:lvl9pPr eaLnBrk="0" hangingPunct="0">
              <a:defRPr sz="2000">
                <a:solidFill>
                  <a:schemeClr val="tx1"/>
                </a:solidFill>
                <a:latin typeface="Arial" charset="0"/>
                <a:ea typeface="ＭＳ Ｐゴシック" pitchFamily="-105" charset="-128"/>
              </a:defRPr>
            </a:lvl9pPr>
          </a:lstStyle>
          <a:p>
            <a:fld id="{F4B83D54-5EBA-4579-8B09-CFD7C9346FF4}" type="slidenum">
              <a:rPr lang="en-US" altLang="en-US" sz="1400">
                <a:solidFill>
                  <a:srgbClr val="404040"/>
                </a:solidFill>
              </a:rPr>
              <a:pPr/>
              <a:t>6</a:t>
            </a:fld>
            <a:endParaRPr lang="en-US" altLang="en-US" sz="1400" dirty="0">
              <a:solidFill>
                <a:srgbClr val="404040"/>
              </a:solidFill>
            </a:endParaRPr>
          </a:p>
        </p:txBody>
      </p:sp>
    </p:spTree>
    <p:extLst>
      <p:ext uri="{BB962C8B-B14F-4D97-AF65-F5344CB8AC3E}">
        <p14:creationId xmlns:p14="http://schemas.microsoft.com/office/powerpoint/2010/main" val="677441873"/>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347061" y="636588"/>
            <a:ext cx="7010400" cy="852488"/>
          </a:xfrm>
        </p:spPr>
        <p:txBody>
          <a:bodyPr>
            <a:normAutofit fontScale="90000"/>
          </a:bodyPr>
          <a:lstStyle/>
          <a:p>
            <a:pPr eaLnBrk="1" hangingPunct="1">
              <a:defRPr/>
            </a:pPr>
            <a:r>
              <a:rPr lang="en-US" b="0" dirty="0">
                <a:latin typeface="Arial Narrow Bold" pitchFamily="-105" charset="0"/>
                <a:ea typeface="ＭＳ Ｐゴシック" pitchFamily="-105" charset="-128"/>
              </a:rPr>
              <a:t>What is Supply Chain Management</a:t>
            </a:r>
            <a:r>
              <a:rPr lang="en-US" b="0" dirty="0" smtClean="0">
                <a:latin typeface="Arial Narrow Bold" pitchFamily="-105" charset="0"/>
                <a:ea typeface="ＭＳ Ｐゴシック" pitchFamily="-105" charset="-128"/>
              </a:rPr>
              <a:t>?,</a:t>
            </a:r>
            <a:r>
              <a:rPr lang="en-US" b="0" baseline="0" dirty="0" smtClean="0">
                <a:latin typeface="Arial Narrow Bold" pitchFamily="-105" charset="0"/>
                <a:ea typeface="ＭＳ Ｐゴシック" pitchFamily="-105" charset="-128"/>
              </a:rPr>
              <a:t> Part 2</a:t>
            </a:r>
            <a:endParaRPr lang="en-US" sz="1400" dirty="0">
              <a:latin typeface="Arial Narrow Bold" pitchFamily="-105" charset="0"/>
              <a:ea typeface="ＭＳ Ｐゴシック" pitchFamily="-105" charset="-128"/>
            </a:endParaRPr>
          </a:p>
        </p:txBody>
      </p:sp>
      <p:sp>
        <p:nvSpPr>
          <p:cNvPr id="20485" name="Rectangle 3"/>
          <p:cNvSpPr>
            <a:spLocks noGrp="1" noChangeArrowheads="1"/>
          </p:cNvSpPr>
          <p:nvPr>
            <p:ph type="body" idx="1"/>
          </p:nvPr>
        </p:nvSpPr>
        <p:spPr>
          <a:xfrm>
            <a:off x="2201863" y="1719263"/>
            <a:ext cx="8280400" cy="4406900"/>
          </a:xfrm>
        </p:spPr>
        <p:txBody>
          <a:bodyPr>
            <a:normAutofit/>
          </a:bodyPr>
          <a:lstStyle/>
          <a:p>
            <a:pPr eaLnBrk="1" hangingPunct="1"/>
            <a:r>
              <a:rPr lang="en-US" altLang="en-US" sz="2200" b="1" i="1" dirty="0">
                <a:solidFill>
                  <a:srgbClr val="FF6600"/>
                </a:solidFill>
                <a:ea typeface="ＭＳ Ｐゴシック" pitchFamily="-105" charset="-128"/>
              </a:rPr>
              <a:t>Traditional organizational cultures</a:t>
            </a:r>
            <a:r>
              <a:rPr lang="en-US" altLang="en-US" sz="2200" dirty="0">
                <a:ea typeface="ＭＳ Ｐゴシック" pitchFamily="-105" charset="-128"/>
              </a:rPr>
              <a:t> that emphasized short-term, company focused performance can conflict with the objectives of supply chain </a:t>
            </a:r>
            <a:r>
              <a:rPr lang="en-US" altLang="en-US" sz="2200" dirty="0" smtClean="0">
                <a:ea typeface="ＭＳ Ｐゴシック" pitchFamily="-105" charset="-128"/>
              </a:rPr>
              <a:t>management</a:t>
            </a:r>
            <a:endParaRPr lang="en-US" altLang="en-US" sz="2200" dirty="0">
              <a:ea typeface="ＭＳ Ｐゴシック" pitchFamily="-105" charset="-128"/>
            </a:endParaRPr>
          </a:p>
          <a:p>
            <a:pPr eaLnBrk="1" hangingPunct="1"/>
            <a:r>
              <a:rPr lang="en-US" altLang="en-US" sz="2200" b="1" i="1" dirty="0">
                <a:solidFill>
                  <a:srgbClr val="FF6600"/>
                </a:solidFill>
                <a:ea typeface="ＭＳ Ｐゴシック" pitchFamily="-105" charset="-128"/>
              </a:rPr>
              <a:t>Successful supply chain management </a:t>
            </a:r>
            <a:r>
              <a:rPr lang="en-US" altLang="en-US" sz="2200" dirty="0">
                <a:ea typeface="ＭＳ Ｐゴシック" pitchFamily="-105" charset="-128"/>
              </a:rPr>
              <a:t>requires high levels of trust, cooperation, collaboration, and honest, accurate communications</a:t>
            </a:r>
          </a:p>
          <a:p>
            <a:pPr lvl="1" eaLnBrk="1" hangingPunct="1"/>
            <a:r>
              <a:rPr lang="en-US" altLang="en-US" sz="2200" dirty="0">
                <a:ea typeface="ＭＳ Ｐゴシック" pitchFamily="-105" charset="-128"/>
              </a:rPr>
              <a:t>All participants in the supply chain benefit. </a:t>
            </a:r>
          </a:p>
          <a:p>
            <a:pPr lvl="1" eaLnBrk="1" hangingPunct="1"/>
            <a:r>
              <a:rPr lang="en-US" altLang="en-US" sz="2200" dirty="0">
                <a:ea typeface="ＭＳ Ｐゴシック" pitchFamily="-105" charset="-128"/>
              </a:rPr>
              <a:t>Boundaries are dynamic and extend from “the firm’s suppliers’ suppliers to its customers’ customers (i.e., second tier suppliers and customers).”</a:t>
            </a:r>
          </a:p>
          <a:p>
            <a:pPr lvl="1" eaLnBrk="1" hangingPunct="1"/>
            <a:r>
              <a:rPr lang="en-US" altLang="en-US" sz="2200" dirty="0">
                <a:ea typeface="ＭＳ Ｐゴシック" pitchFamily="-105" charset="-128"/>
              </a:rPr>
              <a:t>Supply chains also include reverse logistics activities to handle returned products, warranty repairs, and recycling.</a:t>
            </a:r>
          </a:p>
        </p:txBody>
      </p:sp>
      <p:sp>
        <p:nvSpPr>
          <p:cNvPr id="20483" name="Slide Number Placeholder 4"/>
          <p:cNvSpPr>
            <a:spLocks noGrp="1"/>
          </p:cNvSpPr>
          <p:nvPr>
            <p:ph type="sldNum" sz="quarter" idx="11"/>
          </p:nvPr>
        </p:nvSpPr>
        <p:spPr>
          <a:xfrm>
            <a:off x="10711003" y="6356350"/>
            <a:ext cx="1480997"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pitchFamily="-105" charset="-128"/>
              </a:defRPr>
            </a:lvl1pPr>
            <a:lvl2pPr>
              <a:defRPr sz="2400">
                <a:solidFill>
                  <a:schemeClr val="tx1"/>
                </a:solidFill>
                <a:latin typeface="Arial" charset="0"/>
                <a:ea typeface="ＭＳ Ｐゴシック" pitchFamily="-105" charset="-128"/>
              </a:defRPr>
            </a:lvl2pPr>
            <a:lvl3pPr>
              <a:defRPr sz="2000">
                <a:solidFill>
                  <a:schemeClr val="tx1"/>
                </a:solidFill>
                <a:latin typeface="Arial" charset="0"/>
                <a:ea typeface="ＭＳ Ｐゴシック" pitchFamily="-105" charset="-128"/>
              </a:defRPr>
            </a:lvl3pPr>
            <a:lvl4pPr>
              <a:defRPr sz="2000">
                <a:solidFill>
                  <a:schemeClr val="tx1"/>
                </a:solidFill>
                <a:latin typeface="Arial" charset="0"/>
                <a:ea typeface="ＭＳ Ｐゴシック" pitchFamily="-105" charset="-128"/>
              </a:defRPr>
            </a:lvl4pPr>
            <a:lvl5pPr>
              <a:defRPr sz="2000">
                <a:solidFill>
                  <a:schemeClr val="tx1"/>
                </a:solidFill>
                <a:latin typeface="Arial" charset="0"/>
                <a:ea typeface="ＭＳ Ｐゴシック" pitchFamily="-105" charset="-128"/>
              </a:defRPr>
            </a:lvl5pPr>
            <a:lvl6pPr eaLnBrk="0" hangingPunct="0">
              <a:defRPr sz="2000">
                <a:solidFill>
                  <a:schemeClr val="tx1"/>
                </a:solidFill>
                <a:latin typeface="Arial" charset="0"/>
                <a:ea typeface="ＭＳ Ｐゴシック" pitchFamily="-105" charset="-128"/>
              </a:defRPr>
            </a:lvl6pPr>
            <a:lvl7pPr eaLnBrk="0" hangingPunct="0">
              <a:defRPr sz="2000">
                <a:solidFill>
                  <a:schemeClr val="tx1"/>
                </a:solidFill>
                <a:latin typeface="Arial" charset="0"/>
                <a:ea typeface="ＭＳ Ｐゴシック" pitchFamily="-105" charset="-128"/>
              </a:defRPr>
            </a:lvl7pPr>
            <a:lvl8pPr eaLnBrk="0" hangingPunct="0">
              <a:defRPr sz="2000">
                <a:solidFill>
                  <a:schemeClr val="tx1"/>
                </a:solidFill>
                <a:latin typeface="Arial" charset="0"/>
                <a:ea typeface="ＭＳ Ｐゴシック" pitchFamily="-105" charset="-128"/>
              </a:defRPr>
            </a:lvl8pPr>
            <a:lvl9pPr eaLnBrk="0" hangingPunct="0">
              <a:defRPr sz="2000">
                <a:solidFill>
                  <a:schemeClr val="tx1"/>
                </a:solidFill>
                <a:latin typeface="Arial" charset="0"/>
                <a:ea typeface="ＭＳ Ｐゴシック" pitchFamily="-105" charset="-128"/>
              </a:defRPr>
            </a:lvl9pPr>
          </a:lstStyle>
          <a:p>
            <a:fld id="{BA252D6B-6816-41F8-8CDA-EAE535F13D11}" type="slidenum">
              <a:rPr lang="en-US" altLang="en-US" sz="1400">
                <a:solidFill>
                  <a:srgbClr val="404040"/>
                </a:solidFill>
              </a:rPr>
              <a:pPr/>
              <a:t>7</a:t>
            </a:fld>
            <a:endParaRPr lang="en-US" altLang="en-US" sz="1400" dirty="0">
              <a:solidFill>
                <a:srgbClr val="404040"/>
              </a:solidFill>
            </a:endParaRPr>
          </a:p>
        </p:txBody>
      </p:sp>
    </p:spTree>
    <p:extLst>
      <p:ext uri="{BB962C8B-B14F-4D97-AF65-F5344CB8AC3E}">
        <p14:creationId xmlns:p14="http://schemas.microsoft.com/office/powerpoint/2010/main" val="2849560768"/>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838200" y="638175"/>
            <a:ext cx="10515600" cy="1325563"/>
          </a:xfrm>
        </p:spPr>
        <p:txBody>
          <a:bodyPr/>
          <a:lstStyle/>
          <a:p>
            <a:pPr eaLnBrk="1" hangingPunct="1">
              <a:defRPr/>
            </a:pPr>
            <a:r>
              <a:rPr lang="en-US" dirty="0">
                <a:latin typeface="Arial Narrow" panose="020B0606020202030204" pitchFamily="34" charset="0"/>
              </a:rPr>
              <a:t>Importance of Supply Chain </a:t>
            </a:r>
            <a:r>
              <a:rPr lang="en-US" dirty="0" smtClean="0">
                <a:latin typeface="Arial Narrow" panose="020B0606020202030204" pitchFamily="34" charset="0"/>
              </a:rPr>
              <a:t>Management, Part 1</a:t>
            </a:r>
            <a:endParaRPr lang="en-US" dirty="0">
              <a:latin typeface="Arial Narrow" panose="020B0606020202030204" pitchFamily="34" charset="0"/>
            </a:endParaRPr>
          </a:p>
        </p:txBody>
      </p:sp>
      <p:sp>
        <p:nvSpPr>
          <p:cNvPr id="21509" name="Rectangle 3"/>
          <p:cNvSpPr>
            <a:spLocks noGrp="1" noChangeArrowheads="1"/>
          </p:cNvSpPr>
          <p:nvPr>
            <p:ph type="body" idx="1"/>
          </p:nvPr>
        </p:nvSpPr>
        <p:spPr>
          <a:xfrm>
            <a:off x="2209800" y="2032003"/>
            <a:ext cx="7993062" cy="2570478"/>
          </a:xfrm>
        </p:spPr>
        <p:txBody>
          <a:bodyPr/>
          <a:lstStyle/>
          <a:p>
            <a:pPr marL="0" indent="0">
              <a:buNone/>
            </a:pPr>
            <a:r>
              <a:rPr lang="en-US" dirty="0"/>
              <a:t>Firms with large system inventories gain the most from successful SCM</a:t>
            </a:r>
            <a:endParaRPr lang="en-US" altLang="en-US" sz="1000" dirty="0">
              <a:ea typeface="ＭＳ Ｐゴシック" pitchFamily="-105" charset="-128"/>
            </a:endParaRPr>
          </a:p>
          <a:p>
            <a:pPr lvl="1" eaLnBrk="1" hangingPunct="1">
              <a:lnSpc>
                <a:spcPct val="90000"/>
              </a:lnSpc>
            </a:pPr>
            <a:r>
              <a:rPr lang="en-US" altLang="en-US" dirty="0">
                <a:ea typeface="ＭＳ Ｐゴシック" pitchFamily="-105" charset="-128"/>
              </a:rPr>
              <a:t>Lower purchasing &amp; carrying costs</a:t>
            </a:r>
          </a:p>
          <a:p>
            <a:pPr lvl="1" eaLnBrk="1" hangingPunct="1">
              <a:lnSpc>
                <a:spcPct val="90000"/>
              </a:lnSpc>
            </a:pPr>
            <a:r>
              <a:rPr lang="en-US" altLang="en-US" dirty="0">
                <a:ea typeface="ＭＳ Ｐゴシック" pitchFamily="-105" charset="-128"/>
              </a:rPr>
              <a:t>Better product quality</a:t>
            </a:r>
          </a:p>
          <a:p>
            <a:pPr lvl="1" eaLnBrk="1" hangingPunct="1">
              <a:lnSpc>
                <a:spcPct val="90000"/>
              </a:lnSpc>
            </a:pPr>
            <a:r>
              <a:rPr lang="en-US" altLang="en-US" dirty="0">
                <a:ea typeface="ＭＳ Ｐゴシック" pitchFamily="-105" charset="-128"/>
              </a:rPr>
              <a:t>Higher customer service levels</a:t>
            </a:r>
          </a:p>
          <a:p>
            <a:pPr lvl="1" eaLnBrk="1" hangingPunct="1">
              <a:lnSpc>
                <a:spcPct val="90000"/>
              </a:lnSpc>
            </a:pPr>
            <a:r>
              <a:rPr lang="en-US" altLang="en-US" dirty="0">
                <a:ea typeface="ＭＳ Ｐゴシック" pitchFamily="-105" charset="-128"/>
              </a:rPr>
              <a:t>Increased sales and </a:t>
            </a:r>
            <a:r>
              <a:rPr lang="en-US" altLang="en-US" dirty="0" smtClean="0">
                <a:ea typeface="ＭＳ Ｐゴシック" pitchFamily="-105" charset="-128"/>
              </a:rPr>
              <a:t>profits</a:t>
            </a:r>
            <a:endParaRPr lang="en-US" altLang="en-US" sz="2400" dirty="0">
              <a:ea typeface="ＭＳ Ｐゴシック" pitchFamily="-105" charset="-128"/>
            </a:endParaRPr>
          </a:p>
        </p:txBody>
      </p:sp>
      <p:sp>
        <p:nvSpPr>
          <p:cNvPr id="21507" name="Slide Number Placeholder 4"/>
          <p:cNvSpPr>
            <a:spLocks noGrp="1"/>
          </p:cNvSpPr>
          <p:nvPr>
            <p:ph type="sldNum" sz="quarter" idx="11"/>
          </p:nvPr>
        </p:nvSpPr>
        <p:spPr>
          <a:xfrm>
            <a:off x="10656683" y="6338243"/>
            <a:ext cx="1535317"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pitchFamily="-105" charset="-128"/>
              </a:defRPr>
            </a:lvl1pPr>
            <a:lvl2pPr>
              <a:defRPr sz="2400">
                <a:solidFill>
                  <a:schemeClr val="tx1"/>
                </a:solidFill>
                <a:latin typeface="Arial" charset="0"/>
                <a:ea typeface="ＭＳ Ｐゴシック" pitchFamily="-105" charset="-128"/>
              </a:defRPr>
            </a:lvl2pPr>
            <a:lvl3pPr>
              <a:defRPr sz="2000">
                <a:solidFill>
                  <a:schemeClr val="tx1"/>
                </a:solidFill>
                <a:latin typeface="Arial" charset="0"/>
                <a:ea typeface="ＭＳ Ｐゴシック" pitchFamily="-105" charset="-128"/>
              </a:defRPr>
            </a:lvl3pPr>
            <a:lvl4pPr>
              <a:defRPr sz="2000">
                <a:solidFill>
                  <a:schemeClr val="tx1"/>
                </a:solidFill>
                <a:latin typeface="Arial" charset="0"/>
                <a:ea typeface="ＭＳ Ｐゴシック" pitchFamily="-105" charset="-128"/>
              </a:defRPr>
            </a:lvl4pPr>
            <a:lvl5pPr>
              <a:defRPr sz="2000">
                <a:solidFill>
                  <a:schemeClr val="tx1"/>
                </a:solidFill>
                <a:latin typeface="Arial" charset="0"/>
                <a:ea typeface="ＭＳ Ｐゴシック" pitchFamily="-105" charset="-128"/>
              </a:defRPr>
            </a:lvl5pPr>
            <a:lvl6pPr eaLnBrk="0" hangingPunct="0">
              <a:defRPr sz="2000">
                <a:solidFill>
                  <a:schemeClr val="tx1"/>
                </a:solidFill>
                <a:latin typeface="Arial" charset="0"/>
                <a:ea typeface="ＭＳ Ｐゴシック" pitchFamily="-105" charset="-128"/>
              </a:defRPr>
            </a:lvl6pPr>
            <a:lvl7pPr eaLnBrk="0" hangingPunct="0">
              <a:defRPr sz="2000">
                <a:solidFill>
                  <a:schemeClr val="tx1"/>
                </a:solidFill>
                <a:latin typeface="Arial" charset="0"/>
                <a:ea typeface="ＭＳ Ｐゴシック" pitchFamily="-105" charset="-128"/>
              </a:defRPr>
            </a:lvl7pPr>
            <a:lvl8pPr eaLnBrk="0" hangingPunct="0">
              <a:defRPr sz="2000">
                <a:solidFill>
                  <a:schemeClr val="tx1"/>
                </a:solidFill>
                <a:latin typeface="Arial" charset="0"/>
                <a:ea typeface="ＭＳ Ｐゴシック" pitchFamily="-105" charset="-128"/>
              </a:defRPr>
            </a:lvl8pPr>
            <a:lvl9pPr eaLnBrk="0" hangingPunct="0">
              <a:defRPr sz="2000">
                <a:solidFill>
                  <a:schemeClr val="tx1"/>
                </a:solidFill>
                <a:latin typeface="Arial" charset="0"/>
                <a:ea typeface="ＭＳ Ｐゴシック" pitchFamily="-105" charset="-128"/>
              </a:defRPr>
            </a:lvl9pPr>
          </a:lstStyle>
          <a:p>
            <a:fld id="{0AFB752B-9D4D-48FB-A9F1-CCECFEA4EDB7}" type="slidenum">
              <a:rPr lang="en-US" altLang="en-US" sz="1400">
                <a:solidFill>
                  <a:srgbClr val="404040"/>
                </a:solidFill>
              </a:rPr>
              <a:pPr/>
              <a:t>8</a:t>
            </a:fld>
            <a:endParaRPr lang="en-US" altLang="en-US" sz="1400" dirty="0">
              <a:solidFill>
                <a:srgbClr val="404040"/>
              </a:solidFill>
            </a:endParaRPr>
          </a:p>
        </p:txBody>
      </p:sp>
    </p:spTree>
    <p:extLst>
      <p:ext uri="{BB962C8B-B14F-4D97-AF65-F5344CB8AC3E}">
        <p14:creationId xmlns:p14="http://schemas.microsoft.com/office/powerpoint/2010/main" val="372007608"/>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00748" y="592139"/>
            <a:ext cx="7605252" cy="1143000"/>
          </a:xfrm>
        </p:spPr>
        <p:txBody>
          <a:bodyPr>
            <a:normAutofit fontScale="90000"/>
          </a:bodyPr>
          <a:lstStyle/>
          <a:p>
            <a:pPr eaLnBrk="1" hangingPunct="1">
              <a:defRPr/>
            </a:pPr>
            <a:r>
              <a:rPr lang="en-US" b="0" dirty="0">
                <a:latin typeface="Arial Narrow Bold" pitchFamily="-105" charset="0"/>
                <a:ea typeface="ＭＳ Ｐゴシック" pitchFamily="-105" charset="-128"/>
              </a:rPr>
              <a:t>Importance of Supply Chain </a:t>
            </a:r>
            <a:r>
              <a:rPr lang="en-US" b="0" dirty="0" smtClean="0">
                <a:latin typeface="Arial Narrow Bold" pitchFamily="-105" charset="0"/>
                <a:ea typeface="ＭＳ Ｐゴシック" pitchFamily="-105" charset="-128"/>
              </a:rPr>
              <a:t>Management,</a:t>
            </a:r>
            <a:r>
              <a:rPr lang="en-US" b="0" baseline="0" dirty="0" smtClean="0">
                <a:latin typeface="Arial Narrow Bold" pitchFamily="-105" charset="0"/>
                <a:ea typeface="ＭＳ Ｐゴシック" pitchFamily="-105" charset="-128"/>
              </a:rPr>
              <a:t> Part 2</a:t>
            </a:r>
            <a:endParaRPr lang="en-US" sz="1400" b="0" dirty="0">
              <a:latin typeface="Arial Narrow Bold" pitchFamily="-105" charset="0"/>
              <a:ea typeface="ＭＳ Ｐゴシック" pitchFamily="-105" charset="-128"/>
            </a:endParaRPr>
          </a:p>
        </p:txBody>
      </p:sp>
      <p:sp>
        <p:nvSpPr>
          <p:cNvPr id="22533" name="Rectangle 3"/>
          <p:cNvSpPr>
            <a:spLocks noGrp="1" noChangeArrowheads="1"/>
          </p:cNvSpPr>
          <p:nvPr>
            <p:ph type="body" sz="half" idx="1"/>
          </p:nvPr>
        </p:nvSpPr>
        <p:spPr>
          <a:xfrm>
            <a:off x="2217738" y="1914526"/>
            <a:ext cx="7872412" cy="4391025"/>
          </a:xfrm>
        </p:spPr>
        <p:txBody>
          <a:bodyPr/>
          <a:lstStyle/>
          <a:p>
            <a:pPr marL="0" indent="0">
              <a:buNone/>
            </a:pPr>
            <a:r>
              <a:rPr lang="en-US" altLang="en-US" dirty="0">
                <a:ea typeface="ＭＳ Ｐゴシック" pitchFamily="-105" charset="-128"/>
              </a:rPr>
              <a:t>Firms using Supply Chain Management:</a:t>
            </a:r>
          </a:p>
          <a:p>
            <a:pPr marL="914400" lvl="1" indent="-457200">
              <a:buFontTx/>
              <a:buAutoNum type="arabicPeriod"/>
            </a:pPr>
            <a:r>
              <a:rPr lang="en-US" altLang="en-US" sz="2800" dirty="0">
                <a:ea typeface="ＭＳ Ｐゴシック" pitchFamily="-105" charset="-128"/>
              </a:rPr>
              <a:t>Start with key suppliers</a:t>
            </a:r>
          </a:p>
          <a:p>
            <a:pPr marL="914400" lvl="1" indent="-457200">
              <a:buFontTx/>
              <a:buAutoNum type="arabicPeriod"/>
            </a:pPr>
            <a:r>
              <a:rPr lang="en-US" altLang="en-US" sz="2800" dirty="0">
                <a:ea typeface="ＭＳ Ｐゴシック" pitchFamily="-105" charset="-128"/>
              </a:rPr>
              <a:t>Move on to other suppliers, customers, and logistics services</a:t>
            </a:r>
          </a:p>
          <a:p>
            <a:pPr marL="914400" lvl="1" indent="-457200">
              <a:buFontTx/>
              <a:buAutoNum type="arabicPeriod"/>
            </a:pPr>
            <a:r>
              <a:rPr lang="en-US" altLang="en-US" sz="2800" dirty="0">
                <a:ea typeface="ＭＳ Ｐゴシック" pitchFamily="-105" charset="-128"/>
              </a:rPr>
              <a:t>Integrate second tier suppliers and customers (second tier refers to the customer’s customers and the supplier’s suppliers)</a:t>
            </a:r>
          </a:p>
        </p:txBody>
      </p:sp>
      <p:sp>
        <p:nvSpPr>
          <p:cNvPr id="22531" name="Slide Number Placeholder 5"/>
          <p:cNvSpPr>
            <a:spLocks noGrp="1"/>
          </p:cNvSpPr>
          <p:nvPr>
            <p:ph type="sldNum" sz="quarter" idx="11"/>
          </p:nvPr>
        </p:nvSpPr>
        <p:spPr>
          <a:xfrm>
            <a:off x="11194610" y="6385351"/>
            <a:ext cx="609600" cy="320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pitchFamily="-105" charset="-128"/>
              </a:defRPr>
            </a:lvl1pPr>
            <a:lvl2pPr>
              <a:defRPr sz="2400">
                <a:solidFill>
                  <a:schemeClr val="tx1"/>
                </a:solidFill>
                <a:latin typeface="Arial" charset="0"/>
                <a:ea typeface="ＭＳ Ｐゴシック" pitchFamily="-105" charset="-128"/>
              </a:defRPr>
            </a:lvl2pPr>
            <a:lvl3pPr>
              <a:defRPr sz="2000">
                <a:solidFill>
                  <a:schemeClr val="tx1"/>
                </a:solidFill>
                <a:latin typeface="Arial" charset="0"/>
                <a:ea typeface="ＭＳ Ｐゴシック" pitchFamily="-105" charset="-128"/>
              </a:defRPr>
            </a:lvl3pPr>
            <a:lvl4pPr>
              <a:defRPr sz="2000">
                <a:solidFill>
                  <a:schemeClr val="tx1"/>
                </a:solidFill>
                <a:latin typeface="Arial" charset="0"/>
                <a:ea typeface="ＭＳ Ｐゴシック" pitchFamily="-105" charset="-128"/>
              </a:defRPr>
            </a:lvl4pPr>
            <a:lvl5pPr>
              <a:defRPr sz="2000">
                <a:solidFill>
                  <a:schemeClr val="tx1"/>
                </a:solidFill>
                <a:latin typeface="Arial" charset="0"/>
                <a:ea typeface="ＭＳ Ｐゴシック" pitchFamily="-105" charset="-128"/>
              </a:defRPr>
            </a:lvl5pPr>
            <a:lvl6pPr eaLnBrk="0" hangingPunct="0">
              <a:defRPr sz="2000">
                <a:solidFill>
                  <a:schemeClr val="tx1"/>
                </a:solidFill>
                <a:latin typeface="Arial" charset="0"/>
                <a:ea typeface="ＭＳ Ｐゴシック" pitchFamily="-105" charset="-128"/>
              </a:defRPr>
            </a:lvl6pPr>
            <a:lvl7pPr eaLnBrk="0" hangingPunct="0">
              <a:defRPr sz="2000">
                <a:solidFill>
                  <a:schemeClr val="tx1"/>
                </a:solidFill>
                <a:latin typeface="Arial" charset="0"/>
                <a:ea typeface="ＭＳ Ｐゴシック" pitchFamily="-105" charset="-128"/>
              </a:defRPr>
            </a:lvl7pPr>
            <a:lvl8pPr eaLnBrk="0" hangingPunct="0">
              <a:defRPr sz="2000">
                <a:solidFill>
                  <a:schemeClr val="tx1"/>
                </a:solidFill>
                <a:latin typeface="Arial" charset="0"/>
                <a:ea typeface="ＭＳ Ｐゴシック" pitchFamily="-105" charset="-128"/>
              </a:defRPr>
            </a:lvl8pPr>
            <a:lvl9pPr eaLnBrk="0" hangingPunct="0">
              <a:defRPr sz="2000">
                <a:solidFill>
                  <a:schemeClr val="tx1"/>
                </a:solidFill>
                <a:latin typeface="Arial" charset="0"/>
                <a:ea typeface="ＭＳ Ｐゴシック" pitchFamily="-105" charset="-128"/>
              </a:defRPr>
            </a:lvl9pPr>
          </a:lstStyle>
          <a:p>
            <a:fld id="{1DA053E3-EA2A-4BE4-B7F6-C2C7697D2AFC}" type="slidenum">
              <a:rPr lang="en-US" altLang="en-US" sz="1400">
                <a:solidFill>
                  <a:srgbClr val="404040"/>
                </a:solidFill>
              </a:rPr>
              <a:pPr/>
              <a:t>9</a:t>
            </a:fld>
            <a:endParaRPr lang="en-US" altLang="en-US" sz="1400">
              <a:solidFill>
                <a:srgbClr val="404040"/>
              </a:solidFill>
            </a:endParaRPr>
          </a:p>
        </p:txBody>
      </p:sp>
    </p:spTree>
    <p:extLst>
      <p:ext uri="{BB962C8B-B14F-4D97-AF65-F5344CB8AC3E}">
        <p14:creationId xmlns:p14="http://schemas.microsoft.com/office/powerpoint/2010/main" val="1910544456"/>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838200" y="562446"/>
            <a:ext cx="9888794" cy="1325563"/>
          </a:xfrm>
        </p:spPr>
        <p:txBody>
          <a:bodyPr/>
          <a:lstStyle/>
          <a:p>
            <a:pPr eaLnBrk="1" hangingPunct="1">
              <a:defRPr/>
            </a:pPr>
            <a:r>
              <a:rPr lang="en-US" dirty="0">
                <a:latin typeface="Arial Narrow Bold" pitchFamily="-105" charset="0"/>
                <a:ea typeface="ＭＳ Ｐゴシック" pitchFamily="-105" charset="-128"/>
              </a:rPr>
              <a:t>Importance of Supply Chain </a:t>
            </a:r>
            <a:r>
              <a:rPr lang="en-US" dirty="0" smtClean="0">
                <a:latin typeface="Arial Narrow Bold" pitchFamily="-105" charset="0"/>
                <a:ea typeface="ＭＳ Ｐゴシック" pitchFamily="-105" charset="-128"/>
              </a:rPr>
              <a:t>Management,</a:t>
            </a:r>
            <a:r>
              <a:rPr lang="en-US" baseline="0" dirty="0" smtClean="0">
                <a:latin typeface="Arial Narrow Bold" pitchFamily="-105" charset="0"/>
                <a:ea typeface="ＭＳ Ｐゴシック" pitchFamily="-105" charset="-128"/>
              </a:rPr>
              <a:t> Part 3</a:t>
            </a:r>
            <a:endParaRPr lang="en-US" sz="1200" dirty="0">
              <a:latin typeface="Arial Narrow Bold" pitchFamily="-105" charset="0"/>
              <a:ea typeface="ＭＳ Ｐゴシック" pitchFamily="-105" charset="-128"/>
            </a:endParaRPr>
          </a:p>
        </p:txBody>
      </p:sp>
      <p:sp>
        <p:nvSpPr>
          <p:cNvPr id="23557" name="Rectangle 3"/>
          <p:cNvSpPr>
            <a:spLocks noGrp="1" noChangeArrowheads="1"/>
          </p:cNvSpPr>
          <p:nvPr>
            <p:ph type="body" idx="1"/>
          </p:nvPr>
        </p:nvSpPr>
        <p:spPr>
          <a:xfrm>
            <a:off x="2209800" y="2108200"/>
            <a:ext cx="8034337" cy="4613275"/>
          </a:xfrm>
        </p:spPr>
        <p:txBody>
          <a:bodyPr/>
          <a:lstStyle/>
          <a:p>
            <a:pPr marL="0" indent="0">
              <a:spcAft>
                <a:spcPts val="1200"/>
              </a:spcAft>
              <a:buNone/>
            </a:pPr>
            <a:r>
              <a:rPr lang="en-US" altLang="en-US" sz="2400" dirty="0">
                <a:ea typeface="ＭＳ Ｐゴシック" pitchFamily="-105" charset="-128"/>
              </a:rPr>
              <a:t>Cost savings and better coordination of resources are reasons to employ Supply Chain Management </a:t>
            </a:r>
          </a:p>
          <a:p>
            <a:pPr lvl="1" eaLnBrk="1" hangingPunct="1"/>
            <a:r>
              <a:rPr lang="en-US" altLang="en-US" b="1" dirty="0">
                <a:solidFill>
                  <a:srgbClr val="FF6600"/>
                </a:solidFill>
                <a:ea typeface="ＭＳ Ｐゴシック" pitchFamily="-105" charset="-128"/>
              </a:rPr>
              <a:t>Reduced Bullwhip Effect </a:t>
            </a:r>
            <a:endParaRPr lang="en-US" altLang="en-US" dirty="0">
              <a:ea typeface="ＭＳ Ｐゴシック" pitchFamily="-105" charset="-128"/>
            </a:endParaRPr>
          </a:p>
          <a:p>
            <a:pPr lvl="2" eaLnBrk="1" hangingPunct="1"/>
            <a:r>
              <a:rPr lang="en-US" altLang="en-US" sz="2400" dirty="0">
                <a:ea typeface="ＭＳ Ｐゴシック" pitchFamily="-105" charset="-128"/>
              </a:rPr>
              <a:t>Defined as: Erratic demand forecasts causing excess safety stocks, which cause production planning problems. </a:t>
            </a:r>
          </a:p>
          <a:p>
            <a:pPr lvl="2" eaLnBrk="1" hangingPunct="1"/>
            <a:r>
              <a:rPr lang="en-US" altLang="en-US" sz="2400" dirty="0">
                <a:ea typeface="ＭＳ Ｐゴシック" pitchFamily="-105" charset="-128"/>
              </a:rPr>
              <a:t>SCM reduces safety stocks and costs due to coordinated planning and better sharing of </a:t>
            </a:r>
            <a:r>
              <a:rPr lang="en-US" altLang="en-US" sz="2400" dirty="0" smtClean="0">
                <a:ea typeface="ＭＳ Ｐゴシック" pitchFamily="-105" charset="-128"/>
              </a:rPr>
              <a:t>information</a:t>
            </a:r>
            <a:endParaRPr lang="en-US" altLang="en-US" sz="2400" dirty="0">
              <a:ea typeface="ＭＳ Ｐゴシック" pitchFamily="-105" charset="-128"/>
            </a:endParaRPr>
          </a:p>
        </p:txBody>
      </p:sp>
      <p:sp>
        <p:nvSpPr>
          <p:cNvPr id="23555" name="Slide Number Placeholder 4"/>
          <p:cNvSpPr>
            <a:spLocks noGrp="1"/>
          </p:cNvSpPr>
          <p:nvPr>
            <p:ph type="sldNum" sz="quarter" idx="11"/>
          </p:nvPr>
        </p:nvSpPr>
        <p:spPr>
          <a:xfrm>
            <a:off x="11027875" y="6356350"/>
            <a:ext cx="1164125"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pitchFamily="-105" charset="-128"/>
              </a:defRPr>
            </a:lvl1pPr>
            <a:lvl2pPr>
              <a:defRPr sz="2400">
                <a:solidFill>
                  <a:schemeClr val="tx1"/>
                </a:solidFill>
                <a:latin typeface="Arial" charset="0"/>
                <a:ea typeface="ＭＳ Ｐゴシック" pitchFamily="-105" charset="-128"/>
              </a:defRPr>
            </a:lvl2pPr>
            <a:lvl3pPr>
              <a:defRPr sz="2000">
                <a:solidFill>
                  <a:schemeClr val="tx1"/>
                </a:solidFill>
                <a:latin typeface="Arial" charset="0"/>
                <a:ea typeface="ＭＳ Ｐゴシック" pitchFamily="-105" charset="-128"/>
              </a:defRPr>
            </a:lvl3pPr>
            <a:lvl4pPr>
              <a:defRPr sz="2000">
                <a:solidFill>
                  <a:schemeClr val="tx1"/>
                </a:solidFill>
                <a:latin typeface="Arial" charset="0"/>
                <a:ea typeface="ＭＳ Ｐゴシック" pitchFamily="-105" charset="-128"/>
              </a:defRPr>
            </a:lvl4pPr>
            <a:lvl5pPr>
              <a:defRPr sz="2000">
                <a:solidFill>
                  <a:schemeClr val="tx1"/>
                </a:solidFill>
                <a:latin typeface="Arial" charset="0"/>
                <a:ea typeface="ＭＳ Ｐゴシック" pitchFamily="-105" charset="-128"/>
              </a:defRPr>
            </a:lvl5pPr>
            <a:lvl6pPr eaLnBrk="0" hangingPunct="0">
              <a:defRPr sz="2000">
                <a:solidFill>
                  <a:schemeClr val="tx1"/>
                </a:solidFill>
                <a:latin typeface="Arial" charset="0"/>
                <a:ea typeface="ＭＳ Ｐゴシック" pitchFamily="-105" charset="-128"/>
              </a:defRPr>
            </a:lvl6pPr>
            <a:lvl7pPr eaLnBrk="0" hangingPunct="0">
              <a:defRPr sz="2000">
                <a:solidFill>
                  <a:schemeClr val="tx1"/>
                </a:solidFill>
                <a:latin typeface="Arial" charset="0"/>
                <a:ea typeface="ＭＳ Ｐゴシック" pitchFamily="-105" charset="-128"/>
              </a:defRPr>
            </a:lvl7pPr>
            <a:lvl8pPr eaLnBrk="0" hangingPunct="0">
              <a:defRPr sz="2000">
                <a:solidFill>
                  <a:schemeClr val="tx1"/>
                </a:solidFill>
                <a:latin typeface="Arial" charset="0"/>
                <a:ea typeface="ＭＳ Ｐゴシック" pitchFamily="-105" charset="-128"/>
              </a:defRPr>
            </a:lvl8pPr>
            <a:lvl9pPr eaLnBrk="0" hangingPunct="0">
              <a:defRPr sz="2000">
                <a:solidFill>
                  <a:schemeClr val="tx1"/>
                </a:solidFill>
                <a:latin typeface="Arial" charset="0"/>
                <a:ea typeface="ＭＳ Ｐゴシック" pitchFamily="-105" charset="-128"/>
              </a:defRPr>
            </a:lvl9pPr>
          </a:lstStyle>
          <a:p>
            <a:fld id="{CB2DE434-F07C-40D0-8D8A-3B38A8994DBE}" type="slidenum">
              <a:rPr lang="en-US" altLang="en-US" sz="1400">
                <a:solidFill>
                  <a:srgbClr val="404040"/>
                </a:solidFill>
              </a:rPr>
              <a:pPr/>
              <a:t>10</a:t>
            </a:fld>
            <a:endParaRPr lang="en-US" altLang="en-US" sz="1400" dirty="0">
              <a:solidFill>
                <a:srgbClr val="404040"/>
              </a:solidFill>
            </a:endParaRPr>
          </a:p>
        </p:txBody>
      </p:sp>
    </p:spTree>
    <p:extLst>
      <p:ext uri="{BB962C8B-B14F-4D97-AF65-F5344CB8AC3E}">
        <p14:creationId xmlns:p14="http://schemas.microsoft.com/office/powerpoint/2010/main" val="4108995988"/>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936120" y="657898"/>
            <a:ext cx="10515600" cy="713702"/>
          </a:xfrm>
        </p:spPr>
        <p:txBody>
          <a:bodyPr/>
          <a:lstStyle/>
          <a:p>
            <a:pPr eaLnBrk="1" hangingPunct="1">
              <a:defRPr/>
            </a:pPr>
            <a:r>
              <a:rPr lang="en-US" b="0" dirty="0">
                <a:latin typeface="Arial Narrow Bold" pitchFamily="-105" charset="0"/>
                <a:ea typeface="ＭＳ Ｐゴシック" pitchFamily="-105" charset="-128"/>
              </a:rPr>
              <a:t>Origins of Supply Chain </a:t>
            </a:r>
            <a:r>
              <a:rPr lang="en-US" b="0" dirty="0" smtClean="0">
                <a:latin typeface="Arial Narrow Bold" pitchFamily="-105" charset="0"/>
                <a:ea typeface="ＭＳ Ｐゴシック" pitchFamily="-105" charset="-128"/>
              </a:rPr>
              <a:t>Management</a:t>
            </a:r>
            <a:r>
              <a:rPr lang="en-US" sz="3200" b="0" dirty="0" smtClean="0">
                <a:latin typeface="Arial Narrow Bold" pitchFamily="-105" charset="0"/>
                <a:ea typeface="ＭＳ Ｐゴシック" pitchFamily="-105" charset="-128"/>
              </a:rPr>
              <a:t>,</a:t>
            </a:r>
            <a:r>
              <a:rPr lang="en-US" sz="3200" b="0" baseline="0" dirty="0" smtClean="0">
                <a:latin typeface="Arial Narrow Bold" pitchFamily="-105" charset="0"/>
                <a:ea typeface="ＭＳ Ｐゴシック" pitchFamily="-105" charset="-128"/>
              </a:rPr>
              <a:t> Part 1</a:t>
            </a:r>
            <a:endParaRPr lang="en-US" sz="1400" b="0" dirty="0">
              <a:latin typeface="Arial Narrow Bold" pitchFamily="-105" charset="0"/>
              <a:ea typeface="ＭＳ Ｐゴシック" pitchFamily="-105" charset="-128"/>
            </a:endParaRPr>
          </a:p>
        </p:txBody>
      </p:sp>
      <p:pic>
        <p:nvPicPr>
          <p:cNvPr id="24581" name="Picture 7" descr="A timeline from the 1950s, to the 2000s, and the Future. Traditional mas manufacturing starts in the 1950s and ends in the 1970s. Inventory management, M R P, M R P I I and cost containment starts in the mid-1960s and ends in the late 1980s. J I T, T Q M, B P R, supplier and customer alliances starts in the late 1970s and ends in the late 1990s. Supply chain relationship formation, sustainability, social responsibility starts in the 1990s and ends in the Future. Increased supply chain capabilities start in the mid-2000s and continues in the Fu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9448" y="1683524"/>
            <a:ext cx="7473600" cy="4506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Slide Number Placeholder 4"/>
          <p:cNvSpPr>
            <a:spLocks noGrp="1"/>
          </p:cNvSpPr>
          <p:nvPr>
            <p:ph type="sldNum" sz="quarter" idx="11"/>
          </p:nvPr>
        </p:nvSpPr>
        <p:spPr>
          <a:xfrm>
            <a:off x="11090496" y="6338243"/>
            <a:ext cx="1037376"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pitchFamily="-105" charset="-128"/>
              </a:defRPr>
            </a:lvl1pPr>
            <a:lvl2pPr>
              <a:defRPr sz="2400">
                <a:solidFill>
                  <a:schemeClr val="tx1"/>
                </a:solidFill>
                <a:latin typeface="Arial" charset="0"/>
                <a:ea typeface="ＭＳ Ｐゴシック" pitchFamily="-105" charset="-128"/>
              </a:defRPr>
            </a:lvl2pPr>
            <a:lvl3pPr>
              <a:defRPr sz="2000">
                <a:solidFill>
                  <a:schemeClr val="tx1"/>
                </a:solidFill>
                <a:latin typeface="Arial" charset="0"/>
                <a:ea typeface="ＭＳ Ｐゴシック" pitchFamily="-105" charset="-128"/>
              </a:defRPr>
            </a:lvl3pPr>
            <a:lvl4pPr>
              <a:defRPr sz="2000">
                <a:solidFill>
                  <a:schemeClr val="tx1"/>
                </a:solidFill>
                <a:latin typeface="Arial" charset="0"/>
                <a:ea typeface="ＭＳ Ｐゴシック" pitchFamily="-105" charset="-128"/>
              </a:defRPr>
            </a:lvl4pPr>
            <a:lvl5pPr>
              <a:defRPr sz="2000">
                <a:solidFill>
                  <a:schemeClr val="tx1"/>
                </a:solidFill>
                <a:latin typeface="Arial" charset="0"/>
                <a:ea typeface="ＭＳ Ｐゴシック" pitchFamily="-105" charset="-128"/>
              </a:defRPr>
            </a:lvl5pPr>
            <a:lvl6pPr eaLnBrk="0" hangingPunct="0">
              <a:defRPr sz="2000">
                <a:solidFill>
                  <a:schemeClr val="tx1"/>
                </a:solidFill>
                <a:latin typeface="Arial" charset="0"/>
                <a:ea typeface="ＭＳ Ｐゴシック" pitchFamily="-105" charset="-128"/>
              </a:defRPr>
            </a:lvl6pPr>
            <a:lvl7pPr eaLnBrk="0" hangingPunct="0">
              <a:defRPr sz="2000">
                <a:solidFill>
                  <a:schemeClr val="tx1"/>
                </a:solidFill>
                <a:latin typeface="Arial" charset="0"/>
                <a:ea typeface="ＭＳ Ｐゴシック" pitchFamily="-105" charset="-128"/>
              </a:defRPr>
            </a:lvl7pPr>
            <a:lvl8pPr eaLnBrk="0" hangingPunct="0">
              <a:defRPr sz="2000">
                <a:solidFill>
                  <a:schemeClr val="tx1"/>
                </a:solidFill>
                <a:latin typeface="Arial" charset="0"/>
                <a:ea typeface="ＭＳ Ｐゴシック" pitchFamily="-105" charset="-128"/>
              </a:defRPr>
            </a:lvl8pPr>
            <a:lvl9pPr eaLnBrk="0" hangingPunct="0">
              <a:defRPr sz="2000">
                <a:solidFill>
                  <a:schemeClr val="tx1"/>
                </a:solidFill>
                <a:latin typeface="Arial" charset="0"/>
                <a:ea typeface="ＭＳ Ｐゴシック" pitchFamily="-105" charset="-128"/>
              </a:defRPr>
            </a:lvl9pPr>
          </a:lstStyle>
          <a:p>
            <a:fld id="{7F423252-EFA1-4EDD-BBE2-0AC48A6773AC}" type="slidenum">
              <a:rPr lang="en-US" altLang="en-US" sz="1400">
                <a:solidFill>
                  <a:srgbClr val="404040"/>
                </a:solidFill>
              </a:rPr>
              <a:pPr/>
              <a:t>11</a:t>
            </a:fld>
            <a:endParaRPr lang="en-US" altLang="en-US" sz="1400" dirty="0">
              <a:solidFill>
                <a:srgbClr val="404040"/>
              </a:solidFill>
            </a:endParaRPr>
          </a:p>
        </p:txBody>
      </p:sp>
    </p:spTree>
    <p:extLst>
      <p:ext uri="{BB962C8B-B14F-4D97-AF65-F5344CB8AC3E}">
        <p14:creationId xmlns:p14="http://schemas.microsoft.com/office/powerpoint/2010/main" val="2319659424"/>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089404" y="434975"/>
            <a:ext cx="8013192" cy="1325563"/>
          </a:xfrm>
        </p:spPr>
        <p:txBody>
          <a:bodyPr/>
          <a:lstStyle/>
          <a:p>
            <a:pPr>
              <a:defRPr/>
            </a:pPr>
            <a:r>
              <a:rPr lang="en-US" dirty="0" smtClean="0">
                <a:latin typeface="Arial Narrow" panose="020B0606020202030204" pitchFamily="34" charset="0"/>
              </a:rPr>
              <a:t>Origins of Supply Chain </a:t>
            </a:r>
            <a:r>
              <a:rPr lang="en-US" dirty="0" smtClean="0">
                <a:latin typeface="Arial Narrow" panose="020B0606020202030204" pitchFamily="34" charset="0"/>
              </a:rPr>
              <a:t>Management,</a:t>
            </a:r>
            <a:r>
              <a:rPr lang="en-US" baseline="0" dirty="0" smtClean="0">
                <a:latin typeface="Arial Narrow" panose="020B0606020202030204" pitchFamily="34" charset="0"/>
              </a:rPr>
              <a:t> Part 2</a:t>
            </a:r>
            <a:endParaRPr lang="en-US" dirty="0">
              <a:latin typeface="Arial Narrow" panose="020B0606020202030204" pitchFamily="34" charset="0"/>
            </a:endParaRPr>
          </a:p>
        </p:txBody>
      </p:sp>
      <p:sp>
        <p:nvSpPr>
          <p:cNvPr id="25605" name="Rectangle 3"/>
          <p:cNvSpPr>
            <a:spLocks noGrp="1" noChangeArrowheads="1"/>
          </p:cNvSpPr>
          <p:nvPr>
            <p:ph type="body" idx="1"/>
          </p:nvPr>
        </p:nvSpPr>
        <p:spPr>
          <a:xfrm>
            <a:off x="2227264" y="1787697"/>
            <a:ext cx="7983537" cy="4106862"/>
          </a:xfrm>
        </p:spPr>
        <p:txBody>
          <a:bodyPr/>
          <a:lstStyle/>
          <a:p>
            <a:pPr eaLnBrk="1" hangingPunct="1">
              <a:buFontTx/>
              <a:buNone/>
            </a:pPr>
            <a:r>
              <a:rPr lang="en-US" altLang="en-US" b="1" dirty="0">
                <a:ea typeface="ＭＳ Ｐゴシック" pitchFamily="-105" charset="-128"/>
              </a:rPr>
              <a:t>1950s-1960s</a:t>
            </a:r>
          </a:p>
          <a:p>
            <a:pPr eaLnBrk="1" hangingPunct="1">
              <a:buFontTx/>
              <a:buNone/>
            </a:pPr>
            <a:r>
              <a:rPr lang="en-US" altLang="en-US" dirty="0">
                <a:ea typeface="ＭＳ Ｐゴシック" pitchFamily="-105" charset="-128"/>
              </a:rPr>
              <a:t>	</a:t>
            </a:r>
            <a:r>
              <a:rPr lang="en-US" altLang="en-US" sz="2400" dirty="0">
                <a:ea typeface="ＭＳ Ｐゴシック" pitchFamily="-105" charset="-128"/>
              </a:rPr>
              <a:t>U.S. manufacturers focused on mass production techniques as their principal cost reduction and productivity improvement strategies</a:t>
            </a:r>
          </a:p>
          <a:p>
            <a:pPr>
              <a:spcBef>
                <a:spcPts val="1875"/>
              </a:spcBef>
              <a:buNone/>
            </a:pPr>
            <a:r>
              <a:rPr lang="en-US" altLang="en-US" b="1" dirty="0">
                <a:ea typeface="ＭＳ Ｐゴシック" pitchFamily="-105" charset="-128"/>
              </a:rPr>
              <a:t>1960s-1970s</a:t>
            </a:r>
          </a:p>
          <a:p>
            <a:pPr eaLnBrk="1" hangingPunct="1">
              <a:buFontTx/>
              <a:buNone/>
            </a:pPr>
            <a:r>
              <a:rPr lang="en-US" altLang="en-US" dirty="0">
                <a:ea typeface="ＭＳ Ｐゴシック" pitchFamily="-105" charset="-128"/>
              </a:rPr>
              <a:t>	</a:t>
            </a:r>
            <a:r>
              <a:rPr lang="en-US" altLang="en-US" sz="2400" dirty="0">
                <a:ea typeface="ＭＳ Ｐゴシック" pitchFamily="-105" charset="-128"/>
              </a:rPr>
              <a:t>Introduction of new computer technologies lead to development of </a:t>
            </a:r>
            <a:r>
              <a:rPr lang="en-US" altLang="en-US" sz="2400" b="1" dirty="0">
                <a:solidFill>
                  <a:srgbClr val="FF6600"/>
                </a:solidFill>
                <a:ea typeface="ＭＳ Ｐゴシック" pitchFamily="-105" charset="-128"/>
              </a:rPr>
              <a:t>Materials Requirements Planning (MRP)</a:t>
            </a:r>
            <a:r>
              <a:rPr lang="en-US" altLang="en-US" sz="2400" dirty="0">
                <a:ea typeface="ＭＳ Ｐゴシック" pitchFamily="-105" charset="-128"/>
              </a:rPr>
              <a:t> and </a:t>
            </a:r>
            <a:r>
              <a:rPr lang="en-US" altLang="en-US" sz="2400" b="1" dirty="0">
                <a:solidFill>
                  <a:srgbClr val="FF6600"/>
                </a:solidFill>
                <a:ea typeface="ＭＳ Ｐゴシック" pitchFamily="-105" charset="-128"/>
              </a:rPr>
              <a:t>Manufacturing Resource Planning (MRPII) </a:t>
            </a:r>
            <a:r>
              <a:rPr lang="en-US" altLang="en-US" sz="2400" dirty="0">
                <a:ea typeface="ＭＳ Ｐゴシック" pitchFamily="-105" charset="-128"/>
              </a:rPr>
              <a:t>to coordinate inventory management and improve internal communication</a:t>
            </a:r>
          </a:p>
        </p:txBody>
      </p:sp>
      <p:sp>
        <p:nvSpPr>
          <p:cNvPr id="25603" name="Slide Number Placeholder 4"/>
          <p:cNvSpPr>
            <a:spLocks noGrp="1"/>
          </p:cNvSpPr>
          <p:nvPr>
            <p:ph type="sldNum" sz="quarter" idx="11"/>
          </p:nvPr>
        </p:nvSpPr>
        <p:spPr>
          <a:xfrm>
            <a:off x="11073143" y="6365403"/>
            <a:ext cx="1118857"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pitchFamily="-105" charset="-128"/>
              </a:defRPr>
            </a:lvl1pPr>
            <a:lvl2pPr>
              <a:defRPr sz="2400">
                <a:solidFill>
                  <a:schemeClr val="tx1"/>
                </a:solidFill>
                <a:latin typeface="Arial" charset="0"/>
                <a:ea typeface="ＭＳ Ｐゴシック" pitchFamily="-105" charset="-128"/>
              </a:defRPr>
            </a:lvl2pPr>
            <a:lvl3pPr>
              <a:defRPr sz="2000">
                <a:solidFill>
                  <a:schemeClr val="tx1"/>
                </a:solidFill>
                <a:latin typeface="Arial" charset="0"/>
                <a:ea typeface="ＭＳ Ｐゴシック" pitchFamily="-105" charset="-128"/>
              </a:defRPr>
            </a:lvl3pPr>
            <a:lvl4pPr>
              <a:defRPr sz="2000">
                <a:solidFill>
                  <a:schemeClr val="tx1"/>
                </a:solidFill>
                <a:latin typeface="Arial" charset="0"/>
                <a:ea typeface="ＭＳ Ｐゴシック" pitchFamily="-105" charset="-128"/>
              </a:defRPr>
            </a:lvl4pPr>
            <a:lvl5pPr>
              <a:defRPr sz="2000">
                <a:solidFill>
                  <a:schemeClr val="tx1"/>
                </a:solidFill>
                <a:latin typeface="Arial" charset="0"/>
                <a:ea typeface="ＭＳ Ｐゴシック" pitchFamily="-105" charset="-128"/>
              </a:defRPr>
            </a:lvl5pPr>
            <a:lvl6pPr eaLnBrk="0" hangingPunct="0">
              <a:defRPr sz="2000">
                <a:solidFill>
                  <a:schemeClr val="tx1"/>
                </a:solidFill>
                <a:latin typeface="Arial" charset="0"/>
                <a:ea typeface="ＭＳ Ｐゴシック" pitchFamily="-105" charset="-128"/>
              </a:defRPr>
            </a:lvl6pPr>
            <a:lvl7pPr eaLnBrk="0" hangingPunct="0">
              <a:defRPr sz="2000">
                <a:solidFill>
                  <a:schemeClr val="tx1"/>
                </a:solidFill>
                <a:latin typeface="Arial" charset="0"/>
                <a:ea typeface="ＭＳ Ｐゴシック" pitchFamily="-105" charset="-128"/>
              </a:defRPr>
            </a:lvl7pPr>
            <a:lvl8pPr eaLnBrk="0" hangingPunct="0">
              <a:defRPr sz="2000">
                <a:solidFill>
                  <a:schemeClr val="tx1"/>
                </a:solidFill>
                <a:latin typeface="Arial" charset="0"/>
                <a:ea typeface="ＭＳ Ｐゴシック" pitchFamily="-105" charset="-128"/>
              </a:defRPr>
            </a:lvl8pPr>
            <a:lvl9pPr eaLnBrk="0" hangingPunct="0">
              <a:defRPr sz="2000">
                <a:solidFill>
                  <a:schemeClr val="tx1"/>
                </a:solidFill>
                <a:latin typeface="Arial" charset="0"/>
                <a:ea typeface="ＭＳ Ｐゴシック" pitchFamily="-105" charset="-128"/>
              </a:defRPr>
            </a:lvl9pPr>
          </a:lstStyle>
          <a:p>
            <a:fld id="{C07FD8EE-EBAE-4147-8EB1-AB13E3FF3254}" type="slidenum">
              <a:rPr lang="en-US" altLang="en-US" sz="1400">
                <a:solidFill>
                  <a:srgbClr val="404040"/>
                </a:solidFill>
              </a:rPr>
              <a:pPr/>
              <a:t>12</a:t>
            </a:fld>
            <a:endParaRPr lang="en-US" altLang="en-US" sz="1400" dirty="0">
              <a:solidFill>
                <a:srgbClr val="404040"/>
              </a:solidFill>
            </a:endParaRPr>
          </a:p>
        </p:txBody>
      </p:sp>
    </p:spTree>
    <p:extLst>
      <p:ext uri="{BB962C8B-B14F-4D97-AF65-F5344CB8AC3E}">
        <p14:creationId xmlns:p14="http://schemas.microsoft.com/office/powerpoint/2010/main" val="483532747"/>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984360" y="584201"/>
            <a:ext cx="7021130" cy="1143000"/>
          </a:xfrm>
        </p:spPr>
        <p:txBody>
          <a:bodyPr>
            <a:normAutofit fontScale="90000"/>
          </a:bodyPr>
          <a:lstStyle/>
          <a:p>
            <a:pPr eaLnBrk="1" hangingPunct="1">
              <a:defRPr/>
            </a:pPr>
            <a:r>
              <a:rPr lang="en-US" b="0" dirty="0">
                <a:latin typeface="Arial Narrow Bold" pitchFamily="-105" charset="0"/>
                <a:ea typeface="ＭＳ Ｐゴシック" pitchFamily="-105" charset="-128"/>
              </a:rPr>
              <a:t>Origins of Supply Chain </a:t>
            </a:r>
            <a:r>
              <a:rPr lang="en-US" b="0" dirty="0" smtClean="0">
                <a:latin typeface="Arial Narrow Bold" pitchFamily="-105" charset="0"/>
                <a:ea typeface="ＭＳ Ｐゴシック" pitchFamily="-105" charset="-128"/>
              </a:rPr>
              <a:t>Management,</a:t>
            </a:r>
            <a:r>
              <a:rPr lang="en-US" b="0" baseline="0" dirty="0" smtClean="0">
                <a:latin typeface="Arial Narrow Bold" pitchFamily="-105" charset="0"/>
                <a:ea typeface="ＭＳ Ｐゴシック" pitchFamily="-105" charset="-128"/>
              </a:rPr>
              <a:t> Part 3</a:t>
            </a:r>
            <a:endParaRPr lang="en-US" sz="1400" b="0" dirty="0">
              <a:latin typeface="Arial Narrow Bold" pitchFamily="-105" charset="0"/>
              <a:ea typeface="ＭＳ Ｐゴシック" pitchFamily="-105" charset="-128"/>
            </a:endParaRPr>
          </a:p>
        </p:txBody>
      </p:sp>
      <p:sp>
        <p:nvSpPr>
          <p:cNvPr id="26629" name="Rectangle 3"/>
          <p:cNvSpPr>
            <a:spLocks noGrp="1" noChangeArrowheads="1"/>
          </p:cNvSpPr>
          <p:nvPr>
            <p:ph type="body" sz="half" idx="1"/>
          </p:nvPr>
        </p:nvSpPr>
        <p:spPr>
          <a:xfrm>
            <a:off x="2265363" y="1893888"/>
            <a:ext cx="7945437" cy="4398963"/>
          </a:xfrm>
        </p:spPr>
        <p:txBody>
          <a:bodyPr/>
          <a:lstStyle/>
          <a:p>
            <a:pPr eaLnBrk="1" hangingPunct="1">
              <a:lnSpc>
                <a:spcPct val="90000"/>
              </a:lnSpc>
              <a:buFontTx/>
              <a:buNone/>
            </a:pPr>
            <a:r>
              <a:rPr lang="en-US" altLang="en-US" b="1" dirty="0">
                <a:ea typeface="ＭＳ Ｐゴシック" pitchFamily="-105" charset="-128"/>
              </a:rPr>
              <a:t>1980s-1990s</a:t>
            </a:r>
          </a:p>
          <a:p>
            <a:pPr eaLnBrk="1" hangingPunct="1">
              <a:lnSpc>
                <a:spcPct val="90000"/>
              </a:lnSpc>
              <a:buFontTx/>
              <a:buNone/>
            </a:pPr>
            <a:r>
              <a:rPr lang="en-US" altLang="en-US" dirty="0">
                <a:ea typeface="ＭＳ Ｐゴシック" pitchFamily="-105" charset="-128"/>
              </a:rPr>
              <a:t>	Intense global competition led U.S. manufacturers to adopt: </a:t>
            </a:r>
          </a:p>
          <a:p>
            <a:pPr lvl="1" eaLnBrk="1" hangingPunct="1">
              <a:lnSpc>
                <a:spcPct val="90000"/>
              </a:lnSpc>
            </a:pPr>
            <a:r>
              <a:rPr lang="en-US" altLang="en-US" b="1" dirty="0">
                <a:solidFill>
                  <a:srgbClr val="FF6600"/>
                </a:solidFill>
                <a:ea typeface="ＭＳ Ｐゴシック" pitchFamily="-105" charset="-128"/>
              </a:rPr>
              <a:t>Supply Chain Management (SCM) </a:t>
            </a:r>
          </a:p>
          <a:p>
            <a:pPr lvl="1" eaLnBrk="1" hangingPunct="1">
              <a:lnSpc>
                <a:spcPct val="90000"/>
              </a:lnSpc>
            </a:pPr>
            <a:r>
              <a:rPr lang="en-US" altLang="en-US" b="1" dirty="0">
                <a:solidFill>
                  <a:srgbClr val="FF6600"/>
                </a:solidFill>
                <a:ea typeface="ＭＳ Ｐゴシック" pitchFamily="-105" charset="-128"/>
              </a:rPr>
              <a:t>Just-In-Time (JIT)</a:t>
            </a:r>
          </a:p>
          <a:p>
            <a:pPr lvl="1" eaLnBrk="1" hangingPunct="1">
              <a:lnSpc>
                <a:spcPct val="90000"/>
              </a:lnSpc>
            </a:pPr>
            <a:r>
              <a:rPr lang="en-US" altLang="en-US" b="1" dirty="0">
                <a:solidFill>
                  <a:srgbClr val="FF6600"/>
                </a:solidFill>
                <a:ea typeface="ＭＳ Ｐゴシック" pitchFamily="-105" charset="-128"/>
              </a:rPr>
              <a:t>Total Quality Management (TQM)  </a:t>
            </a:r>
          </a:p>
          <a:p>
            <a:pPr lvl="1" eaLnBrk="1" hangingPunct="1">
              <a:lnSpc>
                <a:spcPct val="90000"/>
              </a:lnSpc>
            </a:pPr>
            <a:r>
              <a:rPr lang="en-US" altLang="en-US" b="1" dirty="0">
                <a:solidFill>
                  <a:srgbClr val="FF6600"/>
                </a:solidFill>
                <a:ea typeface="ＭＳ Ｐゴシック" pitchFamily="-105" charset="-128"/>
              </a:rPr>
              <a:t>Business Process Reengineering (BPR)</a:t>
            </a:r>
          </a:p>
          <a:p>
            <a:pPr lvl="1" eaLnBrk="1" hangingPunct="1">
              <a:lnSpc>
                <a:spcPct val="90000"/>
              </a:lnSpc>
            </a:pPr>
            <a:r>
              <a:rPr lang="en-US" altLang="en-US" b="1" dirty="0">
                <a:solidFill>
                  <a:srgbClr val="FF6600"/>
                </a:solidFill>
                <a:ea typeface="ＭＳ Ｐゴシック" pitchFamily="-105" charset="-128"/>
              </a:rPr>
              <a:t>Customer Relationship Management (CRM)</a:t>
            </a:r>
          </a:p>
        </p:txBody>
      </p:sp>
      <p:sp>
        <p:nvSpPr>
          <p:cNvPr id="26627" name="Slide Number Placeholder 5"/>
          <p:cNvSpPr>
            <a:spLocks noGrp="1"/>
          </p:cNvSpPr>
          <p:nvPr>
            <p:ph type="sldNum" sz="quarter" idx="11"/>
          </p:nvPr>
        </p:nvSpPr>
        <p:spPr>
          <a:xfrm>
            <a:off x="11221770" y="6414272"/>
            <a:ext cx="609600" cy="320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pitchFamily="-105" charset="-128"/>
              </a:defRPr>
            </a:lvl1pPr>
            <a:lvl2pPr>
              <a:defRPr sz="2400">
                <a:solidFill>
                  <a:schemeClr val="tx1"/>
                </a:solidFill>
                <a:latin typeface="Arial" charset="0"/>
                <a:ea typeface="ＭＳ Ｐゴシック" pitchFamily="-105" charset="-128"/>
              </a:defRPr>
            </a:lvl2pPr>
            <a:lvl3pPr>
              <a:defRPr sz="2000">
                <a:solidFill>
                  <a:schemeClr val="tx1"/>
                </a:solidFill>
                <a:latin typeface="Arial" charset="0"/>
                <a:ea typeface="ＭＳ Ｐゴシック" pitchFamily="-105" charset="-128"/>
              </a:defRPr>
            </a:lvl3pPr>
            <a:lvl4pPr>
              <a:defRPr sz="2000">
                <a:solidFill>
                  <a:schemeClr val="tx1"/>
                </a:solidFill>
                <a:latin typeface="Arial" charset="0"/>
                <a:ea typeface="ＭＳ Ｐゴシック" pitchFamily="-105" charset="-128"/>
              </a:defRPr>
            </a:lvl4pPr>
            <a:lvl5pPr>
              <a:defRPr sz="2000">
                <a:solidFill>
                  <a:schemeClr val="tx1"/>
                </a:solidFill>
                <a:latin typeface="Arial" charset="0"/>
                <a:ea typeface="ＭＳ Ｐゴシック" pitchFamily="-105" charset="-128"/>
              </a:defRPr>
            </a:lvl5pPr>
            <a:lvl6pPr eaLnBrk="0" hangingPunct="0">
              <a:defRPr sz="2000">
                <a:solidFill>
                  <a:schemeClr val="tx1"/>
                </a:solidFill>
                <a:latin typeface="Arial" charset="0"/>
                <a:ea typeface="ＭＳ Ｐゴシック" pitchFamily="-105" charset="-128"/>
              </a:defRPr>
            </a:lvl6pPr>
            <a:lvl7pPr eaLnBrk="0" hangingPunct="0">
              <a:defRPr sz="2000">
                <a:solidFill>
                  <a:schemeClr val="tx1"/>
                </a:solidFill>
                <a:latin typeface="Arial" charset="0"/>
                <a:ea typeface="ＭＳ Ｐゴシック" pitchFamily="-105" charset="-128"/>
              </a:defRPr>
            </a:lvl7pPr>
            <a:lvl8pPr eaLnBrk="0" hangingPunct="0">
              <a:defRPr sz="2000">
                <a:solidFill>
                  <a:schemeClr val="tx1"/>
                </a:solidFill>
                <a:latin typeface="Arial" charset="0"/>
                <a:ea typeface="ＭＳ Ｐゴシック" pitchFamily="-105" charset="-128"/>
              </a:defRPr>
            </a:lvl8pPr>
            <a:lvl9pPr eaLnBrk="0" hangingPunct="0">
              <a:defRPr sz="2000">
                <a:solidFill>
                  <a:schemeClr val="tx1"/>
                </a:solidFill>
                <a:latin typeface="Arial" charset="0"/>
                <a:ea typeface="ＭＳ Ｐゴシック" pitchFamily="-105" charset="-128"/>
              </a:defRPr>
            </a:lvl9pPr>
          </a:lstStyle>
          <a:p>
            <a:fld id="{B20BB127-D7C4-49D2-8975-33758547C000}" type="slidenum">
              <a:rPr lang="en-US" altLang="en-US" sz="1400">
                <a:solidFill>
                  <a:srgbClr val="404040"/>
                </a:solidFill>
              </a:rPr>
              <a:pPr/>
              <a:t>13</a:t>
            </a:fld>
            <a:endParaRPr lang="en-US" altLang="en-US" sz="1400" dirty="0">
              <a:solidFill>
                <a:srgbClr val="404040"/>
              </a:solidFill>
            </a:endParaRPr>
          </a:p>
        </p:txBody>
      </p:sp>
    </p:spTree>
    <p:extLst>
      <p:ext uri="{BB962C8B-B14F-4D97-AF65-F5344CB8AC3E}">
        <p14:creationId xmlns:p14="http://schemas.microsoft.com/office/powerpoint/2010/main" val="1168904192"/>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2016842" y="418811"/>
            <a:ext cx="8158316" cy="1325563"/>
          </a:xfrm>
        </p:spPr>
        <p:txBody>
          <a:bodyPr/>
          <a:lstStyle/>
          <a:p>
            <a:pPr eaLnBrk="1" hangingPunct="1">
              <a:defRPr/>
            </a:pPr>
            <a:r>
              <a:rPr lang="en-US" dirty="0">
                <a:latin typeface="Arial Narrow Bold" pitchFamily="-105" charset="0"/>
                <a:ea typeface="ＭＳ Ｐゴシック" pitchFamily="-105" charset="-128"/>
              </a:rPr>
              <a:t>Origins of Supply Chain </a:t>
            </a:r>
            <a:r>
              <a:rPr lang="en-US" dirty="0" smtClean="0">
                <a:latin typeface="Arial Narrow Bold" pitchFamily="-105" charset="0"/>
                <a:ea typeface="ＭＳ Ｐゴシック" pitchFamily="-105" charset="-128"/>
              </a:rPr>
              <a:t>Management</a:t>
            </a:r>
            <a:r>
              <a:rPr lang="en-US" sz="3200" dirty="0" smtClean="0">
                <a:latin typeface="Arial Narrow Bold" pitchFamily="-105" charset="0"/>
                <a:ea typeface="ＭＳ Ｐゴシック" pitchFamily="-105" charset="-128"/>
              </a:rPr>
              <a:t>,</a:t>
            </a:r>
            <a:r>
              <a:rPr lang="en-US" sz="3200" baseline="0" dirty="0" smtClean="0">
                <a:latin typeface="Arial Narrow Bold" pitchFamily="-105" charset="0"/>
                <a:ea typeface="ＭＳ Ｐゴシック" pitchFamily="-105" charset="-128"/>
              </a:rPr>
              <a:t> Part 4</a:t>
            </a:r>
            <a:endParaRPr lang="en-US" sz="1200" dirty="0">
              <a:latin typeface="Arial Narrow Bold" pitchFamily="-105" charset="0"/>
              <a:ea typeface="ＭＳ Ｐゴシック" pitchFamily="-105" charset="-128"/>
            </a:endParaRPr>
          </a:p>
        </p:txBody>
      </p:sp>
      <p:sp>
        <p:nvSpPr>
          <p:cNvPr id="27653" name="Rectangle 3"/>
          <p:cNvSpPr>
            <a:spLocks noGrp="1" noChangeArrowheads="1"/>
          </p:cNvSpPr>
          <p:nvPr>
            <p:ph type="body" idx="1"/>
          </p:nvPr>
        </p:nvSpPr>
        <p:spPr>
          <a:xfrm>
            <a:off x="2016842" y="1925205"/>
            <a:ext cx="8450262" cy="4767262"/>
          </a:xfrm>
        </p:spPr>
        <p:txBody>
          <a:bodyPr>
            <a:normAutofit/>
          </a:bodyPr>
          <a:lstStyle/>
          <a:p>
            <a:pPr eaLnBrk="1" hangingPunct="1">
              <a:buFontTx/>
              <a:buNone/>
            </a:pPr>
            <a:r>
              <a:rPr lang="en-US" altLang="en-US" b="1" dirty="0">
                <a:ea typeface="ＭＳ Ｐゴシック" pitchFamily="-105" charset="-128"/>
              </a:rPr>
              <a:t>2000s and Beyond</a:t>
            </a:r>
          </a:p>
          <a:p>
            <a:pPr lvl="1" eaLnBrk="1" hangingPunct="1">
              <a:buFontTx/>
              <a:buNone/>
            </a:pPr>
            <a:r>
              <a:rPr lang="en-US" altLang="en-US" dirty="0">
                <a:ea typeface="ＭＳ Ｐゴシック" pitchFamily="-105" charset="-128"/>
              </a:rPr>
              <a:t>Evolution along 2 parallel paths</a:t>
            </a:r>
          </a:p>
          <a:p>
            <a:pPr marL="914400" lvl="1" indent="-457200">
              <a:buFont typeface="+mj-lt"/>
              <a:buAutoNum type="arabicPeriod"/>
            </a:pPr>
            <a:r>
              <a:rPr lang="en-US" altLang="en-US" dirty="0">
                <a:ea typeface="ＭＳ Ｐゴシック" pitchFamily="-105" charset="-128"/>
              </a:rPr>
              <a:t>Supply management emphasis from industrial buyer</a:t>
            </a:r>
          </a:p>
          <a:p>
            <a:pPr marL="914400" lvl="1" indent="-457200">
              <a:spcAft>
                <a:spcPts val="1800"/>
              </a:spcAft>
              <a:buFont typeface="+mj-lt"/>
              <a:buAutoNum type="arabicPeriod"/>
            </a:pPr>
            <a:r>
              <a:rPr lang="en-US" altLang="en-US" dirty="0">
                <a:ea typeface="ＭＳ Ｐゴシック" pitchFamily="-105" charset="-128"/>
              </a:rPr>
              <a:t>Logistics and customer service emphasis from wholesalers and </a:t>
            </a:r>
            <a:r>
              <a:rPr lang="en-US" altLang="en-US" dirty="0" smtClean="0">
                <a:ea typeface="ＭＳ Ｐゴシック" pitchFamily="-105" charset="-128"/>
              </a:rPr>
              <a:t>retailers</a:t>
            </a:r>
            <a:endParaRPr lang="en-US" altLang="en-US" dirty="0">
              <a:ea typeface="ＭＳ Ｐゴシック" pitchFamily="-105" charset="-128"/>
            </a:endParaRPr>
          </a:p>
          <a:p>
            <a:pPr lvl="1" eaLnBrk="1" hangingPunct="1">
              <a:spcBef>
                <a:spcPts val="0"/>
              </a:spcBef>
              <a:spcAft>
                <a:spcPts val="1800"/>
              </a:spcAft>
              <a:buFontTx/>
              <a:buNone/>
            </a:pPr>
            <a:r>
              <a:rPr lang="en-US" altLang="en-US" sz="2200" dirty="0">
                <a:ea typeface="ＭＳ Ｐゴシック" pitchFamily="-105" charset="-128"/>
              </a:rPr>
              <a:t>Focus on improving supply chain capabilities with initiatives such </a:t>
            </a:r>
            <a:r>
              <a:rPr lang="en-US" altLang="en-US" sz="2200" dirty="0" smtClean="0">
                <a:ea typeface="ＭＳ Ｐゴシック" pitchFamily="-105" charset="-128"/>
              </a:rPr>
              <a:t>as:</a:t>
            </a:r>
          </a:p>
          <a:p>
            <a:pPr lvl="1" eaLnBrk="1" hangingPunct="1">
              <a:lnSpc>
                <a:spcPct val="50000"/>
              </a:lnSpc>
              <a:spcBef>
                <a:spcPts val="0"/>
              </a:spcBef>
            </a:pPr>
            <a:r>
              <a:rPr lang="en-US" altLang="en-US" sz="2200" b="1" dirty="0" smtClean="0">
                <a:solidFill>
                  <a:srgbClr val="FF6600"/>
                </a:solidFill>
                <a:ea typeface="ＭＳ Ｐゴシック" pitchFamily="-105" charset="-128"/>
              </a:rPr>
              <a:t>Third-party service providers (3PLs)</a:t>
            </a:r>
          </a:p>
          <a:p>
            <a:pPr lvl="1" eaLnBrk="1" hangingPunct="1"/>
            <a:r>
              <a:rPr lang="en-US" altLang="en-US" sz="2200" b="1" dirty="0" smtClean="0">
                <a:solidFill>
                  <a:srgbClr val="FF6600"/>
                </a:solidFill>
                <a:ea typeface="ＭＳ Ｐゴシック" pitchFamily="-105" charset="-128"/>
              </a:rPr>
              <a:t>Integrating </a:t>
            </a:r>
            <a:r>
              <a:rPr lang="en-US" altLang="en-US" sz="2200" b="1" dirty="0">
                <a:solidFill>
                  <a:srgbClr val="FF6600"/>
                </a:solidFill>
                <a:ea typeface="ＭＳ Ｐゴシック" pitchFamily="-105" charset="-128"/>
              </a:rPr>
              <a:t>logistics 	</a:t>
            </a:r>
          </a:p>
          <a:p>
            <a:pPr lvl="1" eaLnBrk="1" hangingPunct="1"/>
            <a:r>
              <a:rPr lang="en-US" altLang="en-US" sz="2200" b="1" dirty="0">
                <a:solidFill>
                  <a:srgbClr val="FF6600"/>
                </a:solidFill>
                <a:ea typeface="ＭＳ Ｐゴシック" pitchFamily="-105" charset="-128"/>
              </a:rPr>
              <a:t>Client/server SCM software - Enterprise Resource </a:t>
            </a:r>
            <a:r>
              <a:rPr lang="en-US" altLang="en-US" sz="2200" b="1" dirty="0" smtClean="0">
                <a:solidFill>
                  <a:srgbClr val="FF6600"/>
                </a:solidFill>
                <a:ea typeface="ＭＳ Ｐゴシック" pitchFamily="-105" charset="-128"/>
              </a:rPr>
              <a:t>Planning</a:t>
            </a:r>
            <a:endParaRPr lang="en-US" altLang="en-US" sz="2200" dirty="0">
              <a:ea typeface="ＭＳ Ｐゴシック" pitchFamily="-105" charset="-128"/>
            </a:endParaRPr>
          </a:p>
        </p:txBody>
      </p:sp>
      <p:sp>
        <p:nvSpPr>
          <p:cNvPr id="27651" name="Slide Number Placeholder 4"/>
          <p:cNvSpPr>
            <a:spLocks noGrp="1"/>
          </p:cNvSpPr>
          <p:nvPr>
            <p:ph type="sldNum" sz="quarter" idx="11"/>
          </p:nvPr>
        </p:nvSpPr>
        <p:spPr>
          <a:xfrm>
            <a:off x="11172731" y="6327342"/>
            <a:ext cx="1019269"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pitchFamily="-105" charset="-128"/>
              </a:defRPr>
            </a:lvl1pPr>
            <a:lvl2pPr>
              <a:defRPr sz="2400">
                <a:solidFill>
                  <a:schemeClr val="tx1"/>
                </a:solidFill>
                <a:latin typeface="Arial" charset="0"/>
                <a:ea typeface="ＭＳ Ｐゴシック" pitchFamily="-105" charset="-128"/>
              </a:defRPr>
            </a:lvl2pPr>
            <a:lvl3pPr>
              <a:defRPr sz="2000">
                <a:solidFill>
                  <a:schemeClr val="tx1"/>
                </a:solidFill>
                <a:latin typeface="Arial" charset="0"/>
                <a:ea typeface="ＭＳ Ｐゴシック" pitchFamily="-105" charset="-128"/>
              </a:defRPr>
            </a:lvl3pPr>
            <a:lvl4pPr>
              <a:defRPr sz="2000">
                <a:solidFill>
                  <a:schemeClr val="tx1"/>
                </a:solidFill>
                <a:latin typeface="Arial" charset="0"/>
                <a:ea typeface="ＭＳ Ｐゴシック" pitchFamily="-105" charset="-128"/>
              </a:defRPr>
            </a:lvl4pPr>
            <a:lvl5pPr>
              <a:defRPr sz="2000">
                <a:solidFill>
                  <a:schemeClr val="tx1"/>
                </a:solidFill>
                <a:latin typeface="Arial" charset="0"/>
                <a:ea typeface="ＭＳ Ｐゴシック" pitchFamily="-105" charset="-128"/>
              </a:defRPr>
            </a:lvl5pPr>
            <a:lvl6pPr eaLnBrk="0" hangingPunct="0">
              <a:defRPr sz="2000">
                <a:solidFill>
                  <a:schemeClr val="tx1"/>
                </a:solidFill>
                <a:latin typeface="Arial" charset="0"/>
                <a:ea typeface="ＭＳ Ｐゴシック" pitchFamily="-105" charset="-128"/>
              </a:defRPr>
            </a:lvl6pPr>
            <a:lvl7pPr eaLnBrk="0" hangingPunct="0">
              <a:defRPr sz="2000">
                <a:solidFill>
                  <a:schemeClr val="tx1"/>
                </a:solidFill>
                <a:latin typeface="Arial" charset="0"/>
                <a:ea typeface="ＭＳ Ｐゴシック" pitchFamily="-105" charset="-128"/>
              </a:defRPr>
            </a:lvl7pPr>
            <a:lvl8pPr eaLnBrk="0" hangingPunct="0">
              <a:defRPr sz="2000">
                <a:solidFill>
                  <a:schemeClr val="tx1"/>
                </a:solidFill>
                <a:latin typeface="Arial" charset="0"/>
                <a:ea typeface="ＭＳ Ｐゴシック" pitchFamily="-105" charset="-128"/>
              </a:defRPr>
            </a:lvl8pPr>
            <a:lvl9pPr eaLnBrk="0" hangingPunct="0">
              <a:defRPr sz="2000">
                <a:solidFill>
                  <a:schemeClr val="tx1"/>
                </a:solidFill>
                <a:latin typeface="Arial" charset="0"/>
                <a:ea typeface="ＭＳ Ｐゴシック" pitchFamily="-105" charset="-128"/>
              </a:defRPr>
            </a:lvl9pPr>
          </a:lstStyle>
          <a:p>
            <a:fld id="{D4B28A0D-902F-4B6B-9741-2D95D05623C8}" type="slidenum">
              <a:rPr lang="en-US" altLang="en-US" sz="1400">
                <a:solidFill>
                  <a:srgbClr val="404040"/>
                </a:solidFill>
              </a:rPr>
              <a:pPr/>
              <a:t>14</a:t>
            </a:fld>
            <a:endParaRPr lang="en-US" altLang="en-US" sz="1400" dirty="0">
              <a:solidFill>
                <a:srgbClr val="404040"/>
              </a:solidFill>
            </a:endParaRPr>
          </a:p>
        </p:txBody>
      </p:sp>
    </p:spTree>
    <p:extLst>
      <p:ext uri="{BB962C8B-B14F-4D97-AF65-F5344CB8AC3E}">
        <p14:creationId xmlns:p14="http://schemas.microsoft.com/office/powerpoint/2010/main" val="1457609746"/>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924812" y="460375"/>
            <a:ext cx="8342376" cy="1325563"/>
          </a:xfrm>
        </p:spPr>
        <p:txBody>
          <a:bodyPr/>
          <a:lstStyle/>
          <a:p>
            <a:pPr eaLnBrk="1" hangingPunct="1">
              <a:defRPr/>
            </a:pPr>
            <a:r>
              <a:rPr lang="en-US" b="0" dirty="0">
                <a:latin typeface="Arial Narrow Bold" pitchFamily="-105" charset="0"/>
                <a:ea typeface="ＭＳ Ｐゴシック" pitchFamily="-105" charset="-128"/>
              </a:rPr>
              <a:t>Origins of Supply Chain </a:t>
            </a:r>
            <a:r>
              <a:rPr lang="en-US" b="0" dirty="0" smtClean="0">
                <a:latin typeface="Arial Narrow Bold" pitchFamily="-105" charset="0"/>
                <a:ea typeface="ＭＳ Ｐゴシック" pitchFamily="-105" charset="-128"/>
              </a:rPr>
              <a:t>Management</a:t>
            </a:r>
            <a:r>
              <a:rPr lang="en-US" sz="3200" b="0" dirty="0" smtClean="0">
                <a:latin typeface="Arial Narrow Bold" pitchFamily="-105" charset="0"/>
                <a:ea typeface="ＭＳ Ｐゴシック" pitchFamily="-105" charset="-128"/>
              </a:rPr>
              <a:t>,</a:t>
            </a:r>
            <a:r>
              <a:rPr lang="en-US" sz="3200" b="0" baseline="0" dirty="0" smtClean="0">
                <a:latin typeface="Arial Narrow Bold" pitchFamily="-105" charset="0"/>
                <a:ea typeface="ＭＳ Ｐゴシック" pitchFamily="-105" charset="-128"/>
              </a:rPr>
              <a:t> Part 5</a:t>
            </a:r>
            <a:endParaRPr lang="en-US" sz="1200" b="0" dirty="0">
              <a:latin typeface="Arial Narrow Bold" pitchFamily="-105" charset="0"/>
              <a:ea typeface="ＭＳ Ｐゴシック" pitchFamily="-105" charset="-128"/>
            </a:endParaRPr>
          </a:p>
        </p:txBody>
      </p:sp>
      <p:sp>
        <p:nvSpPr>
          <p:cNvPr id="27653" name="Rectangle 3"/>
          <p:cNvSpPr>
            <a:spLocks noGrp="1" noChangeArrowheads="1"/>
          </p:cNvSpPr>
          <p:nvPr>
            <p:ph type="body" idx="1"/>
          </p:nvPr>
        </p:nvSpPr>
        <p:spPr>
          <a:xfrm>
            <a:off x="2203883" y="1952915"/>
            <a:ext cx="8450262" cy="3491921"/>
          </a:xfrm>
        </p:spPr>
        <p:txBody>
          <a:bodyPr/>
          <a:lstStyle/>
          <a:p>
            <a:pPr eaLnBrk="1" hangingPunct="1">
              <a:buFontTx/>
              <a:buNone/>
            </a:pPr>
            <a:r>
              <a:rPr lang="en-US" altLang="en-US" b="1" dirty="0" smtClean="0">
                <a:ea typeface="ＭＳ Ｐゴシック" pitchFamily="-105" charset="-128"/>
              </a:rPr>
              <a:t>Today</a:t>
            </a:r>
            <a:endParaRPr lang="en-US" altLang="en-US" b="1" dirty="0">
              <a:ea typeface="ＭＳ Ｐゴシック" pitchFamily="-105" charset="-128"/>
            </a:endParaRPr>
          </a:p>
          <a:p>
            <a:pPr lvl="1" eaLnBrk="1" hangingPunct="1">
              <a:spcAft>
                <a:spcPts val="1200"/>
              </a:spcAft>
              <a:buFontTx/>
              <a:buNone/>
            </a:pPr>
            <a:r>
              <a:rPr lang="en-US" altLang="en-US" dirty="0">
                <a:ea typeface="ＭＳ Ｐゴシック" pitchFamily="-105" charset="-128"/>
              </a:rPr>
              <a:t>Emphasis </a:t>
            </a:r>
            <a:r>
              <a:rPr lang="en-US" dirty="0"/>
              <a:t>is being placed on the environmental and social impacts of supply </a:t>
            </a:r>
            <a:r>
              <a:rPr lang="en-US" dirty="0" smtClean="0"/>
              <a:t>chains</a:t>
            </a:r>
            <a:endParaRPr lang="en-US" altLang="en-US" dirty="0">
              <a:ea typeface="ＭＳ Ｐゴシック" pitchFamily="-105" charset="-128"/>
            </a:endParaRPr>
          </a:p>
          <a:p>
            <a:pPr lvl="1" eaLnBrk="1" hangingPunct="1"/>
            <a:r>
              <a:rPr lang="en-US" altLang="en-US" b="1" dirty="0">
                <a:solidFill>
                  <a:srgbClr val="FF6600"/>
                </a:solidFill>
                <a:ea typeface="ＭＳ Ｐゴシック" pitchFamily="-105" charset="-128"/>
              </a:rPr>
              <a:t>Sustainability </a:t>
            </a:r>
            <a:r>
              <a:rPr lang="en-US" altLang="en-US" b="1" dirty="0">
                <a:ea typeface="ＭＳ Ｐゴシック" pitchFamily="-105" charset="-128"/>
              </a:rPr>
              <a:t>- </a:t>
            </a:r>
            <a:r>
              <a:rPr lang="en-US" altLang="en-US" dirty="0">
                <a:ea typeface="ＭＳ Ｐゴシック" pitchFamily="-105" charset="-128"/>
              </a:rPr>
              <a:t>ability to meet the needs of current supply chain members without hindering the ability to meet the needs of future generations</a:t>
            </a:r>
          </a:p>
          <a:p>
            <a:pPr lvl="1" eaLnBrk="1" hangingPunct="1"/>
            <a:r>
              <a:rPr lang="en-US" altLang="en-US" b="1" dirty="0">
                <a:solidFill>
                  <a:srgbClr val="FF6600"/>
                </a:solidFill>
                <a:ea typeface="ＭＳ Ｐゴシック" pitchFamily="-105" charset="-128"/>
              </a:rPr>
              <a:t>Triple bottom line </a:t>
            </a:r>
            <a:r>
              <a:rPr lang="en-US" altLang="en-US" dirty="0">
                <a:ea typeface="ＭＳ Ｐゴシック" pitchFamily="-105" charset="-128"/>
              </a:rPr>
              <a:t>– taking care of people, planet and </a:t>
            </a:r>
            <a:r>
              <a:rPr lang="en-US" altLang="en-US" dirty="0" smtClean="0">
                <a:ea typeface="ＭＳ Ｐゴシック" pitchFamily="-105" charset="-128"/>
              </a:rPr>
              <a:t>profits</a:t>
            </a:r>
            <a:endParaRPr lang="en-US" altLang="en-US" dirty="0">
              <a:ea typeface="ＭＳ Ｐゴシック" pitchFamily="-105" charset="-128"/>
            </a:endParaRPr>
          </a:p>
        </p:txBody>
      </p:sp>
      <p:sp>
        <p:nvSpPr>
          <p:cNvPr id="27651" name="Slide Number Placeholder 4"/>
          <p:cNvSpPr>
            <a:spLocks noGrp="1"/>
          </p:cNvSpPr>
          <p:nvPr>
            <p:ph type="sldNum" sz="quarter" idx="11"/>
          </p:nvPr>
        </p:nvSpPr>
        <p:spPr>
          <a:xfrm>
            <a:off x="10809836" y="6365404"/>
            <a:ext cx="1299927"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pitchFamily="-105" charset="-128"/>
              </a:defRPr>
            </a:lvl1pPr>
            <a:lvl2pPr>
              <a:defRPr sz="2400">
                <a:solidFill>
                  <a:schemeClr val="tx1"/>
                </a:solidFill>
                <a:latin typeface="Arial" charset="0"/>
                <a:ea typeface="ＭＳ Ｐゴシック" pitchFamily="-105" charset="-128"/>
              </a:defRPr>
            </a:lvl2pPr>
            <a:lvl3pPr>
              <a:defRPr sz="2000">
                <a:solidFill>
                  <a:schemeClr val="tx1"/>
                </a:solidFill>
                <a:latin typeface="Arial" charset="0"/>
                <a:ea typeface="ＭＳ Ｐゴシック" pitchFamily="-105" charset="-128"/>
              </a:defRPr>
            </a:lvl3pPr>
            <a:lvl4pPr>
              <a:defRPr sz="2000">
                <a:solidFill>
                  <a:schemeClr val="tx1"/>
                </a:solidFill>
                <a:latin typeface="Arial" charset="0"/>
                <a:ea typeface="ＭＳ Ｐゴシック" pitchFamily="-105" charset="-128"/>
              </a:defRPr>
            </a:lvl4pPr>
            <a:lvl5pPr>
              <a:defRPr sz="2000">
                <a:solidFill>
                  <a:schemeClr val="tx1"/>
                </a:solidFill>
                <a:latin typeface="Arial" charset="0"/>
                <a:ea typeface="ＭＳ Ｐゴシック" pitchFamily="-105" charset="-128"/>
              </a:defRPr>
            </a:lvl5pPr>
            <a:lvl6pPr eaLnBrk="0" hangingPunct="0">
              <a:defRPr sz="2000">
                <a:solidFill>
                  <a:schemeClr val="tx1"/>
                </a:solidFill>
                <a:latin typeface="Arial" charset="0"/>
                <a:ea typeface="ＭＳ Ｐゴシック" pitchFamily="-105" charset="-128"/>
              </a:defRPr>
            </a:lvl6pPr>
            <a:lvl7pPr eaLnBrk="0" hangingPunct="0">
              <a:defRPr sz="2000">
                <a:solidFill>
                  <a:schemeClr val="tx1"/>
                </a:solidFill>
                <a:latin typeface="Arial" charset="0"/>
                <a:ea typeface="ＭＳ Ｐゴシック" pitchFamily="-105" charset="-128"/>
              </a:defRPr>
            </a:lvl7pPr>
            <a:lvl8pPr eaLnBrk="0" hangingPunct="0">
              <a:defRPr sz="2000">
                <a:solidFill>
                  <a:schemeClr val="tx1"/>
                </a:solidFill>
                <a:latin typeface="Arial" charset="0"/>
                <a:ea typeface="ＭＳ Ｐゴシック" pitchFamily="-105" charset="-128"/>
              </a:defRPr>
            </a:lvl8pPr>
            <a:lvl9pPr eaLnBrk="0" hangingPunct="0">
              <a:defRPr sz="2000">
                <a:solidFill>
                  <a:schemeClr val="tx1"/>
                </a:solidFill>
                <a:latin typeface="Arial" charset="0"/>
                <a:ea typeface="ＭＳ Ｐゴシック" pitchFamily="-105" charset="-128"/>
              </a:defRPr>
            </a:lvl9pPr>
          </a:lstStyle>
          <a:p>
            <a:fld id="{D4B28A0D-902F-4B6B-9741-2D95D05623C8}" type="slidenum">
              <a:rPr lang="en-US" altLang="en-US" sz="1400">
                <a:solidFill>
                  <a:srgbClr val="404040"/>
                </a:solidFill>
              </a:rPr>
              <a:pPr/>
              <a:t>15</a:t>
            </a:fld>
            <a:endParaRPr lang="en-US" altLang="en-US" sz="1400" dirty="0">
              <a:solidFill>
                <a:srgbClr val="404040"/>
              </a:solidFill>
            </a:endParaRPr>
          </a:p>
        </p:txBody>
      </p:sp>
    </p:spTree>
    <p:extLst>
      <p:ext uri="{BB962C8B-B14F-4D97-AF65-F5344CB8AC3E}">
        <p14:creationId xmlns:p14="http://schemas.microsoft.com/office/powerpoint/2010/main" val="2989009450"/>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2503372" y="526739"/>
            <a:ext cx="7887956" cy="985961"/>
          </a:xfrm>
        </p:spPr>
        <p:txBody>
          <a:bodyPr>
            <a:normAutofit fontScale="90000"/>
          </a:bodyPr>
          <a:lstStyle/>
          <a:p>
            <a:pPr eaLnBrk="1" hangingPunct="1">
              <a:defRPr/>
            </a:pPr>
            <a:r>
              <a:rPr lang="en-US" dirty="0" smtClean="0">
                <a:latin typeface="Arial Narrow" panose="020B0606020202030204" pitchFamily="34" charset="0"/>
              </a:rPr>
              <a:t>The Foundations </a:t>
            </a:r>
            <a:r>
              <a:rPr lang="en-US" dirty="0">
                <a:latin typeface="Arial Narrow" panose="020B0606020202030204" pitchFamily="34" charset="0"/>
              </a:rPr>
              <a:t>of Supply Chain </a:t>
            </a:r>
            <a:r>
              <a:rPr lang="en-US" dirty="0" smtClean="0">
                <a:latin typeface="Arial Narrow" panose="020B0606020202030204" pitchFamily="34" charset="0"/>
              </a:rPr>
              <a:t>Management, Part 1</a:t>
            </a:r>
            <a:endParaRPr lang="en-US" dirty="0">
              <a:latin typeface="Arial Narrow" panose="020B0606020202030204" pitchFamily="34" charset="0"/>
            </a:endParaRPr>
          </a:p>
        </p:txBody>
      </p:sp>
      <p:graphicFrame>
        <p:nvGraphicFramePr>
          <p:cNvPr id="2" name="Table 1" descr="A table with two columns and four rows. The row headers are Supply, Operations, Logistics, and Integration. "/>
          <p:cNvGraphicFramePr>
            <a:graphicFrameLocks noGrp="1"/>
          </p:cNvGraphicFramePr>
          <p:nvPr>
            <p:extLst>
              <p:ext uri="{D42A27DB-BD31-4B8C-83A1-F6EECF244321}">
                <p14:modId xmlns:p14="http://schemas.microsoft.com/office/powerpoint/2010/main" val="3925453150"/>
              </p:ext>
            </p:extLst>
          </p:nvPr>
        </p:nvGraphicFramePr>
        <p:xfrm>
          <a:off x="2204588" y="1593980"/>
          <a:ext cx="8186740" cy="4569444"/>
        </p:xfrm>
        <a:graphic>
          <a:graphicData uri="http://schemas.openxmlformats.org/drawingml/2006/table">
            <a:tbl>
              <a:tblPr firstRow="1" firstCol="1"/>
              <a:tblGrid>
                <a:gridCol w="2241734">
                  <a:extLst>
                    <a:ext uri="{9D8B030D-6E8A-4147-A177-3AD203B41FA5}">
                      <a16:colId xmlns:a16="http://schemas.microsoft.com/office/drawing/2014/main" val="20000"/>
                    </a:ext>
                  </a:extLst>
                </a:gridCol>
                <a:gridCol w="5945006">
                  <a:extLst>
                    <a:ext uri="{9D8B030D-6E8A-4147-A177-3AD203B41FA5}">
                      <a16:colId xmlns:a16="http://schemas.microsoft.com/office/drawing/2014/main" val="20001"/>
                    </a:ext>
                  </a:extLst>
                </a:gridCol>
              </a:tblGrid>
              <a:tr h="945402">
                <a:tc>
                  <a:txBody>
                    <a:bodyPr/>
                    <a:lstStyle/>
                    <a:p>
                      <a:pPr marL="0" marR="0" fontAlgn="base">
                        <a:spcBef>
                          <a:spcPts val="530"/>
                        </a:spcBef>
                        <a:spcAft>
                          <a:spcPts val="0"/>
                        </a:spcAft>
                      </a:pPr>
                      <a:r>
                        <a:rPr lang="en-US" sz="1900" b="1" kern="1200" dirty="0">
                          <a:solidFill>
                            <a:srgbClr val="000000"/>
                          </a:solidFill>
                          <a:effectLst/>
                          <a:latin typeface="Arial" panose="020B0604020202020204" pitchFamily="34" charset="0"/>
                          <a:ea typeface="MS PGothic" panose="020B0600070205080204" pitchFamily="34" charset="-128"/>
                          <a:cs typeface="+mn-cs"/>
                        </a:rPr>
                        <a:t>Supply</a:t>
                      </a:r>
                      <a:endParaRPr lang="en-US" sz="19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0691" marR="306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fontAlgn="base">
                        <a:spcBef>
                          <a:spcPts val="530"/>
                        </a:spcBef>
                        <a:spcAft>
                          <a:spcPts val="0"/>
                        </a:spcAft>
                      </a:pPr>
                      <a:r>
                        <a:rPr lang="en-US" sz="1900" kern="1200" dirty="0">
                          <a:solidFill>
                            <a:srgbClr val="000000"/>
                          </a:solidFill>
                          <a:effectLst/>
                          <a:latin typeface="Arial" panose="020B0604020202020204" pitchFamily="34" charset="0"/>
                          <a:ea typeface="MS PGothic" panose="020B0600070205080204" pitchFamily="34" charset="-128"/>
                          <a:cs typeface="+mn-cs"/>
                        </a:rPr>
                        <a:t>Supply base reduction, supplier alliances, SRM, global sourcing, ethical and sustainable sourcing (Ch. 2-4)</a:t>
                      </a:r>
                      <a:endParaRPr lang="en-US" sz="19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0691" marR="306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102969">
                <a:tc>
                  <a:txBody>
                    <a:bodyPr/>
                    <a:lstStyle/>
                    <a:p>
                      <a:pPr marL="0" marR="0" fontAlgn="base">
                        <a:spcBef>
                          <a:spcPts val="530"/>
                        </a:spcBef>
                        <a:spcAft>
                          <a:spcPts val="0"/>
                        </a:spcAft>
                      </a:pPr>
                      <a:r>
                        <a:rPr lang="en-US" sz="1900" b="1" kern="1200">
                          <a:solidFill>
                            <a:srgbClr val="000000"/>
                          </a:solidFill>
                          <a:effectLst/>
                          <a:latin typeface="Arial" panose="020B0604020202020204" pitchFamily="34" charset="0"/>
                          <a:ea typeface="MS PGothic" panose="020B0600070205080204" pitchFamily="34" charset="-128"/>
                          <a:cs typeface="+mn-cs"/>
                        </a:rPr>
                        <a:t>Operations</a:t>
                      </a:r>
                      <a:endParaRPr lang="en-US" sz="1900">
                        <a:effectLst/>
                        <a:latin typeface="Calibri" panose="020F0502020204030204" pitchFamily="34" charset="0"/>
                        <a:ea typeface="Times New Roman" panose="02020603050405020304" pitchFamily="18" charset="0"/>
                        <a:cs typeface="Times New Roman" panose="02020603050405020304" pitchFamily="18" charset="0"/>
                      </a:endParaRPr>
                    </a:p>
                  </a:txBody>
                  <a:tcPr marL="30691" marR="306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fontAlgn="base">
                        <a:spcBef>
                          <a:spcPts val="530"/>
                        </a:spcBef>
                        <a:spcAft>
                          <a:spcPts val="0"/>
                        </a:spcAft>
                      </a:pPr>
                      <a:r>
                        <a:rPr lang="en-US" sz="1900" kern="1200" dirty="0">
                          <a:solidFill>
                            <a:srgbClr val="000000"/>
                          </a:solidFill>
                          <a:effectLst/>
                          <a:latin typeface="Arial" panose="020B0604020202020204" pitchFamily="34" charset="0"/>
                          <a:ea typeface="MS PGothic" panose="020B0600070205080204" pitchFamily="34" charset="-128"/>
                          <a:cs typeface="+mn-cs"/>
                        </a:rPr>
                        <a:t>Demand management, CPFR, inventory management, MRP, ERP, lean systems, Six Sigma quality systems (Ch. 5-8)</a:t>
                      </a:r>
                      <a:endParaRPr lang="en-US" sz="19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0691" marR="306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418104">
                <a:tc>
                  <a:txBody>
                    <a:bodyPr/>
                    <a:lstStyle/>
                    <a:p>
                      <a:pPr marL="0" marR="0" fontAlgn="base">
                        <a:spcBef>
                          <a:spcPts val="530"/>
                        </a:spcBef>
                        <a:spcAft>
                          <a:spcPts val="0"/>
                        </a:spcAft>
                      </a:pPr>
                      <a:r>
                        <a:rPr lang="en-US" sz="1900" b="1" kern="1200">
                          <a:solidFill>
                            <a:srgbClr val="000000"/>
                          </a:solidFill>
                          <a:effectLst/>
                          <a:latin typeface="Arial" panose="020B0604020202020204" pitchFamily="34" charset="0"/>
                          <a:ea typeface="MS PGothic" panose="020B0600070205080204" pitchFamily="34" charset="-128"/>
                          <a:cs typeface="+mn-cs"/>
                        </a:rPr>
                        <a:t>Logistics</a:t>
                      </a:r>
                      <a:endParaRPr lang="en-US" sz="1900">
                        <a:effectLst/>
                        <a:latin typeface="Calibri" panose="020F0502020204030204" pitchFamily="34" charset="0"/>
                        <a:ea typeface="Times New Roman" panose="02020603050405020304" pitchFamily="18" charset="0"/>
                        <a:cs typeface="Times New Roman" panose="02020603050405020304" pitchFamily="18" charset="0"/>
                      </a:endParaRPr>
                    </a:p>
                  </a:txBody>
                  <a:tcPr marL="30691" marR="306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fontAlgn="base">
                        <a:spcBef>
                          <a:spcPts val="530"/>
                        </a:spcBef>
                        <a:spcAft>
                          <a:spcPts val="0"/>
                        </a:spcAft>
                      </a:pPr>
                      <a:r>
                        <a:rPr lang="en-US" sz="1900" kern="1200" dirty="0">
                          <a:solidFill>
                            <a:srgbClr val="000000"/>
                          </a:solidFill>
                          <a:effectLst/>
                          <a:latin typeface="Arial" panose="020B0604020202020204" pitchFamily="34" charset="0"/>
                          <a:ea typeface="MS PGothic" panose="020B0600070205080204" pitchFamily="34" charset="-128"/>
                          <a:cs typeface="+mn-cs"/>
                        </a:rPr>
                        <a:t>Logistics management, customer relationship management, network design, RFID, global supply chains, sustainability, service response logistics (Ch. 9-12)</a:t>
                      </a:r>
                      <a:endParaRPr lang="en-US" sz="19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0691" marR="306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02969">
                <a:tc>
                  <a:txBody>
                    <a:bodyPr/>
                    <a:lstStyle/>
                    <a:p>
                      <a:pPr marL="0" marR="0" fontAlgn="base">
                        <a:spcBef>
                          <a:spcPts val="530"/>
                        </a:spcBef>
                        <a:spcAft>
                          <a:spcPts val="0"/>
                        </a:spcAft>
                      </a:pPr>
                      <a:r>
                        <a:rPr lang="en-US" sz="1900" b="1" kern="1200" dirty="0">
                          <a:solidFill>
                            <a:srgbClr val="000000"/>
                          </a:solidFill>
                          <a:effectLst/>
                          <a:latin typeface="Arial" panose="020B0604020202020204" pitchFamily="34" charset="0"/>
                          <a:ea typeface="MS PGothic" panose="020B0600070205080204" pitchFamily="34" charset="-128"/>
                          <a:cs typeface="+mn-cs"/>
                        </a:rPr>
                        <a:t>Integration</a:t>
                      </a:r>
                      <a:endParaRPr lang="en-US" sz="19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0691" marR="3069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fontAlgn="base">
                        <a:spcBef>
                          <a:spcPts val="530"/>
                        </a:spcBef>
                        <a:spcAft>
                          <a:spcPts val="0"/>
                        </a:spcAft>
                      </a:pPr>
                      <a:r>
                        <a:rPr lang="en-US" sz="1900" kern="1200" dirty="0">
                          <a:solidFill>
                            <a:srgbClr val="000000"/>
                          </a:solidFill>
                          <a:effectLst/>
                          <a:latin typeface="Arial" panose="020B0604020202020204" pitchFamily="34" charset="0"/>
                          <a:ea typeface="MS PGothic" panose="020B0600070205080204" pitchFamily="34" charset="-128"/>
                          <a:cs typeface="+mn-cs"/>
                        </a:rPr>
                        <a:t>Barriers to integration, risk and security management, performance measurement, green supply chains (Ch. 13,14)</a:t>
                      </a:r>
                      <a:endParaRPr lang="en-US" sz="19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0691" marR="306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8675" name="Slide Number Placeholder 5"/>
          <p:cNvSpPr>
            <a:spLocks noGrp="1"/>
          </p:cNvSpPr>
          <p:nvPr>
            <p:ph type="sldNum" sz="quarter" idx="11"/>
          </p:nvPr>
        </p:nvSpPr>
        <p:spPr>
          <a:xfrm>
            <a:off x="9601200" y="6459539"/>
            <a:ext cx="609600" cy="320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pitchFamily="-105" charset="-128"/>
              </a:defRPr>
            </a:lvl1pPr>
            <a:lvl2pPr>
              <a:defRPr sz="2400">
                <a:solidFill>
                  <a:schemeClr val="tx1"/>
                </a:solidFill>
                <a:latin typeface="Arial" charset="0"/>
                <a:ea typeface="ＭＳ Ｐゴシック" pitchFamily="-105" charset="-128"/>
              </a:defRPr>
            </a:lvl2pPr>
            <a:lvl3pPr>
              <a:defRPr sz="2000">
                <a:solidFill>
                  <a:schemeClr val="tx1"/>
                </a:solidFill>
                <a:latin typeface="Arial" charset="0"/>
                <a:ea typeface="ＭＳ Ｐゴシック" pitchFamily="-105" charset="-128"/>
              </a:defRPr>
            </a:lvl3pPr>
            <a:lvl4pPr>
              <a:defRPr sz="2000">
                <a:solidFill>
                  <a:schemeClr val="tx1"/>
                </a:solidFill>
                <a:latin typeface="Arial" charset="0"/>
                <a:ea typeface="ＭＳ Ｐゴシック" pitchFamily="-105" charset="-128"/>
              </a:defRPr>
            </a:lvl4pPr>
            <a:lvl5pPr>
              <a:defRPr sz="2000">
                <a:solidFill>
                  <a:schemeClr val="tx1"/>
                </a:solidFill>
                <a:latin typeface="Arial" charset="0"/>
                <a:ea typeface="ＭＳ Ｐゴシック" pitchFamily="-105" charset="-128"/>
              </a:defRPr>
            </a:lvl5pPr>
            <a:lvl6pPr eaLnBrk="0" hangingPunct="0">
              <a:defRPr sz="2000">
                <a:solidFill>
                  <a:schemeClr val="tx1"/>
                </a:solidFill>
                <a:latin typeface="Arial" charset="0"/>
                <a:ea typeface="ＭＳ Ｐゴシック" pitchFamily="-105" charset="-128"/>
              </a:defRPr>
            </a:lvl6pPr>
            <a:lvl7pPr eaLnBrk="0" hangingPunct="0">
              <a:defRPr sz="2000">
                <a:solidFill>
                  <a:schemeClr val="tx1"/>
                </a:solidFill>
                <a:latin typeface="Arial" charset="0"/>
                <a:ea typeface="ＭＳ Ｐゴシック" pitchFamily="-105" charset="-128"/>
              </a:defRPr>
            </a:lvl7pPr>
            <a:lvl8pPr eaLnBrk="0" hangingPunct="0">
              <a:defRPr sz="2000">
                <a:solidFill>
                  <a:schemeClr val="tx1"/>
                </a:solidFill>
                <a:latin typeface="Arial" charset="0"/>
                <a:ea typeface="ＭＳ Ｐゴシック" pitchFamily="-105" charset="-128"/>
              </a:defRPr>
            </a:lvl8pPr>
            <a:lvl9pPr eaLnBrk="0" hangingPunct="0">
              <a:defRPr sz="2000">
                <a:solidFill>
                  <a:schemeClr val="tx1"/>
                </a:solidFill>
                <a:latin typeface="Arial" charset="0"/>
                <a:ea typeface="ＭＳ Ｐゴシック" pitchFamily="-105" charset="-128"/>
              </a:defRPr>
            </a:lvl9pPr>
          </a:lstStyle>
          <a:p>
            <a:fld id="{146A140B-4E61-4092-A43C-1DDD2B434BA5}" type="slidenum">
              <a:rPr lang="en-US" altLang="en-US" sz="1400">
                <a:solidFill>
                  <a:srgbClr val="404040"/>
                </a:solidFill>
              </a:rPr>
              <a:pPr/>
              <a:t>16</a:t>
            </a:fld>
            <a:endParaRPr lang="en-US" altLang="en-US" sz="1400">
              <a:solidFill>
                <a:srgbClr val="404040"/>
              </a:solidFill>
            </a:endParaRPr>
          </a:p>
        </p:txBody>
      </p:sp>
    </p:spTree>
    <p:extLst>
      <p:ext uri="{BB962C8B-B14F-4D97-AF65-F5344CB8AC3E}">
        <p14:creationId xmlns:p14="http://schemas.microsoft.com/office/powerpoint/2010/main" val="467447035"/>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163097" y="501652"/>
            <a:ext cx="7742903" cy="1143000"/>
          </a:xfrm>
        </p:spPr>
        <p:txBody>
          <a:bodyPr>
            <a:normAutofit fontScale="90000"/>
          </a:bodyPr>
          <a:lstStyle/>
          <a:p>
            <a:pPr eaLnBrk="1" hangingPunct="1">
              <a:defRPr/>
            </a:pPr>
            <a:r>
              <a:rPr lang="en-US" b="0" dirty="0" smtClean="0">
                <a:latin typeface="Arial Narrow Bold" pitchFamily="-105" charset="0"/>
                <a:ea typeface="ＭＳ Ｐゴシック" pitchFamily="-105" charset="-128"/>
              </a:rPr>
              <a:t>The Foundations of Supply Chain </a:t>
            </a:r>
            <a:r>
              <a:rPr lang="en-US" b="0" dirty="0" smtClean="0">
                <a:latin typeface="Arial Narrow Bold" pitchFamily="-105" charset="0"/>
                <a:ea typeface="ＭＳ Ｐゴシック" pitchFamily="-105" charset="-128"/>
              </a:rPr>
              <a:t>Management,</a:t>
            </a:r>
            <a:r>
              <a:rPr lang="en-US" b="0" baseline="0" dirty="0" smtClean="0">
                <a:latin typeface="Arial Narrow Bold" pitchFamily="-105" charset="0"/>
                <a:ea typeface="ＭＳ Ｐゴシック" pitchFamily="-105" charset="-128"/>
              </a:rPr>
              <a:t> Part 2</a:t>
            </a:r>
            <a:endParaRPr lang="en-US" sz="1400" b="0" dirty="0">
              <a:latin typeface="Arial Narrow Bold" pitchFamily="-105" charset="0"/>
              <a:ea typeface="ＭＳ Ｐゴシック" pitchFamily="-105" charset="-128"/>
            </a:endParaRPr>
          </a:p>
        </p:txBody>
      </p:sp>
      <p:sp>
        <p:nvSpPr>
          <p:cNvPr id="29700" name="Rectangle 3"/>
          <p:cNvSpPr>
            <a:spLocks noGrp="1" noChangeArrowheads="1"/>
          </p:cNvSpPr>
          <p:nvPr>
            <p:ph type="body" sz="half" idx="1"/>
          </p:nvPr>
        </p:nvSpPr>
        <p:spPr>
          <a:xfrm>
            <a:off x="2235201" y="1811339"/>
            <a:ext cx="8194675" cy="4314825"/>
          </a:xfrm>
        </p:spPr>
        <p:txBody>
          <a:bodyPr/>
          <a:lstStyle/>
          <a:p>
            <a:pPr eaLnBrk="1" hangingPunct="1">
              <a:buFontTx/>
              <a:buNone/>
            </a:pPr>
            <a:r>
              <a:rPr lang="en-US" altLang="en-US" sz="2400" b="1" dirty="0" smtClean="0">
                <a:ea typeface="ＭＳ Ｐゴシック" pitchFamily="-105" charset="-128"/>
              </a:rPr>
              <a:t>Supply Elements:</a:t>
            </a:r>
            <a:endParaRPr lang="en-US" altLang="en-US" b="1" i="1" dirty="0" smtClean="0">
              <a:solidFill>
                <a:srgbClr val="FF6600"/>
              </a:solidFill>
              <a:ea typeface="ＭＳ Ｐゴシック" pitchFamily="-105" charset="-128"/>
            </a:endParaRPr>
          </a:p>
          <a:p>
            <a:pPr lvl="1" eaLnBrk="1" hangingPunct="1"/>
            <a:r>
              <a:rPr lang="en-US" altLang="en-US" b="1" i="1" dirty="0" smtClean="0">
                <a:solidFill>
                  <a:srgbClr val="FF6600"/>
                </a:solidFill>
                <a:ea typeface="ＭＳ Ｐゴシック" pitchFamily="-105" charset="-128"/>
              </a:rPr>
              <a:t>Supplier management</a:t>
            </a:r>
            <a:r>
              <a:rPr lang="en-US" altLang="en-US" b="1" i="1" dirty="0" smtClean="0">
                <a:solidFill>
                  <a:schemeClr val="hlink"/>
                </a:solidFill>
                <a:ea typeface="ＭＳ Ｐゴシック" pitchFamily="-105" charset="-128"/>
              </a:rPr>
              <a:t> </a:t>
            </a:r>
            <a:r>
              <a:rPr lang="en-US" altLang="en-US" i="1" dirty="0" smtClean="0">
                <a:ea typeface="ＭＳ Ｐゴシック" pitchFamily="-105" charset="-128"/>
              </a:rPr>
              <a:t>-</a:t>
            </a:r>
            <a:r>
              <a:rPr lang="en-US" altLang="en-US" b="1" i="1" dirty="0" smtClean="0">
                <a:solidFill>
                  <a:schemeClr val="hlink"/>
                </a:solidFill>
                <a:ea typeface="ＭＳ Ｐゴシック" pitchFamily="-105" charset="-128"/>
              </a:rPr>
              <a:t> </a:t>
            </a:r>
            <a:r>
              <a:rPr lang="en-US" altLang="en-US" dirty="0" smtClean="0">
                <a:ea typeface="ＭＳ Ｐゴシック" pitchFamily="-105" charset="-128"/>
              </a:rPr>
              <a:t>improve performance through</a:t>
            </a:r>
            <a:r>
              <a:rPr lang="en-US" altLang="en-US" sz="2800" dirty="0" smtClean="0">
                <a:ea typeface="ＭＳ Ｐゴシック" pitchFamily="-105" charset="-128"/>
              </a:rPr>
              <a:t> </a:t>
            </a:r>
          </a:p>
          <a:p>
            <a:pPr lvl="2" eaLnBrk="1" hangingPunct="1"/>
            <a:r>
              <a:rPr lang="en-US" altLang="en-US" b="1" dirty="0" smtClean="0">
                <a:solidFill>
                  <a:srgbClr val="224B50"/>
                </a:solidFill>
                <a:ea typeface="ＭＳ Ｐゴシック" pitchFamily="-105" charset="-128"/>
              </a:rPr>
              <a:t>Supplier evaluation</a:t>
            </a:r>
            <a:r>
              <a:rPr lang="en-US" altLang="en-US" dirty="0" smtClean="0">
                <a:solidFill>
                  <a:srgbClr val="224B50"/>
                </a:solidFill>
                <a:ea typeface="ＭＳ Ｐゴシック" pitchFamily="-105" charset="-128"/>
              </a:rPr>
              <a:t> </a:t>
            </a:r>
            <a:r>
              <a:rPr lang="en-US" altLang="en-US" dirty="0" smtClean="0">
                <a:ea typeface="ＭＳ Ｐゴシック" pitchFamily="-105" charset="-128"/>
              </a:rPr>
              <a:t>(determining supplier capabilities)</a:t>
            </a:r>
          </a:p>
          <a:p>
            <a:pPr lvl="2" eaLnBrk="1" hangingPunct="1"/>
            <a:r>
              <a:rPr lang="en-US" altLang="en-US" b="1" dirty="0" smtClean="0">
                <a:solidFill>
                  <a:srgbClr val="224B50"/>
                </a:solidFill>
                <a:ea typeface="ＭＳ Ｐゴシック" pitchFamily="-105" charset="-128"/>
              </a:rPr>
              <a:t>Supplier certification</a:t>
            </a:r>
            <a:r>
              <a:rPr lang="en-US" altLang="en-US" dirty="0" smtClean="0">
                <a:solidFill>
                  <a:srgbClr val="224B50"/>
                </a:solidFill>
                <a:ea typeface="ＭＳ Ｐゴシック" pitchFamily="-105" charset="-128"/>
              </a:rPr>
              <a:t> </a:t>
            </a:r>
            <a:r>
              <a:rPr lang="en-US" altLang="en-US" dirty="0" smtClean="0">
                <a:ea typeface="ＭＳ Ｐゴシック" pitchFamily="-105" charset="-128"/>
              </a:rPr>
              <a:t>(third party or internal certification to assure product quality and service requirements)</a:t>
            </a:r>
          </a:p>
          <a:p>
            <a:pPr lvl="1" eaLnBrk="1" hangingPunct="1"/>
            <a:r>
              <a:rPr lang="en-US" altLang="en-US" b="1" i="1" dirty="0" smtClean="0">
                <a:solidFill>
                  <a:srgbClr val="FF6600"/>
                </a:solidFill>
                <a:ea typeface="ＭＳ Ｐゴシック" pitchFamily="-105" charset="-128"/>
              </a:rPr>
              <a:t>Strategic partnerships </a:t>
            </a:r>
            <a:r>
              <a:rPr lang="en-US" altLang="en-US" i="1" dirty="0" smtClean="0">
                <a:solidFill>
                  <a:srgbClr val="000000"/>
                </a:solidFill>
                <a:ea typeface="ＭＳ Ｐゴシック" pitchFamily="-105" charset="-128"/>
              </a:rPr>
              <a:t>-</a:t>
            </a:r>
            <a:r>
              <a:rPr lang="en-US" altLang="en-US" dirty="0" smtClean="0">
                <a:ea typeface="ＭＳ Ｐゴシック" pitchFamily="-105" charset="-128"/>
              </a:rPr>
              <a:t> successful and trusting relationships with top-performing suppliers</a:t>
            </a:r>
          </a:p>
          <a:p>
            <a:pPr lvl="1" eaLnBrk="1" hangingPunct="1"/>
            <a:r>
              <a:rPr lang="en-US" altLang="en-US" b="1" i="1" dirty="0" smtClean="0">
                <a:solidFill>
                  <a:srgbClr val="FF6600"/>
                </a:solidFill>
                <a:ea typeface="ＭＳ Ｐゴシック" pitchFamily="-105" charset="-128"/>
              </a:rPr>
              <a:t>Ethics and sustainability </a:t>
            </a:r>
            <a:r>
              <a:rPr lang="en-US" altLang="en-US" i="1" dirty="0" smtClean="0">
                <a:solidFill>
                  <a:srgbClr val="000000"/>
                </a:solidFill>
                <a:ea typeface="ＭＳ Ｐゴシック" pitchFamily="-105" charset="-128"/>
              </a:rPr>
              <a:t>–</a:t>
            </a:r>
            <a:r>
              <a:rPr lang="en-US" altLang="en-US" dirty="0" smtClean="0">
                <a:ea typeface="ＭＳ Ｐゴシック" pitchFamily="-105" charset="-128"/>
              </a:rPr>
              <a:t> recognizing suppliers’ impact on reputation and carbon footprint</a:t>
            </a:r>
            <a:endParaRPr lang="en-US" altLang="en-US" dirty="0">
              <a:ea typeface="ＭＳ Ｐゴシック" pitchFamily="-105" charset="-128"/>
            </a:endParaRPr>
          </a:p>
        </p:txBody>
      </p:sp>
      <p:sp>
        <p:nvSpPr>
          <p:cNvPr id="29698" name="Slide Number Placeholder 5"/>
          <p:cNvSpPr>
            <a:spLocks noGrp="1"/>
          </p:cNvSpPr>
          <p:nvPr>
            <p:ph type="sldNum" sz="quarter" idx="11"/>
          </p:nvPr>
        </p:nvSpPr>
        <p:spPr>
          <a:xfrm>
            <a:off x="9601200" y="6459539"/>
            <a:ext cx="609600" cy="320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pitchFamily="-105" charset="-128"/>
              </a:defRPr>
            </a:lvl1pPr>
            <a:lvl2pPr>
              <a:defRPr sz="2400">
                <a:solidFill>
                  <a:schemeClr val="tx1"/>
                </a:solidFill>
                <a:latin typeface="Arial" charset="0"/>
                <a:ea typeface="ＭＳ Ｐゴシック" pitchFamily="-105" charset="-128"/>
              </a:defRPr>
            </a:lvl2pPr>
            <a:lvl3pPr>
              <a:defRPr sz="2000">
                <a:solidFill>
                  <a:schemeClr val="tx1"/>
                </a:solidFill>
                <a:latin typeface="Arial" charset="0"/>
                <a:ea typeface="ＭＳ Ｐゴシック" pitchFamily="-105" charset="-128"/>
              </a:defRPr>
            </a:lvl3pPr>
            <a:lvl4pPr>
              <a:defRPr sz="2000">
                <a:solidFill>
                  <a:schemeClr val="tx1"/>
                </a:solidFill>
                <a:latin typeface="Arial" charset="0"/>
                <a:ea typeface="ＭＳ Ｐゴシック" pitchFamily="-105" charset="-128"/>
              </a:defRPr>
            </a:lvl4pPr>
            <a:lvl5pPr>
              <a:defRPr sz="2000">
                <a:solidFill>
                  <a:schemeClr val="tx1"/>
                </a:solidFill>
                <a:latin typeface="Arial" charset="0"/>
                <a:ea typeface="ＭＳ Ｐゴシック" pitchFamily="-105" charset="-128"/>
              </a:defRPr>
            </a:lvl5pPr>
            <a:lvl6pPr eaLnBrk="0" hangingPunct="0">
              <a:defRPr sz="2000">
                <a:solidFill>
                  <a:schemeClr val="tx1"/>
                </a:solidFill>
                <a:latin typeface="Arial" charset="0"/>
                <a:ea typeface="ＭＳ Ｐゴシック" pitchFamily="-105" charset="-128"/>
              </a:defRPr>
            </a:lvl6pPr>
            <a:lvl7pPr eaLnBrk="0" hangingPunct="0">
              <a:defRPr sz="2000">
                <a:solidFill>
                  <a:schemeClr val="tx1"/>
                </a:solidFill>
                <a:latin typeface="Arial" charset="0"/>
                <a:ea typeface="ＭＳ Ｐゴシック" pitchFamily="-105" charset="-128"/>
              </a:defRPr>
            </a:lvl7pPr>
            <a:lvl8pPr eaLnBrk="0" hangingPunct="0">
              <a:defRPr sz="2000">
                <a:solidFill>
                  <a:schemeClr val="tx1"/>
                </a:solidFill>
                <a:latin typeface="Arial" charset="0"/>
                <a:ea typeface="ＭＳ Ｐゴシック" pitchFamily="-105" charset="-128"/>
              </a:defRPr>
            </a:lvl8pPr>
            <a:lvl9pPr eaLnBrk="0" hangingPunct="0">
              <a:defRPr sz="2000">
                <a:solidFill>
                  <a:schemeClr val="tx1"/>
                </a:solidFill>
                <a:latin typeface="Arial" charset="0"/>
                <a:ea typeface="ＭＳ Ｐゴシック" pitchFamily="-105" charset="-128"/>
              </a:defRPr>
            </a:lvl9pPr>
          </a:lstStyle>
          <a:p>
            <a:fld id="{D2970E3A-664C-4930-AB46-CFF10CD15539}" type="slidenum">
              <a:rPr lang="en-US" altLang="en-US" sz="1400">
                <a:solidFill>
                  <a:srgbClr val="404040"/>
                </a:solidFill>
              </a:rPr>
              <a:pPr/>
              <a:t>17</a:t>
            </a:fld>
            <a:endParaRPr lang="en-US" altLang="en-US" sz="1400">
              <a:solidFill>
                <a:srgbClr val="404040"/>
              </a:solidFill>
            </a:endParaRPr>
          </a:p>
        </p:txBody>
      </p:sp>
    </p:spTree>
    <p:extLst>
      <p:ext uri="{BB962C8B-B14F-4D97-AF65-F5344CB8AC3E}">
        <p14:creationId xmlns:p14="http://schemas.microsoft.com/office/powerpoint/2010/main" val="1857897665"/>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3352800" y="487729"/>
            <a:ext cx="6553200" cy="1143000"/>
          </a:xfrm>
        </p:spPr>
        <p:txBody>
          <a:bodyPr>
            <a:normAutofit fontScale="90000"/>
          </a:bodyPr>
          <a:lstStyle/>
          <a:p>
            <a:pPr eaLnBrk="1" hangingPunct="1">
              <a:defRPr/>
            </a:pPr>
            <a:r>
              <a:rPr lang="en-US" b="0" dirty="0">
                <a:latin typeface="Arial Narrow Bold" pitchFamily="-105" charset="0"/>
                <a:ea typeface="ＭＳ Ｐゴシック" pitchFamily="-105" charset="-128"/>
              </a:rPr>
              <a:t>Important Elements of Supply Chain </a:t>
            </a:r>
            <a:r>
              <a:rPr lang="en-US" b="0" dirty="0" smtClean="0">
                <a:latin typeface="Arial Narrow Bold" pitchFamily="-105" charset="0"/>
                <a:ea typeface="ＭＳ Ｐゴシック" pitchFamily="-105" charset="-128"/>
              </a:rPr>
              <a:t>Management, Part 1</a:t>
            </a:r>
            <a:endParaRPr lang="en-US" sz="1400" b="0" dirty="0">
              <a:latin typeface="Arial Narrow Bold" pitchFamily="-105" charset="0"/>
              <a:ea typeface="ＭＳ Ｐゴシック" pitchFamily="-105" charset="-128"/>
            </a:endParaRPr>
          </a:p>
        </p:txBody>
      </p:sp>
      <p:sp>
        <p:nvSpPr>
          <p:cNvPr id="30725" name="Rectangle 3"/>
          <p:cNvSpPr>
            <a:spLocks noGrp="1" noChangeArrowheads="1"/>
          </p:cNvSpPr>
          <p:nvPr>
            <p:ph type="body" sz="half" idx="1"/>
          </p:nvPr>
        </p:nvSpPr>
        <p:spPr>
          <a:xfrm>
            <a:off x="2164629" y="1825626"/>
            <a:ext cx="7866062" cy="4794250"/>
          </a:xfrm>
        </p:spPr>
        <p:txBody>
          <a:bodyPr>
            <a:normAutofit lnSpcReduction="10000"/>
          </a:bodyPr>
          <a:lstStyle/>
          <a:p>
            <a:pPr>
              <a:spcAft>
                <a:spcPts val="1200"/>
              </a:spcAft>
              <a:buNone/>
            </a:pPr>
            <a:r>
              <a:rPr lang="en-US" altLang="en-US" b="1" dirty="0">
                <a:ea typeface="ＭＳ Ｐゴシック" pitchFamily="-105" charset="-128"/>
              </a:rPr>
              <a:t>Operations Elements:</a:t>
            </a:r>
          </a:p>
          <a:p>
            <a:pPr lvl="1" eaLnBrk="1" hangingPunct="1">
              <a:lnSpc>
                <a:spcPct val="90000"/>
              </a:lnSpc>
              <a:spcBef>
                <a:spcPct val="0"/>
              </a:spcBef>
            </a:pPr>
            <a:r>
              <a:rPr lang="en-US" altLang="en-US" b="1" dirty="0">
                <a:solidFill>
                  <a:srgbClr val="FF6600"/>
                </a:solidFill>
                <a:ea typeface="ＭＳ Ｐゴシック" pitchFamily="-105" charset="-128"/>
              </a:rPr>
              <a:t>Demand management </a:t>
            </a:r>
            <a:r>
              <a:rPr lang="en-US" altLang="en-US" dirty="0">
                <a:ea typeface="ＭＳ Ｐゴシック" pitchFamily="-105" charset="-128"/>
              </a:rPr>
              <a:t>- match demand to available capacity</a:t>
            </a:r>
          </a:p>
          <a:p>
            <a:pPr lvl="1" eaLnBrk="1" hangingPunct="1">
              <a:lnSpc>
                <a:spcPct val="90000"/>
              </a:lnSpc>
            </a:pPr>
            <a:r>
              <a:rPr lang="en-US" altLang="en-US" dirty="0">
                <a:ea typeface="ＭＳ Ｐゴシック" pitchFamily="-105" charset="-128"/>
              </a:rPr>
              <a:t>Linking buyers &amp; suppliers via </a:t>
            </a:r>
            <a:r>
              <a:rPr lang="en-US" altLang="en-US" b="1" i="1" dirty="0">
                <a:solidFill>
                  <a:srgbClr val="FF6600"/>
                </a:solidFill>
                <a:ea typeface="ＭＳ Ｐゴシック" pitchFamily="-105" charset="-128"/>
              </a:rPr>
              <a:t>MRP</a:t>
            </a:r>
            <a:r>
              <a:rPr lang="en-US" altLang="en-US" dirty="0">
                <a:solidFill>
                  <a:srgbClr val="FF6600"/>
                </a:solidFill>
                <a:ea typeface="ＭＳ Ｐゴシック" pitchFamily="-105" charset="-128"/>
              </a:rPr>
              <a:t> </a:t>
            </a:r>
            <a:r>
              <a:rPr lang="en-US" altLang="en-US" dirty="0">
                <a:ea typeface="ＭＳ Ｐゴシック" pitchFamily="-105" charset="-128"/>
              </a:rPr>
              <a:t>and</a:t>
            </a:r>
            <a:r>
              <a:rPr lang="en-US" altLang="en-US" dirty="0">
                <a:solidFill>
                  <a:schemeClr val="hlink"/>
                </a:solidFill>
                <a:ea typeface="ＭＳ Ｐゴシック" pitchFamily="-105" charset="-128"/>
              </a:rPr>
              <a:t> </a:t>
            </a:r>
            <a:r>
              <a:rPr lang="en-US" altLang="en-US" b="1" i="1" dirty="0">
                <a:solidFill>
                  <a:srgbClr val="FF6600"/>
                </a:solidFill>
                <a:ea typeface="ＭＳ Ｐゴシック" pitchFamily="-105" charset="-128"/>
              </a:rPr>
              <a:t>ERP</a:t>
            </a:r>
            <a:r>
              <a:rPr lang="en-US" altLang="en-US" dirty="0">
                <a:solidFill>
                  <a:srgbClr val="FF6600"/>
                </a:solidFill>
                <a:ea typeface="ＭＳ Ｐゴシック" pitchFamily="-105" charset="-128"/>
              </a:rPr>
              <a:t> </a:t>
            </a:r>
            <a:r>
              <a:rPr lang="en-US" altLang="en-US" dirty="0">
                <a:ea typeface="ＭＳ Ｐゴシック" pitchFamily="-105" charset="-128"/>
              </a:rPr>
              <a:t>systems</a:t>
            </a:r>
          </a:p>
          <a:p>
            <a:pPr lvl="1" eaLnBrk="1" hangingPunct="1">
              <a:lnSpc>
                <a:spcPct val="90000"/>
              </a:lnSpc>
            </a:pPr>
            <a:r>
              <a:rPr lang="en-US" altLang="en-US" dirty="0">
                <a:ea typeface="ＭＳ Ｐゴシック" pitchFamily="-105" charset="-128"/>
              </a:rPr>
              <a:t>Extending order communication and </a:t>
            </a:r>
            <a:r>
              <a:rPr lang="en-US" altLang="en-US" b="1" dirty="0">
                <a:solidFill>
                  <a:srgbClr val="FF6600"/>
                </a:solidFill>
                <a:ea typeface="ＭＳ Ｐゴシック" pitchFamily="-105" charset="-128"/>
              </a:rPr>
              <a:t>inventory visibility</a:t>
            </a:r>
            <a:r>
              <a:rPr lang="en-US" altLang="en-US" dirty="0">
                <a:ea typeface="ＭＳ Ｐゴシック" pitchFamily="-105" charset="-128"/>
              </a:rPr>
              <a:t> farther up the supply chain </a:t>
            </a:r>
          </a:p>
          <a:p>
            <a:pPr lvl="1" eaLnBrk="1" hangingPunct="1">
              <a:lnSpc>
                <a:spcPct val="90000"/>
              </a:lnSpc>
            </a:pPr>
            <a:r>
              <a:rPr lang="en-US" b="1" dirty="0">
                <a:solidFill>
                  <a:srgbClr val="FF6600"/>
                </a:solidFill>
              </a:rPr>
              <a:t>Radio frequency identification</a:t>
            </a:r>
            <a:r>
              <a:rPr lang="en-US" dirty="0">
                <a:solidFill>
                  <a:srgbClr val="FF6600"/>
                </a:solidFill>
              </a:rPr>
              <a:t> </a:t>
            </a:r>
            <a:r>
              <a:rPr lang="en-US" dirty="0"/>
              <a:t>(RFID) systems scan cartons describing contents of the packages </a:t>
            </a:r>
            <a:endParaRPr lang="en-US" altLang="en-US" dirty="0">
              <a:ea typeface="ＭＳ Ｐゴシック" pitchFamily="-105" charset="-128"/>
            </a:endParaRPr>
          </a:p>
          <a:p>
            <a:pPr lvl="1" eaLnBrk="1" hangingPunct="1">
              <a:lnSpc>
                <a:spcPct val="90000"/>
              </a:lnSpc>
            </a:pPr>
            <a:r>
              <a:rPr lang="en-US" altLang="en-US" dirty="0">
                <a:ea typeface="ＭＳ Ｐゴシック" pitchFamily="-105" charset="-128"/>
              </a:rPr>
              <a:t>Use </a:t>
            </a:r>
            <a:r>
              <a:rPr lang="en-US" altLang="en-US" b="1" i="1" dirty="0">
                <a:solidFill>
                  <a:srgbClr val="FF6600"/>
                </a:solidFill>
                <a:ea typeface="ＭＳ Ｐゴシック" pitchFamily="-105" charset="-128"/>
              </a:rPr>
              <a:t>lean systems</a:t>
            </a:r>
            <a:r>
              <a:rPr lang="en-US" altLang="en-US" b="1" dirty="0">
                <a:solidFill>
                  <a:srgbClr val="FF6600"/>
                </a:solidFill>
                <a:ea typeface="ＭＳ Ｐゴシック" pitchFamily="-105" charset="-128"/>
              </a:rPr>
              <a:t> </a:t>
            </a:r>
            <a:r>
              <a:rPr lang="en-US" altLang="en-US" dirty="0">
                <a:ea typeface="ＭＳ Ｐゴシック" pitchFamily="-105" charset="-128"/>
              </a:rPr>
              <a:t>to improve the flow of materials to reduce inventory levels</a:t>
            </a:r>
          </a:p>
          <a:p>
            <a:pPr lvl="1" eaLnBrk="1" hangingPunct="1">
              <a:lnSpc>
                <a:spcPct val="90000"/>
              </a:lnSpc>
            </a:pPr>
            <a:r>
              <a:rPr lang="en-US" altLang="en-US" dirty="0">
                <a:ea typeface="ＭＳ Ｐゴシック" pitchFamily="-105" charset="-128"/>
              </a:rPr>
              <a:t>Employ </a:t>
            </a:r>
            <a:r>
              <a:rPr lang="en-US" altLang="en-US" b="1" i="1" dirty="0">
                <a:solidFill>
                  <a:srgbClr val="FF6600"/>
                </a:solidFill>
                <a:ea typeface="ＭＳ Ｐゴシック" pitchFamily="-105" charset="-128"/>
              </a:rPr>
              <a:t>Six Sigma</a:t>
            </a:r>
            <a:r>
              <a:rPr lang="en-US" altLang="en-US" i="1" dirty="0">
                <a:solidFill>
                  <a:srgbClr val="FF6600"/>
                </a:solidFill>
                <a:ea typeface="ＭＳ Ｐゴシック" pitchFamily="-105" charset="-128"/>
              </a:rPr>
              <a:t> </a:t>
            </a:r>
            <a:r>
              <a:rPr lang="en-US" altLang="en-US" dirty="0">
                <a:ea typeface="ＭＳ Ｐゴシック" pitchFamily="-105" charset="-128"/>
              </a:rPr>
              <a:t>to improve quality compliance among </a:t>
            </a:r>
            <a:r>
              <a:rPr lang="en-US" altLang="en-US" dirty="0" smtClean="0">
                <a:ea typeface="ＭＳ Ｐゴシック" pitchFamily="-105" charset="-128"/>
              </a:rPr>
              <a:t>suppliers</a:t>
            </a:r>
            <a:endParaRPr lang="en-US" altLang="en-US" sz="2400" dirty="0">
              <a:ea typeface="ＭＳ Ｐゴシック" pitchFamily="-105" charset="-128"/>
            </a:endParaRPr>
          </a:p>
        </p:txBody>
      </p:sp>
      <p:sp>
        <p:nvSpPr>
          <p:cNvPr id="30723" name="Slide Number Placeholder 5"/>
          <p:cNvSpPr>
            <a:spLocks noGrp="1"/>
          </p:cNvSpPr>
          <p:nvPr>
            <p:ph type="sldNum" sz="quarter" idx="11"/>
          </p:nvPr>
        </p:nvSpPr>
        <p:spPr>
          <a:xfrm>
            <a:off x="9601200" y="6459539"/>
            <a:ext cx="609600" cy="320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pitchFamily="-105" charset="-128"/>
              </a:defRPr>
            </a:lvl1pPr>
            <a:lvl2pPr>
              <a:defRPr sz="2400">
                <a:solidFill>
                  <a:schemeClr val="tx1"/>
                </a:solidFill>
                <a:latin typeface="Arial" charset="0"/>
                <a:ea typeface="ＭＳ Ｐゴシック" pitchFamily="-105" charset="-128"/>
              </a:defRPr>
            </a:lvl2pPr>
            <a:lvl3pPr>
              <a:defRPr sz="2000">
                <a:solidFill>
                  <a:schemeClr val="tx1"/>
                </a:solidFill>
                <a:latin typeface="Arial" charset="0"/>
                <a:ea typeface="ＭＳ Ｐゴシック" pitchFamily="-105" charset="-128"/>
              </a:defRPr>
            </a:lvl3pPr>
            <a:lvl4pPr>
              <a:defRPr sz="2000">
                <a:solidFill>
                  <a:schemeClr val="tx1"/>
                </a:solidFill>
                <a:latin typeface="Arial" charset="0"/>
                <a:ea typeface="ＭＳ Ｐゴシック" pitchFamily="-105" charset="-128"/>
              </a:defRPr>
            </a:lvl4pPr>
            <a:lvl5pPr>
              <a:defRPr sz="2000">
                <a:solidFill>
                  <a:schemeClr val="tx1"/>
                </a:solidFill>
                <a:latin typeface="Arial" charset="0"/>
                <a:ea typeface="ＭＳ Ｐゴシック" pitchFamily="-105" charset="-128"/>
              </a:defRPr>
            </a:lvl5pPr>
            <a:lvl6pPr eaLnBrk="0" hangingPunct="0">
              <a:defRPr sz="2000">
                <a:solidFill>
                  <a:schemeClr val="tx1"/>
                </a:solidFill>
                <a:latin typeface="Arial" charset="0"/>
                <a:ea typeface="ＭＳ Ｐゴシック" pitchFamily="-105" charset="-128"/>
              </a:defRPr>
            </a:lvl6pPr>
            <a:lvl7pPr eaLnBrk="0" hangingPunct="0">
              <a:defRPr sz="2000">
                <a:solidFill>
                  <a:schemeClr val="tx1"/>
                </a:solidFill>
                <a:latin typeface="Arial" charset="0"/>
                <a:ea typeface="ＭＳ Ｐゴシック" pitchFamily="-105" charset="-128"/>
              </a:defRPr>
            </a:lvl7pPr>
            <a:lvl8pPr eaLnBrk="0" hangingPunct="0">
              <a:defRPr sz="2000">
                <a:solidFill>
                  <a:schemeClr val="tx1"/>
                </a:solidFill>
                <a:latin typeface="Arial" charset="0"/>
                <a:ea typeface="ＭＳ Ｐゴシック" pitchFamily="-105" charset="-128"/>
              </a:defRPr>
            </a:lvl8pPr>
            <a:lvl9pPr eaLnBrk="0" hangingPunct="0">
              <a:defRPr sz="2000">
                <a:solidFill>
                  <a:schemeClr val="tx1"/>
                </a:solidFill>
                <a:latin typeface="Arial" charset="0"/>
                <a:ea typeface="ＭＳ Ｐゴシック" pitchFamily="-105" charset="-128"/>
              </a:defRPr>
            </a:lvl9pPr>
          </a:lstStyle>
          <a:p>
            <a:fld id="{31F7C2F9-CFCE-4F02-B305-BBAFC7A2738D}" type="slidenum">
              <a:rPr lang="en-US" altLang="en-US" sz="1400">
                <a:solidFill>
                  <a:srgbClr val="404040"/>
                </a:solidFill>
              </a:rPr>
              <a:pPr/>
              <a:t>18</a:t>
            </a:fld>
            <a:endParaRPr lang="en-US" altLang="en-US" sz="1400">
              <a:solidFill>
                <a:srgbClr val="404040"/>
              </a:solidFill>
            </a:endParaRPr>
          </a:p>
        </p:txBody>
      </p:sp>
    </p:spTree>
    <p:extLst>
      <p:ext uri="{BB962C8B-B14F-4D97-AF65-F5344CB8AC3E}">
        <p14:creationId xmlns:p14="http://schemas.microsoft.com/office/powerpoint/2010/main" val="680246504"/>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352800" y="658813"/>
            <a:ext cx="6553200" cy="925513"/>
          </a:xfrm>
        </p:spPr>
        <p:txBody>
          <a:bodyPr>
            <a:normAutofit fontScale="90000"/>
          </a:bodyPr>
          <a:lstStyle/>
          <a:p>
            <a:pPr eaLnBrk="1" hangingPunct="1">
              <a:defRPr/>
            </a:pPr>
            <a:r>
              <a:rPr lang="en-US" b="0" dirty="0">
                <a:latin typeface="Arial Narrow Bold" pitchFamily="-109" charset="0"/>
              </a:rPr>
              <a:t>Important Elements of Supply Chain </a:t>
            </a:r>
            <a:r>
              <a:rPr lang="en-US" b="0" dirty="0" smtClean="0">
                <a:latin typeface="Arial Narrow Bold" pitchFamily="-109" charset="0"/>
              </a:rPr>
              <a:t>Management, Part 2</a:t>
            </a:r>
            <a:endParaRPr lang="en-US" sz="1400" b="0" i="1" dirty="0">
              <a:latin typeface="Arial Narrow Bold" pitchFamily="-109" charset="0"/>
            </a:endParaRPr>
          </a:p>
        </p:txBody>
      </p:sp>
      <p:sp>
        <p:nvSpPr>
          <p:cNvPr id="31749" name="Rectangle 3"/>
          <p:cNvSpPr>
            <a:spLocks noGrp="1" noChangeArrowheads="1"/>
          </p:cNvSpPr>
          <p:nvPr>
            <p:ph type="body" sz="half" idx="1"/>
          </p:nvPr>
        </p:nvSpPr>
        <p:spPr>
          <a:xfrm>
            <a:off x="2209801" y="1744664"/>
            <a:ext cx="7839075" cy="4554537"/>
          </a:xfrm>
        </p:spPr>
        <p:txBody>
          <a:bodyPr/>
          <a:lstStyle/>
          <a:p>
            <a:pPr eaLnBrk="1" hangingPunct="1">
              <a:buFontTx/>
              <a:buNone/>
            </a:pPr>
            <a:r>
              <a:rPr lang="en-US" altLang="en-US" sz="2400" b="1" dirty="0">
                <a:ea typeface="ＭＳ Ｐゴシック" pitchFamily="-105" charset="-128"/>
              </a:rPr>
              <a:t>Logistics Elements:</a:t>
            </a:r>
          </a:p>
          <a:p>
            <a:pPr lvl="1" eaLnBrk="1" hangingPunct="1"/>
            <a:r>
              <a:rPr lang="en-US" altLang="en-US" b="1" dirty="0">
                <a:solidFill>
                  <a:srgbClr val="FF6600"/>
                </a:solidFill>
                <a:ea typeface="ＭＳ Ｐゴシック" pitchFamily="-105" charset="-128"/>
              </a:rPr>
              <a:t>Transportation management </a:t>
            </a:r>
            <a:r>
              <a:rPr lang="en-US" altLang="en-US" dirty="0">
                <a:ea typeface="ＭＳ Ｐゴシック" pitchFamily="-105" charset="-128"/>
              </a:rPr>
              <a:t>- tradeoff decisions between cost &amp; timing of delivery / customer service via trucks, rail, water &amp; air</a:t>
            </a:r>
          </a:p>
          <a:p>
            <a:pPr lvl="1" eaLnBrk="1" hangingPunct="1"/>
            <a:r>
              <a:rPr lang="en-US" altLang="en-US" b="1" dirty="0">
                <a:solidFill>
                  <a:srgbClr val="FF6600"/>
                </a:solidFill>
                <a:ea typeface="ＭＳ Ｐゴシック" pitchFamily="-105" charset="-128"/>
              </a:rPr>
              <a:t>Third party logistics providers (3PLs) </a:t>
            </a:r>
            <a:r>
              <a:rPr lang="en-US" altLang="en-US" dirty="0">
                <a:ea typeface="ＭＳ Ｐゴシック" pitchFamily="-105" charset="-128"/>
              </a:rPr>
              <a:t>– for hire outside agencies providing transportation and services</a:t>
            </a:r>
          </a:p>
          <a:p>
            <a:pPr lvl="1" eaLnBrk="1" hangingPunct="1"/>
            <a:r>
              <a:rPr lang="en-US" altLang="en-US" dirty="0">
                <a:ea typeface="ＭＳ Ｐゴシック" pitchFamily="-105" charset="-128"/>
              </a:rPr>
              <a:t>Creating </a:t>
            </a:r>
            <a:r>
              <a:rPr lang="en-US" altLang="en-US" b="1" i="1" dirty="0">
                <a:solidFill>
                  <a:srgbClr val="FF6600"/>
                </a:solidFill>
                <a:ea typeface="ＭＳ Ｐゴシック" pitchFamily="-105" charset="-128"/>
              </a:rPr>
              <a:t>distribution network</a:t>
            </a:r>
            <a:r>
              <a:rPr lang="en-US" altLang="en-US" b="1" dirty="0">
                <a:solidFill>
                  <a:srgbClr val="FF6600"/>
                </a:solidFill>
                <a:ea typeface="ＭＳ Ｐゴシック" pitchFamily="-105" charset="-128"/>
              </a:rPr>
              <a:t>s </a:t>
            </a:r>
            <a:r>
              <a:rPr lang="en-US" altLang="en-US" dirty="0">
                <a:ea typeface="ＭＳ Ｐゴシック" pitchFamily="-105" charset="-128"/>
              </a:rPr>
              <a:t>based on tradeoff decisions between cost &amp; sophistication of distribution system </a:t>
            </a:r>
            <a:endParaRPr lang="en-US" altLang="en-US" sz="2000" dirty="0">
              <a:ea typeface="ＭＳ Ｐゴシック" pitchFamily="-105" charset="-128"/>
            </a:endParaRPr>
          </a:p>
        </p:txBody>
      </p:sp>
      <p:sp>
        <p:nvSpPr>
          <p:cNvPr id="31747" name="Slide Number Placeholder 5"/>
          <p:cNvSpPr>
            <a:spLocks noGrp="1"/>
          </p:cNvSpPr>
          <p:nvPr>
            <p:ph type="sldNum" sz="quarter" idx="11"/>
          </p:nvPr>
        </p:nvSpPr>
        <p:spPr>
          <a:xfrm>
            <a:off x="9601200" y="6459539"/>
            <a:ext cx="609600" cy="320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pitchFamily="-105" charset="-128"/>
              </a:defRPr>
            </a:lvl1pPr>
            <a:lvl2pPr>
              <a:defRPr sz="2400">
                <a:solidFill>
                  <a:schemeClr val="tx1"/>
                </a:solidFill>
                <a:latin typeface="Arial" charset="0"/>
                <a:ea typeface="ＭＳ Ｐゴシック" pitchFamily="-105" charset="-128"/>
              </a:defRPr>
            </a:lvl2pPr>
            <a:lvl3pPr>
              <a:defRPr sz="2000">
                <a:solidFill>
                  <a:schemeClr val="tx1"/>
                </a:solidFill>
                <a:latin typeface="Arial" charset="0"/>
                <a:ea typeface="ＭＳ Ｐゴシック" pitchFamily="-105" charset="-128"/>
              </a:defRPr>
            </a:lvl3pPr>
            <a:lvl4pPr>
              <a:defRPr sz="2000">
                <a:solidFill>
                  <a:schemeClr val="tx1"/>
                </a:solidFill>
                <a:latin typeface="Arial" charset="0"/>
                <a:ea typeface="ＭＳ Ｐゴシック" pitchFamily="-105" charset="-128"/>
              </a:defRPr>
            </a:lvl4pPr>
            <a:lvl5pPr>
              <a:defRPr sz="2000">
                <a:solidFill>
                  <a:schemeClr val="tx1"/>
                </a:solidFill>
                <a:latin typeface="Arial" charset="0"/>
                <a:ea typeface="ＭＳ Ｐゴシック" pitchFamily="-105" charset="-128"/>
              </a:defRPr>
            </a:lvl5pPr>
            <a:lvl6pPr eaLnBrk="0" hangingPunct="0">
              <a:defRPr sz="2000">
                <a:solidFill>
                  <a:schemeClr val="tx1"/>
                </a:solidFill>
                <a:latin typeface="Arial" charset="0"/>
                <a:ea typeface="ＭＳ Ｐゴシック" pitchFamily="-105" charset="-128"/>
              </a:defRPr>
            </a:lvl6pPr>
            <a:lvl7pPr eaLnBrk="0" hangingPunct="0">
              <a:defRPr sz="2000">
                <a:solidFill>
                  <a:schemeClr val="tx1"/>
                </a:solidFill>
                <a:latin typeface="Arial" charset="0"/>
                <a:ea typeface="ＭＳ Ｐゴシック" pitchFamily="-105" charset="-128"/>
              </a:defRPr>
            </a:lvl7pPr>
            <a:lvl8pPr eaLnBrk="0" hangingPunct="0">
              <a:defRPr sz="2000">
                <a:solidFill>
                  <a:schemeClr val="tx1"/>
                </a:solidFill>
                <a:latin typeface="Arial" charset="0"/>
                <a:ea typeface="ＭＳ Ｐゴシック" pitchFamily="-105" charset="-128"/>
              </a:defRPr>
            </a:lvl8pPr>
            <a:lvl9pPr eaLnBrk="0" hangingPunct="0">
              <a:defRPr sz="2000">
                <a:solidFill>
                  <a:schemeClr val="tx1"/>
                </a:solidFill>
                <a:latin typeface="Arial" charset="0"/>
                <a:ea typeface="ＭＳ Ｐゴシック" pitchFamily="-105" charset="-128"/>
              </a:defRPr>
            </a:lvl9pPr>
          </a:lstStyle>
          <a:p>
            <a:fld id="{A0838F39-CF3E-4EFB-9827-AD740F212138}" type="slidenum">
              <a:rPr lang="en-US" altLang="en-US" sz="1400">
                <a:solidFill>
                  <a:srgbClr val="404040"/>
                </a:solidFill>
              </a:rPr>
              <a:pPr/>
              <a:t>19</a:t>
            </a:fld>
            <a:endParaRPr lang="en-US" altLang="en-US" sz="1400">
              <a:solidFill>
                <a:srgbClr val="404040"/>
              </a:solidFill>
            </a:endParaRPr>
          </a:p>
        </p:txBody>
      </p:sp>
    </p:spTree>
    <p:extLst>
      <p:ext uri="{BB962C8B-B14F-4D97-AF65-F5344CB8AC3E}">
        <p14:creationId xmlns:p14="http://schemas.microsoft.com/office/powerpoint/2010/main" val="2015845457"/>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838200" y="747269"/>
            <a:ext cx="10515600" cy="749023"/>
          </a:xfrm>
        </p:spPr>
        <p:txBody>
          <a:bodyPr/>
          <a:lstStyle/>
          <a:p>
            <a:pPr eaLnBrk="1" hangingPunct="1">
              <a:defRPr/>
            </a:pPr>
            <a:r>
              <a:rPr lang="en-US" sz="3600" b="0" dirty="0">
                <a:latin typeface="Arial Narrow Bold" pitchFamily="-109" charset="0"/>
              </a:rPr>
              <a:t>Important Elements of Supply Chain </a:t>
            </a:r>
            <a:r>
              <a:rPr lang="en-US" sz="3600" b="0" dirty="0" smtClean="0">
                <a:latin typeface="Arial Narrow Bold" pitchFamily="-109" charset="0"/>
              </a:rPr>
              <a:t>Management, Part 3</a:t>
            </a:r>
            <a:endParaRPr lang="en-US" sz="1400" b="0" i="1" dirty="0">
              <a:latin typeface="Arial Narrow Bold" pitchFamily="-109" charset="0"/>
            </a:endParaRPr>
          </a:p>
        </p:txBody>
      </p:sp>
      <p:sp>
        <p:nvSpPr>
          <p:cNvPr id="32773" name="Rectangle 3"/>
          <p:cNvSpPr>
            <a:spLocks noGrp="1" noChangeArrowheads="1"/>
          </p:cNvSpPr>
          <p:nvPr>
            <p:ph type="body" idx="1"/>
          </p:nvPr>
        </p:nvSpPr>
        <p:spPr>
          <a:xfrm>
            <a:off x="2217738" y="1871664"/>
            <a:ext cx="7993062" cy="4002663"/>
          </a:xfrm>
        </p:spPr>
        <p:txBody>
          <a:bodyPr/>
          <a:lstStyle/>
          <a:p>
            <a:pPr eaLnBrk="1" hangingPunct="1">
              <a:buFontTx/>
              <a:buNone/>
            </a:pPr>
            <a:r>
              <a:rPr lang="en-US" altLang="en-US" b="1" dirty="0">
                <a:ea typeface="ＭＳ Ｐゴシック" pitchFamily="-105" charset="-128"/>
              </a:rPr>
              <a:t>Integration Elements:</a:t>
            </a:r>
            <a:endParaRPr lang="en-US" altLang="en-US" sz="1600" dirty="0">
              <a:ea typeface="ＭＳ Ｐゴシック" pitchFamily="-105" charset="-128"/>
            </a:endParaRPr>
          </a:p>
          <a:p>
            <a:pPr lvl="1" eaLnBrk="1" hangingPunct="1"/>
            <a:r>
              <a:rPr lang="en-US" altLang="en-US" b="1" dirty="0">
                <a:solidFill>
                  <a:srgbClr val="FF6600"/>
                </a:solidFill>
                <a:ea typeface="ＭＳ Ｐゴシック" pitchFamily="-105" charset="-128"/>
              </a:rPr>
              <a:t>Supply Chain Process Integration </a:t>
            </a:r>
            <a:r>
              <a:rPr lang="en-US" altLang="en-US" dirty="0">
                <a:ea typeface="ＭＳ Ｐゴシック" pitchFamily="-105" charset="-128"/>
              </a:rPr>
              <a:t>-</a:t>
            </a:r>
            <a:r>
              <a:rPr lang="en-US" altLang="en-US" b="1" dirty="0">
                <a:ea typeface="ＭＳ Ｐゴシック" pitchFamily="-105" charset="-128"/>
              </a:rPr>
              <a:t> </a:t>
            </a:r>
            <a:r>
              <a:rPr lang="en-US" altLang="en-US" dirty="0">
                <a:ea typeface="ＭＳ Ｐゴシック" pitchFamily="-105" charset="-128"/>
              </a:rPr>
              <a:t>when supply chain participants work for common goals. Requires </a:t>
            </a:r>
            <a:r>
              <a:rPr lang="en-US" altLang="en-US" dirty="0">
                <a:solidFill>
                  <a:srgbClr val="FF6600"/>
                </a:solidFill>
                <a:ea typeface="ＭＳ Ｐゴシック" pitchFamily="-105" charset="-128"/>
              </a:rPr>
              <a:t>intra-firm</a:t>
            </a:r>
            <a:r>
              <a:rPr lang="en-US" altLang="en-US" dirty="0">
                <a:ea typeface="ＭＳ Ｐゴシック" pitchFamily="-105" charset="-128"/>
              </a:rPr>
              <a:t> functional integration, with efforts to change attitudes &amp; adversarial relationships</a:t>
            </a:r>
          </a:p>
          <a:p>
            <a:pPr lvl="1" eaLnBrk="1" hangingPunct="1"/>
            <a:r>
              <a:rPr lang="en-US" altLang="en-US" b="1" dirty="0">
                <a:solidFill>
                  <a:srgbClr val="FF6600"/>
                </a:solidFill>
                <a:ea typeface="ＭＳ Ｐゴシック" pitchFamily="-105" charset="-128"/>
              </a:rPr>
              <a:t>Supply Chain Performance Measurement </a:t>
            </a:r>
            <a:r>
              <a:rPr lang="en-US" altLang="en-US" dirty="0">
                <a:ea typeface="ＭＳ Ｐゴシック" pitchFamily="-105" charset="-128"/>
              </a:rPr>
              <a:t>- Crucial for firms to know if procedures are working as expected</a:t>
            </a:r>
          </a:p>
          <a:p>
            <a:pPr lvl="1" eaLnBrk="1" hangingPunct="1"/>
            <a:r>
              <a:rPr lang="en-US" altLang="en-US" dirty="0">
                <a:ea typeface="ＭＳ Ｐゴシック" pitchFamily="-105" charset="-128"/>
              </a:rPr>
              <a:t>High level supply chain performance occurs when strategies at each firm fit well with overall supply chain strategies</a:t>
            </a:r>
          </a:p>
        </p:txBody>
      </p:sp>
      <p:sp>
        <p:nvSpPr>
          <p:cNvPr id="3277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pitchFamily="-105" charset="-128"/>
              </a:defRPr>
            </a:lvl1pPr>
            <a:lvl2pPr>
              <a:defRPr sz="2400">
                <a:solidFill>
                  <a:schemeClr val="tx1"/>
                </a:solidFill>
                <a:latin typeface="Arial" charset="0"/>
                <a:ea typeface="ＭＳ Ｐゴシック" pitchFamily="-105" charset="-128"/>
              </a:defRPr>
            </a:lvl2pPr>
            <a:lvl3pPr>
              <a:defRPr sz="2000">
                <a:solidFill>
                  <a:schemeClr val="tx1"/>
                </a:solidFill>
                <a:latin typeface="Arial" charset="0"/>
                <a:ea typeface="ＭＳ Ｐゴシック" pitchFamily="-105" charset="-128"/>
              </a:defRPr>
            </a:lvl3pPr>
            <a:lvl4pPr>
              <a:defRPr sz="2000">
                <a:solidFill>
                  <a:schemeClr val="tx1"/>
                </a:solidFill>
                <a:latin typeface="Arial" charset="0"/>
                <a:ea typeface="ＭＳ Ｐゴシック" pitchFamily="-105" charset="-128"/>
              </a:defRPr>
            </a:lvl4pPr>
            <a:lvl5pPr>
              <a:defRPr sz="2000">
                <a:solidFill>
                  <a:schemeClr val="tx1"/>
                </a:solidFill>
                <a:latin typeface="Arial" charset="0"/>
                <a:ea typeface="ＭＳ Ｐゴシック" pitchFamily="-105" charset="-128"/>
              </a:defRPr>
            </a:lvl5pPr>
            <a:lvl6pPr eaLnBrk="0" hangingPunct="0">
              <a:defRPr sz="2000">
                <a:solidFill>
                  <a:schemeClr val="tx1"/>
                </a:solidFill>
                <a:latin typeface="Arial" charset="0"/>
                <a:ea typeface="ＭＳ Ｐゴシック" pitchFamily="-105" charset="-128"/>
              </a:defRPr>
            </a:lvl6pPr>
            <a:lvl7pPr eaLnBrk="0" hangingPunct="0">
              <a:defRPr sz="2000">
                <a:solidFill>
                  <a:schemeClr val="tx1"/>
                </a:solidFill>
                <a:latin typeface="Arial" charset="0"/>
                <a:ea typeface="ＭＳ Ｐゴシック" pitchFamily="-105" charset="-128"/>
              </a:defRPr>
            </a:lvl7pPr>
            <a:lvl8pPr eaLnBrk="0" hangingPunct="0">
              <a:defRPr sz="2000">
                <a:solidFill>
                  <a:schemeClr val="tx1"/>
                </a:solidFill>
                <a:latin typeface="Arial" charset="0"/>
                <a:ea typeface="ＭＳ Ｐゴシック" pitchFamily="-105" charset="-128"/>
              </a:defRPr>
            </a:lvl8pPr>
            <a:lvl9pPr eaLnBrk="0" hangingPunct="0">
              <a:defRPr sz="2000">
                <a:solidFill>
                  <a:schemeClr val="tx1"/>
                </a:solidFill>
                <a:latin typeface="Arial" charset="0"/>
                <a:ea typeface="ＭＳ Ｐゴシック" pitchFamily="-105" charset="-128"/>
              </a:defRPr>
            </a:lvl9pPr>
          </a:lstStyle>
          <a:p>
            <a:fld id="{1465A48C-6B2F-4009-9C44-E97FD70E6EC2}" type="slidenum">
              <a:rPr lang="en-US" altLang="en-US" sz="1400">
                <a:solidFill>
                  <a:srgbClr val="404040"/>
                </a:solidFill>
              </a:rPr>
              <a:pPr/>
              <a:t>20</a:t>
            </a:fld>
            <a:endParaRPr lang="en-US" altLang="en-US" sz="1400">
              <a:solidFill>
                <a:srgbClr val="404040"/>
              </a:solidFill>
            </a:endParaRPr>
          </a:p>
        </p:txBody>
      </p:sp>
    </p:spTree>
    <p:extLst>
      <p:ext uri="{BB962C8B-B14F-4D97-AF65-F5344CB8AC3E}">
        <p14:creationId xmlns:p14="http://schemas.microsoft.com/office/powerpoint/2010/main" val="1292515964"/>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838200" y="1039565"/>
            <a:ext cx="10515600" cy="606673"/>
          </a:xfrm>
        </p:spPr>
        <p:txBody>
          <a:bodyPr>
            <a:normAutofit/>
          </a:bodyPr>
          <a:lstStyle/>
          <a:p>
            <a:pPr eaLnBrk="1" hangingPunct="1">
              <a:defRPr/>
            </a:pPr>
            <a:r>
              <a:rPr lang="en-US" sz="3600" dirty="0">
                <a:latin typeface="Arial Narrow" panose="020B0606020202030204" pitchFamily="34" charset="0"/>
              </a:rPr>
              <a:t>Current Trends in Supply Chain </a:t>
            </a:r>
            <a:r>
              <a:rPr lang="en-US" sz="3600" dirty="0" smtClean="0">
                <a:latin typeface="Arial Narrow" panose="020B0606020202030204" pitchFamily="34" charset="0"/>
              </a:rPr>
              <a:t>Management, Part 1</a:t>
            </a:r>
            <a:endParaRPr lang="en-US" sz="3600" dirty="0">
              <a:latin typeface="Arial Narrow" panose="020B0606020202030204" pitchFamily="34" charset="0"/>
            </a:endParaRPr>
          </a:p>
        </p:txBody>
      </p:sp>
      <p:sp>
        <p:nvSpPr>
          <p:cNvPr id="33797" name="Rectangle 3"/>
          <p:cNvSpPr>
            <a:spLocks noGrp="1" noChangeArrowheads="1"/>
          </p:cNvSpPr>
          <p:nvPr>
            <p:ph type="body" idx="1"/>
          </p:nvPr>
        </p:nvSpPr>
        <p:spPr>
          <a:xfrm>
            <a:off x="838200" y="1825625"/>
            <a:ext cx="10390239" cy="4351338"/>
          </a:xfrm>
        </p:spPr>
        <p:txBody>
          <a:bodyPr/>
          <a:lstStyle/>
          <a:p>
            <a:pPr eaLnBrk="1" hangingPunct="1">
              <a:lnSpc>
                <a:spcPct val="90000"/>
              </a:lnSpc>
              <a:spcAft>
                <a:spcPts val="2400"/>
              </a:spcAft>
              <a:buFontTx/>
              <a:buNone/>
            </a:pPr>
            <a:r>
              <a:rPr lang="en-US" altLang="en-US" b="1" dirty="0">
                <a:ea typeface="ＭＳ Ｐゴシック" pitchFamily="-105" charset="-128"/>
              </a:rPr>
              <a:t>Supply Chain Analytics - </a:t>
            </a:r>
            <a:r>
              <a:rPr lang="en-US" altLang="en-US" dirty="0">
                <a:ea typeface="ＭＳ Ｐゴシック" pitchFamily="-105" charset="-128"/>
              </a:rPr>
              <a:t>examining raw supply chain data and reaching conclusions or making predictions with the </a:t>
            </a:r>
            <a:r>
              <a:rPr lang="en-US" altLang="en-US" dirty="0" smtClean="0">
                <a:ea typeface="ＭＳ Ｐゴシック" pitchFamily="-105" charset="-128"/>
              </a:rPr>
              <a:t>information</a:t>
            </a:r>
            <a:endParaRPr lang="en-US" altLang="en-US" b="1" dirty="0">
              <a:solidFill>
                <a:srgbClr val="FF6600"/>
              </a:solidFill>
              <a:ea typeface="ＭＳ Ｐゴシック" pitchFamily="-105" charset="-128"/>
            </a:endParaRPr>
          </a:p>
          <a:p>
            <a:pPr lvl="1"/>
            <a:r>
              <a:rPr lang="en-US" altLang="en-US" sz="2800" dirty="0">
                <a:ea typeface="ＭＳ Ｐゴシック" pitchFamily="-105" charset="-128"/>
              </a:rPr>
              <a:t>Growth being pushed by the rise in computing capabilities and </a:t>
            </a:r>
            <a:r>
              <a:rPr lang="en-US" altLang="en-US" sz="2800" dirty="0">
                <a:solidFill>
                  <a:srgbClr val="FF6600"/>
                </a:solidFill>
                <a:ea typeface="ＭＳ Ｐゴシック" pitchFamily="-105" charset="-128"/>
              </a:rPr>
              <a:t>big data</a:t>
            </a:r>
          </a:p>
          <a:p>
            <a:pPr lvl="1"/>
            <a:r>
              <a:rPr lang="en-US" altLang="en-US" sz="2800" dirty="0">
                <a:ea typeface="ＭＳ Ｐゴシック" pitchFamily="-105" charset="-128"/>
              </a:rPr>
              <a:t>Huge volumes of data generated in business organizations including retail, healthcare, manufacturing, and electronics</a:t>
            </a:r>
            <a:endParaRPr lang="en-US" altLang="en-US" sz="2800" b="1" dirty="0">
              <a:solidFill>
                <a:srgbClr val="224B50"/>
              </a:solidFill>
              <a:ea typeface="ＭＳ Ｐゴシック" pitchFamily="-105" charset="-128"/>
            </a:endParaRPr>
          </a:p>
        </p:txBody>
      </p:sp>
      <p:sp>
        <p:nvSpPr>
          <p:cNvPr id="3379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pitchFamily="-105" charset="-128"/>
              </a:defRPr>
            </a:lvl1pPr>
            <a:lvl2pPr>
              <a:defRPr sz="2400">
                <a:solidFill>
                  <a:schemeClr val="tx1"/>
                </a:solidFill>
                <a:latin typeface="Arial" charset="0"/>
                <a:ea typeface="ＭＳ Ｐゴシック" pitchFamily="-105" charset="-128"/>
              </a:defRPr>
            </a:lvl2pPr>
            <a:lvl3pPr>
              <a:defRPr sz="2000">
                <a:solidFill>
                  <a:schemeClr val="tx1"/>
                </a:solidFill>
                <a:latin typeface="Arial" charset="0"/>
                <a:ea typeface="ＭＳ Ｐゴシック" pitchFamily="-105" charset="-128"/>
              </a:defRPr>
            </a:lvl3pPr>
            <a:lvl4pPr>
              <a:defRPr sz="2000">
                <a:solidFill>
                  <a:schemeClr val="tx1"/>
                </a:solidFill>
                <a:latin typeface="Arial" charset="0"/>
                <a:ea typeface="ＭＳ Ｐゴシック" pitchFamily="-105" charset="-128"/>
              </a:defRPr>
            </a:lvl4pPr>
            <a:lvl5pPr>
              <a:defRPr sz="2000">
                <a:solidFill>
                  <a:schemeClr val="tx1"/>
                </a:solidFill>
                <a:latin typeface="Arial" charset="0"/>
                <a:ea typeface="ＭＳ Ｐゴシック" pitchFamily="-105" charset="-128"/>
              </a:defRPr>
            </a:lvl5pPr>
            <a:lvl6pPr eaLnBrk="0" hangingPunct="0">
              <a:defRPr sz="2000">
                <a:solidFill>
                  <a:schemeClr val="tx1"/>
                </a:solidFill>
                <a:latin typeface="Arial" charset="0"/>
                <a:ea typeface="ＭＳ Ｐゴシック" pitchFamily="-105" charset="-128"/>
              </a:defRPr>
            </a:lvl6pPr>
            <a:lvl7pPr eaLnBrk="0" hangingPunct="0">
              <a:defRPr sz="2000">
                <a:solidFill>
                  <a:schemeClr val="tx1"/>
                </a:solidFill>
                <a:latin typeface="Arial" charset="0"/>
                <a:ea typeface="ＭＳ Ｐゴシック" pitchFamily="-105" charset="-128"/>
              </a:defRPr>
            </a:lvl7pPr>
            <a:lvl8pPr eaLnBrk="0" hangingPunct="0">
              <a:defRPr sz="2000">
                <a:solidFill>
                  <a:schemeClr val="tx1"/>
                </a:solidFill>
                <a:latin typeface="Arial" charset="0"/>
                <a:ea typeface="ＭＳ Ｐゴシック" pitchFamily="-105" charset="-128"/>
              </a:defRPr>
            </a:lvl8pPr>
            <a:lvl9pPr eaLnBrk="0" hangingPunct="0">
              <a:defRPr sz="2000">
                <a:solidFill>
                  <a:schemeClr val="tx1"/>
                </a:solidFill>
                <a:latin typeface="Arial" charset="0"/>
                <a:ea typeface="ＭＳ Ｐゴシック" pitchFamily="-105" charset="-128"/>
              </a:defRPr>
            </a:lvl9pPr>
          </a:lstStyle>
          <a:p>
            <a:fld id="{D57915CC-107E-4ECF-911B-ED41DAA0FBD4}" type="slidenum">
              <a:rPr lang="en-US" altLang="en-US" sz="1400">
                <a:solidFill>
                  <a:srgbClr val="404040"/>
                </a:solidFill>
              </a:rPr>
              <a:pPr/>
              <a:t>21</a:t>
            </a:fld>
            <a:endParaRPr lang="en-US" altLang="en-US" sz="1400">
              <a:solidFill>
                <a:srgbClr val="404040"/>
              </a:solidFill>
            </a:endParaRPr>
          </a:p>
        </p:txBody>
      </p:sp>
    </p:spTree>
    <p:extLst>
      <p:ext uri="{BB962C8B-B14F-4D97-AF65-F5344CB8AC3E}">
        <p14:creationId xmlns:p14="http://schemas.microsoft.com/office/powerpoint/2010/main" val="490884256"/>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3240751" y="680760"/>
            <a:ext cx="6553200" cy="954087"/>
          </a:xfrm>
        </p:spPr>
        <p:txBody>
          <a:bodyPr>
            <a:normAutofit fontScale="90000"/>
          </a:bodyPr>
          <a:lstStyle/>
          <a:p>
            <a:pPr eaLnBrk="1" hangingPunct="1">
              <a:defRPr/>
            </a:pPr>
            <a:r>
              <a:rPr lang="en-US" b="0" dirty="0">
                <a:latin typeface="Arial Narrow Bold" pitchFamily="-109" charset="0"/>
              </a:rPr>
              <a:t>Current Trends in Supply Chain </a:t>
            </a:r>
            <a:r>
              <a:rPr lang="en-US" b="0" dirty="0" smtClean="0">
                <a:latin typeface="Arial Narrow Bold" pitchFamily="-109" charset="0"/>
              </a:rPr>
              <a:t>Management, Part 2</a:t>
            </a:r>
            <a:endParaRPr lang="en-US" sz="1400" b="0" i="1" dirty="0">
              <a:latin typeface="Arial Narrow Bold" pitchFamily="-109" charset="0"/>
            </a:endParaRPr>
          </a:p>
        </p:txBody>
      </p:sp>
      <p:sp>
        <p:nvSpPr>
          <p:cNvPr id="34821" name="Rectangle 3"/>
          <p:cNvSpPr>
            <a:spLocks noGrp="1" noChangeArrowheads="1"/>
          </p:cNvSpPr>
          <p:nvPr>
            <p:ph type="body" idx="1"/>
          </p:nvPr>
        </p:nvSpPr>
        <p:spPr>
          <a:xfrm>
            <a:off x="2376489" y="1995488"/>
            <a:ext cx="8008937" cy="4348162"/>
          </a:xfrm>
        </p:spPr>
        <p:txBody>
          <a:bodyPr/>
          <a:lstStyle/>
          <a:p>
            <a:pPr eaLnBrk="1" hangingPunct="1">
              <a:buFontTx/>
              <a:buNone/>
            </a:pPr>
            <a:r>
              <a:rPr lang="en-US" altLang="en-US" dirty="0">
                <a:ea typeface="ＭＳ Ｐゴシック" pitchFamily="-105" charset="-128"/>
              </a:rPr>
              <a:t>Most companies are trying to improve their supply chain </a:t>
            </a:r>
            <a:r>
              <a:rPr lang="en-US" altLang="en-US" b="1" dirty="0">
                <a:solidFill>
                  <a:srgbClr val="FF6600"/>
                </a:solidFill>
                <a:ea typeface="ＭＳ Ｐゴシック" pitchFamily="-105" charset="-128"/>
              </a:rPr>
              <a:t>sustainability performance </a:t>
            </a:r>
            <a:endParaRPr lang="en-US" altLang="en-US" dirty="0">
              <a:solidFill>
                <a:srgbClr val="FF6600"/>
              </a:solidFill>
              <a:ea typeface="ＭＳ Ｐゴシック" pitchFamily="-105" charset="-128"/>
            </a:endParaRPr>
          </a:p>
          <a:p>
            <a:pPr lvl="1" eaLnBrk="1" hangingPunct="1"/>
            <a:r>
              <a:rPr lang="en-US" altLang="en-US" sz="2800" dirty="0">
                <a:ea typeface="ＭＳ Ｐゴシック" pitchFamily="-105" charset="-128"/>
              </a:rPr>
              <a:t>Can lead to</a:t>
            </a:r>
          </a:p>
          <a:p>
            <a:pPr lvl="2" eaLnBrk="1" hangingPunct="1"/>
            <a:r>
              <a:rPr lang="en-US" altLang="en-US" sz="2400" dirty="0">
                <a:ea typeface="ＭＳ Ｐゴシック" pitchFamily="-105" charset="-128"/>
              </a:rPr>
              <a:t>enhance processes </a:t>
            </a:r>
          </a:p>
          <a:p>
            <a:pPr lvl="2" eaLnBrk="1" hangingPunct="1"/>
            <a:r>
              <a:rPr lang="en-US" altLang="en-US" sz="2400" dirty="0">
                <a:ea typeface="ＭＳ Ｐゴシック" pitchFamily="-105" charset="-128"/>
              </a:rPr>
              <a:t>reduce costs </a:t>
            </a:r>
          </a:p>
          <a:p>
            <a:pPr lvl="2" eaLnBrk="1" hangingPunct="1"/>
            <a:r>
              <a:rPr lang="en-US" altLang="en-US" sz="2400" dirty="0">
                <a:ea typeface="ＭＳ Ｐゴシック" pitchFamily="-105" charset="-128"/>
              </a:rPr>
              <a:t>increase productivity</a:t>
            </a:r>
          </a:p>
          <a:p>
            <a:pPr lvl="2" eaLnBrk="1" hangingPunct="1"/>
            <a:r>
              <a:rPr lang="en-US" altLang="en-US" sz="2400" dirty="0">
                <a:ea typeface="ＭＳ Ｐゴシック" pitchFamily="-105" charset="-128"/>
              </a:rPr>
              <a:t>uncover product innovation </a:t>
            </a:r>
          </a:p>
          <a:p>
            <a:pPr lvl="2" eaLnBrk="1" hangingPunct="1"/>
            <a:r>
              <a:rPr lang="en-US" altLang="en-US" sz="2400" dirty="0">
                <a:ea typeface="ＭＳ Ｐゴシック" pitchFamily="-105" charset="-128"/>
              </a:rPr>
              <a:t>achieve market differentiation</a:t>
            </a:r>
          </a:p>
          <a:p>
            <a:pPr lvl="2" eaLnBrk="1" hangingPunct="1"/>
            <a:r>
              <a:rPr lang="en-US" altLang="en-US" sz="2400" dirty="0">
                <a:ea typeface="ＭＳ Ｐゴシック" pitchFamily="-105" charset="-128"/>
              </a:rPr>
              <a:t>improve societal outcomes</a:t>
            </a:r>
            <a:endParaRPr lang="en-US" altLang="en-US" dirty="0">
              <a:ea typeface="ＭＳ Ｐゴシック" pitchFamily="-105" charset="-128"/>
            </a:endParaRPr>
          </a:p>
        </p:txBody>
      </p:sp>
      <p:sp>
        <p:nvSpPr>
          <p:cNvPr id="3481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pitchFamily="-105" charset="-128"/>
              </a:defRPr>
            </a:lvl1pPr>
            <a:lvl2pPr>
              <a:defRPr sz="2400">
                <a:solidFill>
                  <a:schemeClr val="tx1"/>
                </a:solidFill>
                <a:latin typeface="Arial" charset="0"/>
                <a:ea typeface="ＭＳ Ｐゴシック" pitchFamily="-105" charset="-128"/>
              </a:defRPr>
            </a:lvl2pPr>
            <a:lvl3pPr>
              <a:defRPr sz="2000">
                <a:solidFill>
                  <a:schemeClr val="tx1"/>
                </a:solidFill>
                <a:latin typeface="Arial" charset="0"/>
                <a:ea typeface="ＭＳ Ｐゴシック" pitchFamily="-105" charset="-128"/>
              </a:defRPr>
            </a:lvl3pPr>
            <a:lvl4pPr>
              <a:defRPr sz="2000">
                <a:solidFill>
                  <a:schemeClr val="tx1"/>
                </a:solidFill>
                <a:latin typeface="Arial" charset="0"/>
                <a:ea typeface="ＭＳ Ｐゴシック" pitchFamily="-105" charset="-128"/>
              </a:defRPr>
            </a:lvl4pPr>
            <a:lvl5pPr>
              <a:defRPr sz="2000">
                <a:solidFill>
                  <a:schemeClr val="tx1"/>
                </a:solidFill>
                <a:latin typeface="Arial" charset="0"/>
                <a:ea typeface="ＭＳ Ｐゴシック" pitchFamily="-105" charset="-128"/>
              </a:defRPr>
            </a:lvl5pPr>
            <a:lvl6pPr eaLnBrk="0" hangingPunct="0">
              <a:defRPr sz="2000">
                <a:solidFill>
                  <a:schemeClr val="tx1"/>
                </a:solidFill>
                <a:latin typeface="Arial" charset="0"/>
                <a:ea typeface="ＭＳ Ｐゴシック" pitchFamily="-105" charset="-128"/>
              </a:defRPr>
            </a:lvl6pPr>
            <a:lvl7pPr eaLnBrk="0" hangingPunct="0">
              <a:defRPr sz="2000">
                <a:solidFill>
                  <a:schemeClr val="tx1"/>
                </a:solidFill>
                <a:latin typeface="Arial" charset="0"/>
                <a:ea typeface="ＭＳ Ｐゴシック" pitchFamily="-105" charset="-128"/>
              </a:defRPr>
            </a:lvl7pPr>
            <a:lvl8pPr eaLnBrk="0" hangingPunct="0">
              <a:defRPr sz="2000">
                <a:solidFill>
                  <a:schemeClr val="tx1"/>
                </a:solidFill>
                <a:latin typeface="Arial" charset="0"/>
                <a:ea typeface="ＭＳ Ｐゴシック" pitchFamily="-105" charset="-128"/>
              </a:defRPr>
            </a:lvl8pPr>
            <a:lvl9pPr eaLnBrk="0" hangingPunct="0">
              <a:defRPr sz="2000">
                <a:solidFill>
                  <a:schemeClr val="tx1"/>
                </a:solidFill>
                <a:latin typeface="Arial" charset="0"/>
                <a:ea typeface="ＭＳ Ｐゴシック" pitchFamily="-105" charset="-128"/>
              </a:defRPr>
            </a:lvl9pPr>
          </a:lstStyle>
          <a:p>
            <a:fld id="{64363526-35F4-4227-9D62-BA9216F8A38E}" type="slidenum">
              <a:rPr lang="en-US" altLang="en-US" sz="1400">
                <a:solidFill>
                  <a:srgbClr val="404040"/>
                </a:solidFill>
              </a:rPr>
              <a:pPr/>
              <a:t>22</a:t>
            </a:fld>
            <a:endParaRPr lang="en-US" altLang="en-US" sz="1400">
              <a:solidFill>
                <a:srgbClr val="404040"/>
              </a:solidFill>
            </a:endParaRPr>
          </a:p>
        </p:txBody>
      </p:sp>
    </p:spTree>
    <p:extLst>
      <p:ext uri="{BB962C8B-B14F-4D97-AF65-F5344CB8AC3E}">
        <p14:creationId xmlns:p14="http://schemas.microsoft.com/office/powerpoint/2010/main" val="2929039862"/>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3280944" y="708821"/>
            <a:ext cx="6553200" cy="954087"/>
          </a:xfrm>
        </p:spPr>
        <p:txBody>
          <a:bodyPr>
            <a:normAutofit fontScale="90000"/>
          </a:bodyPr>
          <a:lstStyle/>
          <a:p>
            <a:pPr eaLnBrk="1" hangingPunct="1">
              <a:defRPr/>
            </a:pPr>
            <a:r>
              <a:rPr lang="en-US" b="0" dirty="0">
                <a:latin typeface="Arial Narrow Bold" pitchFamily="-109" charset="0"/>
              </a:rPr>
              <a:t>Current Trends in Supply Chain </a:t>
            </a:r>
            <a:r>
              <a:rPr lang="en-US" b="0" dirty="0" smtClean="0">
                <a:latin typeface="Arial Narrow Bold" pitchFamily="-109" charset="0"/>
              </a:rPr>
              <a:t>Management, Part 3</a:t>
            </a:r>
            <a:endParaRPr lang="en-US" sz="1400" b="0" i="1" dirty="0">
              <a:latin typeface="Arial Narrow Bold" pitchFamily="-109" charset="0"/>
            </a:endParaRPr>
          </a:p>
        </p:txBody>
      </p:sp>
      <p:sp>
        <p:nvSpPr>
          <p:cNvPr id="35845" name="Rectangle 3"/>
          <p:cNvSpPr>
            <a:spLocks noGrp="1" noChangeArrowheads="1"/>
          </p:cNvSpPr>
          <p:nvPr>
            <p:ph type="body" idx="1"/>
          </p:nvPr>
        </p:nvSpPr>
        <p:spPr>
          <a:xfrm>
            <a:off x="2467335" y="2092633"/>
            <a:ext cx="8008937" cy="4348163"/>
          </a:xfrm>
        </p:spPr>
        <p:txBody>
          <a:bodyPr/>
          <a:lstStyle/>
          <a:p>
            <a:pPr eaLnBrk="1" hangingPunct="1">
              <a:buFontTx/>
              <a:buNone/>
            </a:pPr>
            <a:r>
              <a:rPr lang="en-US" altLang="en-US" b="1" dirty="0">
                <a:ea typeface="ＭＳ Ｐゴシック" pitchFamily="-105" charset="-128"/>
              </a:rPr>
              <a:t>Increasing Supply Chain Visibility</a:t>
            </a:r>
          </a:p>
          <a:p>
            <a:pPr lvl="1" eaLnBrk="1" hangingPunct="1"/>
            <a:r>
              <a:rPr lang="en-US" altLang="en-US" dirty="0">
                <a:ea typeface="ＭＳ Ｐゴシック" pitchFamily="-105" charset="-128"/>
              </a:rPr>
              <a:t>Knowing exactly where products are, at any point in the supply chain</a:t>
            </a:r>
          </a:p>
          <a:p>
            <a:pPr lvl="1" eaLnBrk="1" hangingPunct="1"/>
            <a:r>
              <a:rPr lang="en-US" altLang="en-US" dirty="0">
                <a:ea typeface="ＭＳ Ｐゴシック" pitchFamily="-105" charset="-128"/>
              </a:rPr>
              <a:t>Inventory visibility is made easier by technology</a:t>
            </a:r>
          </a:p>
          <a:p>
            <a:pPr lvl="1" eaLnBrk="1" hangingPunct="1"/>
            <a:r>
              <a:rPr lang="en-US" altLang="en-US" dirty="0">
                <a:ea typeface="ＭＳ Ｐゴシック" pitchFamily="-105" charset="-128"/>
              </a:rPr>
              <a:t>Sophisticated software applications for tracking orders, inventories, deliveries, returned goods, and even employee attendance</a:t>
            </a:r>
          </a:p>
        </p:txBody>
      </p:sp>
      <p:sp>
        <p:nvSpPr>
          <p:cNvPr id="3584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pitchFamily="-105" charset="-128"/>
              </a:defRPr>
            </a:lvl1pPr>
            <a:lvl2pPr>
              <a:defRPr sz="2400">
                <a:solidFill>
                  <a:schemeClr val="tx1"/>
                </a:solidFill>
                <a:latin typeface="Arial" charset="0"/>
                <a:ea typeface="ＭＳ Ｐゴシック" pitchFamily="-105" charset="-128"/>
              </a:defRPr>
            </a:lvl2pPr>
            <a:lvl3pPr>
              <a:defRPr sz="2000">
                <a:solidFill>
                  <a:schemeClr val="tx1"/>
                </a:solidFill>
                <a:latin typeface="Arial" charset="0"/>
                <a:ea typeface="ＭＳ Ｐゴシック" pitchFamily="-105" charset="-128"/>
              </a:defRPr>
            </a:lvl3pPr>
            <a:lvl4pPr>
              <a:defRPr sz="2000">
                <a:solidFill>
                  <a:schemeClr val="tx1"/>
                </a:solidFill>
                <a:latin typeface="Arial" charset="0"/>
                <a:ea typeface="ＭＳ Ｐゴシック" pitchFamily="-105" charset="-128"/>
              </a:defRPr>
            </a:lvl4pPr>
            <a:lvl5pPr>
              <a:defRPr sz="2000">
                <a:solidFill>
                  <a:schemeClr val="tx1"/>
                </a:solidFill>
                <a:latin typeface="Arial" charset="0"/>
                <a:ea typeface="ＭＳ Ｐゴシック" pitchFamily="-105" charset="-128"/>
              </a:defRPr>
            </a:lvl5pPr>
            <a:lvl6pPr eaLnBrk="0" hangingPunct="0">
              <a:defRPr sz="2000">
                <a:solidFill>
                  <a:schemeClr val="tx1"/>
                </a:solidFill>
                <a:latin typeface="Arial" charset="0"/>
                <a:ea typeface="ＭＳ Ｐゴシック" pitchFamily="-105" charset="-128"/>
              </a:defRPr>
            </a:lvl6pPr>
            <a:lvl7pPr eaLnBrk="0" hangingPunct="0">
              <a:defRPr sz="2000">
                <a:solidFill>
                  <a:schemeClr val="tx1"/>
                </a:solidFill>
                <a:latin typeface="Arial" charset="0"/>
                <a:ea typeface="ＭＳ Ｐゴシック" pitchFamily="-105" charset="-128"/>
              </a:defRPr>
            </a:lvl7pPr>
            <a:lvl8pPr eaLnBrk="0" hangingPunct="0">
              <a:defRPr sz="2000">
                <a:solidFill>
                  <a:schemeClr val="tx1"/>
                </a:solidFill>
                <a:latin typeface="Arial" charset="0"/>
                <a:ea typeface="ＭＳ Ｐゴシック" pitchFamily="-105" charset="-128"/>
              </a:defRPr>
            </a:lvl8pPr>
            <a:lvl9pPr eaLnBrk="0" hangingPunct="0">
              <a:defRPr sz="2000">
                <a:solidFill>
                  <a:schemeClr val="tx1"/>
                </a:solidFill>
                <a:latin typeface="Arial" charset="0"/>
                <a:ea typeface="ＭＳ Ｐゴシック" pitchFamily="-105" charset="-128"/>
              </a:defRPr>
            </a:lvl9pPr>
          </a:lstStyle>
          <a:p>
            <a:fld id="{024D81D0-2D0D-4EEF-8F2E-AB8EB54EBC87}" type="slidenum">
              <a:rPr lang="en-US" altLang="en-US" sz="1400">
                <a:solidFill>
                  <a:srgbClr val="404040"/>
                </a:solidFill>
              </a:rPr>
              <a:pPr/>
              <a:t>23</a:t>
            </a:fld>
            <a:endParaRPr lang="en-US" altLang="en-US" sz="1400">
              <a:solidFill>
                <a:srgbClr val="404040"/>
              </a:solidFill>
            </a:endParaRPr>
          </a:p>
        </p:txBody>
      </p:sp>
    </p:spTree>
    <p:extLst>
      <p:ext uri="{BB962C8B-B14F-4D97-AF65-F5344CB8AC3E}">
        <p14:creationId xmlns:p14="http://schemas.microsoft.com/office/powerpoint/2010/main" val="987488912"/>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Narrow" panose="020B0606020202030204" pitchFamily="34" charset="0"/>
              </a:rPr>
              <a:t>End of Chapter </a:t>
            </a:r>
            <a:r>
              <a:rPr lang="en-US" dirty="0">
                <a:latin typeface="Arial Narrow" panose="020B0606020202030204" pitchFamily="34" charset="0"/>
              </a:rPr>
              <a:t>1</a:t>
            </a:r>
            <a:endParaRPr lang="en-US" b="1" dirty="0">
              <a:latin typeface="Arial Narrow" panose="020B0606020202030204" pitchFamily="34" charset="0"/>
            </a:endParaRPr>
          </a:p>
        </p:txBody>
      </p:sp>
      <p:pic>
        <p:nvPicPr>
          <p:cNvPr id="7" name="Picture 6" descr="A checked box."/>
          <p:cNvPicPr>
            <a:picLocks noChangeAspect="1"/>
          </p:cNvPicPr>
          <p:nvPr/>
        </p:nvPicPr>
        <p:blipFill>
          <a:blip r:embed="rId2"/>
          <a:stretch>
            <a:fillRect/>
          </a:stretch>
        </p:blipFill>
        <p:spPr>
          <a:xfrm>
            <a:off x="4843462" y="1755457"/>
            <a:ext cx="2505075" cy="3438525"/>
          </a:xfrm>
          <a:prstGeom prst="rect">
            <a:avLst/>
          </a:prstGeom>
        </p:spPr>
      </p:pic>
      <p:sp>
        <p:nvSpPr>
          <p:cNvPr id="4" name="Slide Number Placeholder 3"/>
          <p:cNvSpPr>
            <a:spLocks noGrp="1"/>
          </p:cNvSpPr>
          <p:nvPr>
            <p:ph type="sldNum" sz="quarter" idx="12"/>
          </p:nvPr>
        </p:nvSpPr>
        <p:spPr/>
        <p:txBody>
          <a:bodyPr/>
          <a:lstStyle/>
          <a:p>
            <a:fld id="{949EBC64-41CB-41B8-B6DF-9B1367312BD4}" type="slidenum">
              <a:rPr lang="en-US" smtClean="0">
                <a:solidFill>
                  <a:prstClr val="black">
                    <a:tint val="75000"/>
                  </a:prstClr>
                </a:solidFill>
              </a:rPr>
              <a:pPr/>
              <a:t>24</a:t>
            </a:fld>
            <a:endParaRPr lang="en-US">
              <a:solidFill>
                <a:prstClr val="black">
                  <a:tint val="75000"/>
                </a:prstClr>
              </a:solidFill>
            </a:endParaRPr>
          </a:p>
        </p:txBody>
      </p:sp>
    </p:spTree>
    <p:extLst>
      <p:ext uri="{BB962C8B-B14F-4D97-AF65-F5344CB8AC3E}">
        <p14:creationId xmlns:p14="http://schemas.microsoft.com/office/powerpoint/2010/main" val="10368530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3411</TotalTime>
  <Words>1233</Words>
  <Application>Microsoft Office PowerPoint</Application>
  <PresentationFormat>Widescreen</PresentationFormat>
  <Paragraphs>162</Paragraphs>
  <Slides>24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MS PGothic</vt:lpstr>
      <vt:lpstr>MS PGothic</vt:lpstr>
      <vt:lpstr>Arial</vt:lpstr>
      <vt:lpstr>Arial Narrow</vt:lpstr>
      <vt:lpstr>Arial Narrow Bold</vt:lpstr>
      <vt:lpstr>Calibri</vt:lpstr>
      <vt:lpstr>Calibri Light</vt:lpstr>
      <vt:lpstr>Times New Roman</vt:lpstr>
      <vt:lpstr>Office Theme</vt:lpstr>
      <vt:lpstr>Chapter 1</vt:lpstr>
      <vt:lpstr>Chapter 1 Learning Objectives</vt:lpstr>
      <vt:lpstr>Chapter Outline</vt:lpstr>
      <vt:lpstr>What is a Supply Chain?, Part 1</vt:lpstr>
      <vt:lpstr>What is a Supply Chain?, Part 2</vt:lpstr>
      <vt:lpstr>What is Supply Chain Management?, Part 1</vt:lpstr>
      <vt:lpstr>What is Supply Chain Management?, Part 2</vt:lpstr>
      <vt:lpstr>Importance of Supply Chain Management, Part 1</vt:lpstr>
      <vt:lpstr>Importance of Supply Chain Management, Part 2</vt:lpstr>
      <vt:lpstr>Importance of Supply Chain Management, Part 3</vt:lpstr>
      <vt:lpstr>Origins of Supply Chain Management, Part 1</vt:lpstr>
      <vt:lpstr>Origins of Supply Chain Management, Part 2</vt:lpstr>
      <vt:lpstr>Origins of Supply Chain Management, Part 3</vt:lpstr>
      <vt:lpstr>Origins of Supply Chain Management, Part 4</vt:lpstr>
      <vt:lpstr>Origins of Supply Chain Management, Part 5</vt:lpstr>
      <vt:lpstr>The Foundations of Supply Chain Management, Part 1</vt:lpstr>
      <vt:lpstr>The Foundations of Supply Chain Management, Part 2</vt:lpstr>
      <vt:lpstr>Important Elements of Supply Chain Management, Part 1</vt:lpstr>
      <vt:lpstr>Important Elements of Supply Chain Management, Part 2</vt:lpstr>
      <vt:lpstr>Important Elements of Supply Chain Management, Part 3</vt:lpstr>
      <vt:lpstr>Current Trends in Supply Chain Management, Part 1</vt:lpstr>
      <vt:lpstr>Current Trends in Supply Chain Management, Part 2</vt:lpstr>
      <vt:lpstr>Current Trends in Supply Chain Management, Part 3</vt:lpstr>
      <vt:lpstr>End of Chapter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Foltz, Brandon C</dc:creator>
  <cp:lastModifiedBy>Bui, John</cp:lastModifiedBy>
  <cp:revision>237</cp:revision>
  <dcterms:created xsi:type="dcterms:W3CDTF">2015-06-17T14:10:03Z</dcterms:created>
  <dcterms:modified xsi:type="dcterms:W3CDTF">2018-09-05T17:35:45Z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_AdHocReviewCycleID">
    <vt:i4>-1548636104</vt:i4>
  </property>
  <property fmtid="{D5CDD505-2E9C-101B-9397-08002B2CF9AE}" pid="4" name="_EmailSubject">
    <vt:lpwstr>PowerPoints</vt:lpwstr>
  </property>
  <property fmtid="{D5CDD505-2E9C-101B-9397-08002B2CF9AE}" pid="5" name="_AuthorEmail">
    <vt:lpwstr>Chris.Valentine@cengage.com</vt:lpwstr>
  </property>
  <property fmtid="{D5CDD505-2E9C-101B-9397-08002B2CF9AE}" pid="6" name="_AuthorEmailDisplayName">
    <vt:lpwstr>Valentine, Chris</vt:lpwstr>
  </property>
</Properties>
</file>