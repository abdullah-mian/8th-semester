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82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3359" y="903476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dirty="0"/>
              <a:t>BUSINESS PLAN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1041" y="2560320"/>
            <a:ext cx="7941918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C8DCF0"/>
                </a:solidFill>
              </a:defRPr>
            </a:pPr>
            <a:endParaRPr lang="en-US" dirty="0"/>
          </a:p>
          <a:p>
            <a:pPr algn="ctr">
              <a:defRPr sz="2600">
                <a:solidFill>
                  <a:srgbClr val="C8DCF0"/>
                </a:solidFill>
              </a:defRPr>
            </a:pPr>
            <a:r>
              <a:rPr dirty="0"/>
              <a:t>A Comprehensive Framework for Entrepreneurial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40000"/>
              </a:lnSpc>
              <a:defRPr sz="1600">
                <a:solidFill>
                  <a:srgbClr val="B4C8DC"/>
                </a:solidFill>
              </a:defRPr>
            </a:pPr>
            <a:r>
              <a:t>Advanced Entrepreneurship Series</a:t>
            </a:r>
            <a:br/>
            <a:r>
              <a:t>Strategic Planning &amp; Business Model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6B4D2"/>
                </a:solidFill>
              </a:defRPr>
            </a:pPr>
            <a:r>
              <a:t>References: Hisrich, Peters &amp; Shepherd (6th Ed.) | Osterwalder - Business Model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What is a Business Plan?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A comprehensive document outlining organizational objectives, strategies, and operational frameworks for achieving entrepreneurial success (Hisrich et al., 2017)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288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Serves as a strategic roadmap transforming innovative concepts into viable commercial enterprises through systematic planning and resource allocation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146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Functions as both internal management instrument and external communication mechanism for stakeholders, investors, and strategic partners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004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Encompasses market analysis, competitive positioning, financial projections, and operational methodologies essential for sustainable venture development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8862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Represents dynamic framework requiring continuous refinement aligned with evolving market conditions and organizational capabilities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37160" cy="9144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IMPORTANCE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DCEBF5"/>
                </a:solidFill>
              </a:defRPr>
            </a:pPr>
            <a:r>
              <a:t>Why Business Plans Drive Entrepreneurial Success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8DCF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Strategic Importance of Business Planning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Facilitates systematic evaluation of venture feasibility through comprehensive market and financial analysis before resource commitment (Hisrich et al., 2017)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288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Provides structured framework for strategic decision-making, enabling entrepreneurs to anticipate challenges and develop proactive mitigation strategies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146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Enhances organizational credibility with investors, financial institutions, and strategic partners through professional documentation of business viability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004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Establishes measurable performance benchmarks and key performance indicators (KPIs) for monitoring progress and ensuring accountability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8862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Reduces entrepreneurial risk through thorough validation of business assumptions and identification of critical success factors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572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407408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rPr dirty="0"/>
              <a:t>Serves as communication tool aligning team members, stakeholders, and partners around unified organizational vision and strategic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65A82"/>
                </a:solidFill>
              </a:defRPr>
            </a:pPr>
            <a:r>
              <a:t>Business Plan Importance: Multi-Stakeholder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93192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t>Internal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Strategic clarity and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Resource allocation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Performance measurement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Risk identification and mitigation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Organizational 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Decision-making foundation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097280"/>
            <a:ext cx="393192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1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295C"/>
                </a:solidFill>
              </a:defRPr>
            </a:pPr>
            <a:r>
              <a:t>External Benefits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7373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Investor confidence building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1945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Funding acquisition facilitation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651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Partnership establishment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1089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Market credibility enhancement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5661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Regulatory compliance demonstration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0233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Stakeholder communication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37160" cy="9144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DCEBF5"/>
                </a:solidFill>
              </a:defRPr>
            </a:pPr>
            <a:r>
              <a:t>Essential Elements of Business Plans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8DCF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Executive Summary: Strategic Overview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Concise synthesis of entire business plan, typically one to two pages, capturing essence of venture opportunity (Hisrich et al., 2017)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288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Articulates unique value proposition, competitive advantage, and market opportunity with compelling clarity for stakeholder engagement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146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Presents financial highlights including revenue projections, profitability timelines, and capital requirements with supporting rationale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004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Describes management team expertise, demonstrating collective capability to execute strategy and achieve organizational objectives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8862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Though positioned first, typically written last to ensure accurate reflection of comprehensive plan content and strategic coherence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Market Analysis: Understanding the Landscape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Comprehensive examination of target market segments, including demographic profiles, psychographic characteristics, and behavioral patterns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288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Industry analysis encompassing market size, growth trajectories, competitive dynamics, and structural characteristics affecting profitability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146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Competitive analysis identifying direct and indirect competitors, their strengths, weaknesses, market positioning, and strategic initiatives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004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Customer needs assessment validating demand for proposed solutions through primary research, surveys, focus groups, and market testing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8862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Market trends evaluation examining technological disruptions, regulatory changes, economic factors, and sociocultural shifts influencing demand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572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407408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rPr dirty="0"/>
              <a:t>Market entry strategy defining positioning, differentiation, and go-to-market approach leveraging identified opportunities and competitive gaps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Business Model Canvas Framework (Osterwalder)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Value Propositions: Articulation of customer problems solved and needs satisfied through innovative product or service offerings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288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Customer Segments: Identification of distinct groups with shared characteristics, needs, and behaviors representing target markets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146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Channels: Distribution and communication pathways through which value propositions reach customers across awareness, evaluation, and purchase stages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004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Customer Relationships: Strategies for acquiring, retaining, and growing customer base through personalized engagement and relationship management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8862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Revenue Streams: Mechanisms for value capture including pricing models, revenue sources, and monetization strategies ensuring financial sustainability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572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rPr dirty="0"/>
              <a:t>Key Resources, Activities, and Partnerships: Critical assets, processes, and collaborations necessary for value creation and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Marketing &amp; Sales Strategy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Product Strategy: Detailed specifications, features, benefits, and differentiation factors aligned with customer value requirements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288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Pricing Strategy: Value-based, cost-plus, competitive, or penetration pricing approaches consistent with positioning and market dynamics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146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Promotion Strategy: Integrated marketing communications utilizing digital marketing, content strategy, social media, traditional advertising, and public relations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004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Place (Distribution) Strategy: Channel selection, partnership development, and logistics optimization ensuring market accessibility and convenience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8862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rPr dirty="0"/>
              <a:t>Sales Strategy: Customer acquisition processes, sales methodologies, team structure, and performance metrics driving revenue generation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572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rPr dirty="0"/>
              <a:t>Customer Acquisition Cost (CAC) and Lifetime Value (LTV) analysis ensuring sustainable unit economics and profitability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Operations &amp; Management Plan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Operational Workflow: Production processes, service delivery mechanisms, quality control systems, and efficiency optimization protocols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288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Technology Infrastructure: Systems, platforms, software, and technological capabilities supporting operations, scaling, and competitive advantage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146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Supply Chain Management: Supplier relationships, inventory management, procurement strategies, and logistics coordination ensuring reliability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004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Organizational Structure: Hierarchical design, reporting relationships, roles, responsibilities, and decision-making authority distribution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8862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Management Team: Leadership biographies highlighting relevant experience, industry expertise, track records, and complementary skill sets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572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Human Resource Strategy: Talent acquisition, development, retention, and compensation frameworks cultivating high-performance organizational culture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Financial Projections: Revenue &amp; Profitability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Revenue Forecasts: Three to five-year projections based on market analysis, pricing strategy, and customer acquisition assumptions with sensitivity analysis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288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Cost Structure Analysis: Fixed and variable cost categorization including COGS, operating expenses, marketing costs, and overhead allocations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146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Profitability Analysis: Gross margin, operating margin, and net margin projections demonstrating pathway to sustainable profitability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004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Break-Even Analysis: Calculation of break-even point in units and revenue, identifying critical sales thresholds for financial viability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8862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Assumption Documentation: Transparent articulation of underlying assumptions, methodologies, and data sources supporting financial projections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Financial Statements &amp; Capital Requirements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Pro Forma Income Statement: Projected revenues, expenses, and profitability over multi-year horizon demonstrating financial trajectory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288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Cash Flow Statement: Monthly and annual cash flow projections identifying working capital needs and ensuring liquidity management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146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Balance Sheet Projections: Assets, liabilities, and equity forecasts reflecting financial position and capital structure evolution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004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Capital Requirements: Detailed funding needs by stage, use of proceeds allocation, and justification for investment requests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8862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Financial Metrics: Return on Investment (ROI), Internal Rate of Return (IRR), Net Present Value (NPV), and payback period for investor evaluation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572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Exit Strategy: Potential exit scenarios including acquisition, IPO, or strategic alternatives providing investor liquidity pathways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Risk Analysis &amp; Mitigation Strategies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Market Risks: Demand fluctuations, competitive pressures, market saturation, and customer adoption challenges with contingency responses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288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Operational Risks: Supply chain disruptions, quality issues, technological failures, and capacity constraints with mitigation protocols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146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Financial Risks: Cash flow volatility, funding shortfalls, currency fluctuations, and interest rate exposures with hedging strategies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004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Regulatory and Compliance Risks: Legal requirements, licensing, intellectual property protection, and regulatory changes with compliance frameworks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8862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Strategic Risks: Technology obsolescence, competitive disruption, strategic misalignment, and execution failures with adaptive planning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572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Contingency Planning: Alternative scenarios, crisis management protocols, and adaptive strategies ensuring organizational resilience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37160" cy="9144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EFFECTIVENESS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DCEBF5"/>
                </a:solidFill>
              </a:defRPr>
            </a:pPr>
            <a:r>
              <a:t>Creating High-Impact Business Plans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8DCF0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Best Practices for Effective Business Planning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Clarity and Conciseness: Articulate complex concepts with precision, avoiding jargon while maintaining professional rigor and accessibility for diverse audiences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288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Evidence-Based Assumptions: Ground projections and strategies in empirical data, market research, industry benchmarks, and validated customer insights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146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Realistic Projections: Balance optimism with conservatism, presenting credible scenarios supported by sensitivity analysis and risk-adjusted forecasts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004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Professional Presentation: Ensure grammatical accuracy, visual consistency, logical flow, and professional formatting enhancing credibility and readability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8862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Stakeholder Alignment: Tailor content, emphasis, and technical depth to audience expertise, interests, and decision-making criteria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572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Iterative Refinement: Treat business plan as living document, incorporating feedback, updating assumptions, and adapting to market intelligence continuously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65A82"/>
                </a:solidFill>
              </a:defRPr>
            </a:pPr>
            <a:r>
              <a:t>Common Pitfalls vs. Excellence Markers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93192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t>Pitfalls to Avoid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Overly optimistic projections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Insufficient market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Vague value propositions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Weak competitive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Unrealistic timelines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Inadequate financial details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097280"/>
            <a:ext cx="393192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1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295C"/>
                </a:solidFill>
              </a:defRPr>
            </a:pPr>
            <a:r>
              <a:t>Excellence Markers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7373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Conservative, justified forecasts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1945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Data-driven market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651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Clear differentiation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1089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Comprehensive competitor intel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5661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Milestone-based planning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0233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Detailed financial modeling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37160" cy="9144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CO-INTELLIGENCE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DCEBF5"/>
                </a:solidFill>
              </a:defRPr>
            </a:pPr>
            <a:r>
              <a:t>AI-Augmented Strategic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8DCF0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Co-Intelligence: AI-Augmented Business Ideation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Collaborative Human-AI frameworks leverage machine learning algorithms for opportunity identification through pattern recognition in market data (emerging paradigm)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288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Natural Language Processing (NLP) analyzes customer feedback, social media sentiment, and market discourse revealing unmet needs and emerging trends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146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Generative AI assists in brainstorming sessions, concept development, and creative problem-solving while human judgment provides strategic direction and validation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004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Data mining and predictive analytics identify market gaps, customer segments, and white space opportunities invisible to traditional research methodologies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8862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AI-powered competitive intelligence continuously monitors competitor activities, pricing changes, and strategic initiatives informing adaptive positioning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572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Scenario generation through AI modeling explores multiple strategic alternatives, stress-testing assumptions and identifying robust strategies across uncertainty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Predicting Global Trends with AI Analytics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Machine Learning models analyze macroeconomic indicators, geopolitical developments, and sociocultural shifts forecasting market evolution trajectories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288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Social listening tools aggregate global conversations, identifying emerging consumer preferences, sustainability concerns, and lifestyle transformations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146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Technology trend analysis employing patent databases, research publications, and innovation metrics predicting disruptive technologies and adoption curves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004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Supply chain intelligence utilizing IoT sensors, satellite imagery, and logistics data forecasting commodity prices, availability, and disruption risks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8862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Regulatory and policy monitoring through automated analysis of legislative activities, international agreements, and policy proposals affecting business environments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572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Demographic and workforce analytics predicting talent availability, skill requirements, labor costs, and human capital trends informing HR strategies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AI-Powered Business Planning Platforms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Market Research Platforms: CB Insights, Crunchbase, PitchBook providing AI-curated competitive intelligence and funding landscape analysis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288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Financial Modeling Tools: Quantrix, Anaplan, Adaptive Insights offering automated scenario modeling and predictive financial analytics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146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Business Model Innovation: Strategyzer AI-enhanced business model canvas tools facilitating systematic value proposition design and testing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004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Trend Forecasting: TrendWatching, WGSN, Gartner employing AI algorithms analyzing global innovation signals and consumer behavior patterns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8862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Customer Insight Platforms: Qualtrics XM, Medallia, Clarabridge utilizing sentiment analysis and predictive analytics for customer intelligence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572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Strategic Planning Software: Cascade, Monday.com, Asana integrating AI-powered goal tracking, resource optimization, and performance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65A82"/>
                </a:solidFill>
              </a:defRPr>
            </a:pPr>
            <a:r>
              <a:t>Integrating Co-Intelligence in Business Planning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93192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C7293"/>
                </a:solidFill>
              </a:defRPr>
            </a:pPr>
            <a:r>
              <a:t>Human Strengths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Strategic vision and creativity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Ethical judgment and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Stakeholder empathy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Contextual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Adaptive problem-solving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Leadership and motivation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097280"/>
            <a:ext cx="393192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212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1295C"/>
                </a:solidFill>
              </a:defRPr>
            </a:pPr>
            <a:r>
              <a:t>AI Capabilities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7373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Data processing at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1945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Pattern recognition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651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Predictive modeling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1089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Continuous 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5661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Scenario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0233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• Quantitative optimization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Practical Application: AI-Enhanced Planning Process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Phase 1 - Market Discovery: AI analyzes consumer data, competitor strategies, and industry trends identifying validated opportunity spaces for human evaluation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288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Phase 2 - Ideation Enhancement: Generative AI produces multiple business model variations which entrepreneurs refine using domain expertise and strategic judgment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146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Phase 3 - Financial Modeling: AI-powered tools generate scenario-based projections while financial experts validate assumptions and interpret strategic implications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004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Phase 4 - Competitive Positioning: Machine learning continuously monitors competitive landscape providing real-time intelligence for adaptive strategy formulation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8862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Phase 5 - Performance Monitoring: AI dashboards track KPIs, detect anomalies, and trigger alerts enabling proactive management interventions and course corrections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572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Phase 6 - Continuous Learning: Feedback loops between AI insights and business outcomes refine predictive models and enhance decision quality over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Ethical Dimensions in AI-Augmented Planning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Data Privacy and Security: Ensuring customer data protection, regulatory compliance (GDPR, PDPA), and transparent data governance frameworks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288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Algorithmic Bias Mitigation: Recognizing potential biases in training data and AI recommendations requiring human oversight and inclusive design principles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146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Transparency and Explainability: Maintaining interpretability of AI-generated insights enabling informed decision-making rather than blind algorithm following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004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Human Agency Preservation: Ensuring AI serves as decision support tool rather than replacement for entrepreneurial judgment and strategic leadership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8862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Stakeholder Impact Assessment: Evaluating how AI-driven strategies affect employees, communities, and society aligning with Islamic business ethics and CSR principles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572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Responsible Innovation: Balancing technological advancement with social responsibility, environmental sustainability, and ethical business practices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37160" cy="9144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DCEBF5"/>
                </a:solidFill>
              </a:defRPr>
            </a:pPr>
            <a:r>
              <a:t>Key Takeaways &amp; Strategic Imperatives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8DCF0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Strategic Imperatives for Business Planning Excellence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143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Business plans represent foundational strategic documents transforming entrepreneurial vision into executable roadmaps grounded in rigorous analysis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288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Comprehensive planning reduces risk, enhances credibility, attracts investment, and provides framework for organizational alignment and accountability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146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Effective plans integrate market analysis, competitive positioning, financial projections, and operational strategies supported by empirical evidence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004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Co-intelligence frameworks combining human creativity with AI analytical capabilities enhance ideation, trend prediction, and strategic decision quality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8862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Continuous refinement and adaptation essential as markets evolve, ensuring plans remain relevant and responsive to emerging opportunities and threats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5720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1E1E1E"/>
                </a:solidFill>
              </a:defRPr>
            </a:pPr>
            <a:r>
              <a:t>Ethical considerations, stakeholder value creation, and sustainable practices should guide business planning aligned with contemporary expectations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65A82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lnSpc>
                <a:spcPct val="120000"/>
              </a:lnSpc>
              <a:spcAft>
                <a:spcPts val="800"/>
              </a:spcAft>
              <a:defRPr sz="1200">
                <a:solidFill>
                  <a:srgbClr val="1E1E1E"/>
                </a:solidFill>
              </a:defRPr>
            </a:pPr>
            <a:r>
              <a:rPr dirty="0"/>
              <a:t>Hisrich, R. D., Peters, M. P., &amp; Shepherd, D. A. (2017). Entrepreneurship (10th ed.). McGraw-Hill Education. [Original 6th edition cited; current edition reflects updated </a:t>
            </a:r>
            <a:r>
              <a:t>scholarship]</a:t>
            </a:r>
            <a:endParaRPr dirty="0"/>
          </a:p>
          <a:p>
            <a:pPr>
              <a:lnSpc>
                <a:spcPct val="120000"/>
              </a:lnSpc>
              <a:spcAft>
                <a:spcPts val="800"/>
              </a:spcAft>
              <a:defRPr sz="1200">
                <a:solidFill>
                  <a:srgbClr val="1E1E1E"/>
                </a:solidFill>
              </a:defRPr>
            </a:pPr>
            <a:r>
              <a:rPr dirty="0"/>
              <a:t>Osterwalder, A., &amp; Pigneur, Y. (2010). Business Model Generation: A Handbook for Visionaries, Game Changers, and Challengers. John Wiley &amp; Sons.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00">
                <a:solidFill>
                  <a:srgbClr val="1E1E1E"/>
                </a:solidFill>
              </a:defRPr>
            </a:pPr>
            <a:r>
              <a:rPr dirty="0"/>
              <a:t>Barringer, B. R., &amp; Ireland, R. D. (2019). Entrepreneurship: Successfully Launching New Ventures (6th ed.). Pearson Education.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00">
                <a:solidFill>
                  <a:srgbClr val="1E1E1E"/>
                </a:solidFill>
              </a:defRPr>
            </a:pPr>
            <a:r>
              <a:rPr dirty="0"/>
              <a:t>Blank, S., &amp; Dorf, B. (2020). The Startup Owner's Manual: The Step-by-Step Guide for Building a Great Company (2nd ed.). John Wiley &amp; Sons.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200">
                <a:solidFill>
                  <a:srgbClr val="1E1E1E"/>
                </a:solidFill>
              </a:defRPr>
            </a:pPr>
            <a:r>
              <a:rPr dirty="0"/>
              <a:t>Ries, E. (2011). The Lean Startup: How Today's Entrepreneurs Use Continuous Innovation to Create Radically Successful Businesses. Crown Business.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18288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0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2417</Words>
  <Application>Microsoft Office PowerPoint</Application>
  <PresentationFormat>On-screen Show (16:9)</PresentationFormat>
  <Paragraphs>211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DELL</cp:lastModifiedBy>
  <cp:revision>7</cp:revision>
  <dcterms:created xsi:type="dcterms:W3CDTF">2013-01-27T09:14:16Z</dcterms:created>
  <dcterms:modified xsi:type="dcterms:W3CDTF">2026-02-15T13:44:16Z</dcterms:modified>
  <cp:category/>
</cp:coreProperties>
</file>