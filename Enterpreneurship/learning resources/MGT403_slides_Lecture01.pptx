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5" r:id="rId2"/>
    <p:sldId id="256" r:id="rId3"/>
    <p:sldId id="319" r:id="rId4"/>
    <p:sldId id="318" r:id="rId5"/>
    <p:sldId id="321" r:id="rId6"/>
    <p:sldId id="288" r:id="rId7"/>
    <p:sldId id="320" r:id="rId8"/>
    <p:sldId id="289" r:id="rId9"/>
    <p:sldId id="290" r:id="rId10"/>
    <p:sldId id="291" r:id="rId11"/>
    <p:sldId id="292" r:id="rId12"/>
    <p:sldId id="293" r:id="rId13"/>
    <p:sldId id="294" r:id="rId14"/>
    <p:sldId id="323" r:id="rId15"/>
    <p:sldId id="296" r:id="rId16"/>
    <p:sldId id="297" r:id="rId17"/>
    <p:sldId id="298" r:id="rId18"/>
    <p:sldId id="328" r:id="rId19"/>
    <p:sldId id="299" r:id="rId20"/>
    <p:sldId id="327" r:id="rId21"/>
    <p:sldId id="329" r:id="rId22"/>
    <p:sldId id="325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7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82" autoAdjust="0"/>
    <p:restoredTop sz="94671" autoAdjust="0"/>
  </p:normalViewPr>
  <p:slideViewPr>
    <p:cSldViewPr>
      <p:cViewPr varScale="1">
        <p:scale>
          <a:sx n="67" d="100"/>
          <a:sy n="67" d="100"/>
        </p:scale>
        <p:origin x="-14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CCD61-2315-4FAF-AEDB-E0BBEC630695}" type="datetimeFigureOut">
              <a:rPr lang="en-US" smtClean="0"/>
              <a:pPr/>
              <a:t>8/19/2020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F1F17-F03B-4CE1-A8B4-1ABE48593E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5145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7BC66-E99E-4901-AC8C-5FA4CB9A4420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4534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FBF6A-4F45-4E76-9FE5-65ABD4F8DDD6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55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B8DA-D8ED-460C-88D7-78C4C28210B4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129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A8CC4-F10C-43A6-94D9-70B89C99C6B5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919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97B31-B021-46EA-B517-092F71A62745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3584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4B97-D14E-427B-B8AE-DA397ABFA0FB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272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EBA28-EA92-4A3F-9A52-6C1B595ACB5C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750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379A5-D640-4D2C-AF79-9CEB0F88A841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83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78727-F892-4A97-99B8-9CA7FE9EDD0B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360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B140-7929-4EA2-A116-A9CD00094022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471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B3F0D-3AAD-4C7A-BA60-1655B80804A8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6542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DCB7E-3E05-40F2-AEF2-14D04EC666F5}" type="datetime1">
              <a:rPr lang="en-US" smtClean="0"/>
              <a:pPr/>
              <a:t>8/19/2020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1: Entrepreneurship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D2596-C744-4D7D-B83A-C0CE2C30BE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9092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6000" dirty="0"/>
              <a:t>Lecture No : 1</a:t>
            </a:r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University Islamabad.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0575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823" y="1396289"/>
            <a:ext cx="4790327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dirty="0"/>
              <a:t>Objectives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4156" y="2871982"/>
            <a:ext cx="4786993" cy="31816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tx1"/>
                </a:solidFill>
              </a:rPr>
              <a:t>Introduction of the Instructor</a:t>
            </a: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chemeClr val="tx1"/>
              </a:solidFill>
            </a:endParaRP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tx1"/>
                </a:solidFill>
              </a:rPr>
              <a:t>Course Goals</a:t>
            </a: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chemeClr val="tx1"/>
              </a:solidFill>
            </a:endParaRP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tx1"/>
                </a:solidFill>
              </a:rPr>
              <a:t>Learning Outcomes</a:t>
            </a: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chemeClr val="tx1"/>
              </a:solidFill>
            </a:endParaRP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tx1"/>
                </a:solidFill>
              </a:rPr>
              <a:t>Objectives of the Course</a:t>
            </a: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chemeClr val="tx1"/>
              </a:solidFill>
            </a:endParaRP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chemeClr val="tx1"/>
                </a:solidFill>
              </a:rPr>
              <a:t>Preview of the Course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61445B8C-D724-4F73-AB77-3CCE4E822C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50991" y="20963"/>
            <a:ext cx="3493009" cy="6816065"/>
          </a:xfrm>
          <a:prstGeom prst="rect">
            <a:avLst/>
          </a:prstGeom>
          <a:solidFill>
            <a:schemeClr val="bg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232" y="342696"/>
            <a:ext cx="2945647" cy="277987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99905336-A7CD-4C75-9E77-C704674F40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6805010" y="3429000"/>
            <a:ext cx="1198092" cy="0"/>
          </a:xfrm>
          <a:prstGeom prst="line">
            <a:avLst/>
          </a:prstGeom>
          <a:ln w="5080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119" y="3735414"/>
            <a:ext cx="2779874" cy="277987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36459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823" y="1904467"/>
            <a:ext cx="4790327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685800">
              <a:lnSpc>
                <a:spcPct val="90000"/>
              </a:lnSpc>
            </a:pPr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of Instructor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="" xmlns:a16="http://schemas.microsoft.com/office/drawing/2014/main" id="{2C6A2225-94AF-4BC4-98F4-77746E7B10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288281" y="0"/>
            <a:ext cx="3855718" cy="2984956"/>
          </a:xfrm>
          <a:custGeom>
            <a:avLst/>
            <a:gdLst>
              <a:gd name="connsiteX0" fmla="*/ 192227 w 4666892"/>
              <a:gd name="connsiteY0" fmla="*/ 0 h 3612937"/>
              <a:gd name="connsiteX1" fmla="*/ 4666892 w 4666892"/>
              <a:gd name="connsiteY1" fmla="*/ 0 h 3612937"/>
              <a:gd name="connsiteX2" fmla="*/ 4666892 w 4666892"/>
              <a:gd name="connsiteY2" fmla="*/ 2643684 h 3612937"/>
              <a:gd name="connsiteX3" fmla="*/ 4657487 w 4666892"/>
              <a:gd name="connsiteY3" fmla="*/ 2656262 h 3612937"/>
              <a:gd name="connsiteX4" fmla="*/ 2628900 w 4666892"/>
              <a:gd name="connsiteY4" fmla="*/ 3612937 h 3612937"/>
              <a:gd name="connsiteX5" fmla="*/ 0 w 4666892"/>
              <a:gd name="connsiteY5" fmla="*/ 984037 h 3612937"/>
              <a:gd name="connsiteX6" fmla="*/ 118190 w 4666892"/>
              <a:gd name="connsiteY6" fmla="*/ 202283 h 3612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66892" h="3612937">
                <a:moveTo>
                  <a:pt x="192227" y="0"/>
                </a:moveTo>
                <a:lnTo>
                  <a:pt x="4666892" y="0"/>
                </a:lnTo>
                <a:lnTo>
                  <a:pt x="4666892" y="2643684"/>
                </a:lnTo>
                <a:lnTo>
                  <a:pt x="4657487" y="2656262"/>
                </a:lnTo>
                <a:cubicBezTo>
                  <a:pt x="4175308" y="3240527"/>
                  <a:pt x="3445594" y="3612937"/>
                  <a:pt x="2628900" y="3612937"/>
                </a:cubicBezTo>
                <a:cubicBezTo>
                  <a:pt x="1176999" y="3612937"/>
                  <a:pt x="0" y="2435938"/>
                  <a:pt x="0" y="984037"/>
                </a:cubicBezTo>
                <a:cubicBezTo>
                  <a:pt x="0" y="711806"/>
                  <a:pt x="41379" y="449239"/>
                  <a:pt x="118190" y="2022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3944" r="-1" b="-1"/>
          <a:stretch/>
        </p:blipFill>
        <p:spPr>
          <a:xfrm>
            <a:off x="5424370" y="10"/>
            <a:ext cx="3719630" cy="2848858"/>
          </a:xfrm>
          <a:custGeom>
            <a:avLst/>
            <a:gdLst>
              <a:gd name="connsiteX0" fmla="*/ 205627 w 4502173"/>
              <a:gd name="connsiteY0" fmla="*/ 0 h 3448219"/>
              <a:gd name="connsiteX1" fmla="*/ 4502173 w 4502173"/>
              <a:gd name="connsiteY1" fmla="*/ 0 h 3448219"/>
              <a:gd name="connsiteX2" fmla="*/ 4502173 w 4502173"/>
              <a:gd name="connsiteY2" fmla="*/ 2368934 h 3448219"/>
              <a:gd name="connsiteX3" fmla="*/ 4365663 w 4502173"/>
              <a:gd name="connsiteY3" fmla="*/ 2551486 h 3448219"/>
              <a:gd name="connsiteX4" fmla="*/ 2464181 w 4502173"/>
              <a:gd name="connsiteY4" fmla="*/ 3448219 h 3448219"/>
              <a:gd name="connsiteX5" fmla="*/ 0 w 4502173"/>
              <a:gd name="connsiteY5" fmla="*/ 984038 h 3448219"/>
              <a:gd name="connsiteX6" fmla="*/ 193648 w 4502173"/>
              <a:gd name="connsiteY6" fmla="*/ 24867 h 344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73" h="3448219">
                <a:moveTo>
                  <a:pt x="205627" y="0"/>
                </a:moveTo>
                <a:lnTo>
                  <a:pt x="4502173" y="0"/>
                </a:lnTo>
                <a:lnTo>
                  <a:pt x="4502173" y="2368934"/>
                </a:lnTo>
                <a:lnTo>
                  <a:pt x="4365663" y="2551486"/>
                </a:lnTo>
                <a:cubicBezTo>
                  <a:pt x="3913696" y="3099144"/>
                  <a:pt x="3229704" y="3448219"/>
                  <a:pt x="2464181" y="3448219"/>
                </a:cubicBezTo>
                <a:cubicBezTo>
                  <a:pt x="1103251" y="3448219"/>
                  <a:pt x="0" y="2344968"/>
                  <a:pt x="0" y="984038"/>
                </a:cubicBezTo>
                <a:cubicBezTo>
                  <a:pt x="0" y="643806"/>
                  <a:pt x="68954" y="319678"/>
                  <a:pt x="193648" y="24867"/>
                </a:cubicBezTo>
                <a:close/>
              </a:path>
            </a:pathLst>
          </a:cu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4157" y="3011237"/>
            <a:ext cx="5362301" cy="23862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4400" dirty="0">
                <a:solidFill>
                  <a:schemeClr val="tx1"/>
                </a:solidFill>
              </a:rPr>
              <a:t>Malik Jawad Saboor</a:t>
            </a:r>
          </a:p>
          <a:p>
            <a:pPr marL="342900"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350" dirty="0">
              <a:solidFill>
                <a:schemeClr val="tx1"/>
              </a:solidFill>
            </a:endParaRPr>
          </a:p>
          <a:p>
            <a:pPr marL="342900"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350" dirty="0">
                <a:solidFill>
                  <a:schemeClr val="tx1"/>
                </a:solidFill>
              </a:rPr>
              <a:t>Education:</a:t>
            </a:r>
          </a:p>
          <a:p>
            <a:pPr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350" dirty="0">
              <a:solidFill>
                <a:schemeClr val="tx1"/>
              </a:solidFill>
            </a:endParaRPr>
          </a:p>
          <a:p>
            <a:pPr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350" dirty="0">
                <a:solidFill>
                  <a:schemeClr val="tx1"/>
                </a:solidFill>
              </a:rPr>
              <a:t>University of Strathclyde.</a:t>
            </a:r>
          </a:p>
          <a:p>
            <a:pPr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350" dirty="0">
              <a:solidFill>
                <a:schemeClr val="tx1"/>
              </a:solidFill>
            </a:endParaRPr>
          </a:p>
          <a:p>
            <a:pPr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350" dirty="0">
              <a:solidFill>
                <a:schemeClr val="tx1"/>
              </a:solidFill>
            </a:endParaRPr>
          </a:p>
          <a:p>
            <a:pPr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1350" dirty="0">
                <a:solidFill>
                  <a:schemeClr val="tx1"/>
                </a:solidFill>
              </a:rPr>
              <a:t>International Islamic University Islamabad.</a:t>
            </a:r>
          </a:p>
          <a:p>
            <a:pPr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350" dirty="0">
              <a:solidFill>
                <a:schemeClr val="tx1"/>
              </a:solidFill>
            </a:endParaRPr>
          </a:p>
          <a:p>
            <a:pPr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350" dirty="0">
              <a:solidFill>
                <a:schemeClr val="tx1"/>
              </a:solidFill>
            </a:endParaRPr>
          </a:p>
          <a:p>
            <a:pPr marL="342900" indent="-171450" algn="l" defTabSz="6858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648F5915-2CE1-4F74-88C5-D4366893D2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966460" y="4253842"/>
            <a:ext cx="3177537" cy="2604157"/>
          </a:xfrm>
          <a:custGeom>
            <a:avLst/>
            <a:gdLst>
              <a:gd name="connsiteX0" fmla="*/ 2070613 w 3587263"/>
              <a:gd name="connsiteY0" fmla="*/ 0 h 2939948"/>
              <a:gd name="connsiteX1" fmla="*/ 3534758 w 3587263"/>
              <a:gd name="connsiteY1" fmla="*/ 606469 h 2939948"/>
              <a:gd name="connsiteX2" fmla="*/ 3587263 w 3587263"/>
              <a:gd name="connsiteY2" fmla="*/ 664240 h 2939948"/>
              <a:gd name="connsiteX3" fmla="*/ 3587263 w 3587263"/>
              <a:gd name="connsiteY3" fmla="*/ 2939948 h 2939948"/>
              <a:gd name="connsiteX4" fmla="*/ 193241 w 3587263"/>
              <a:gd name="connsiteY4" fmla="*/ 2939948 h 2939948"/>
              <a:gd name="connsiteX5" fmla="*/ 162719 w 3587263"/>
              <a:gd name="connsiteY5" fmla="*/ 2876589 h 2939948"/>
              <a:gd name="connsiteX6" fmla="*/ 0 w 3587263"/>
              <a:gd name="connsiteY6" fmla="*/ 2070613 h 2939948"/>
              <a:gd name="connsiteX7" fmla="*/ 2070613 w 3587263"/>
              <a:gd name="connsiteY7" fmla="*/ 0 h 2939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7263" h="2939948">
                <a:moveTo>
                  <a:pt x="2070613" y="0"/>
                </a:moveTo>
                <a:cubicBezTo>
                  <a:pt x="2642397" y="0"/>
                  <a:pt x="3160050" y="231761"/>
                  <a:pt x="3534758" y="606469"/>
                </a:cubicBezTo>
                <a:lnTo>
                  <a:pt x="3587263" y="664240"/>
                </a:lnTo>
                <a:lnTo>
                  <a:pt x="3587263" y="2939948"/>
                </a:lnTo>
                <a:lnTo>
                  <a:pt x="193241" y="2939948"/>
                </a:lnTo>
                <a:lnTo>
                  <a:pt x="162719" y="2876589"/>
                </a:lnTo>
                <a:cubicBezTo>
                  <a:pt x="57940" y="2628865"/>
                  <a:pt x="0" y="2356505"/>
                  <a:pt x="0" y="2070613"/>
                </a:cubicBezTo>
                <a:cubicBezTo>
                  <a:pt x="0" y="927045"/>
                  <a:pt x="927045" y="0"/>
                  <a:pt x="2070613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7874" r="3" b="11399"/>
          <a:stretch/>
        </p:blipFill>
        <p:spPr>
          <a:xfrm>
            <a:off x="6248400" y="4648200"/>
            <a:ext cx="3032191" cy="2458809"/>
          </a:xfrm>
          <a:custGeom>
            <a:avLst/>
            <a:gdLst>
              <a:gd name="connsiteX0" fmla="*/ 1906524 w 3423175"/>
              <a:gd name="connsiteY0" fmla="*/ 0 h 2775859"/>
              <a:gd name="connsiteX1" fmla="*/ 3377691 w 3423175"/>
              <a:gd name="connsiteY1" fmla="*/ 693798 h 2775859"/>
              <a:gd name="connsiteX2" fmla="*/ 3423175 w 3423175"/>
              <a:gd name="connsiteY2" fmla="*/ 754624 h 2775859"/>
              <a:gd name="connsiteX3" fmla="*/ 3423175 w 3423175"/>
              <a:gd name="connsiteY3" fmla="*/ 2775859 h 2775859"/>
              <a:gd name="connsiteX4" fmla="*/ 211114 w 3423175"/>
              <a:gd name="connsiteY4" fmla="*/ 2775859 h 2775859"/>
              <a:gd name="connsiteX5" fmla="*/ 149824 w 3423175"/>
              <a:gd name="connsiteY5" fmla="*/ 2648629 h 2775859"/>
              <a:gd name="connsiteX6" fmla="*/ 0 w 3423175"/>
              <a:gd name="connsiteY6" fmla="*/ 1906524 h 2775859"/>
              <a:gd name="connsiteX7" fmla="*/ 1906524 w 3423175"/>
              <a:gd name="connsiteY7" fmla="*/ 0 h 2775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3175" h="2775859">
                <a:moveTo>
                  <a:pt x="1906524" y="0"/>
                </a:moveTo>
                <a:cubicBezTo>
                  <a:pt x="2498805" y="0"/>
                  <a:pt x="3028006" y="270078"/>
                  <a:pt x="3377691" y="693798"/>
                </a:cubicBezTo>
                <a:lnTo>
                  <a:pt x="3423175" y="754624"/>
                </a:lnTo>
                <a:lnTo>
                  <a:pt x="3423175" y="2775859"/>
                </a:lnTo>
                <a:lnTo>
                  <a:pt x="211114" y="2775859"/>
                </a:lnTo>
                <a:lnTo>
                  <a:pt x="149824" y="2648629"/>
                </a:lnTo>
                <a:cubicBezTo>
                  <a:pt x="53349" y="2420536"/>
                  <a:pt x="0" y="2169760"/>
                  <a:pt x="0" y="1906524"/>
                </a:cubicBezTo>
                <a:cubicBezTo>
                  <a:pt x="0" y="853580"/>
                  <a:pt x="853580" y="0"/>
                  <a:pt x="190652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="" xmlns:p14="http://schemas.microsoft.com/office/powerpoint/2010/main" val="3280160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7542" y="4313948"/>
            <a:ext cx="3703452" cy="102241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300"/>
              <a:t>Introduction of Instructor</a:t>
            </a:r>
          </a:p>
        </p:txBody>
      </p:sp>
      <p:sp>
        <p:nvSpPr>
          <p:cNvPr id="45" name="Freeform: Shape 35">
            <a:extLst>
              <a:ext uri="{FF2B5EF4-FFF2-40B4-BE49-F238E27FC236}">
                <a16:creationId xmlns="" xmlns:a16="http://schemas.microsoft.com/office/drawing/2014/main" id="{9DBC4630-03DA-474F-BBCB-BA3AE6B317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05288" y="-3753"/>
            <a:ext cx="3601933" cy="2083455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Freeform: Shape 37">
            <a:extLst>
              <a:ext uri="{FF2B5EF4-FFF2-40B4-BE49-F238E27FC236}">
                <a16:creationId xmlns="" xmlns:a16="http://schemas.microsoft.com/office/drawing/2014/main" id="{1208BC59-C84F-483F-80CD-FAEC74229B9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37591" y="2063"/>
            <a:ext cx="3322473" cy="1940047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94" y="291150"/>
            <a:ext cx="2231948" cy="929978"/>
          </a:xfrm>
          <a:prstGeom prst="rect">
            <a:avLst/>
          </a:prstGeom>
        </p:spPr>
      </p:pic>
      <p:sp>
        <p:nvSpPr>
          <p:cNvPr id="49" name="Freeform: Shape 39">
            <a:extLst>
              <a:ext uri="{FF2B5EF4-FFF2-40B4-BE49-F238E27FC236}">
                <a16:creationId xmlns="" xmlns:a16="http://schemas.microsoft.com/office/drawing/2014/main" id="{2E2D6188-24E5-426A-BB2A-3FA2D6B9C3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13430" y="3430748"/>
            <a:ext cx="2673479" cy="3427251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1" name="Freeform: Shape 41">
            <a:extLst>
              <a:ext uri="{FF2B5EF4-FFF2-40B4-BE49-F238E27FC236}">
                <a16:creationId xmlns="" xmlns:a16="http://schemas.microsoft.com/office/drawing/2014/main" id="{F6E384F5-137A-40B1-97F0-694CC6ECD59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13430" y="3306163"/>
            <a:ext cx="2798064" cy="3551837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="" xmlns:a16="http://schemas.microsoft.com/office/drawing/2014/main" id="{A1DABD52-05DF-4F31-AFB9-B330D8BE46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733629" y="991141"/>
            <a:ext cx="2550236" cy="2550236"/>
          </a:xfrm>
          <a:custGeom>
            <a:avLst/>
            <a:gdLst>
              <a:gd name="connsiteX0" fmla="*/ 1426464 w 2852928"/>
              <a:gd name="connsiteY0" fmla="*/ 0 h 2852928"/>
              <a:gd name="connsiteX1" fmla="*/ 2852928 w 2852928"/>
              <a:gd name="connsiteY1" fmla="*/ 1426464 h 2852928"/>
              <a:gd name="connsiteX2" fmla="*/ 1426464 w 2852928"/>
              <a:gd name="connsiteY2" fmla="*/ 2852928 h 2852928"/>
              <a:gd name="connsiteX3" fmla="*/ 0 w 2852928"/>
              <a:gd name="connsiteY3" fmla="*/ 1426464 h 2852928"/>
              <a:gd name="connsiteX4" fmla="*/ 1426464 w 2852928"/>
              <a:gd name="connsiteY4" fmla="*/ 0 h 2852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78418A25-6EAC-4140-BFE6-284E1925B5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586500" y="834351"/>
            <a:ext cx="2844494" cy="284449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Picture 8" descr="comsats logo">
            <a:extLst>
              <a:ext uri="{FF2B5EF4-FFF2-40B4-BE49-F238E27FC236}">
                <a16:creationId xmlns="" xmlns:a16="http://schemas.microsoft.com/office/drawing/2014/main" id="{02D7E56F-5E21-48E4-B4EB-94394D50824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82" y="1448494"/>
            <a:ext cx="1635529" cy="1635529"/>
          </a:xfrm>
          <a:prstGeom prst="rect">
            <a:avLst/>
          </a:prstGeom>
        </p:spPr>
      </p:pic>
      <p:sp>
        <p:nvSpPr>
          <p:cNvPr id="48" name="Freeform: Shape 47">
            <a:extLst>
              <a:ext uri="{FF2B5EF4-FFF2-40B4-BE49-F238E27FC236}">
                <a16:creationId xmlns="" xmlns:a16="http://schemas.microsoft.com/office/drawing/2014/main" id="{6B9D64DB-4D5C-4A91-B45F-F301E3174F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564426" y="-3754"/>
            <a:ext cx="2579574" cy="2662562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="" xmlns:a16="http://schemas.microsoft.com/office/drawing/2014/main" id="{8E4F04B5-4D4A-4F70-8549-384AF535134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689071" y="-3753"/>
            <a:ext cx="2454929" cy="2537918"/>
          </a:xfrm>
          <a:custGeom>
            <a:avLst/>
            <a:gdLst>
              <a:gd name="connsiteX0" fmla="*/ 122841 w 3273238"/>
              <a:gd name="connsiteY0" fmla="*/ 0 h 3383891"/>
              <a:gd name="connsiteX1" fmla="*/ 3273238 w 3273238"/>
              <a:gd name="connsiteY1" fmla="*/ 0 h 3383891"/>
              <a:gd name="connsiteX2" fmla="*/ 3273238 w 3273238"/>
              <a:gd name="connsiteY2" fmla="*/ 3291335 h 3383891"/>
              <a:gd name="connsiteX3" fmla="*/ 3118338 w 3273238"/>
              <a:gd name="connsiteY3" fmla="*/ 3331164 h 3383891"/>
              <a:gd name="connsiteX4" fmla="*/ 2595295 w 3273238"/>
              <a:gd name="connsiteY4" fmla="*/ 3383891 h 3383891"/>
              <a:gd name="connsiteX5" fmla="*/ 0 w 3273238"/>
              <a:gd name="connsiteY5" fmla="*/ 788596 h 3383891"/>
              <a:gd name="connsiteX6" fmla="*/ 116679 w 3273238"/>
              <a:gd name="connsiteY6" fmla="*/ 16835 h 33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867" y="265595"/>
            <a:ext cx="1572416" cy="15724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64052" y="4401394"/>
            <a:ext cx="1746852" cy="1962755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="" xmlns:a16="http://schemas.microsoft.com/office/drawing/2014/main" id="{0D14DB62-3EB3-452E-89EE-30B0CDB0C8F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054754" y="3814717"/>
            <a:ext cx="3089246" cy="3043284"/>
          </a:xfrm>
          <a:custGeom>
            <a:avLst/>
            <a:gdLst>
              <a:gd name="connsiteX0" fmla="*/ 1888236 w 2828765"/>
              <a:gd name="connsiteY0" fmla="*/ 0 h 2786678"/>
              <a:gd name="connsiteX1" fmla="*/ 2788281 w 2828765"/>
              <a:gd name="connsiteY1" fmla="*/ 227900 h 2786678"/>
              <a:gd name="connsiteX2" fmla="*/ 2828765 w 2828765"/>
              <a:gd name="connsiteY2" fmla="*/ 252495 h 2786678"/>
              <a:gd name="connsiteX3" fmla="*/ 2828765 w 2828765"/>
              <a:gd name="connsiteY3" fmla="*/ 2786678 h 2786678"/>
              <a:gd name="connsiteX4" fmla="*/ 227128 w 2828765"/>
              <a:gd name="connsiteY4" fmla="*/ 2786678 h 2786678"/>
              <a:gd name="connsiteX5" fmla="*/ 148387 w 2828765"/>
              <a:gd name="connsiteY5" fmla="*/ 2623223 h 2786678"/>
              <a:gd name="connsiteX6" fmla="*/ 0 w 2828765"/>
              <a:gd name="connsiteY6" fmla="*/ 1888236 h 2786678"/>
              <a:gd name="connsiteX7" fmla="*/ 1888236 w 2828765"/>
              <a:gd name="connsiteY7" fmla="*/ 0 h 278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54" name="Freeform: Shape 53">
            <a:extLst>
              <a:ext uri="{FF2B5EF4-FFF2-40B4-BE49-F238E27FC236}">
                <a16:creationId xmlns="" xmlns:a16="http://schemas.microsoft.com/office/drawing/2014/main" id="{CB14CE1B-4BC5-4EF2-BE3D-05E4F580B3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915722" y="3675122"/>
            <a:ext cx="3228278" cy="3182878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900" y="4705815"/>
            <a:ext cx="2050520" cy="196625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32174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">
            <a:extLst>
              <a:ext uri="{FF2B5EF4-FFF2-40B4-BE49-F238E27FC236}">
                <a16:creationId xmlns="" xmlns:a16="http://schemas.microsoft.com/office/drawing/2014/main" id="{3BAFD176-D4C4-45B9-8D6E-C25F94C5CB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3999" cy="2285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434101"/>
            <a:ext cx="7164336" cy="12327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Course Goals</a:t>
            </a:r>
          </a:p>
        </p:txBody>
      </p:sp>
      <p:cxnSp>
        <p:nvCxnSpPr>
          <p:cNvPr id="18" name="Straight Connector 12">
            <a:extLst>
              <a:ext uri="{FF2B5EF4-FFF2-40B4-BE49-F238E27FC236}">
                <a16:creationId xmlns="" xmlns:a16="http://schemas.microsoft.com/office/drawing/2014/main" id="{E85B2D6B-877E-4599-A643-756FB86013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0" y="1676579"/>
            <a:ext cx="7970721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="" xmlns:a16="http://schemas.microsoft.com/office/drawing/2014/main" id="{9514E575-433A-4266-8C2D-C2BD62D81B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8838008" y="938535"/>
            <a:ext cx="305991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38008" y="1165547"/>
            <a:ext cx="30599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66D2596-C744-4D7D-B83A-C0CE2C30BEB3}" type="slidenum">
              <a:rPr lang="en-US" sz="100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89" y="2919937"/>
            <a:ext cx="4457393" cy="3341164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To identify entrepreneurship as a career and lifestyle option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To build on business skills such as marketing, finance, strategy.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To increase self awareness, especially work ethic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To become acquainted with business leaders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To develop a mindset for business and develop confidence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To gain a "life role" credit after successful completion of the course.</a:t>
            </a: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80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992" y="3429190"/>
            <a:ext cx="2578589" cy="193145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3076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6C20283-73E0-40EC-8AD8-057F581F64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28">
            <a:extLst>
              <a:ext uri="{FF2B5EF4-FFF2-40B4-BE49-F238E27FC236}">
                <a16:creationId xmlns="" xmlns:a16="http://schemas.microsoft.com/office/drawing/2014/main" id="{3FCC729B-E528-40C3-82D3-BA4375575E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 flipV="1">
            <a:off x="720090" y="0"/>
            <a:ext cx="8413995" cy="6858000"/>
          </a:xfrm>
          <a:custGeom>
            <a:avLst/>
            <a:gdLst>
              <a:gd name="connsiteX0" fmla="*/ 0 w 11218661"/>
              <a:gd name="connsiteY0" fmla="*/ 0 h 6858000"/>
              <a:gd name="connsiteX1" fmla="*/ 8042507 w 11218661"/>
              <a:gd name="connsiteY1" fmla="*/ 0 h 6858000"/>
              <a:gd name="connsiteX2" fmla="*/ 11218661 w 11218661"/>
              <a:gd name="connsiteY2" fmla="*/ 6858000 h 6858000"/>
              <a:gd name="connsiteX3" fmla="*/ 0 w 112186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8661" h="6858000">
                <a:moveTo>
                  <a:pt x="0" y="0"/>
                </a:moveTo>
                <a:lnTo>
                  <a:pt x="8042507" y="0"/>
                </a:lnTo>
                <a:lnTo>
                  <a:pt x="112186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 26">
            <a:extLst>
              <a:ext uri="{FF2B5EF4-FFF2-40B4-BE49-F238E27FC236}">
                <a16:creationId xmlns="" xmlns:a16="http://schemas.microsoft.com/office/drawing/2014/main" id="{58F1FB8D-1842-4A04-998D-6CF047AB27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 flipV="1">
            <a:off x="1065186" y="0"/>
            <a:ext cx="8078814" cy="6858000"/>
          </a:xfrm>
          <a:custGeom>
            <a:avLst/>
            <a:gdLst>
              <a:gd name="connsiteX0" fmla="*/ 0 w 10771752"/>
              <a:gd name="connsiteY0" fmla="*/ 0 h 6858000"/>
              <a:gd name="connsiteX1" fmla="*/ 7595598 w 10771752"/>
              <a:gd name="connsiteY1" fmla="*/ 0 h 6858000"/>
              <a:gd name="connsiteX2" fmla="*/ 10771752 w 10771752"/>
              <a:gd name="connsiteY2" fmla="*/ 6858000 h 6858000"/>
              <a:gd name="connsiteX3" fmla="*/ 0 w 10771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71752" h="6858000">
                <a:moveTo>
                  <a:pt x="0" y="0"/>
                </a:moveTo>
                <a:lnTo>
                  <a:pt x="7595598" y="0"/>
                </a:lnTo>
                <a:lnTo>
                  <a:pt x="10771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8029" y="365125"/>
            <a:ext cx="537337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Learning Outcomes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45" y="2573828"/>
            <a:ext cx="2569467" cy="170986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90636" y="2022601"/>
            <a:ext cx="5843449" cy="4154361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Utilization of students’ personal attributes to contribute to an entrepreneurial venture.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Application and demonstration of problem solving strategies and attitudes necessary to develop entrepreneurial ideas 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Understanding of role of capital resource management.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Development of guerilla marketing techniques for business promotion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Self-evaluation of  venture plan and reflect on ways to improve their plan.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Recognition of  the social and economic benefits of entrepreneurship within the context of community service.</a:t>
            </a:r>
          </a:p>
          <a:p>
            <a:pPr marL="457200" lvl="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Understanding of importance of time management, communication and human resources.</a:t>
            </a: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66D2596-C744-4D7D-B83A-C0CE2C30BEB3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0713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/>
              <a:t>Lecture No.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011461"/>
            <a:ext cx="8686800" cy="34290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Define the term entrepreneur 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Describe the entrepreneurial profile.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66D2596-C744-4D7D-B83A-C0CE2C30BEB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0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5701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" y="2658637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Describe the benefits of entrepreneurship.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Describe the drawbacks of entrepreneurship.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Explain the forces that are driving the growth of entrepreneurship.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8450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040394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Explain the cultural diversity of entrepreneurship.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3050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416595A-6731-48BD-8E5D-4C6A55910FAD}"/>
              </a:ext>
            </a:extLst>
          </p:cNvPr>
          <p:cNvSpPr txBox="1"/>
          <p:nvPr/>
        </p:nvSpPr>
        <p:spPr>
          <a:xfrm>
            <a:off x="1219201" y="2743200"/>
            <a:ext cx="7002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Motivational Talk- Dr. Aneel Salman</a:t>
            </a:r>
          </a:p>
        </p:txBody>
      </p:sp>
    </p:spTree>
    <p:extLst>
      <p:ext uri="{BB962C8B-B14F-4D97-AF65-F5344CB8AC3E}">
        <p14:creationId xmlns="" xmlns:p14="http://schemas.microsoft.com/office/powerpoint/2010/main" val="372962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880360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Put failure into proper perspective.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Avoiding the Pitfalls of Small Business Failure.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605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435DC43-5E98-4E20-9420-ECD184695BCC}"/>
              </a:ext>
            </a:extLst>
          </p:cNvPr>
          <p:cNvSpPr/>
          <p:nvPr/>
        </p:nvSpPr>
        <p:spPr>
          <a:xfrm>
            <a:off x="228600" y="2819400"/>
            <a:ext cx="8229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Understand Difference between Creativity and Innovation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Understand Paradigms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Barriers to Creativity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How to Spur Imagination</a:t>
            </a:r>
          </a:p>
        </p:txBody>
      </p:sp>
    </p:spTree>
    <p:extLst>
      <p:ext uri="{BB962C8B-B14F-4D97-AF65-F5344CB8AC3E}">
        <p14:creationId xmlns="" xmlns:p14="http://schemas.microsoft.com/office/powerpoint/2010/main" val="295281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How to Enhance Organizational Creativity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5257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6867" y="533400"/>
            <a:ext cx="5829300" cy="1102519"/>
          </a:xfrm>
        </p:spPr>
        <p:txBody>
          <a:bodyPr/>
          <a:lstStyle/>
          <a:p>
            <a:r>
              <a:rPr lang="en-US" dirty="0"/>
              <a:t>Lecture No.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524562"/>
            <a:ext cx="1747766" cy="1747766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="" xmlns:a16="http://schemas.microsoft.com/office/drawing/2014/main" id="{B7F7C153-B08E-4394-BA2D-1C55B705367D}"/>
              </a:ext>
            </a:extLst>
          </p:cNvPr>
          <p:cNvSpPr txBox="1">
            <a:spLocks/>
          </p:cNvSpPr>
          <p:nvPr/>
        </p:nvSpPr>
        <p:spPr>
          <a:xfrm>
            <a:off x="228600" y="1705513"/>
            <a:ext cx="8229600" cy="485671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sz="3600" dirty="0"/>
          </a:p>
          <a:p>
            <a:pPr algn="l">
              <a:lnSpc>
                <a:spcPct val="90000"/>
              </a:lnSpc>
              <a:defRPr/>
            </a:pPr>
            <a:r>
              <a:rPr lang="en-US" dirty="0"/>
              <a:t>How to enhance individual’s Creativity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Creativity Techniques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Brainstorming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000" dirty="0"/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Mind Mapping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000" dirty="0"/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Rapid Prototyping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000" dirty="0"/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Mix n Match (Thomas Edison Challenge)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000" dirty="0"/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000" dirty="0"/>
              <a:t>Attribute Listing Chart</a:t>
            </a:r>
          </a:p>
        </p:txBody>
      </p:sp>
    </p:spTree>
    <p:extLst>
      <p:ext uri="{BB962C8B-B14F-4D97-AF65-F5344CB8AC3E}">
        <p14:creationId xmlns="" xmlns:p14="http://schemas.microsoft.com/office/powerpoint/2010/main" val="35709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0"/>
            <a:ext cx="8382000" cy="4038600"/>
          </a:xfrm>
        </p:spPr>
        <p:txBody>
          <a:bodyPr>
            <a:normAutofit/>
          </a:bodyPr>
          <a:lstStyle/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Distinguish the different forms of Innovation</a:t>
            </a: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Differentiate between the different types of innovation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47965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200"/>
            <a:ext cx="8382000" cy="5105399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="" xmlns:a16="http://schemas.microsoft.com/office/drawing/2014/main" id="{49D751FA-90B7-4384-842C-68CB4208A56E}"/>
              </a:ext>
            </a:extLst>
          </p:cNvPr>
          <p:cNvSpPr txBox="1">
            <a:spLocks/>
          </p:cNvSpPr>
          <p:nvPr/>
        </p:nvSpPr>
        <p:spPr>
          <a:xfrm>
            <a:off x="228600" y="2330355"/>
            <a:ext cx="83820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en-US">
                <a:solidFill>
                  <a:schemeClr val="tx1"/>
                </a:solidFill>
              </a:rPr>
              <a:t>Intellectual Property Rights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Patents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Steps to Patent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Benefits of Obtaining Patents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Trademarks 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>
                <a:solidFill>
                  <a:schemeClr val="tx1"/>
                </a:solidFill>
              </a:rPr>
              <a:t>Copyrights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994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73C5F3B-A29C-439F-B2A2-4C744CC29E97}"/>
              </a:ext>
            </a:extLst>
          </p:cNvPr>
          <p:cNvSpPr txBox="1"/>
          <p:nvPr/>
        </p:nvSpPr>
        <p:spPr>
          <a:xfrm>
            <a:off x="990600" y="2743200"/>
            <a:ext cx="510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Documentary- Bill Gates</a:t>
            </a:r>
          </a:p>
        </p:txBody>
      </p:sp>
    </p:spTree>
    <p:extLst>
      <p:ext uri="{BB962C8B-B14F-4D97-AF65-F5344CB8AC3E}">
        <p14:creationId xmlns="" xmlns:p14="http://schemas.microsoft.com/office/powerpoint/2010/main" val="161576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476B776-8607-40AD-8269-AC6F28173B93}"/>
              </a:ext>
            </a:extLst>
          </p:cNvPr>
          <p:cNvSpPr/>
          <p:nvPr/>
        </p:nvSpPr>
        <p:spPr>
          <a:xfrm>
            <a:off x="762000" y="2011689"/>
            <a:ext cx="6096000" cy="374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Strategic  Management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Competitive Advantage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Core Competency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Strategic Management Process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Vision &amp; Mission Statement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400" dirty="0"/>
              <a:t>SWOT Analysis</a:t>
            </a:r>
          </a:p>
        </p:txBody>
      </p:sp>
    </p:spTree>
    <p:extLst>
      <p:ext uri="{BB962C8B-B14F-4D97-AF65-F5344CB8AC3E}">
        <p14:creationId xmlns="" xmlns:p14="http://schemas.microsoft.com/office/powerpoint/2010/main" val="70656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476B776-8607-40AD-8269-AC6F28173B93}"/>
              </a:ext>
            </a:extLst>
          </p:cNvPr>
          <p:cNvSpPr/>
          <p:nvPr/>
        </p:nvSpPr>
        <p:spPr>
          <a:xfrm>
            <a:off x="762000" y="2011689"/>
            <a:ext cx="6096000" cy="1588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SWOT Analysis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sz="3600" dirty="0"/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PESTEL Analysis</a:t>
            </a:r>
          </a:p>
        </p:txBody>
      </p:sp>
    </p:spTree>
    <p:extLst>
      <p:ext uri="{BB962C8B-B14F-4D97-AF65-F5344CB8AC3E}">
        <p14:creationId xmlns="" xmlns:p14="http://schemas.microsoft.com/office/powerpoint/2010/main" val="100964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1C41E24D-10E9-4B6A-A4F2-6E0183F96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956177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Analyzing Competitors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Create Company Goals and Objectives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Formulate Strategy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Translate Strategies into Action Plan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Establishing Control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5445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1C41E24D-10E9-4B6A-A4F2-6E0183F96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956177"/>
            <a:ext cx="8382000" cy="4038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endParaRPr lang="en-US" dirty="0"/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TOWS MATRIX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Conducting a Feasibility Analysis	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The Feasibility Study				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Five Forces Model				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Product or Service Feasibility Analysis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Financial Feasibility Analysis	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7348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lvl="0" hangingPunct="0"/>
            <a:r>
              <a:rPr lang="en-US" dirty="0"/>
              <a:t>Explain the advantages and the disadvantages of the three major forms of ownership</a:t>
            </a:r>
          </a:p>
          <a:p>
            <a:pPr lvl="0" hangingPunct="0"/>
            <a:r>
              <a:rPr lang="en-US" dirty="0"/>
              <a:t>The Sole Proprietorship</a:t>
            </a:r>
          </a:p>
          <a:p>
            <a:pPr lvl="0" hangingPunct="0"/>
            <a:r>
              <a:rPr lang="en-US" dirty="0"/>
              <a:t>The Partnership</a:t>
            </a:r>
          </a:p>
          <a:p>
            <a:pPr lvl="0" hangingPunct="0"/>
            <a:r>
              <a:rPr lang="en-US" dirty="0"/>
              <a:t>The Corporation 			</a:t>
            </a:r>
          </a:p>
        </p:txBody>
      </p:sp>
    </p:spTree>
    <p:extLst>
      <p:ext uri="{BB962C8B-B14F-4D97-AF65-F5344CB8AC3E}">
        <p14:creationId xmlns="" xmlns:p14="http://schemas.microsoft.com/office/powerpoint/2010/main" val="91406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221" y="2094744"/>
            <a:ext cx="8382000" cy="4038600"/>
          </a:xfrm>
        </p:spPr>
        <p:txBody>
          <a:bodyPr>
            <a:norm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dirty="0"/>
          </a:p>
          <a:p>
            <a:pPr marL="457200" indent="-457200" algn="l" fontAlgn="auto" hangingPunct="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Define Franchising.</a:t>
            </a:r>
          </a:p>
          <a:p>
            <a:pPr marL="457200" indent="-457200" algn="l" fontAlgn="auto" hangingPunct="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Explain the benefits and the drawbacks of buying a franchise.</a:t>
            </a:r>
          </a:p>
          <a:p>
            <a:pPr marL="457200" indent="-457200" algn="l" fontAlgn="auto" hangingPunct="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Discuss the right way to buy a franchise.</a:t>
            </a:r>
          </a:p>
          <a:p>
            <a:pPr marL="457200" indent="-457200" algn="l" fontAlgn="auto" hangingPunct="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/>
              <a:t>Outline the major trends shaping franchising.		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9758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Myths &amp; Tips about Franchising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Understand the importance of preparing a financial plan.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Projected Financial Statements- Mistakes.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Understand the basic financial statements</a:t>
            </a:r>
          </a:p>
          <a:p>
            <a:pPr marL="457200" indent="-457200" algn="l" hangingPunct="0">
              <a:buFont typeface="Arial" panose="020B0604020202020204" pitchFamily="34" charset="0"/>
              <a:buChar char="•"/>
            </a:pPr>
            <a:r>
              <a:rPr lang="en-US" dirty="0"/>
              <a:t>Breakeven Chart</a:t>
            </a:r>
          </a:p>
          <a:p>
            <a:pPr hangingPunct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5822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A508305-2FB9-4F96-92EB-618D25917C94}"/>
              </a:ext>
            </a:extLst>
          </p:cNvPr>
          <p:cNvSpPr/>
          <p:nvPr/>
        </p:nvSpPr>
        <p:spPr>
          <a:xfrm>
            <a:off x="609600" y="1457691"/>
            <a:ext cx="7772400" cy="448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en-US" sz="2400" dirty="0"/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Explain the differences in the three types of</a:t>
            </a:r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 capital small businesses require: fixed, working, and growth.</a:t>
            </a:r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Describe the differences in equity capital and debt capital and the advantages and disadvantages of each.</a:t>
            </a:r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Describe the various sources of equity capital available to entrepreneurs, including personal savings, friends and relatives, angels, partners, corporations, venture capital, and public stock offerings.</a:t>
            </a:r>
          </a:p>
          <a:p>
            <a:pPr marL="285750" indent="-285750" hangingPunct="0">
              <a:buFont typeface="Arial" panose="020B0604020202020204" pitchFamily="34" charset="0"/>
              <a:buChar char="•"/>
            </a:pPr>
            <a:r>
              <a:rPr lang="en-US" sz="2400" dirty="0"/>
              <a:t>Describe the various sources of debt capital and the advantages and disadvantages of each.</a:t>
            </a:r>
          </a:p>
        </p:txBody>
      </p:sp>
    </p:spTree>
    <p:extLst>
      <p:ext uri="{BB962C8B-B14F-4D97-AF65-F5344CB8AC3E}">
        <p14:creationId xmlns="" xmlns:p14="http://schemas.microsoft.com/office/powerpoint/2010/main" val="240344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449263" y="328613"/>
            <a:ext cx="7772400" cy="1470025"/>
          </a:xfrm>
        </p:spPr>
        <p:txBody>
          <a:bodyPr/>
          <a:lstStyle/>
          <a:p>
            <a:r>
              <a:rPr lang="en-US" dirty="0"/>
              <a:t>Lecture No. 21</a:t>
            </a:r>
            <a:br>
              <a:rPr lang="en-US" dirty="0"/>
            </a:br>
            <a:endParaRPr lang="en-US" dirty="0"/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228600" y="2330450"/>
            <a:ext cx="8382000" cy="403860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 eaLnBrk="1" hangingPunct="1">
              <a:lnSpc>
                <a:spcPct val="90000"/>
              </a:lnSpc>
              <a:buFont typeface="Arial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14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550" y="31750"/>
            <a:ext cx="233045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06375" y="1625600"/>
            <a:ext cx="8382000" cy="46990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dirty="0"/>
          </a:p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r>
              <a:rPr lang="en-US" dirty="0"/>
              <a:t>Discuss the “four Ps” of marketing—product, place, price, and promotion—and their role in building a successful marketing strategy.</a:t>
            </a:r>
          </a:p>
          <a:p>
            <a:pPr hangingPunct="0"/>
            <a:r>
              <a:rPr lang="en-US" dirty="0"/>
              <a:t>Marketing Wheel of Fortune</a:t>
            </a:r>
          </a:p>
          <a:p>
            <a:pPr hangingPunct="0"/>
            <a:r>
              <a:rPr lang="en-US" dirty="0"/>
              <a:t>How Small Business Marketing differs from Corporations</a:t>
            </a:r>
          </a:p>
          <a:p>
            <a:pPr hangingPunct="0"/>
            <a:r>
              <a:rPr lang="en-US" dirty="0"/>
              <a:t>Small Business Marketing Advantage</a:t>
            </a:r>
          </a:p>
        </p:txBody>
      </p:sp>
    </p:spTree>
    <p:extLst>
      <p:ext uri="{BB962C8B-B14F-4D97-AF65-F5344CB8AC3E}">
        <p14:creationId xmlns="" xmlns:p14="http://schemas.microsoft.com/office/powerpoint/2010/main" val="373534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22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endParaRPr lang="en-US" dirty="0"/>
          </a:p>
          <a:p>
            <a:pPr hangingPunct="0"/>
            <a:r>
              <a:rPr lang="en-US" dirty="0"/>
              <a:t>How Small Business Marketing differs from Corporations</a:t>
            </a:r>
          </a:p>
          <a:p>
            <a:pPr hangingPunct="0"/>
            <a:r>
              <a:rPr lang="en-US" dirty="0"/>
              <a:t>Small Business Marketing Advantage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One-to-One Marketing</a:t>
            </a:r>
          </a:p>
          <a:p>
            <a:pPr lvl="0"/>
            <a:r>
              <a:rPr lang="en-US" dirty="0"/>
              <a:t>Customer Sensitivity</a:t>
            </a:r>
          </a:p>
          <a:p>
            <a:pPr lvl="0"/>
            <a:r>
              <a:rPr lang="en-US" dirty="0"/>
              <a:t>Guerilla Marketing </a:t>
            </a:r>
          </a:p>
          <a:p>
            <a:pPr lvl="0"/>
            <a:r>
              <a:rPr lang="en-US" dirty="0"/>
              <a:t>Competitive Advantage Development through Customer Focus, Quality</a:t>
            </a:r>
          </a:p>
          <a:p>
            <a:pPr hangingPunct="0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1491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771811D-EA97-4432-A148-2B867140DD01}"/>
              </a:ext>
            </a:extLst>
          </p:cNvPr>
          <p:cNvSpPr/>
          <p:nvPr/>
        </p:nvSpPr>
        <p:spPr>
          <a:xfrm>
            <a:off x="906221" y="1969997"/>
            <a:ext cx="7315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000" dirty="0"/>
              <a:t>Competitive Advantage Development through Convenience, Innovation, Service &amp; Speed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000" dirty="0"/>
              <a:t>Understand the advantages and disadvantages of buying an existing business.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000" dirty="0"/>
              <a:t>Define the steps involved in the right way to buy a business.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000" dirty="0"/>
              <a:t>Critical Areas for Analyzing an Existing Business.</a:t>
            </a:r>
          </a:p>
        </p:txBody>
      </p:sp>
    </p:spTree>
    <p:extLst>
      <p:ext uri="{BB962C8B-B14F-4D97-AF65-F5344CB8AC3E}">
        <p14:creationId xmlns="" xmlns:p14="http://schemas.microsoft.com/office/powerpoint/2010/main" val="182635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2057399"/>
            <a:ext cx="8382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07C820A-E099-406A-9869-A90B9185E8CE}"/>
              </a:ext>
            </a:extLst>
          </p:cNvPr>
          <p:cNvSpPr txBox="1"/>
          <p:nvPr/>
        </p:nvSpPr>
        <p:spPr>
          <a:xfrm>
            <a:off x="1132910" y="2506684"/>
            <a:ext cx="5660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Steve Jobs- Video </a:t>
            </a:r>
            <a:r>
              <a:rPr lang="en-US" sz="3200" dirty="0" err="1"/>
              <a:t>Documentry</a:t>
            </a:r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70545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25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5EBCBCB-6E34-4C6C-9E8E-7E7A8B8843BB}"/>
              </a:ext>
            </a:extLst>
          </p:cNvPr>
          <p:cNvSpPr/>
          <p:nvPr/>
        </p:nvSpPr>
        <p:spPr>
          <a:xfrm>
            <a:off x="838200" y="2753481"/>
            <a:ext cx="6858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Define Intrapreneurs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Types of Corporate Entrepreneurship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Compensation of Intrapreneurs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Barriers to Intrapreneurship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Freedom Factors attached to Intrapreneurship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Advantages/ Disadvantages of Intrapreneurship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Companies can support Intrapreneurs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Ten Commandments of Intrapreneurship</a:t>
            </a:r>
          </a:p>
        </p:txBody>
      </p:sp>
    </p:spTree>
    <p:extLst>
      <p:ext uri="{BB962C8B-B14F-4D97-AF65-F5344CB8AC3E}">
        <p14:creationId xmlns="" xmlns:p14="http://schemas.microsoft.com/office/powerpoint/2010/main" val="65338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2077439"/>
            <a:ext cx="8382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76845C3-41FF-4DDA-890A-81CCC6795E69}"/>
              </a:ext>
            </a:extLst>
          </p:cNvPr>
          <p:cNvSpPr txBox="1"/>
          <p:nvPr/>
        </p:nvSpPr>
        <p:spPr>
          <a:xfrm>
            <a:off x="304800" y="2057399"/>
            <a:ext cx="868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4000" dirty="0"/>
              <a:t>Stakeholder’s Management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4000" dirty="0"/>
          </a:p>
        </p:txBody>
      </p:sp>
    </p:spTree>
    <p:extLst>
      <p:ext uri="{BB962C8B-B14F-4D97-AF65-F5344CB8AC3E}">
        <p14:creationId xmlns="" xmlns:p14="http://schemas.microsoft.com/office/powerpoint/2010/main" val="385919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27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33E673C-1F10-4FD0-B841-50DD64BEE1B0}"/>
              </a:ext>
            </a:extLst>
          </p:cNvPr>
          <p:cNvSpPr txBox="1"/>
          <p:nvPr/>
        </p:nvSpPr>
        <p:spPr>
          <a:xfrm>
            <a:off x="449021" y="2362200"/>
            <a:ext cx="8382000" cy="310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Influencing and Bargaining </a:t>
            </a:r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GB" sz="3600" dirty="0">
                <a:latin typeface="Corbel" pitchFamily="34" charset="0"/>
              </a:rPr>
              <a:t>Identify the key attributes of a Social Enterprise</a:t>
            </a:r>
          </a:p>
          <a:p>
            <a:pPr marL="457200" indent="-457200" hangingPunct="0">
              <a:buFont typeface="Arial" pitchFamily="34" charset="0"/>
              <a:buChar char="•"/>
            </a:pPr>
            <a:r>
              <a:rPr lang="en-GB" sz="3600" dirty="0">
                <a:latin typeface="Corbel" pitchFamily="34" charset="0"/>
              </a:rPr>
              <a:t>Characteristics of Social Enterprise</a:t>
            </a:r>
          </a:p>
          <a:p>
            <a:pPr marL="355600" indent="-355600" defTabSz="293688">
              <a:lnSpc>
                <a:spcPts val="3000"/>
              </a:lnSpc>
              <a:spcAft>
                <a:spcPts val="600"/>
              </a:spcAft>
              <a:buFont typeface="Arial" charset="0"/>
              <a:buChar char="•"/>
              <a:defRPr/>
            </a:pPr>
            <a:r>
              <a:rPr lang="en-GB" sz="3600" dirty="0">
                <a:latin typeface="Corbel" pitchFamily="34" charset="0"/>
              </a:rPr>
              <a:t>Understand how social enterprise differ from other organisations</a:t>
            </a:r>
          </a:p>
        </p:txBody>
      </p:sp>
    </p:spTree>
    <p:extLst>
      <p:ext uri="{BB962C8B-B14F-4D97-AF65-F5344CB8AC3E}">
        <p14:creationId xmlns="" xmlns:p14="http://schemas.microsoft.com/office/powerpoint/2010/main" val="68012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2097B77-BB9F-4398-A6F3-46D1E461F7D7}"/>
              </a:ext>
            </a:extLst>
          </p:cNvPr>
          <p:cNvSpPr/>
          <p:nvPr/>
        </p:nvSpPr>
        <p:spPr>
          <a:xfrm>
            <a:off x="1066800" y="2413338"/>
            <a:ext cx="69342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2800" dirty="0"/>
              <a:t>Define Elevator Pitch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8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2800" dirty="0"/>
              <a:t>Elevator Pitch Must Haves &amp; Cautions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8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2800" dirty="0"/>
              <a:t>Elements of Pitch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8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2800" dirty="0"/>
              <a:t>Dragon’s Den Video</a:t>
            </a:r>
          </a:p>
        </p:txBody>
      </p:sp>
    </p:spTree>
    <p:extLst>
      <p:ext uri="{BB962C8B-B14F-4D97-AF65-F5344CB8AC3E}">
        <p14:creationId xmlns="" xmlns:p14="http://schemas.microsoft.com/office/powerpoint/2010/main" val="305586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29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2057399"/>
            <a:ext cx="8686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4000" dirty="0"/>
              <a:t>Product Concept Presentations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4000" dirty="0"/>
          </a:p>
        </p:txBody>
      </p:sp>
    </p:spTree>
    <p:extLst>
      <p:ext uri="{BB962C8B-B14F-4D97-AF65-F5344CB8AC3E}">
        <p14:creationId xmlns="" xmlns:p14="http://schemas.microsoft.com/office/powerpoint/2010/main" val="152946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30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2400" y="1686419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 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3D67671-6450-428F-8BDB-FBC89F745D91}"/>
              </a:ext>
            </a:extLst>
          </p:cNvPr>
          <p:cNvSpPr/>
          <p:nvPr/>
        </p:nvSpPr>
        <p:spPr>
          <a:xfrm>
            <a:off x="667643" y="2163926"/>
            <a:ext cx="755377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r>
              <a:rPr lang="en-US" sz="3200" dirty="0"/>
              <a:t>Why Develop a Business Plan? 	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3200" dirty="0"/>
              <a:t>The Elements of a Business Plan 	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3200" dirty="0"/>
              <a:t>What Lenders and Investors Look for in a Business Plan 	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3200" dirty="0"/>
              <a:t>Making the Business Plan Presentation  Concluding remarks</a:t>
            </a:r>
          </a:p>
          <a:p>
            <a:pPr marL="457200" lvl="0" indent="-457200">
              <a:buFont typeface="Arial" pitchFamily="34" charset="0"/>
              <a:buChar char="•"/>
            </a:pPr>
            <a:r>
              <a:rPr lang="en-US" sz="3200" dirty="0"/>
              <a:t>Business Plan Format</a:t>
            </a:r>
          </a:p>
        </p:txBody>
      </p:sp>
    </p:spTree>
    <p:extLst>
      <p:ext uri="{BB962C8B-B14F-4D97-AF65-F5344CB8AC3E}">
        <p14:creationId xmlns="" xmlns:p14="http://schemas.microsoft.com/office/powerpoint/2010/main" val="401598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No. 31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2057399"/>
            <a:ext cx="868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hangingPunct="0">
              <a:buFont typeface="Arial" pitchFamily="34" charset="0"/>
              <a:buChar char="•"/>
            </a:pPr>
            <a:r>
              <a:rPr lang="en-US" sz="2800" dirty="0"/>
              <a:t>Video- Undercover Boss</a:t>
            </a:r>
          </a:p>
        </p:txBody>
      </p:sp>
    </p:spTree>
    <p:extLst>
      <p:ext uri="{BB962C8B-B14F-4D97-AF65-F5344CB8AC3E}">
        <p14:creationId xmlns="" xmlns:p14="http://schemas.microsoft.com/office/powerpoint/2010/main" val="78825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5" y="152400"/>
            <a:ext cx="2696705" cy="2057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2400" y="2510287"/>
            <a:ext cx="815340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3600" dirty="0"/>
              <a:t>Course Review</a:t>
            </a:r>
          </a:p>
        </p:txBody>
      </p:sp>
    </p:spTree>
    <p:extLst>
      <p:ext uri="{BB962C8B-B14F-4D97-AF65-F5344CB8AC3E}">
        <p14:creationId xmlns="" xmlns:p14="http://schemas.microsoft.com/office/powerpoint/2010/main" val="186888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870</Words>
  <Application>Microsoft Office PowerPoint</Application>
  <PresentationFormat>On-screen Show (4:3)</PresentationFormat>
  <Paragraphs>264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ENTREPRENEURSHIP </vt:lpstr>
      <vt:lpstr>Objectives</vt:lpstr>
      <vt:lpstr>Introduction of Instructor</vt:lpstr>
      <vt:lpstr>Introduction of Instructor</vt:lpstr>
      <vt:lpstr>Course Goals</vt:lpstr>
      <vt:lpstr>Learning Outcomes</vt:lpstr>
      <vt:lpstr>Lecture No. 2</vt:lpstr>
      <vt:lpstr>Lecture No. 3</vt:lpstr>
      <vt:lpstr>Lecture No. 4</vt:lpstr>
      <vt:lpstr>Lecture No. 5</vt:lpstr>
      <vt:lpstr>Lecture No. 6</vt:lpstr>
      <vt:lpstr>Lecture No. 7</vt:lpstr>
      <vt:lpstr>Lecture No. 8</vt:lpstr>
      <vt:lpstr>Lecture No. 9</vt:lpstr>
      <vt:lpstr>Lecture No. 10</vt:lpstr>
      <vt:lpstr>Lecture No. 11</vt:lpstr>
      <vt:lpstr>Lecture No. 12</vt:lpstr>
      <vt:lpstr>Lecture No. 13</vt:lpstr>
      <vt:lpstr>Lecture No. 14</vt:lpstr>
      <vt:lpstr>Lecture No. 15</vt:lpstr>
      <vt:lpstr>Lecture No. 16</vt:lpstr>
      <vt:lpstr>Lecture No. 17</vt:lpstr>
      <vt:lpstr>Lecture No. 18</vt:lpstr>
      <vt:lpstr>Lecture No. 19</vt:lpstr>
      <vt:lpstr>Lecture No. 20</vt:lpstr>
      <vt:lpstr>Lecture No. 21 </vt:lpstr>
      <vt:lpstr>Lecture No. 22</vt:lpstr>
      <vt:lpstr>Lecture No. 23</vt:lpstr>
      <vt:lpstr>Lecture No. 24</vt:lpstr>
      <vt:lpstr>Lecture No. 25</vt:lpstr>
      <vt:lpstr>Lecture No. 26</vt:lpstr>
      <vt:lpstr>Lecture No. 27</vt:lpstr>
      <vt:lpstr>Lecture No. 28</vt:lpstr>
      <vt:lpstr>Lecture No. 29</vt:lpstr>
      <vt:lpstr>Lecture No. 30 </vt:lpstr>
      <vt:lpstr>Lecture No. 31</vt:lpstr>
      <vt:lpstr>Lecture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ENTREPRENEURSHIP</dc:title>
  <dc:creator>Malik Jawad Saboor</dc:creator>
  <cp:lastModifiedBy>hammad</cp:lastModifiedBy>
  <cp:revision>31</cp:revision>
  <dcterms:created xsi:type="dcterms:W3CDTF">2019-07-24T07:56:44Z</dcterms:created>
  <dcterms:modified xsi:type="dcterms:W3CDTF">2020-08-19T08:20:45Z</dcterms:modified>
</cp:coreProperties>
</file>