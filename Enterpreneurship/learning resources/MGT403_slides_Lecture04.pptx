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85" r:id="rId2"/>
    <p:sldId id="288" r:id="rId3"/>
    <p:sldId id="256" r:id="rId4"/>
    <p:sldId id="272" r:id="rId5"/>
    <p:sldId id="289" r:id="rId6"/>
    <p:sldId id="275" r:id="rId7"/>
    <p:sldId id="276" r:id="rId8"/>
    <p:sldId id="281" r:id="rId9"/>
    <p:sldId id="282" r:id="rId10"/>
    <p:sldId id="283" r:id="rId11"/>
    <p:sldId id="284" r:id="rId12"/>
    <p:sldId id="292" r:id="rId13"/>
    <p:sldId id="293" r:id="rId14"/>
    <p:sldId id="291"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16" autoAdjust="0"/>
    <p:restoredTop sz="94671" autoAdjust="0"/>
  </p:normalViewPr>
  <p:slideViewPr>
    <p:cSldViewPr>
      <p:cViewPr>
        <p:scale>
          <a:sx n="75" d="100"/>
          <a:sy n="75" d="100"/>
        </p:scale>
        <p:origin x="-1704" y="-336"/>
      </p:cViewPr>
      <p:guideLst>
        <p:guide orient="horz" pos="2160"/>
        <p:guide pos="2880"/>
      </p:guideLst>
    </p:cSldViewPr>
  </p:slideViewPr>
  <p:outlineViewPr>
    <p:cViewPr>
      <p:scale>
        <a:sx n="33" d="100"/>
        <a:sy n="33" d="100"/>
      </p:scale>
      <p:origin x="42" y="1254"/>
    </p:cViewPr>
    <p:sldLst>
      <p:sld r:id="rId1" collapse="1"/>
      <p:sld r:id="rId2" collapse="1"/>
    </p:sldLst>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_rels/viewProps.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BCCD61-2315-4FAF-AEDB-E0BBEC630695}" type="datetimeFigureOut">
              <a:rPr lang="en-US" smtClean="0"/>
              <a:pPr/>
              <a:t>8/25/2020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9F1F17-F03B-4CE1-A8B4-1ABE48593EDF}" type="slidenum">
              <a:rPr lang="en-US" smtClean="0"/>
              <a:pPr/>
              <a:t>‹#›</a:t>
            </a:fld>
            <a:endParaRPr lang="en-US"/>
          </a:p>
        </p:txBody>
      </p:sp>
    </p:spTree>
    <p:extLst>
      <p:ext uri="{BB962C8B-B14F-4D97-AF65-F5344CB8AC3E}">
        <p14:creationId xmlns="" xmlns:p14="http://schemas.microsoft.com/office/powerpoint/2010/main" val="2651459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143000" y="687388"/>
            <a:ext cx="4568825" cy="3425825"/>
          </a:xfrm>
          <a:noFill/>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143000" y="687388"/>
            <a:ext cx="4568825" cy="3425825"/>
          </a:xfrm>
          <a:noFill/>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43000" y="687388"/>
            <a:ext cx="4568825" cy="3425825"/>
          </a:xfrm>
          <a:noFill/>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47BC66-E99E-4901-AC8C-5FA4CB9A4420}" type="datetime1">
              <a:rPr lang="en-US" smtClean="0"/>
              <a:pPr/>
              <a:t>8/25/2020</a:t>
            </a:fld>
            <a:endParaRPr lang="en-US"/>
          </a:p>
        </p:txBody>
      </p:sp>
      <p:sp>
        <p:nvSpPr>
          <p:cNvPr id="5" name="Footer Placeholder 4"/>
          <p:cNvSpPr>
            <a:spLocks noGrp="1"/>
          </p:cNvSpPr>
          <p:nvPr>
            <p:ph type="ftr" sz="quarter" idx="11"/>
          </p:nvPr>
        </p:nvSpPr>
        <p:spPr/>
        <p:txBody>
          <a:bodyPr/>
          <a:lstStyle/>
          <a:p>
            <a:r>
              <a:rPr lang="en-US" smtClean="0"/>
              <a:t>Chapter 1: Entrepreneurship</a:t>
            </a:r>
            <a:endParaRPr lang="en-US"/>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1045343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3FBF6A-4F45-4E76-9FE5-65ABD4F8DDD6}" type="datetime1">
              <a:rPr lang="en-US" smtClean="0"/>
              <a:pPr/>
              <a:t>8/25/2020</a:t>
            </a:fld>
            <a:endParaRPr lang="en-US"/>
          </a:p>
        </p:txBody>
      </p:sp>
      <p:sp>
        <p:nvSpPr>
          <p:cNvPr id="5" name="Footer Placeholder 4"/>
          <p:cNvSpPr>
            <a:spLocks noGrp="1"/>
          </p:cNvSpPr>
          <p:nvPr>
            <p:ph type="ftr" sz="quarter" idx="11"/>
          </p:nvPr>
        </p:nvSpPr>
        <p:spPr/>
        <p:txBody>
          <a:bodyPr/>
          <a:lstStyle/>
          <a:p>
            <a:r>
              <a:rPr lang="en-US" smtClean="0"/>
              <a:t>Chapter 1: Entrepreneurship</a:t>
            </a:r>
            <a:endParaRPr lang="en-US"/>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26455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763B8DA-D8ED-460C-88D7-78C4C28210B4}" type="datetime1">
              <a:rPr lang="en-US" smtClean="0"/>
              <a:pPr/>
              <a:t>8/25/2020</a:t>
            </a:fld>
            <a:endParaRPr lang="en-US"/>
          </a:p>
        </p:txBody>
      </p:sp>
      <p:sp>
        <p:nvSpPr>
          <p:cNvPr id="5" name="Footer Placeholder 4"/>
          <p:cNvSpPr>
            <a:spLocks noGrp="1"/>
          </p:cNvSpPr>
          <p:nvPr>
            <p:ph type="ftr" sz="quarter" idx="11"/>
          </p:nvPr>
        </p:nvSpPr>
        <p:spPr/>
        <p:txBody>
          <a:bodyPr/>
          <a:lstStyle/>
          <a:p>
            <a:r>
              <a:rPr lang="en-US" smtClean="0"/>
              <a:t>Chapter 1: Entrepreneurship</a:t>
            </a:r>
            <a:endParaRPr lang="en-US"/>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211290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59A8CC4-F10C-43A6-94D9-70B89C99C6B5}" type="datetime1">
              <a:rPr lang="en-US" smtClean="0"/>
              <a:pPr/>
              <a:t>8/25/2020</a:t>
            </a:fld>
            <a:endParaRPr lang="en-US"/>
          </a:p>
        </p:txBody>
      </p:sp>
      <p:sp>
        <p:nvSpPr>
          <p:cNvPr id="6" name="Footer Placeholder 5"/>
          <p:cNvSpPr>
            <a:spLocks noGrp="1"/>
          </p:cNvSpPr>
          <p:nvPr>
            <p:ph type="ftr" sz="quarter" idx="11"/>
          </p:nvPr>
        </p:nvSpPr>
        <p:spPr/>
        <p:txBody>
          <a:bodyPr/>
          <a:lstStyle/>
          <a:p>
            <a:r>
              <a:rPr lang="en-US" smtClean="0"/>
              <a:t>Chapter 1: Entrepreneurship</a:t>
            </a:r>
            <a:endParaRPr lang="en-US"/>
          </a:p>
        </p:txBody>
      </p:sp>
      <p:sp>
        <p:nvSpPr>
          <p:cNvPr id="7" name="Slide Number Placeholder 6"/>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2279194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997B31-B021-46EA-B517-092F71A62745}" type="datetime1">
              <a:rPr lang="en-US" smtClean="0"/>
              <a:pPr/>
              <a:t>8/25/2020</a:t>
            </a:fld>
            <a:endParaRPr lang="en-US"/>
          </a:p>
        </p:txBody>
      </p:sp>
      <p:sp>
        <p:nvSpPr>
          <p:cNvPr id="8" name="Footer Placeholder 7"/>
          <p:cNvSpPr>
            <a:spLocks noGrp="1"/>
          </p:cNvSpPr>
          <p:nvPr>
            <p:ph type="ftr" sz="quarter" idx="11"/>
          </p:nvPr>
        </p:nvSpPr>
        <p:spPr/>
        <p:txBody>
          <a:bodyPr/>
          <a:lstStyle/>
          <a:p>
            <a:r>
              <a:rPr lang="en-US" smtClean="0"/>
              <a:t>Chapter 1: Entrepreneurship</a:t>
            </a:r>
            <a:endParaRPr lang="en-US"/>
          </a:p>
        </p:txBody>
      </p:sp>
      <p:sp>
        <p:nvSpPr>
          <p:cNvPr id="9" name="Slide Number Placeholder 8"/>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835842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FA4B97-D14E-427B-B8AE-DA397ABFA0FB}" type="datetime1">
              <a:rPr lang="en-US" smtClean="0"/>
              <a:pPr/>
              <a:t>8/25/2020</a:t>
            </a:fld>
            <a:endParaRPr lang="en-US"/>
          </a:p>
        </p:txBody>
      </p:sp>
      <p:sp>
        <p:nvSpPr>
          <p:cNvPr id="4" name="Footer Placeholder 3"/>
          <p:cNvSpPr>
            <a:spLocks noGrp="1"/>
          </p:cNvSpPr>
          <p:nvPr>
            <p:ph type="ftr" sz="quarter" idx="11"/>
          </p:nvPr>
        </p:nvSpPr>
        <p:spPr/>
        <p:txBody>
          <a:bodyPr/>
          <a:lstStyle/>
          <a:p>
            <a:r>
              <a:rPr lang="en-US" smtClean="0"/>
              <a:t>Chapter 1: Entrepreneurship</a:t>
            </a:r>
            <a:endParaRPr lang="en-US"/>
          </a:p>
        </p:txBody>
      </p:sp>
      <p:sp>
        <p:nvSpPr>
          <p:cNvPr id="5" name="Slide Number Placeholder 4"/>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2772722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EEBA28-EA92-4A3F-9A52-6C1B595ACB5C}" type="datetime1">
              <a:rPr lang="en-US" smtClean="0"/>
              <a:pPr/>
              <a:t>8/25/2020</a:t>
            </a:fld>
            <a:endParaRPr lang="en-US"/>
          </a:p>
        </p:txBody>
      </p:sp>
      <p:sp>
        <p:nvSpPr>
          <p:cNvPr id="3" name="Footer Placeholder 2"/>
          <p:cNvSpPr>
            <a:spLocks noGrp="1"/>
          </p:cNvSpPr>
          <p:nvPr>
            <p:ph type="ftr" sz="quarter" idx="11"/>
          </p:nvPr>
        </p:nvSpPr>
        <p:spPr/>
        <p:txBody>
          <a:bodyPr/>
          <a:lstStyle/>
          <a:p>
            <a:r>
              <a:rPr lang="en-US" smtClean="0"/>
              <a:t>Chapter 1: Entrepreneurship</a:t>
            </a:r>
            <a:endParaRPr lang="en-US"/>
          </a:p>
        </p:txBody>
      </p:sp>
      <p:sp>
        <p:nvSpPr>
          <p:cNvPr id="4" name="Slide Number Placeholder 3"/>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162750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8379A5-D640-4D2C-AF79-9CEB0F88A841}" type="datetime1">
              <a:rPr lang="en-US" smtClean="0"/>
              <a:pPr/>
              <a:t>8/25/2020</a:t>
            </a:fld>
            <a:endParaRPr lang="en-US"/>
          </a:p>
        </p:txBody>
      </p:sp>
      <p:sp>
        <p:nvSpPr>
          <p:cNvPr id="6" name="Footer Placeholder 5"/>
          <p:cNvSpPr>
            <a:spLocks noGrp="1"/>
          </p:cNvSpPr>
          <p:nvPr>
            <p:ph type="ftr" sz="quarter" idx="11"/>
          </p:nvPr>
        </p:nvSpPr>
        <p:spPr/>
        <p:txBody>
          <a:bodyPr/>
          <a:lstStyle/>
          <a:p>
            <a:r>
              <a:rPr lang="en-US" smtClean="0"/>
              <a:t>Chapter 1: Entrepreneurship</a:t>
            </a:r>
            <a:endParaRPr lang="en-US"/>
          </a:p>
        </p:txBody>
      </p:sp>
      <p:sp>
        <p:nvSpPr>
          <p:cNvPr id="7" name="Slide Number Placeholder 6"/>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14683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178727-F892-4A97-99B8-9CA7FE9EDD0B}" type="datetime1">
              <a:rPr lang="en-US" smtClean="0"/>
              <a:pPr/>
              <a:t>8/25/2020</a:t>
            </a:fld>
            <a:endParaRPr lang="en-US"/>
          </a:p>
        </p:txBody>
      </p:sp>
      <p:sp>
        <p:nvSpPr>
          <p:cNvPr id="6" name="Footer Placeholder 5"/>
          <p:cNvSpPr>
            <a:spLocks noGrp="1"/>
          </p:cNvSpPr>
          <p:nvPr>
            <p:ph type="ftr" sz="quarter" idx="11"/>
          </p:nvPr>
        </p:nvSpPr>
        <p:spPr/>
        <p:txBody>
          <a:bodyPr/>
          <a:lstStyle/>
          <a:p>
            <a:r>
              <a:rPr lang="en-US" smtClean="0"/>
              <a:t>Chapter 1: Entrepreneurship</a:t>
            </a:r>
            <a:endParaRPr lang="en-US"/>
          </a:p>
        </p:txBody>
      </p:sp>
      <p:sp>
        <p:nvSpPr>
          <p:cNvPr id="7" name="Slide Number Placeholder 6"/>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4236074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30EB140-7929-4EA2-A116-A9CD00094022}" type="datetime1">
              <a:rPr lang="en-US" smtClean="0"/>
              <a:pPr/>
              <a:t>8/25/2020</a:t>
            </a:fld>
            <a:endParaRPr lang="en-US"/>
          </a:p>
        </p:txBody>
      </p:sp>
      <p:sp>
        <p:nvSpPr>
          <p:cNvPr id="5" name="Footer Placeholder 4"/>
          <p:cNvSpPr>
            <a:spLocks noGrp="1"/>
          </p:cNvSpPr>
          <p:nvPr>
            <p:ph type="ftr" sz="quarter" idx="11"/>
          </p:nvPr>
        </p:nvSpPr>
        <p:spPr/>
        <p:txBody>
          <a:bodyPr/>
          <a:lstStyle/>
          <a:p>
            <a:r>
              <a:rPr lang="en-US" smtClean="0"/>
              <a:t>Chapter 1: Entrepreneurship</a:t>
            </a:r>
            <a:endParaRPr lang="en-US"/>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104710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CB3F0D-3AAD-4C7A-BA60-1655B80804A8}" type="datetime1">
              <a:rPr lang="en-US" smtClean="0"/>
              <a:pPr/>
              <a:t>8/25/2020</a:t>
            </a:fld>
            <a:endParaRPr lang="en-US"/>
          </a:p>
        </p:txBody>
      </p:sp>
      <p:sp>
        <p:nvSpPr>
          <p:cNvPr id="5" name="Footer Placeholder 4"/>
          <p:cNvSpPr>
            <a:spLocks noGrp="1"/>
          </p:cNvSpPr>
          <p:nvPr>
            <p:ph type="ftr" sz="quarter" idx="11"/>
          </p:nvPr>
        </p:nvSpPr>
        <p:spPr/>
        <p:txBody>
          <a:bodyPr/>
          <a:lstStyle/>
          <a:p>
            <a:r>
              <a:rPr lang="en-US" smtClean="0"/>
              <a:t>Chapter 1: Entrepreneurship</a:t>
            </a:r>
            <a:endParaRPr lang="en-US"/>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1165421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DCB7E-3E05-40F2-AEF2-14D04EC666F5}" type="datetime1">
              <a:rPr lang="en-US" smtClean="0"/>
              <a:pPr/>
              <a:t>8/25/2020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Chapter 1: Entrepreneurship</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6D2596-C744-4D7D-B83A-C0CE2C30BEB3}" type="slidenum">
              <a:rPr lang="en-US" smtClean="0"/>
              <a:pPr/>
              <a:t>‹#›</a:t>
            </a:fld>
            <a:endParaRPr lang="en-US"/>
          </a:p>
        </p:txBody>
      </p:sp>
    </p:spTree>
    <p:extLst>
      <p:ext uri="{BB962C8B-B14F-4D97-AF65-F5344CB8AC3E}">
        <p14:creationId xmlns="" xmlns:p14="http://schemas.microsoft.com/office/powerpoint/2010/main" val="590924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ENTREPRENEURSHIP </a:t>
            </a:r>
            <a:endParaRPr lang="en-US" dirty="0"/>
          </a:p>
        </p:txBody>
      </p:sp>
      <p:sp>
        <p:nvSpPr>
          <p:cNvPr id="3" name="Content Placeholder 2"/>
          <p:cNvSpPr>
            <a:spLocks noGrp="1"/>
          </p:cNvSpPr>
          <p:nvPr>
            <p:ph idx="1"/>
          </p:nvPr>
        </p:nvSpPr>
        <p:spPr/>
        <p:txBody>
          <a:bodyPr>
            <a:normAutofit/>
          </a:bodyPr>
          <a:lstStyle/>
          <a:p>
            <a:pPr marL="0" indent="0" algn="ctr">
              <a:buNone/>
            </a:pPr>
            <a:r>
              <a:rPr lang="en-US" sz="6000" dirty="0" smtClean="0"/>
              <a:t>Lecture No: </a:t>
            </a:r>
            <a:r>
              <a:rPr lang="en-US" sz="6000" dirty="0" smtClean="0"/>
              <a:t>4</a:t>
            </a:r>
            <a:endParaRPr lang="en-US" sz="6000" dirty="0" smtClean="0"/>
          </a:p>
          <a:p>
            <a:pPr marL="0" indent="0">
              <a:buNone/>
            </a:pPr>
            <a:endParaRPr lang="en-US" sz="2000" dirty="0" smtClean="0"/>
          </a:p>
          <a:p>
            <a:pPr marL="0" indent="0" algn="ctr">
              <a:buNone/>
            </a:pPr>
            <a:endParaRPr lang="en-US" sz="2800" dirty="0" smtClean="0"/>
          </a:p>
          <a:p>
            <a:pPr marL="0" indent="0" algn="ctr">
              <a:buNone/>
            </a:pPr>
            <a:r>
              <a:rPr lang="en-US" sz="2800" dirty="0" smtClean="0"/>
              <a:t>Resource Person:</a:t>
            </a:r>
          </a:p>
          <a:p>
            <a:pPr marL="0" indent="0" algn="ctr">
              <a:buNone/>
            </a:pPr>
            <a:r>
              <a:rPr lang="en-US" sz="3600" dirty="0" smtClean="0"/>
              <a:t>Malik </a:t>
            </a:r>
            <a:r>
              <a:rPr lang="en-US" sz="3600" dirty="0" err="1" smtClean="0"/>
              <a:t>Jawad</a:t>
            </a:r>
            <a:r>
              <a:rPr lang="en-US" sz="3600" dirty="0" smtClean="0"/>
              <a:t> </a:t>
            </a:r>
            <a:r>
              <a:rPr lang="en-US" sz="3600" dirty="0" err="1" smtClean="0"/>
              <a:t>Saboor</a:t>
            </a:r>
            <a:endParaRPr lang="en-US" sz="3600" dirty="0" smtClean="0"/>
          </a:p>
          <a:p>
            <a:pPr marL="0" indent="0" algn="ctr">
              <a:buNone/>
            </a:pPr>
            <a:r>
              <a:rPr lang="en-US" sz="2000" dirty="0" smtClean="0"/>
              <a:t>Assistant Professor</a:t>
            </a:r>
          </a:p>
          <a:p>
            <a:pPr marL="0" indent="0" algn="ctr">
              <a:buNone/>
            </a:pPr>
            <a:r>
              <a:rPr lang="en-US" sz="2000" dirty="0" smtClean="0"/>
              <a:t>Department of Management Sciences</a:t>
            </a:r>
          </a:p>
          <a:p>
            <a:pPr marL="0" indent="0" algn="ctr">
              <a:buNone/>
            </a:pPr>
            <a:r>
              <a:rPr lang="en-US" sz="2000" dirty="0" smtClean="0"/>
              <a:t>COMSATS Institute of Information Technology</a:t>
            </a:r>
          </a:p>
          <a:p>
            <a:pPr marL="0" indent="0" algn="ctr">
              <a:buNone/>
            </a:pPr>
            <a:r>
              <a:rPr lang="en-US" sz="2000" dirty="0" smtClean="0"/>
              <a:t>Islamabad.</a:t>
            </a:r>
          </a:p>
          <a:p>
            <a:pPr marL="0" indent="0">
              <a:buNone/>
            </a:pPr>
            <a:endParaRPr lang="en-US" dirty="0"/>
          </a:p>
        </p:txBody>
      </p:sp>
      <p:sp>
        <p:nvSpPr>
          <p:cNvPr id="4" name="Slide Number Placeholder 3"/>
          <p:cNvSpPr>
            <a:spLocks noGrp="1"/>
          </p:cNvSpPr>
          <p:nvPr>
            <p:ph type="sldNum" sz="quarter" idx="12"/>
          </p:nvPr>
        </p:nvSpPr>
        <p:spPr/>
        <p:txBody>
          <a:bodyPr/>
          <a:lstStyle/>
          <a:p>
            <a:fld id="{066D2596-C744-4D7D-B83A-C0CE2C30BEB3}" type="slidenum">
              <a:rPr lang="en-US" smtClean="0"/>
              <a:pPr/>
              <a:t>1</a:t>
            </a:fld>
            <a:endParaRPr lang="en-US"/>
          </a:p>
        </p:txBody>
      </p:sp>
    </p:spTree>
    <p:extLst>
      <p:ext uri="{BB962C8B-B14F-4D97-AF65-F5344CB8AC3E}">
        <p14:creationId xmlns="" xmlns:p14="http://schemas.microsoft.com/office/powerpoint/2010/main" val="7057540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8229600" cy="1143000"/>
          </a:xfrm>
        </p:spPr>
        <p:txBody>
          <a:bodyPr/>
          <a:lstStyle/>
          <a:p>
            <a:r>
              <a:rPr lang="en-US" dirty="0"/>
              <a:t> </a:t>
            </a:r>
            <a:r>
              <a:rPr lang="en-US" dirty="0" smtClean="0"/>
              <a:t>Previous Lecture Review</a:t>
            </a:r>
            <a:endParaRPr lang="en-US" dirty="0"/>
          </a:p>
        </p:txBody>
      </p:sp>
      <p:sp>
        <p:nvSpPr>
          <p:cNvPr id="3" name="Content Placeholder 2"/>
          <p:cNvSpPr>
            <a:spLocks noGrp="1"/>
          </p:cNvSpPr>
          <p:nvPr>
            <p:ph idx="1"/>
          </p:nvPr>
        </p:nvSpPr>
        <p:spPr>
          <a:xfrm>
            <a:off x="457200" y="2209800"/>
            <a:ext cx="8229600" cy="4525963"/>
          </a:xfrm>
        </p:spPr>
        <p:txBody>
          <a:bodyPr/>
          <a:lstStyle/>
          <a:p>
            <a:pPr>
              <a:lnSpc>
                <a:spcPct val="90000"/>
              </a:lnSpc>
              <a:defRPr/>
            </a:pPr>
            <a:r>
              <a:rPr lang="en-US" dirty="0"/>
              <a:t>Define the term </a:t>
            </a:r>
            <a:r>
              <a:rPr lang="en-US" dirty="0" smtClean="0"/>
              <a:t>entrepreneur</a:t>
            </a:r>
          </a:p>
          <a:p>
            <a:pPr>
              <a:lnSpc>
                <a:spcPct val="90000"/>
              </a:lnSpc>
              <a:defRPr/>
            </a:pPr>
            <a:endParaRPr lang="en-US" dirty="0"/>
          </a:p>
          <a:p>
            <a:pPr>
              <a:lnSpc>
                <a:spcPct val="90000"/>
              </a:lnSpc>
              <a:defRPr/>
            </a:pPr>
            <a:r>
              <a:rPr lang="en-US" dirty="0"/>
              <a:t>Describe the entrepreneurial profile</a:t>
            </a:r>
            <a:r>
              <a:rPr lang="en-US" dirty="0" smtClean="0"/>
              <a:t>.</a:t>
            </a:r>
          </a:p>
          <a:p>
            <a:pPr>
              <a:lnSpc>
                <a:spcPct val="90000"/>
              </a:lnSpc>
              <a:defRPr/>
            </a:pPr>
            <a:endParaRPr lang="en-US" dirty="0"/>
          </a:p>
          <a:p>
            <a:pPr>
              <a:lnSpc>
                <a:spcPct val="90000"/>
              </a:lnSpc>
              <a:defRPr/>
            </a:pPr>
            <a:r>
              <a:rPr lang="en-US" dirty="0"/>
              <a:t>Describe the benefits of entrepreneurship</a:t>
            </a:r>
            <a:r>
              <a:rPr lang="en-US" dirty="0" smtClean="0"/>
              <a:t>.</a:t>
            </a:r>
          </a:p>
          <a:p>
            <a:pPr>
              <a:lnSpc>
                <a:spcPct val="90000"/>
              </a:lnSpc>
              <a:defRPr/>
            </a:pPr>
            <a:endParaRPr lang="en-US" dirty="0"/>
          </a:p>
          <a:p>
            <a:pPr>
              <a:lnSpc>
                <a:spcPct val="90000"/>
              </a:lnSpc>
              <a:defRPr/>
            </a:pPr>
            <a:r>
              <a:rPr lang="en-US" dirty="0"/>
              <a:t>Describe the drawbacks of entrepreneurship.</a:t>
            </a:r>
          </a:p>
          <a:p>
            <a:pPr>
              <a:lnSpc>
                <a:spcPct val="90000"/>
              </a:lnSpc>
              <a:defRPr/>
            </a:pPr>
            <a:endParaRPr lang="en-US" dirty="0"/>
          </a:p>
          <a:p>
            <a:endParaRPr lang="en-US" dirty="0"/>
          </a:p>
        </p:txBody>
      </p:sp>
      <p:sp>
        <p:nvSpPr>
          <p:cNvPr id="4" name="Slide Number Placeholder 3"/>
          <p:cNvSpPr>
            <a:spLocks noGrp="1"/>
          </p:cNvSpPr>
          <p:nvPr>
            <p:ph type="sldNum" sz="quarter" idx="12"/>
          </p:nvPr>
        </p:nvSpPr>
        <p:spPr/>
        <p:txBody>
          <a:bodyPr/>
          <a:lstStyle/>
          <a:p>
            <a:fld id="{066D2596-C744-4D7D-B83A-C0CE2C30BEB3}" type="slidenum">
              <a:rPr lang="en-US">
                <a:solidFill>
                  <a:prstClr val="black">
                    <a:tint val="75000"/>
                  </a:prstClr>
                </a:solidFill>
              </a:rPr>
              <a:pPr/>
              <a:t>2</a:t>
            </a:fld>
            <a:endParaRPr lang="en-US">
              <a:solidFill>
                <a:prstClr val="black">
                  <a:tint val="75000"/>
                </a:prstClr>
              </a:solidFill>
            </a:endParaRPr>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943600" y="85298"/>
            <a:ext cx="3124104" cy="3038901"/>
          </a:xfrm>
          <a:prstGeom prst="rect">
            <a:avLst/>
          </a:prstGeom>
        </p:spPr>
      </p:pic>
    </p:spTree>
    <p:extLst>
      <p:ext uri="{BB962C8B-B14F-4D97-AF65-F5344CB8AC3E}">
        <p14:creationId xmlns="" xmlns:p14="http://schemas.microsoft.com/office/powerpoint/2010/main" val="81504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smtClean="0"/>
              <a:t>Objectives</a:t>
            </a:r>
            <a:endParaRPr lang="en-US" dirty="0"/>
          </a:p>
        </p:txBody>
      </p:sp>
      <p:sp>
        <p:nvSpPr>
          <p:cNvPr id="3" name="Subtitle 2"/>
          <p:cNvSpPr>
            <a:spLocks noGrp="1"/>
          </p:cNvSpPr>
          <p:nvPr>
            <p:ph type="subTitle" idx="1"/>
          </p:nvPr>
        </p:nvSpPr>
        <p:spPr>
          <a:xfrm>
            <a:off x="228600" y="2330355"/>
            <a:ext cx="8382000" cy="4038600"/>
          </a:xfrm>
        </p:spPr>
        <p:txBody>
          <a:bodyPr>
            <a:normAutofit fontScale="92500"/>
          </a:bodyPr>
          <a:lstStyle/>
          <a:p>
            <a:pPr marL="342900" indent="-342900" algn="l">
              <a:lnSpc>
                <a:spcPct val="90000"/>
              </a:lnSpc>
              <a:buFont typeface="Arial" pitchFamily="34" charset="0"/>
              <a:buChar char="•"/>
              <a:defRPr/>
            </a:pPr>
            <a:r>
              <a:rPr lang="en-US" dirty="0" smtClean="0">
                <a:solidFill>
                  <a:schemeClr val="tx1"/>
                </a:solidFill>
              </a:rPr>
              <a:t>Explain </a:t>
            </a:r>
            <a:r>
              <a:rPr lang="en-US" dirty="0">
                <a:solidFill>
                  <a:schemeClr val="tx1"/>
                </a:solidFill>
              </a:rPr>
              <a:t>the forces that are driving the growth of entrepreneurship</a:t>
            </a:r>
            <a:r>
              <a:rPr lang="en-US" dirty="0" smtClean="0">
                <a:solidFill>
                  <a:schemeClr val="tx1"/>
                </a:solidFill>
              </a:rPr>
              <a:t>.</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r>
              <a:rPr lang="en-US" dirty="0">
                <a:solidFill>
                  <a:schemeClr val="tx1"/>
                </a:solidFill>
              </a:rPr>
              <a:t>Explain the cultural diversity of entrepreneurship</a:t>
            </a:r>
            <a:r>
              <a:rPr lang="en-US" dirty="0" smtClean="0">
                <a:solidFill>
                  <a:schemeClr val="tx1"/>
                </a:solidFill>
              </a:rPr>
              <a:t>.</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r>
              <a:rPr lang="en-US" dirty="0">
                <a:solidFill>
                  <a:schemeClr val="tx1"/>
                </a:solidFill>
              </a:rPr>
              <a:t>Put failure into proper perspective</a:t>
            </a:r>
            <a:r>
              <a:rPr lang="en-US" dirty="0" smtClean="0">
                <a:solidFill>
                  <a:schemeClr val="tx1"/>
                </a:solidFill>
              </a:rPr>
              <a:t>.</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r>
              <a:rPr lang="en-US" dirty="0">
                <a:solidFill>
                  <a:schemeClr val="tx1"/>
                </a:solidFill>
              </a:rPr>
              <a:t>Avoiding the Pitfalls of </a:t>
            </a:r>
            <a:r>
              <a:rPr lang="en-US" dirty="0" smtClean="0">
                <a:solidFill>
                  <a:schemeClr val="tx1"/>
                </a:solidFill>
              </a:rPr>
              <a:t>Small </a:t>
            </a:r>
            <a:r>
              <a:rPr lang="en-US" dirty="0">
                <a:solidFill>
                  <a:schemeClr val="tx1"/>
                </a:solidFill>
              </a:rPr>
              <a:t>Business Failure</a:t>
            </a:r>
            <a:r>
              <a:rPr lang="en-US" dirty="0" smtClean="0">
                <a:solidFill>
                  <a:schemeClr val="tx1"/>
                </a:solidFill>
              </a:rPr>
              <a:t>.</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066D2596-C744-4D7D-B83A-C0CE2C30BEB3}" type="slidenum">
              <a:rPr lang="en-US" smtClean="0"/>
              <a:pPr/>
              <a:t>3</a:t>
            </a:fld>
            <a:endParaRPr lang="en-US"/>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813644" y="31845"/>
            <a:ext cx="2330355" cy="2330355"/>
          </a:xfrm>
          <a:prstGeom prst="rect">
            <a:avLst/>
          </a:prstGeom>
        </p:spPr>
      </p:pic>
    </p:spTree>
    <p:extLst>
      <p:ext uri="{BB962C8B-B14F-4D97-AF65-F5344CB8AC3E}">
        <p14:creationId xmlns="" xmlns:p14="http://schemas.microsoft.com/office/powerpoint/2010/main" val="53645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85FAE727-B9F5-4729-9226-3A32A3FDDC0D}" type="slidenum">
              <a:rPr lang="en-US">
                <a:latin typeface="Arial" pitchFamily="34" charset="0"/>
              </a:rPr>
              <a:pPr/>
              <a:t>4</a:t>
            </a:fld>
            <a:endParaRPr lang="en-US">
              <a:latin typeface="Arial" pitchFamily="34" charset="0"/>
            </a:endParaRPr>
          </a:p>
        </p:txBody>
      </p:sp>
      <p:sp>
        <p:nvSpPr>
          <p:cNvPr id="49154" name="Rectangle 2"/>
          <p:cNvSpPr>
            <a:spLocks noGrp="1" noRot="1" noChangeArrowheads="1"/>
          </p:cNvSpPr>
          <p:nvPr>
            <p:ph type="title"/>
          </p:nvPr>
        </p:nvSpPr>
        <p:spPr>
          <a:xfrm>
            <a:off x="1022350" y="488950"/>
            <a:ext cx="7099300" cy="928688"/>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fontScale="90000"/>
          </a:bodyPr>
          <a:lstStyle/>
          <a:p>
            <a:pPr eaLnBrk="1" hangingPunct="1">
              <a:defRPr/>
            </a:pPr>
            <a:r>
              <a:rPr lang="en-US" dirty="0" smtClean="0"/>
              <a:t>Feeding the </a:t>
            </a:r>
            <a:br>
              <a:rPr lang="en-US" dirty="0" smtClean="0"/>
            </a:br>
            <a:r>
              <a:rPr lang="en-US" dirty="0" smtClean="0"/>
              <a:t>Entrepreneurial Fire</a:t>
            </a:r>
          </a:p>
        </p:txBody>
      </p:sp>
      <p:sp>
        <p:nvSpPr>
          <p:cNvPr id="49155" name="Rectangle 3"/>
          <p:cNvSpPr>
            <a:spLocks noGrp="1" noChangeArrowheads="1"/>
          </p:cNvSpPr>
          <p:nvPr>
            <p:ph type="body" idx="1"/>
          </p:nvPr>
        </p:nvSpPr>
        <p:spPr>
          <a:xfrm>
            <a:off x="779463" y="1981200"/>
            <a:ext cx="6611937" cy="3733800"/>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a:bodyPr>
          <a:lstStyle/>
          <a:p>
            <a:pPr lvl="0"/>
            <a:r>
              <a:rPr lang="en-US" sz="2800" dirty="0"/>
              <a:t>Entrepreneurs as </a:t>
            </a:r>
            <a:r>
              <a:rPr lang="en-US" sz="2800" dirty="0" smtClean="0"/>
              <a:t>heroes</a:t>
            </a:r>
          </a:p>
          <a:p>
            <a:pPr lvl="0"/>
            <a:endParaRPr lang="en-US" sz="2800" dirty="0"/>
          </a:p>
          <a:p>
            <a:pPr lvl="0"/>
            <a:r>
              <a:rPr lang="en-US" sz="2800" dirty="0"/>
              <a:t>Entrepreneurial </a:t>
            </a:r>
            <a:r>
              <a:rPr lang="en-US" sz="2800" dirty="0" smtClean="0"/>
              <a:t>education</a:t>
            </a:r>
          </a:p>
          <a:p>
            <a:pPr lvl="0"/>
            <a:endParaRPr lang="en-US" sz="2800" dirty="0"/>
          </a:p>
          <a:p>
            <a:pPr lvl="0"/>
            <a:r>
              <a:rPr lang="en-US" sz="2800" dirty="0"/>
              <a:t>Demographic and economic </a:t>
            </a:r>
            <a:r>
              <a:rPr lang="en-US" sz="2800" dirty="0" smtClean="0"/>
              <a:t>factors</a:t>
            </a:r>
          </a:p>
          <a:p>
            <a:pPr lvl="0"/>
            <a:endParaRPr lang="en-US" sz="2800" dirty="0"/>
          </a:p>
          <a:p>
            <a:pPr lvl="0"/>
            <a:r>
              <a:rPr lang="en-US" sz="2800" dirty="0"/>
              <a:t>Shift to a service </a:t>
            </a:r>
            <a:r>
              <a:rPr lang="en-US" sz="2800" dirty="0" smtClean="0"/>
              <a:t>economy</a:t>
            </a:r>
            <a:endParaRPr lang="en-US" sz="2800" dirty="0"/>
          </a:p>
        </p:txBody>
      </p:sp>
      <p:pic>
        <p:nvPicPr>
          <p:cNvPr id="2" name="Picture 1"/>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7162800" y="3962400"/>
            <a:ext cx="1781175" cy="2562225"/>
          </a:xfrm>
          <a:prstGeom prst="rect">
            <a:avLst/>
          </a:prstGeom>
        </p:spPr>
      </p:pic>
    </p:spTree>
    <p:extLst>
      <p:ext uri="{BB962C8B-B14F-4D97-AF65-F5344CB8AC3E}">
        <p14:creationId xmlns="" xmlns:p14="http://schemas.microsoft.com/office/powerpoint/2010/main" val="3239057810"/>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85FAE727-B9F5-4729-9226-3A32A3FDDC0D}" type="slidenum">
              <a:rPr lang="en-US">
                <a:latin typeface="Arial" pitchFamily="34" charset="0"/>
              </a:rPr>
              <a:pPr/>
              <a:t>5</a:t>
            </a:fld>
            <a:endParaRPr lang="en-US">
              <a:latin typeface="Arial" pitchFamily="34" charset="0"/>
            </a:endParaRPr>
          </a:p>
        </p:txBody>
      </p:sp>
      <p:sp>
        <p:nvSpPr>
          <p:cNvPr id="49154" name="Rectangle 2"/>
          <p:cNvSpPr>
            <a:spLocks noGrp="1" noRot="1" noChangeArrowheads="1"/>
          </p:cNvSpPr>
          <p:nvPr>
            <p:ph type="title"/>
          </p:nvPr>
        </p:nvSpPr>
        <p:spPr>
          <a:xfrm>
            <a:off x="1022350" y="488950"/>
            <a:ext cx="7099300" cy="928688"/>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fontScale="90000"/>
          </a:bodyPr>
          <a:lstStyle/>
          <a:p>
            <a:pPr eaLnBrk="1" hangingPunct="1">
              <a:defRPr/>
            </a:pPr>
            <a:r>
              <a:rPr lang="en-US" dirty="0" smtClean="0"/>
              <a:t>Feeding the </a:t>
            </a:r>
            <a:br>
              <a:rPr lang="en-US" dirty="0" smtClean="0"/>
            </a:br>
            <a:r>
              <a:rPr lang="en-US" dirty="0" smtClean="0"/>
              <a:t>Entrepreneurial Fire</a:t>
            </a:r>
          </a:p>
        </p:txBody>
      </p:sp>
      <p:sp>
        <p:nvSpPr>
          <p:cNvPr id="49155" name="Rectangle 3"/>
          <p:cNvSpPr>
            <a:spLocks noGrp="1" noChangeArrowheads="1"/>
          </p:cNvSpPr>
          <p:nvPr>
            <p:ph type="body" idx="1"/>
          </p:nvPr>
        </p:nvSpPr>
        <p:spPr>
          <a:xfrm>
            <a:off x="779463" y="1981200"/>
            <a:ext cx="6611937" cy="3733800"/>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a:bodyPr>
          <a:lstStyle/>
          <a:p>
            <a:pPr lvl="0"/>
            <a:r>
              <a:rPr lang="en-US" sz="2800" dirty="0" smtClean="0"/>
              <a:t>Technological advancements</a:t>
            </a:r>
          </a:p>
          <a:p>
            <a:pPr lvl="0"/>
            <a:endParaRPr lang="en-US" sz="2800" dirty="0"/>
          </a:p>
          <a:p>
            <a:pPr lvl="0"/>
            <a:r>
              <a:rPr lang="en-US" sz="2800" dirty="0"/>
              <a:t>Independent </a:t>
            </a:r>
            <a:r>
              <a:rPr lang="en-US" sz="2800" dirty="0" smtClean="0"/>
              <a:t>lifestyles</a:t>
            </a:r>
          </a:p>
          <a:p>
            <a:pPr lvl="0"/>
            <a:endParaRPr lang="en-US" sz="2800" dirty="0"/>
          </a:p>
          <a:p>
            <a:pPr lvl="0"/>
            <a:r>
              <a:rPr lang="en-US" sz="2800" dirty="0"/>
              <a:t>E-commerce and the World Wide </a:t>
            </a:r>
            <a:r>
              <a:rPr lang="en-US" sz="2800" dirty="0" smtClean="0"/>
              <a:t>Web</a:t>
            </a:r>
          </a:p>
          <a:p>
            <a:pPr lvl="0"/>
            <a:endParaRPr lang="en-US" sz="2800" dirty="0"/>
          </a:p>
          <a:p>
            <a:pPr lvl="0"/>
            <a:r>
              <a:rPr lang="en-US" sz="2800" dirty="0"/>
              <a:t>International opportunities</a:t>
            </a:r>
          </a:p>
        </p:txBody>
      </p:sp>
      <p:pic>
        <p:nvPicPr>
          <p:cNvPr id="2" name="Picture 1"/>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7162800" y="4191000"/>
            <a:ext cx="1781175" cy="2562225"/>
          </a:xfrm>
          <a:prstGeom prst="rect">
            <a:avLst/>
          </a:prstGeom>
        </p:spPr>
      </p:pic>
    </p:spTree>
    <p:extLst>
      <p:ext uri="{BB962C8B-B14F-4D97-AF65-F5344CB8AC3E}">
        <p14:creationId xmlns="" xmlns:p14="http://schemas.microsoft.com/office/powerpoint/2010/main" val="4202368990"/>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B2083165-F418-4509-9C77-D28BCFA0D3E0}" type="slidenum">
              <a:rPr lang="en-US">
                <a:latin typeface="Arial" pitchFamily="34" charset="0"/>
              </a:rPr>
              <a:pPr/>
              <a:t>6</a:t>
            </a:fld>
            <a:endParaRPr lang="en-US">
              <a:latin typeface="Arial" pitchFamily="34" charset="0"/>
            </a:endParaRPr>
          </a:p>
        </p:txBody>
      </p:sp>
      <p:sp>
        <p:nvSpPr>
          <p:cNvPr id="66562" name="Rectangle 2"/>
          <p:cNvSpPr>
            <a:spLocks noGrp="1" noRot="1" noChangeArrowheads="1"/>
          </p:cNvSpPr>
          <p:nvPr>
            <p:ph type="title"/>
          </p:nvPr>
        </p:nvSpPr>
        <p:spPr>
          <a:xfrm>
            <a:off x="1182688" y="352425"/>
            <a:ext cx="6858000" cy="779463"/>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fontScale="90000"/>
          </a:bodyPr>
          <a:lstStyle/>
          <a:p>
            <a:pPr eaLnBrk="1" hangingPunct="1">
              <a:defRPr/>
            </a:pPr>
            <a:r>
              <a:rPr lang="en-US" dirty="0" smtClean="0"/>
              <a:t>The Cultural Diversity of Entrepreneurship</a:t>
            </a:r>
          </a:p>
        </p:txBody>
      </p:sp>
      <p:sp>
        <p:nvSpPr>
          <p:cNvPr id="66563" name="Rectangle 3"/>
          <p:cNvSpPr>
            <a:spLocks noGrp="1" noChangeArrowheads="1"/>
          </p:cNvSpPr>
          <p:nvPr>
            <p:ph type="body" idx="1"/>
          </p:nvPr>
        </p:nvSpPr>
        <p:spPr>
          <a:xfrm>
            <a:off x="609600" y="2128837"/>
            <a:ext cx="7086600" cy="5038725"/>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a:bodyPr>
          <a:lstStyle/>
          <a:p>
            <a:r>
              <a:rPr lang="en-US" dirty="0"/>
              <a:t>Young entrepreneurs</a:t>
            </a:r>
          </a:p>
          <a:p>
            <a:r>
              <a:rPr lang="en-US" dirty="0"/>
              <a:t>Women entrepreneurs</a:t>
            </a:r>
          </a:p>
          <a:p>
            <a:r>
              <a:rPr lang="en-US" dirty="0"/>
              <a:t>Minority-owned enterprises</a:t>
            </a:r>
          </a:p>
          <a:p>
            <a:r>
              <a:rPr lang="en-US" dirty="0"/>
              <a:t>Immigrant entrepreneurs</a:t>
            </a:r>
          </a:p>
          <a:p>
            <a:r>
              <a:rPr lang="en-US" dirty="0"/>
              <a:t>Part-time entrepreneurs</a:t>
            </a:r>
          </a:p>
        </p:txBody>
      </p:sp>
      <p:pic>
        <p:nvPicPr>
          <p:cNvPr id="21510" name="Picture 4" descr="j040103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791200" y="4648200"/>
            <a:ext cx="2987675" cy="1990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4117518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5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5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5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A02FF639-4119-4261-B1F8-68494DDBFA9A}" type="slidenum">
              <a:rPr lang="en-US">
                <a:latin typeface="Arial" pitchFamily="34" charset="0"/>
              </a:rPr>
              <a:pPr/>
              <a:t>7</a:t>
            </a:fld>
            <a:endParaRPr lang="en-US">
              <a:latin typeface="Arial" pitchFamily="34" charset="0"/>
            </a:endParaRPr>
          </a:p>
        </p:txBody>
      </p:sp>
      <p:sp>
        <p:nvSpPr>
          <p:cNvPr id="52226" name="Rectangle 2"/>
          <p:cNvSpPr>
            <a:spLocks noGrp="1" noRot="1" noChangeArrowheads="1"/>
          </p:cNvSpPr>
          <p:nvPr>
            <p:ph type="title"/>
          </p:nvPr>
        </p:nvSpPr>
        <p:spPr>
          <a:xfrm>
            <a:off x="1182688" y="352425"/>
            <a:ext cx="6858000" cy="779463"/>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fontScale="90000"/>
          </a:bodyPr>
          <a:lstStyle/>
          <a:p>
            <a:pPr eaLnBrk="1" hangingPunct="1">
              <a:defRPr/>
            </a:pPr>
            <a:r>
              <a:rPr lang="en-US" dirty="0" smtClean="0"/>
              <a:t>The Cultural Diversity of Entrepreneurship</a:t>
            </a:r>
          </a:p>
        </p:txBody>
      </p:sp>
      <p:sp>
        <p:nvSpPr>
          <p:cNvPr id="52227" name="Rectangle 3"/>
          <p:cNvSpPr>
            <a:spLocks noGrp="1" noChangeArrowheads="1"/>
          </p:cNvSpPr>
          <p:nvPr>
            <p:ph type="body" idx="1"/>
          </p:nvPr>
        </p:nvSpPr>
        <p:spPr>
          <a:xfrm>
            <a:off x="906463" y="1600200"/>
            <a:ext cx="7331075" cy="4745038"/>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lstStyle/>
          <a:p>
            <a:pPr eaLnBrk="1" hangingPunct="1">
              <a:defRPr/>
            </a:pPr>
            <a:r>
              <a:rPr lang="en-US" dirty="0" smtClean="0"/>
              <a:t>Home-based businesses</a:t>
            </a:r>
          </a:p>
          <a:p>
            <a:pPr eaLnBrk="1" hangingPunct="1">
              <a:defRPr/>
            </a:pPr>
            <a:r>
              <a:rPr lang="en-US" dirty="0" smtClean="0"/>
              <a:t>Family businesses</a:t>
            </a:r>
          </a:p>
          <a:p>
            <a:pPr eaLnBrk="1" hangingPunct="1">
              <a:defRPr/>
            </a:pPr>
            <a:r>
              <a:rPr lang="en-US" dirty="0" err="1" smtClean="0"/>
              <a:t>Copreneurs</a:t>
            </a:r>
            <a:endParaRPr lang="en-US" dirty="0" smtClean="0"/>
          </a:p>
          <a:p>
            <a:pPr eaLnBrk="1" hangingPunct="1">
              <a:defRPr/>
            </a:pPr>
            <a:r>
              <a:rPr lang="en-US" dirty="0" smtClean="0"/>
              <a:t>Corporate castoffs</a:t>
            </a:r>
          </a:p>
          <a:p>
            <a:pPr eaLnBrk="1" hangingPunct="1">
              <a:defRPr/>
            </a:pPr>
            <a:r>
              <a:rPr lang="en-US" dirty="0" smtClean="0"/>
              <a:t>Corporate dropouts</a:t>
            </a:r>
          </a:p>
        </p:txBody>
      </p:sp>
      <p:pic>
        <p:nvPicPr>
          <p:cNvPr id="22534" name="Picture 5" descr="j0401036"/>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791200" y="4648200"/>
            <a:ext cx="2987675" cy="1990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4013076839"/>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wipe(left)">
                                      <p:cBhvr>
                                        <p:cTn id="7" dur="500"/>
                                        <p:tgtEl>
                                          <p:spTgt spid="52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7">
                                            <p:txEl>
                                              <p:pRg st="1" end="1"/>
                                            </p:txEl>
                                          </p:spTgt>
                                        </p:tgtEl>
                                        <p:attrNameLst>
                                          <p:attrName>style.visibility</p:attrName>
                                        </p:attrNameLst>
                                      </p:cBhvr>
                                      <p:to>
                                        <p:strVal val="visible"/>
                                      </p:to>
                                    </p:set>
                                    <p:animEffect transition="in" filter="wipe(left)">
                                      <p:cBhvr>
                                        <p:cTn id="12" dur="500"/>
                                        <p:tgtEl>
                                          <p:spTgt spid="52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27">
                                            <p:txEl>
                                              <p:pRg st="2" end="2"/>
                                            </p:txEl>
                                          </p:spTgt>
                                        </p:tgtEl>
                                        <p:attrNameLst>
                                          <p:attrName>style.visibility</p:attrName>
                                        </p:attrNameLst>
                                      </p:cBhvr>
                                      <p:to>
                                        <p:strVal val="visible"/>
                                      </p:to>
                                    </p:set>
                                    <p:animEffect transition="in" filter="wipe(left)">
                                      <p:cBhvr>
                                        <p:cTn id="17" dur="500"/>
                                        <p:tgtEl>
                                          <p:spTgt spid="52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27">
                                            <p:txEl>
                                              <p:pRg st="3" end="3"/>
                                            </p:txEl>
                                          </p:spTgt>
                                        </p:tgtEl>
                                        <p:attrNameLst>
                                          <p:attrName>style.visibility</p:attrName>
                                        </p:attrNameLst>
                                      </p:cBhvr>
                                      <p:to>
                                        <p:strVal val="visible"/>
                                      </p:to>
                                    </p:set>
                                    <p:animEffect transition="in" filter="wipe(left)">
                                      <p:cBhvr>
                                        <p:cTn id="22" dur="500"/>
                                        <p:tgtEl>
                                          <p:spTgt spid="522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227">
                                            <p:txEl>
                                              <p:pRg st="4" end="4"/>
                                            </p:txEl>
                                          </p:spTgt>
                                        </p:tgtEl>
                                        <p:attrNameLst>
                                          <p:attrName>style.visibility</p:attrName>
                                        </p:attrNameLst>
                                      </p:cBhvr>
                                      <p:to>
                                        <p:strVal val="visible"/>
                                      </p:to>
                                    </p:set>
                                    <p:animEffect transition="in" filter="wipe(left)">
                                      <p:cBhvr>
                                        <p:cTn id="27" dur="500"/>
                                        <p:tgtEl>
                                          <p:spTgt spid="52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D4F9F8A6-4974-4CB0-972C-B09226E3973D}" type="slidenum">
              <a:rPr lang="en-US">
                <a:latin typeface="Arial" pitchFamily="34" charset="0"/>
              </a:rPr>
              <a:pPr/>
              <a:t>8</a:t>
            </a:fld>
            <a:endParaRPr lang="en-US">
              <a:latin typeface="Arial" pitchFamily="34" charset="0"/>
            </a:endParaRPr>
          </a:p>
        </p:txBody>
      </p:sp>
      <p:sp>
        <p:nvSpPr>
          <p:cNvPr id="34818" name="Rectangle 2"/>
          <p:cNvSpPr>
            <a:spLocks noGrp="1" noRot="1" noChangeArrowheads="1"/>
          </p:cNvSpPr>
          <p:nvPr>
            <p:ph type="title"/>
          </p:nvPr>
        </p:nvSpPr>
        <p:spPr/>
        <p:txBody>
          <a:bodyPr>
            <a:normAutofit fontScale="90000"/>
          </a:bodyPr>
          <a:lstStyle/>
          <a:p>
            <a:pPr eaLnBrk="1" hangingPunct="1">
              <a:defRPr/>
            </a:pPr>
            <a:r>
              <a:rPr lang="en-US" dirty="0" smtClean="0"/>
              <a:t>Deadly Mistakes of Entrepreneurship</a:t>
            </a:r>
          </a:p>
        </p:txBody>
      </p:sp>
      <p:sp>
        <p:nvSpPr>
          <p:cNvPr id="34819" name="Rectangle 3"/>
          <p:cNvSpPr>
            <a:spLocks noGrp="1" noChangeArrowheads="1"/>
          </p:cNvSpPr>
          <p:nvPr>
            <p:ph type="body" idx="1"/>
          </p:nvPr>
        </p:nvSpPr>
        <p:spPr>
          <a:xfrm>
            <a:off x="762000" y="1905000"/>
            <a:ext cx="7620000" cy="4525963"/>
          </a:xfrm>
        </p:spPr>
        <p:txBody>
          <a:bodyPr/>
          <a:lstStyle/>
          <a:p>
            <a:pPr>
              <a:defRPr/>
            </a:pPr>
            <a:r>
              <a:rPr lang="en-US" dirty="0" smtClean="0"/>
              <a:t>Management mistakes</a:t>
            </a:r>
          </a:p>
          <a:p>
            <a:pPr>
              <a:defRPr/>
            </a:pPr>
            <a:r>
              <a:rPr lang="en-US" dirty="0" smtClean="0"/>
              <a:t>Lack of experience</a:t>
            </a:r>
          </a:p>
          <a:p>
            <a:pPr>
              <a:defRPr/>
            </a:pPr>
            <a:r>
              <a:rPr lang="en-US" dirty="0" smtClean="0"/>
              <a:t>Poor financial control</a:t>
            </a:r>
          </a:p>
          <a:p>
            <a:pPr>
              <a:defRPr/>
            </a:pPr>
            <a:r>
              <a:rPr lang="en-US" dirty="0" smtClean="0"/>
              <a:t>Weak marketing efforts</a:t>
            </a:r>
          </a:p>
          <a:p>
            <a:pPr>
              <a:defRPr/>
            </a:pPr>
            <a:r>
              <a:rPr lang="en-US" dirty="0" smtClean="0"/>
              <a:t>Failure to develop a strategic plan</a:t>
            </a:r>
          </a:p>
        </p:txBody>
      </p:sp>
      <p:pic>
        <p:nvPicPr>
          <p:cNvPr id="2" name="Picture 1"/>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248400" y="1371600"/>
            <a:ext cx="2371725" cy="1924050"/>
          </a:xfrm>
          <a:prstGeom prst="rect">
            <a:avLst/>
          </a:prstGeom>
        </p:spPr>
      </p:pic>
    </p:spTree>
    <p:extLst>
      <p:ext uri="{BB962C8B-B14F-4D97-AF65-F5344CB8AC3E}">
        <p14:creationId xmlns="" xmlns:p14="http://schemas.microsoft.com/office/powerpoint/2010/main" val="1315893026"/>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left)">
                                      <p:cBhvr>
                                        <p:cTn id="7" dur="500"/>
                                        <p:tgtEl>
                                          <p:spTgt spid="34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wipe(left)">
                                      <p:cBhvr>
                                        <p:cTn id="12" dur="500"/>
                                        <p:tgtEl>
                                          <p:spTgt spid="348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wipe(left)">
                                      <p:cBhvr>
                                        <p:cTn id="17" dur="500"/>
                                        <p:tgtEl>
                                          <p:spTgt spid="34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wipe(left)">
                                      <p:cBhvr>
                                        <p:cTn id="22" dur="500"/>
                                        <p:tgtEl>
                                          <p:spTgt spid="348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wipe(left)">
                                      <p:cBhvr>
                                        <p:cTn id="27" dur="5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156419E4-4A52-4503-8364-B6F38E113226}" type="slidenum">
              <a:rPr lang="en-US">
                <a:latin typeface="Arial" pitchFamily="34" charset="0"/>
              </a:rPr>
              <a:pPr/>
              <a:t>9</a:t>
            </a:fld>
            <a:endParaRPr lang="en-US">
              <a:latin typeface="Arial" pitchFamily="34" charset="0"/>
            </a:endParaRPr>
          </a:p>
        </p:txBody>
      </p:sp>
      <p:sp>
        <p:nvSpPr>
          <p:cNvPr id="35842" name="Rectangle 2"/>
          <p:cNvSpPr>
            <a:spLocks noGrp="1" noRot="1" noChangeArrowheads="1"/>
          </p:cNvSpPr>
          <p:nvPr>
            <p:ph type="title"/>
          </p:nvPr>
        </p:nvSpPr>
        <p:spPr>
          <a:xfrm>
            <a:off x="0" y="304800"/>
            <a:ext cx="8229600" cy="1143000"/>
          </a:xfrm>
        </p:spPr>
        <p:txBody>
          <a:bodyPr>
            <a:normAutofit fontScale="90000"/>
          </a:bodyPr>
          <a:lstStyle/>
          <a:p>
            <a:pPr eaLnBrk="1" hangingPunct="1">
              <a:defRPr/>
            </a:pPr>
            <a:r>
              <a:rPr lang="en-US" dirty="0" smtClean="0"/>
              <a:t>Ten Deadly Mistakes of Entrepreneurship</a:t>
            </a:r>
          </a:p>
        </p:txBody>
      </p:sp>
      <p:sp>
        <p:nvSpPr>
          <p:cNvPr id="35843" name="Rectangle 3"/>
          <p:cNvSpPr>
            <a:spLocks noGrp="1" noChangeArrowheads="1"/>
          </p:cNvSpPr>
          <p:nvPr>
            <p:ph type="body" idx="1"/>
          </p:nvPr>
        </p:nvSpPr>
        <p:spPr>
          <a:xfrm>
            <a:off x="914400" y="1828800"/>
            <a:ext cx="7696200" cy="4525963"/>
          </a:xfrm>
        </p:spPr>
        <p:txBody>
          <a:bodyPr/>
          <a:lstStyle/>
          <a:p>
            <a:pPr>
              <a:defRPr/>
            </a:pPr>
            <a:r>
              <a:rPr lang="en-US" dirty="0" smtClean="0"/>
              <a:t>Uncontrolled growth</a:t>
            </a:r>
          </a:p>
          <a:p>
            <a:pPr>
              <a:defRPr/>
            </a:pPr>
            <a:r>
              <a:rPr lang="en-US" dirty="0" smtClean="0"/>
              <a:t>Poor location</a:t>
            </a:r>
          </a:p>
          <a:p>
            <a:pPr>
              <a:defRPr/>
            </a:pPr>
            <a:r>
              <a:rPr lang="en-US" dirty="0" smtClean="0"/>
              <a:t>Improper inventory control</a:t>
            </a:r>
          </a:p>
          <a:p>
            <a:pPr>
              <a:defRPr/>
            </a:pPr>
            <a:r>
              <a:rPr lang="en-US" dirty="0" smtClean="0"/>
              <a:t>Incorrect pricing</a:t>
            </a:r>
          </a:p>
          <a:p>
            <a:pPr>
              <a:defRPr/>
            </a:pPr>
            <a:r>
              <a:rPr lang="en-US" dirty="0" smtClean="0"/>
              <a:t>Inability to make the “entrepreneurial transition”</a:t>
            </a:r>
          </a:p>
        </p:txBody>
      </p:sp>
      <p:pic>
        <p:nvPicPr>
          <p:cNvPr id="2" name="Picture 1"/>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943600" y="990600"/>
            <a:ext cx="3073400" cy="3073400"/>
          </a:xfrm>
          <a:prstGeom prst="rect">
            <a:avLst/>
          </a:prstGeom>
        </p:spPr>
      </p:pic>
    </p:spTree>
    <p:extLst>
      <p:ext uri="{BB962C8B-B14F-4D97-AF65-F5344CB8AC3E}">
        <p14:creationId xmlns="" xmlns:p14="http://schemas.microsoft.com/office/powerpoint/2010/main" val="847636254"/>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left)">
                                      <p:cBhvr>
                                        <p:cTn id="7" dur="500"/>
                                        <p:tgtEl>
                                          <p:spTgt spid="35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wipe(left)">
                                      <p:cBhvr>
                                        <p:cTn id="12" dur="500"/>
                                        <p:tgtEl>
                                          <p:spTgt spid="358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wipe(left)">
                                      <p:cBhvr>
                                        <p:cTn id="17" dur="500"/>
                                        <p:tgtEl>
                                          <p:spTgt spid="358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43">
                                            <p:txEl>
                                              <p:pRg st="3" end="3"/>
                                            </p:txEl>
                                          </p:spTgt>
                                        </p:tgtEl>
                                        <p:attrNameLst>
                                          <p:attrName>style.visibility</p:attrName>
                                        </p:attrNameLst>
                                      </p:cBhvr>
                                      <p:to>
                                        <p:strVal val="visible"/>
                                      </p:to>
                                    </p:set>
                                    <p:animEffect transition="in" filter="wipe(left)">
                                      <p:cBhvr>
                                        <p:cTn id="22" dur="500"/>
                                        <p:tgtEl>
                                          <p:spTgt spid="358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843">
                                            <p:txEl>
                                              <p:pRg st="4" end="4"/>
                                            </p:txEl>
                                          </p:spTgt>
                                        </p:tgtEl>
                                        <p:attrNameLst>
                                          <p:attrName>style.visibility</p:attrName>
                                        </p:attrNameLst>
                                      </p:cBhvr>
                                      <p:to>
                                        <p:strVal val="visible"/>
                                      </p:to>
                                    </p:set>
                                    <p:animEffect transition="in" filter="wipe(left)">
                                      <p:cBhvr>
                                        <p:cTn id="27" dur="500"/>
                                        <p:tgtEl>
                                          <p:spTgt spid="35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99800E49-E4AD-4E6E-B0E8-C3D836A2F73A}" type="slidenum">
              <a:rPr lang="en-US">
                <a:latin typeface="Arial" pitchFamily="34" charset="0"/>
              </a:rPr>
              <a:pPr/>
              <a:t>10</a:t>
            </a:fld>
            <a:endParaRPr lang="en-US">
              <a:latin typeface="Arial" pitchFamily="34" charset="0"/>
            </a:endParaRPr>
          </a:p>
        </p:txBody>
      </p:sp>
      <p:sp>
        <p:nvSpPr>
          <p:cNvPr id="54274" name="Rectangle 2"/>
          <p:cNvSpPr>
            <a:spLocks noGrp="1" noRot="1" noChangeArrowheads="1"/>
          </p:cNvSpPr>
          <p:nvPr>
            <p:ph type="title"/>
          </p:nvPr>
        </p:nvSpPr>
        <p:spPr/>
        <p:txBody>
          <a:bodyPr/>
          <a:lstStyle/>
          <a:p>
            <a:pPr eaLnBrk="1" hangingPunct="1">
              <a:defRPr/>
            </a:pPr>
            <a:r>
              <a:rPr lang="en-US" dirty="0" smtClean="0"/>
              <a:t>Putting Failure into Perspective</a:t>
            </a:r>
          </a:p>
        </p:txBody>
      </p:sp>
      <p:sp>
        <p:nvSpPr>
          <p:cNvPr id="54275" name="Rectangle 3"/>
          <p:cNvSpPr>
            <a:spLocks noGrp="1" noChangeArrowheads="1"/>
          </p:cNvSpPr>
          <p:nvPr>
            <p:ph type="body" idx="1"/>
          </p:nvPr>
        </p:nvSpPr>
        <p:spPr>
          <a:xfrm>
            <a:off x="838200" y="1752600"/>
            <a:ext cx="7848600" cy="4373563"/>
          </a:xfrm>
        </p:spPr>
        <p:txBody>
          <a:bodyPr/>
          <a:lstStyle/>
          <a:p>
            <a:pPr eaLnBrk="1" hangingPunct="1">
              <a:defRPr/>
            </a:pPr>
            <a:r>
              <a:rPr lang="en-US" dirty="0" smtClean="0"/>
              <a:t>Entrepreneurs are </a:t>
            </a:r>
            <a:r>
              <a:rPr lang="en-US" i="1" dirty="0" smtClean="0"/>
              <a:t>not</a:t>
            </a:r>
            <a:r>
              <a:rPr lang="en-US" dirty="0" smtClean="0"/>
              <a:t> paralyzed by the prospect of failure.</a:t>
            </a:r>
          </a:p>
          <a:p>
            <a:pPr eaLnBrk="1" hangingPunct="1">
              <a:defRPr/>
            </a:pPr>
            <a:r>
              <a:rPr lang="en-US" dirty="0" smtClean="0"/>
              <a:t>Failure – a natural part of the creative process.  </a:t>
            </a:r>
          </a:p>
          <a:p>
            <a:pPr eaLnBrk="1" hangingPunct="1">
              <a:defRPr/>
            </a:pPr>
            <a:r>
              <a:rPr lang="en-US" dirty="0" smtClean="0"/>
              <a:t>Successful entrepreneurs learn to fail </a:t>
            </a:r>
            <a:r>
              <a:rPr lang="en-US" i="1" dirty="0" smtClean="0"/>
              <a:t>intelligently</a:t>
            </a:r>
            <a:r>
              <a:rPr lang="en-US" dirty="0" smtClean="0"/>
              <a:t>.</a:t>
            </a:r>
          </a:p>
        </p:txBody>
      </p:sp>
    </p:spTree>
    <p:extLst>
      <p:ext uri="{BB962C8B-B14F-4D97-AF65-F5344CB8AC3E}">
        <p14:creationId xmlns="" xmlns:p14="http://schemas.microsoft.com/office/powerpoint/2010/main" val="884219028"/>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left)">
                                      <p:cBhvr>
                                        <p:cTn id="7" dur="500"/>
                                        <p:tgtEl>
                                          <p:spTgt spid="54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wipe(left)">
                                      <p:cBhvr>
                                        <p:cTn id="12" dur="500"/>
                                        <p:tgtEl>
                                          <p:spTgt spid="54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wipe(left)">
                                      <p:cBhvr>
                                        <p:cTn id="17" dur="500"/>
                                        <p:tgtEl>
                                          <p:spTgt spid="542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DB232228-AB36-4E52-A701-0F64D8DE0667}" type="slidenum">
              <a:rPr lang="en-US">
                <a:latin typeface="Arial" pitchFamily="34" charset="0"/>
              </a:rPr>
              <a:pPr/>
              <a:t>11</a:t>
            </a:fld>
            <a:endParaRPr lang="en-US">
              <a:latin typeface="Arial" pitchFamily="34" charset="0"/>
            </a:endParaRPr>
          </a:p>
        </p:txBody>
      </p:sp>
      <p:sp>
        <p:nvSpPr>
          <p:cNvPr id="21506" name="Rectangle 2"/>
          <p:cNvSpPr>
            <a:spLocks noGrp="1" noRot="1" noChangeArrowheads="1"/>
          </p:cNvSpPr>
          <p:nvPr>
            <p:ph type="title"/>
          </p:nvPr>
        </p:nvSpPr>
        <p:spPr>
          <a:xfrm>
            <a:off x="1447800" y="387350"/>
            <a:ext cx="5638800" cy="1100138"/>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normAutofit fontScale="90000"/>
          </a:bodyPr>
          <a:lstStyle/>
          <a:p>
            <a:pPr eaLnBrk="1" hangingPunct="1">
              <a:lnSpc>
                <a:spcPct val="90000"/>
              </a:lnSpc>
              <a:defRPr/>
            </a:pPr>
            <a:r>
              <a:rPr lang="en-US" dirty="0" smtClean="0"/>
              <a:t>Avoiding the Pitfalls of </a:t>
            </a:r>
            <a:br>
              <a:rPr lang="en-US" dirty="0" smtClean="0"/>
            </a:br>
            <a:r>
              <a:rPr lang="en-US" dirty="0" smtClean="0"/>
              <a:t>Small Business Failure</a:t>
            </a:r>
          </a:p>
        </p:txBody>
      </p:sp>
      <p:sp>
        <p:nvSpPr>
          <p:cNvPr id="21507" name="Rectangle 3"/>
          <p:cNvSpPr>
            <a:spLocks noGrp="1" noChangeArrowheads="1"/>
          </p:cNvSpPr>
          <p:nvPr>
            <p:ph type="body" idx="1"/>
          </p:nvPr>
        </p:nvSpPr>
        <p:spPr>
          <a:xfrm>
            <a:off x="762000" y="2133600"/>
            <a:ext cx="6629400" cy="3810000"/>
          </a:xfrm>
          <a:extLst>
            <a:ext uri="{91240B29-F687-4F45-9708-019B960494DF}">
              <a14:hiddenLine xmlns="" xmlns:a14="http://schemas.microsoft.com/office/drawing/2010/main" w="12700">
                <a:solidFill>
                  <a:schemeClr val="tx1"/>
                </a:solidFill>
                <a:miter lim="800000"/>
                <a:headEnd/>
                <a:tailEnd/>
              </a14:hiddenLine>
            </a:ext>
          </a:extLst>
        </p:spPr>
        <p:txBody>
          <a:bodyPr lIns="88900" tIns="46038" rIns="88900" bIns="46038"/>
          <a:lstStyle/>
          <a:p>
            <a:pPr eaLnBrk="1" hangingPunct="1">
              <a:defRPr/>
            </a:pPr>
            <a:r>
              <a:rPr lang="en-US" dirty="0" smtClean="0"/>
              <a:t>Know your business in depth</a:t>
            </a:r>
          </a:p>
          <a:p>
            <a:pPr eaLnBrk="1" hangingPunct="1">
              <a:defRPr/>
            </a:pPr>
            <a:r>
              <a:rPr lang="en-US" dirty="0" smtClean="0"/>
              <a:t>Develop a solid business plan</a:t>
            </a:r>
          </a:p>
          <a:p>
            <a:pPr eaLnBrk="1" hangingPunct="1">
              <a:defRPr/>
            </a:pPr>
            <a:r>
              <a:rPr lang="en-US" dirty="0" smtClean="0"/>
              <a:t>Manage financial resources</a:t>
            </a:r>
          </a:p>
          <a:p>
            <a:pPr eaLnBrk="1" hangingPunct="1">
              <a:defRPr/>
            </a:pPr>
            <a:r>
              <a:rPr lang="en-US" dirty="0" smtClean="0"/>
              <a:t>Understand financial statements</a:t>
            </a:r>
          </a:p>
          <a:p>
            <a:pPr eaLnBrk="1" hangingPunct="1">
              <a:defRPr/>
            </a:pPr>
            <a:r>
              <a:rPr lang="en-US" dirty="0" smtClean="0"/>
              <a:t>Learn to manage people effectively</a:t>
            </a:r>
          </a:p>
          <a:p>
            <a:pPr eaLnBrk="1" hangingPunct="1">
              <a:defRPr/>
            </a:pPr>
            <a:r>
              <a:rPr lang="en-US" dirty="0" smtClean="0"/>
              <a:t>Keep in tune with yourself</a:t>
            </a:r>
          </a:p>
        </p:txBody>
      </p:sp>
      <p:pic>
        <p:nvPicPr>
          <p:cNvPr id="30726" name="Picture 5" descr="bd19878_"/>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391400" y="3733800"/>
            <a:ext cx="1473200" cy="2732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3144073222"/>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wipe(left)">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wipe(left)">
                                      <p:cBhvr>
                                        <p:cTn id="12" dur="500"/>
                                        <p:tgtEl>
                                          <p:spTgt spid="21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wipe(left)">
                                      <p:cBhvr>
                                        <p:cTn id="17" dur="500"/>
                                        <p:tgtEl>
                                          <p:spTgt spid="215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wipe(left)">
                                      <p:cBhvr>
                                        <p:cTn id="22" dur="500"/>
                                        <p:tgtEl>
                                          <p:spTgt spid="215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wipe(left)">
                                      <p:cBhvr>
                                        <p:cTn id="27" dur="500"/>
                                        <p:tgtEl>
                                          <p:spTgt spid="215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507">
                                            <p:txEl>
                                              <p:pRg st="5" end="5"/>
                                            </p:txEl>
                                          </p:spTgt>
                                        </p:tgtEl>
                                        <p:attrNameLst>
                                          <p:attrName>style.visibility</p:attrName>
                                        </p:attrNameLst>
                                      </p:cBhvr>
                                      <p:to>
                                        <p:strVal val="visible"/>
                                      </p:to>
                                    </p:set>
                                    <p:animEffect transition="in" filter="wipe(left)">
                                      <p:cBhvr>
                                        <p:cTn id="32" dur="5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You Be The Consultant..</a:t>
            </a:r>
          </a:p>
        </p:txBody>
      </p:sp>
      <p:sp>
        <p:nvSpPr>
          <p:cNvPr id="4" name="Slide Number Placeholder 3"/>
          <p:cNvSpPr>
            <a:spLocks noGrp="1"/>
          </p:cNvSpPr>
          <p:nvPr>
            <p:ph type="sldNum" sz="quarter" idx="12"/>
          </p:nvPr>
        </p:nvSpPr>
        <p:spPr/>
        <p:txBody>
          <a:bodyPr/>
          <a:lstStyle/>
          <a:p>
            <a:fld id="{066D2596-C744-4D7D-B83A-C0CE2C30BEB3}" type="slidenum">
              <a:rPr lang="en-US" smtClean="0"/>
              <a:pPr/>
              <a:t>12</a:t>
            </a:fld>
            <a:endParaRPr lang="en-US"/>
          </a:p>
        </p:txBody>
      </p:sp>
      <p:pic>
        <p:nvPicPr>
          <p:cNvPr id="9218"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5872162" y="1752600"/>
            <a:ext cx="3279634" cy="32889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874363" y="4388962"/>
            <a:ext cx="2621437" cy="2621437"/>
          </a:xfrm>
          <a:prstGeom prst="rect">
            <a:avLst/>
          </a:prstGeom>
        </p:spPr>
      </p:pic>
      <p:pic>
        <p:nvPicPr>
          <p:cNvPr id="6" name="Picture 5"/>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838199" y="2362200"/>
            <a:ext cx="2072329" cy="2534503"/>
          </a:xfrm>
          <a:prstGeom prst="rect">
            <a:avLst/>
          </a:prstGeom>
        </p:spPr>
      </p:pic>
      <p:pic>
        <p:nvPicPr>
          <p:cNvPr id="7" name="Picture 6"/>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4800600" y="4663268"/>
            <a:ext cx="2143125" cy="2143125"/>
          </a:xfrm>
          <a:prstGeom prst="rect">
            <a:avLst/>
          </a:prstGeom>
        </p:spPr>
      </p:pic>
      <p:sp>
        <p:nvSpPr>
          <p:cNvPr id="9" name="TextBox 8"/>
          <p:cNvSpPr txBox="1"/>
          <p:nvPr/>
        </p:nvSpPr>
        <p:spPr>
          <a:xfrm>
            <a:off x="2743200" y="1981200"/>
            <a:ext cx="2667000" cy="2123658"/>
          </a:xfrm>
          <a:prstGeom prst="rect">
            <a:avLst/>
          </a:prstGeom>
          <a:noFill/>
        </p:spPr>
        <p:txBody>
          <a:bodyPr wrap="square" rtlCol="0">
            <a:spAutoFit/>
          </a:bodyPr>
          <a:lstStyle/>
          <a:p>
            <a:pPr algn="ctr"/>
            <a:r>
              <a:rPr lang="en-US" sz="6600" dirty="0">
                <a:solidFill>
                  <a:srgbClr val="FF0000"/>
                </a:solidFill>
              </a:rPr>
              <a:t>CASE STUDY</a:t>
            </a:r>
          </a:p>
        </p:txBody>
      </p:sp>
    </p:spTree>
    <p:extLst>
      <p:ext uri="{BB962C8B-B14F-4D97-AF65-F5344CB8AC3E}">
        <p14:creationId xmlns="" xmlns:p14="http://schemas.microsoft.com/office/powerpoint/2010/main" val="796409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81B801B-E362-4A57-A1A3-F4F1CAD33203}"/>
              </a:ext>
            </a:extLst>
          </p:cNvPr>
          <p:cNvSpPr>
            <a:spLocks noGrp="1"/>
          </p:cNvSpPr>
          <p:nvPr>
            <p:ph idx="1"/>
          </p:nvPr>
        </p:nvSpPr>
        <p:spPr>
          <a:xfrm>
            <a:off x="304800" y="457200"/>
            <a:ext cx="8534400" cy="5899149"/>
          </a:xfrm>
        </p:spPr>
        <p:txBody>
          <a:bodyPr>
            <a:normAutofit fontScale="70000" lnSpcReduction="20000"/>
          </a:bodyPr>
          <a:lstStyle/>
          <a:p>
            <a:pPr marL="0" indent="0" hangingPunct="0">
              <a:buNone/>
            </a:pPr>
            <a:r>
              <a:rPr lang="en-US" dirty="0"/>
              <a:t>Ed Sabol, a once unhappy coat salesman, had a passion for filming his son’s high school football games and other activities. Word of Ed’s filming abilities soon got around and he found himself working a number of local high school games. This led to Ed’s successful bid ($3,000) to film the 1962 NFL championship game. Then Commissioner Pete </a:t>
            </a:r>
            <a:r>
              <a:rPr lang="en-US" dirty="0" err="1"/>
              <a:t>Rozelle</a:t>
            </a:r>
            <a:r>
              <a:rPr lang="en-US" dirty="0"/>
              <a:t> was so impressed with the work that he agreed to Ed’s proposal to create a new entity known as NFL Films that would both preserve the history of the game and promote it to the nation’s sports fans. NFL Films’ creative approach to the game has resulted in 82 Emmy Awards to date.</a:t>
            </a:r>
          </a:p>
          <a:p>
            <a:pPr marL="0" indent="0" hangingPunct="0">
              <a:buNone/>
            </a:pPr>
            <a:r>
              <a:rPr lang="en-US" dirty="0"/>
              <a:t>Ed retired in 1987, turning the reins over to his son Steve who has taken the company to new heights thanks in part to his empowering leadership style and product innovation. The company now has a 200,000 square foot state-of-the-art facility. </a:t>
            </a:r>
          </a:p>
          <a:p>
            <a:pPr hangingPunct="0"/>
            <a:endParaRPr lang="en-US" dirty="0"/>
          </a:p>
          <a:p>
            <a:pPr marL="0" indent="0" hangingPunct="0">
              <a:buNone/>
            </a:pPr>
            <a:r>
              <a:rPr lang="en-US" b="1" dirty="0">
                <a:solidFill>
                  <a:schemeClr val="tx2">
                    <a:lumMod val="75000"/>
                  </a:schemeClr>
                </a:solidFill>
              </a:rPr>
              <a:t>Q1. Identify the entrepreneurial traits that Ed Sabol and his son Steve exhibit?</a:t>
            </a:r>
          </a:p>
          <a:p>
            <a:pPr marL="0" indent="0" hangingPunct="0">
              <a:buNone/>
            </a:pPr>
            <a:r>
              <a:rPr lang="en-US" b="1" dirty="0">
                <a:solidFill>
                  <a:schemeClr val="tx2">
                    <a:lumMod val="75000"/>
                  </a:schemeClr>
                </a:solidFill>
              </a:rPr>
              <a:t>Q2. How would you characterize the Sabol’s philosophy, beliefs, and values to a small business as it grows?</a:t>
            </a:r>
          </a:p>
          <a:p>
            <a:pPr marL="0" indent="0" hangingPunct="0">
              <a:buNone/>
            </a:pPr>
            <a:r>
              <a:rPr lang="en-US" b="1" dirty="0">
                <a:solidFill>
                  <a:schemeClr val="tx2">
                    <a:lumMod val="75000"/>
                  </a:schemeClr>
                </a:solidFill>
              </a:rPr>
              <a:t>Q3. What factors have led to NFL Films’ success?</a:t>
            </a:r>
          </a:p>
          <a:p>
            <a:endParaRPr lang="en-US" dirty="0"/>
          </a:p>
        </p:txBody>
      </p:sp>
      <p:sp>
        <p:nvSpPr>
          <p:cNvPr id="4" name="Slide Number Placeholder 3">
            <a:extLst>
              <a:ext uri="{FF2B5EF4-FFF2-40B4-BE49-F238E27FC236}">
                <a16:creationId xmlns="" xmlns:a16="http://schemas.microsoft.com/office/drawing/2014/main" id="{4B4BB060-9548-4C04-97DA-BC9787A7509B}"/>
              </a:ext>
            </a:extLst>
          </p:cNvPr>
          <p:cNvSpPr>
            <a:spLocks noGrp="1"/>
          </p:cNvSpPr>
          <p:nvPr>
            <p:ph type="sldNum" sz="quarter" idx="12"/>
          </p:nvPr>
        </p:nvSpPr>
        <p:spPr/>
        <p:txBody>
          <a:bodyPr/>
          <a:lstStyle/>
          <a:p>
            <a:fld id="{066D2596-C744-4D7D-B83A-C0CE2C30BEB3}" type="slidenum">
              <a:rPr lang="en-US" smtClean="0"/>
              <a:pPr/>
              <a:t>13</a:t>
            </a:fld>
            <a:endParaRPr lang="en-US"/>
          </a:p>
        </p:txBody>
      </p:sp>
    </p:spTree>
    <p:extLst>
      <p:ext uri="{BB962C8B-B14F-4D97-AF65-F5344CB8AC3E}">
        <p14:creationId xmlns="" xmlns:p14="http://schemas.microsoft.com/office/powerpoint/2010/main" val="2590688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smtClean="0"/>
              <a:t>Lecture Review</a:t>
            </a:r>
            <a:endParaRPr lang="en-US" dirty="0"/>
          </a:p>
        </p:txBody>
      </p:sp>
      <p:sp>
        <p:nvSpPr>
          <p:cNvPr id="3" name="Subtitle 2"/>
          <p:cNvSpPr>
            <a:spLocks noGrp="1"/>
          </p:cNvSpPr>
          <p:nvPr>
            <p:ph type="subTitle" idx="1"/>
          </p:nvPr>
        </p:nvSpPr>
        <p:spPr>
          <a:xfrm>
            <a:off x="228600" y="2330355"/>
            <a:ext cx="8382000" cy="3384645"/>
          </a:xfrm>
        </p:spPr>
        <p:txBody>
          <a:bodyPr>
            <a:normAutofit fontScale="92500" lnSpcReduction="20000"/>
          </a:bodyPr>
          <a:lstStyle/>
          <a:p>
            <a:pPr marL="342900" indent="-342900" algn="l">
              <a:lnSpc>
                <a:spcPct val="90000"/>
              </a:lnSpc>
              <a:buFont typeface="Arial" pitchFamily="34" charset="0"/>
              <a:buChar char="•"/>
              <a:defRPr/>
            </a:pPr>
            <a:r>
              <a:rPr lang="en-US" dirty="0" smtClean="0">
                <a:solidFill>
                  <a:schemeClr val="tx1"/>
                </a:solidFill>
              </a:rPr>
              <a:t>Explain </a:t>
            </a:r>
            <a:r>
              <a:rPr lang="en-US" dirty="0">
                <a:solidFill>
                  <a:schemeClr val="tx1"/>
                </a:solidFill>
              </a:rPr>
              <a:t>the forces that are driving the growth of entrepreneurship</a:t>
            </a:r>
            <a:r>
              <a:rPr lang="en-US" dirty="0" smtClean="0">
                <a:solidFill>
                  <a:schemeClr val="tx1"/>
                </a:solidFill>
              </a:rPr>
              <a:t>.</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r>
              <a:rPr lang="en-US" dirty="0">
                <a:solidFill>
                  <a:schemeClr val="tx1"/>
                </a:solidFill>
              </a:rPr>
              <a:t>Explain the cultural diversity of entrepreneurship</a:t>
            </a:r>
            <a:r>
              <a:rPr lang="en-US" dirty="0" smtClean="0">
                <a:solidFill>
                  <a:schemeClr val="tx1"/>
                </a:solidFill>
              </a:rPr>
              <a:t>.</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r>
              <a:rPr lang="en-US" dirty="0">
                <a:solidFill>
                  <a:schemeClr val="tx1"/>
                </a:solidFill>
              </a:rPr>
              <a:t>Put failure into proper perspective</a:t>
            </a:r>
            <a:r>
              <a:rPr lang="en-US" dirty="0" smtClean="0">
                <a:solidFill>
                  <a:schemeClr val="tx1"/>
                </a:solidFill>
              </a:rPr>
              <a:t>.</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r>
              <a:rPr lang="en-US" dirty="0">
                <a:solidFill>
                  <a:schemeClr val="tx1"/>
                </a:solidFill>
              </a:rPr>
              <a:t>Avoiding the Pitfalls of </a:t>
            </a:r>
            <a:r>
              <a:rPr lang="en-US" dirty="0" smtClean="0">
                <a:solidFill>
                  <a:schemeClr val="tx1"/>
                </a:solidFill>
              </a:rPr>
              <a:t>Small </a:t>
            </a:r>
            <a:r>
              <a:rPr lang="en-US" dirty="0">
                <a:solidFill>
                  <a:schemeClr val="tx1"/>
                </a:solidFill>
              </a:rPr>
              <a:t>Business Failure</a:t>
            </a:r>
            <a:r>
              <a:rPr lang="en-US" dirty="0" smtClean="0">
                <a:solidFill>
                  <a:schemeClr val="tx1"/>
                </a:solidFill>
              </a:rPr>
              <a:t>.</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066D2596-C744-4D7D-B83A-C0CE2C30BEB3}" type="slidenum">
              <a:rPr lang="en-US" smtClean="0">
                <a:solidFill>
                  <a:prstClr val="black">
                    <a:tint val="75000"/>
                  </a:prstClr>
                </a:solidFill>
              </a:rPr>
              <a:pPr/>
              <a:t>14</a:t>
            </a:fld>
            <a:endParaRPr lang="en-US">
              <a:solidFill>
                <a:prstClr val="black">
                  <a:tint val="75000"/>
                </a:prstClr>
              </a:solidFill>
            </a:endParaRPr>
          </a:p>
        </p:txBody>
      </p:sp>
      <p:pic>
        <p:nvPicPr>
          <p:cNvPr id="6" name="Picture 5"/>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6905767" y="152400"/>
            <a:ext cx="2209800" cy="1685925"/>
          </a:xfrm>
          <a:prstGeom prst="rect">
            <a:avLst/>
          </a:prstGeom>
        </p:spPr>
      </p:pic>
      <p:sp>
        <p:nvSpPr>
          <p:cNvPr id="7" name="TextBox 6"/>
          <p:cNvSpPr txBox="1"/>
          <p:nvPr/>
        </p:nvSpPr>
        <p:spPr>
          <a:xfrm>
            <a:off x="838200" y="6211669"/>
            <a:ext cx="7543800" cy="646331"/>
          </a:xfrm>
          <a:prstGeom prst="rect">
            <a:avLst/>
          </a:prstGeom>
          <a:noFill/>
        </p:spPr>
        <p:txBody>
          <a:bodyPr wrap="square" rtlCol="0">
            <a:spAutoFit/>
          </a:bodyPr>
          <a:lstStyle/>
          <a:p>
            <a:pPr algn="ctr"/>
            <a:r>
              <a:rPr lang="en-US" dirty="0" smtClean="0"/>
              <a:t>Reference: Essentials of Entrepreneurship &amp; Small Business Management, Zimmer, Scarborough &amp;Wilson, 5</a:t>
            </a:r>
            <a:r>
              <a:rPr lang="en-US" baseline="30000" dirty="0" smtClean="0"/>
              <a:t>th</a:t>
            </a:r>
            <a:r>
              <a:rPr lang="en-US" dirty="0" smtClean="0"/>
              <a:t> Edition</a:t>
            </a:r>
            <a:endParaRPr lang="en-US" dirty="0"/>
          </a:p>
        </p:txBody>
      </p:sp>
    </p:spTree>
    <p:extLst>
      <p:ext uri="{BB962C8B-B14F-4D97-AF65-F5344CB8AC3E}">
        <p14:creationId xmlns="" xmlns:p14="http://schemas.microsoft.com/office/powerpoint/2010/main" val="2758425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533</Words>
  <Application>Microsoft Office PowerPoint</Application>
  <PresentationFormat>On-screen Show (4:3)</PresentationFormat>
  <Paragraphs>108</Paragraphs>
  <Slides>14</Slides>
  <Notes>7</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ENTREPRENEURSHIP </vt:lpstr>
      <vt:lpstr> Previous Lecture Review</vt:lpstr>
      <vt:lpstr>Objectives</vt:lpstr>
      <vt:lpstr>Feeding the  Entrepreneurial Fire</vt:lpstr>
      <vt:lpstr>Feeding the  Entrepreneurial Fire</vt:lpstr>
      <vt:lpstr>The Cultural Diversity of Entrepreneurship</vt:lpstr>
      <vt:lpstr>The Cultural Diversity of Entrepreneurship</vt:lpstr>
      <vt:lpstr>Deadly Mistakes of Entrepreneurship</vt:lpstr>
      <vt:lpstr>Ten Deadly Mistakes of Entrepreneurship</vt:lpstr>
      <vt:lpstr>Putting Failure into Perspective</vt:lpstr>
      <vt:lpstr>Avoiding the Pitfalls of  Small Business Failure</vt:lpstr>
      <vt:lpstr>You Be The Consultant..</vt:lpstr>
      <vt:lpstr>Slide 13</vt:lpstr>
      <vt:lpstr>Lecture Review</vt:lpstr>
    </vt:vector>
  </TitlesOfParts>
  <Company>MyCompanyName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OBJECTIVES</dc:title>
  <dc:creator>MyUserName</dc:creator>
  <cp:lastModifiedBy>vcomsats</cp:lastModifiedBy>
  <cp:revision>29</cp:revision>
  <dcterms:created xsi:type="dcterms:W3CDTF">2013-09-29T07:52:42Z</dcterms:created>
  <dcterms:modified xsi:type="dcterms:W3CDTF">2020-08-25T07:55:13Z</dcterms:modified>
</cp:coreProperties>
</file>