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0" r:id="rId2"/>
    <p:sldId id="281" r:id="rId3"/>
    <p:sldId id="282" r:id="rId4"/>
    <p:sldId id="283" r:id="rId5"/>
    <p:sldId id="284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 autoAdjust="0"/>
    <p:restoredTop sz="94671" autoAdjust="0"/>
  </p:normalViewPr>
  <p:slideViewPr>
    <p:cSldViewPr>
      <p:cViewPr varScale="1">
        <p:scale>
          <a:sx n="67" d="100"/>
          <a:sy n="67" d="100"/>
        </p:scale>
        <p:origin x="52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125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9-03-04T11:00:14.43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48-3,'-24'0,"0"0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9-03-04T11:00:14.73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8955 3151</inkml:trace>
  <inkml:trace contextRef="#ctx0" brushRef="#br0" timeOffset="2033">0 0,'0'0,"0"0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9-03-06T11:08:44.2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-4-1</inkml:trace>
  <inkml:trace contextRef="#ctx0" brushRef="#br0" timeOffset="342">-4-1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9-03-06T11:08:44.9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2632,'124'-25,"74"-99,522-50,594-99,373-25,-25 50,125 0,-1-150,99-73,-248 98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CCD61-2315-4FAF-AEDB-E0BBEC630695}" type="datetimeFigureOut">
              <a:rPr lang="en-US" smtClean="0"/>
              <a:pPr/>
              <a:t>7/30/2019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F1F17-F03B-4CE1-A8B4-1ABE48593E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5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32772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1671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484242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82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83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69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79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897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58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71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BC66-E99E-4901-AC8C-5FA4CB9A4420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4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BF6A-4F45-4E76-9FE5-65ABD4F8DDD6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B8DA-D8ED-460C-88D7-78C4C28210B4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A8CC4-F10C-43A6-94D9-70B89C99C6B5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9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7B31-B021-46EA-B517-092F71A62745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4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4B97-D14E-427B-B8AE-DA397ABFA0FB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BA28-EA92-4A3F-9A52-6C1B595ACB5C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0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379A5-D640-4D2C-AF79-9CEB0F88A841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78727-F892-4A97-99B8-9CA7FE9EDD0B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B140-7929-4EA2-A116-A9CD00094022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3F0D-3AAD-4C7A-BA60-1655B80804A8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2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DCB7E-3E05-40F2-AEF2-14D04EC666F5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2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.emf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0.emf"/><Relationship Id="rId4" Type="http://schemas.openxmlformats.org/officeDocument/2006/relationships/customXml" Target="../ink/ink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No: </a:t>
            </a:r>
            <a:r>
              <a:rPr lang="en-US" sz="6000" dirty="0" smtClean="0"/>
              <a:t>7</a:t>
            </a:r>
            <a:endParaRPr lang="en-US" sz="6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3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D4F9F8A6-4974-4CB0-972C-B09226E3973D}" type="slidenum">
              <a:rPr lang="en-US">
                <a:latin typeface="Arial" pitchFamily="34" charset="0"/>
              </a:rPr>
              <a:pPr/>
              <a:t>2</a:t>
            </a:fld>
            <a:endParaRPr lang="en-US">
              <a:latin typeface="Arial" pitchFamily="34" charset="0"/>
            </a:endParaRPr>
          </a:p>
        </p:txBody>
      </p:sp>
      <p:sp>
        <p:nvSpPr>
          <p:cNvPr id="348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Deadly Mistakes of Entrepreneurship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20000" cy="45259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Management mistakes</a:t>
            </a:r>
          </a:p>
          <a:p>
            <a:pPr>
              <a:defRPr/>
            </a:pPr>
            <a:r>
              <a:rPr lang="en-US" dirty="0" smtClean="0"/>
              <a:t>Lack of experience</a:t>
            </a:r>
          </a:p>
          <a:p>
            <a:pPr>
              <a:defRPr/>
            </a:pPr>
            <a:r>
              <a:rPr lang="en-US" dirty="0" smtClean="0"/>
              <a:t>Poor financial control</a:t>
            </a:r>
          </a:p>
          <a:p>
            <a:pPr>
              <a:defRPr/>
            </a:pPr>
            <a:r>
              <a:rPr lang="en-US" dirty="0" smtClean="0"/>
              <a:t>Weak marketing efforts</a:t>
            </a:r>
          </a:p>
          <a:p>
            <a:pPr>
              <a:defRPr/>
            </a:pPr>
            <a:r>
              <a:rPr lang="en-US" dirty="0" smtClean="0"/>
              <a:t>Failure to develop a strategic plan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71600"/>
            <a:ext cx="2371725" cy="19240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350250" y="6367463"/>
              <a:ext cx="17463" cy="1587"/>
            </p14:xfrm>
          </p:contentPart>
        </mc:Choice>
        <mc:Fallback xmlns=""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40984" y="6326201"/>
                <a:ext cx="35995" cy="84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2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46525" y="4822825"/>
              <a:ext cx="3224213" cy="1135063"/>
            </p14:xfrm>
          </p:contentPart>
        </mc:Choice>
        <mc:Fallback xmlns="">
          <p:pic>
            <p:nvPicPr>
              <p:cNvPr id="102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7165" y="4813462"/>
                <a:ext cx="3242933" cy="115378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8930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156419E4-4A52-4503-8364-B6F38E113226}" type="slidenum">
              <a:rPr lang="en-US">
                <a:latin typeface="Arial" pitchFamily="34" charset="0"/>
              </a:rPr>
              <a:pPr/>
              <a:t>3</a:t>
            </a:fld>
            <a:endParaRPr lang="en-US">
              <a:latin typeface="Arial" pitchFamily="34" charset="0"/>
            </a:endParaRPr>
          </a:p>
        </p:txBody>
      </p:sp>
      <p:sp>
        <p:nvSpPr>
          <p:cNvPr id="35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3048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Ten Deadly Mistakes of Entrepreneurship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696200" cy="45259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Uncontrolled growth</a:t>
            </a:r>
          </a:p>
          <a:p>
            <a:pPr>
              <a:defRPr/>
            </a:pPr>
            <a:r>
              <a:rPr lang="en-US" dirty="0" smtClean="0"/>
              <a:t>Poor location</a:t>
            </a:r>
          </a:p>
          <a:p>
            <a:pPr>
              <a:defRPr/>
            </a:pPr>
            <a:r>
              <a:rPr lang="en-US" dirty="0" smtClean="0"/>
              <a:t>Improper inventory control</a:t>
            </a:r>
          </a:p>
          <a:p>
            <a:pPr>
              <a:defRPr/>
            </a:pPr>
            <a:r>
              <a:rPr lang="en-US" dirty="0" smtClean="0"/>
              <a:t>Incorrect pricing</a:t>
            </a:r>
          </a:p>
          <a:p>
            <a:pPr>
              <a:defRPr/>
            </a:pPr>
            <a:r>
              <a:rPr lang="en-US" dirty="0" smtClean="0"/>
              <a:t>Inability to make the “entrepreneurial transition”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990600"/>
            <a:ext cx="30734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3625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99800E49-E4AD-4E6E-B0E8-C3D836A2F73A}" type="slidenum">
              <a:rPr lang="en-US">
                <a:latin typeface="Arial" pitchFamily="34" charset="0"/>
              </a:rPr>
              <a:pPr/>
              <a:t>4</a:t>
            </a:fld>
            <a:endParaRPr lang="en-US">
              <a:latin typeface="Arial" pitchFamily="34" charset="0"/>
            </a:endParaRPr>
          </a:p>
        </p:txBody>
      </p:sp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Putting Failure into Perspective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848600" cy="4373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Entrepreneurs are </a:t>
            </a:r>
            <a:r>
              <a:rPr lang="en-US" i="1" dirty="0" smtClean="0"/>
              <a:t>not</a:t>
            </a:r>
            <a:r>
              <a:rPr lang="en-US" dirty="0" smtClean="0"/>
              <a:t> paralyzed by the prospect of failure.</a:t>
            </a:r>
          </a:p>
          <a:p>
            <a:pPr eaLnBrk="1" hangingPunct="1">
              <a:defRPr/>
            </a:pPr>
            <a:r>
              <a:rPr lang="en-US" dirty="0" smtClean="0"/>
              <a:t>Failure – a natural part of the creative process.  </a:t>
            </a:r>
          </a:p>
          <a:p>
            <a:pPr eaLnBrk="1" hangingPunct="1">
              <a:defRPr/>
            </a:pPr>
            <a:r>
              <a:rPr lang="en-US" dirty="0" smtClean="0"/>
              <a:t>Successful entrepreneurs learn to fail </a:t>
            </a:r>
            <a:r>
              <a:rPr lang="en-US" i="1" dirty="0" smtClean="0"/>
              <a:t>intelligently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42190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DB232228-AB36-4E52-A701-0F64D8DE0667}" type="slidenum">
              <a:rPr lang="en-US">
                <a:latin typeface="Arial" pitchFamily="34" charset="0"/>
              </a:rPr>
              <a:pPr/>
              <a:t>5</a:t>
            </a:fld>
            <a:endParaRPr lang="en-US">
              <a:latin typeface="Arial" pitchFamily="34" charset="0"/>
            </a:endParaRPr>
          </a:p>
        </p:txBody>
      </p:sp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47800" y="387350"/>
            <a:ext cx="5638800" cy="110013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Avoiding the Pitfalls of </a:t>
            </a:r>
            <a:br>
              <a:rPr lang="en-US" dirty="0" smtClean="0"/>
            </a:br>
            <a:r>
              <a:rPr lang="en-US" dirty="0" smtClean="0"/>
              <a:t>Small Business Failure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133600"/>
            <a:ext cx="6629400" cy="38100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defRPr/>
            </a:pPr>
            <a:r>
              <a:rPr lang="en-US" dirty="0" smtClean="0"/>
              <a:t>Know your business in depth</a:t>
            </a:r>
          </a:p>
          <a:p>
            <a:pPr eaLnBrk="1" hangingPunct="1">
              <a:defRPr/>
            </a:pPr>
            <a:r>
              <a:rPr lang="en-US" dirty="0" smtClean="0"/>
              <a:t>Develop a solid business plan</a:t>
            </a:r>
          </a:p>
          <a:p>
            <a:pPr eaLnBrk="1" hangingPunct="1">
              <a:defRPr/>
            </a:pPr>
            <a:r>
              <a:rPr lang="en-US" dirty="0" smtClean="0"/>
              <a:t>Manage financial resources</a:t>
            </a:r>
          </a:p>
          <a:p>
            <a:pPr eaLnBrk="1" hangingPunct="1">
              <a:defRPr/>
            </a:pPr>
            <a:r>
              <a:rPr lang="en-US" dirty="0" smtClean="0"/>
              <a:t>Understand financial statements</a:t>
            </a:r>
          </a:p>
          <a:p>
            <a:pPr eaLnBrk="1" hangingPunct="1">
              <a:defRPr/>
            </a:pPr>
            <a:r>
              <a:rPr lang="en-US" dirty="0" smtClean="0"/>
              <a:t>Learn to manage people effectively</a:t>
            </a:r>
          </a:p>
          <a:p>
            <a:pPr eaLnBrk="1" hangingPunct="1">
              <a:defRPr/>
            </a:pPr>
            <a:r>
              <a:rPr lang="en-US" dirty="0" smtClean="0"/>
              <a:t>Keep in tune with yourself</a:t>
            </a:r>
          </a:p>
        </p:txBody>
      </p:sp>
      <p:pic>
        <p:nvPicPr>
          <p:cNvPr id="30726" name="Picture 5" descr="bd1987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733800"/>
            <a:ext cx="1473200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407322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r>
              <a:rPr lang="en-US" dirty="0"/>
              <a:t>Conducting a Feasibility Analysis	</a:t>
            </a:r>
          </a:p>
          <a:p>
            <a:pPr hangingPunct="0"/>
            <a:r>
              <a:rPr lang="en-US" dirty="0"/>
              <a:t>The Feasibility Study				</a:t>
            </a:r>
          </a:p>
          <a:p>
            <a:pPr hangingPunct="0"/>
            <a:r>
              <a:rPr lang="en-US" dirty="0"/>
              <a:t>Five Forces Model				</a:t>
            </a:r>
          </a:p>
          <a:p>
            <a:pPr hangingPunct="0"/>
            <a:r>
              <a:rPr lang="en-US" dirty="0"/>
              <a:t>Product or Service Feasibility Analysis</a:t>
            </a:r>
          </a:p>
          <a:p>
            <a:pPr hangingPunct="0"/>
            <a:r>
              <a:rPr lang="en-US" dirty="0"/>
              <a:t>Financial Feasibility Analysis			</a:t>
            </a:r>
          </a:p>
        </p:txBody>
      </p:sp>
    </p:spTree>
    <p:extLst>
      <p:ext uri="{BB962C8B-B14F-4D97-AF65-F5344CB8AC3E}">
        <p14:creationId xmlns:p14="http://schemas.microsoft.com/office/powerpoint/2010/main" val="92462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Creativity and Innovation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47875"/>
            <a:ext cx="7772400" cy="39751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i="1" dirty="0"/>
              <a:t>Creativity </a:t>
            </a:r>
            <a:r>
              <a:rPr lang="en-US" dirty="0"/>
              <a:t>– the ability to develop new ideas and to discover new ways of looking at problems and opportunities; </a:t>
            </a:r>
            <a:r>
              <a:rPr lang="en-US" i="1" dirty="0"/>
              <a:t>thinking</a:t>
            </a:r>
            <a:r>
              <a:rPr lang="en-US" dirty="0"/>
              <a:t> new things.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i="1" dirty="0"/>
              <a:t>Innovation</a:t>
            </a:r>
            <a:r>
              <a:rPr lang="en-US" dirty="0"/>
              <a:t> – the ability to apply creative solutions to problems or opportunities to enhance or to enrich people’s lives; </a:t>
            </a:r>
            <a:r>
              <a:rPr lang="en-US" i="1" dirty="0"/>
              <a:t>doing</a:t>
            </a:r>
            <a:r>
              <a:rPr lang="en-US" dirty="0"/>
              <a:t> new things.  </a:t>
            </a:r>
          </a:p>
        </p:txBody>
      </p:sp>
      <p:pic>
        <p:nvPicPr>
          <p:cNvPr id="40964" name="Picture 4" descr="j02552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457825"/>
            <a:ext cx="1389063" cy="13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560909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73263"/>
            <a:ext cx="8229600" cy="4152900"/>
          </a:xfrm>
        </p:spPr>
        <p:txBody>
          <a:bodyPr/>
          <a:lstStyle/>
          <a:p>
            <a:r>
              <a:rPr lang="en-US" i="1" dirty="0"/>
              <a:t>Entrepreneurship</a:t>
            </a:r>
            <a:r>
              <a:rPr lang="en-US" dirty="0"/>
              <a:t> – the result of a disciplined, systematic process of applying creativity and innovation to the needs and opportunities in the marketplace.  </a:t>
            </a:r>
          </a:p>
          <a:p>
            <a:r>
              <a:rPr lang="en-US" dirty="0"/>
              <a:t>Entrepreneurs connect their creative ideas with the purposeful action and structure of a business.  </a:t>
            </a:r>
          </a:p>
        </p:txBody>
      </p:sp>
    </p:spTree>
    <p:extLst>
      <p:ext uri="{BB962C8B-B14F-4D97-AF65-F5344CB8AC3E}">
        <p14:creationId xmlns:p14="http://schemas.microsoft.com/office/powerpoint/2010/main" val="1960132958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457200"/>
            <a:ext cx="7772400" cy="1219200"/>
          </a:xfrm>
        </p:spPr>
        <p:txBody>
          <a:bodyPr>
            <a:normAutofit fontScale="90000"/>
          </a:bodyPr>
          <a:lstStyle/>
          <a:p>
            <a:r>
              <a:rPr lang="en-US" dirty="0"/>
              <a:t>Failure: Just Part of the Creative Process!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341563"/>
            <a:ext cx="8229600" cy="3784600"/>
          </a:xfrm>
        </p:spPr>
        <p:txBody>
          <a:bodyPr/>
          <a:lstStyle/>
          <a:p>
            <a:r>
              <a:rPr lang="en-US" sz="2800" dirty="0"/>
              <a:t>For every 3,000 new product ideas:</a:t>
            </a:r>
          </a:p>
          <a:p>
            <a:pPr lvl="1"/>
            <a:r>
              <a:rPr lang="en-US" sz="2400" dirty="0"/>
              <a:t>Four make it to the development stage.</a:t>
            </a:r>
          </a:p>
          <a:p>
            <a:pPr lvl="1"/>
            <a:r>
              <a:rPr lang="en-US" sz="2400" dirty="0"/>
              <a:t>Two are actually launched.</a:t>
            </a:r>
          </a:p>
          <a:p>
            <a:pPr lvl="1"/>
            <a:r>
              <a:rPr lang="en-US" sz="2400" dirty="0"/>
              <a:t>One becomes a success in the market.</a:t>
            </a:r>
          </a:p>
          <a:p>
            <a:r>
              <a:rPr lang="en-US" sz="2800" dirty="0"/>
              <a:t>On average, new products account for 40 percent of companies’ sales!!</a:t>
            </a:r>
          </a:p>
          <a:p>
            <a:r>
              <a:rPr lang="en-US" sz="2800" dirty="0"/>
              <a:t>Creativity is an important source for building a competitive advantage.  </a:t>
            </a:r>
          </a:p>
        </p:txBody>
      </p:sp>
    </p:spTree>
    <p:extLst>
      <p:ext uri="{BB962C8B-B14F-4D97-AF65-F5344CB8AC3E}">
        <p14:creationId xmlns:p14="http://schemas.microsoft.com/office/powerpoint/2010/main" val="3748694454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bldLvl="5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</a:t>
            </a:r>
            <a:r>
              <a:rPr lang="en-US" i="1" dirty="0"/>
              <a:t>Learn</a:t>
            </a:r>
            <a:r>
              <a:rPr lang="en-US" dirty="0"/>
              <a:t> to Be Creative?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1176338" y="4876800"/>
            <a:ext cx="678973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By overcoming paradigms and by suspending</a:t>
            </a:r>
          </a:p>
          <a:p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conventional thinking long enough to consider new</a:t>
            </a:r>
            <a:b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</a:br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and different alternatives!</a:t>
            </a:r>
          </a:p>
        </p:txBody>
      </p:sp>
      <p:sp>
        <p:nvSpPr>
          <p:cNvPr id="50184" name="AutoShape 8"/>
          <p:cNvSpPr>
            <a:spLocks noChangeArrowheads="1"/>
          </p:cNvSpPr>
          <p:nvPr/>
        </p:nvSpPr>
        <p:spPr bwMode="auto">
          <a:xfrm>
            <a:off x="2552700" y="2362200"/>
            <a:ext cx="4038600" cy="2133600"/>
          </a:xfrm>
          <a:prstGeom prst="cloudCallout">
            <a:avLst>
              <a:gd name="adj1" fmla="val -42097"/>
              <a:gd name="adj2" fmla="val 24255"/>
            </a:avLst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5400">
                <a:solidFill>
                  <a:schemeClr val="bg2"/>
                </a:solidFill>
              </a:rPr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2772010564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Left-Brained or Right-Brained?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Entrepreneurship requires </a:t>
            </a:r>
            <a:r>
              <a:rPr lang="en-US" i="1" dirty="0"/>
              <a:t>both</a:t>
            </a:r>
            <a:r>
              <a:rPr lang="en-US" dirty="0"/>
              <a:t> left-and right-brained thinking.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Right-brained thinking draws on </a:t>
            </a:r>
            <a:r>
              <a:rPr lang="en-US" i="1" dirty="0"/>
              <a:t>divergent</a:t>
            </a:r>
            <a:r>
              <a:rPr lang="en-US" dirty="0"/>
              <a:t> reasoning, the ability to create a multitude of original, diverse ideas.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Left-brained thinking counts on </a:t>
            </a:r>
            <a:r>
              <a:rPr lang="en-US" i="1" dirty="0"/>
              <a:t>convergent</a:t>
            </a:r>
            <a:r>
              <a:rPr lang="en-US" dirty="0"/>
              <a:t> reasoning, the ability to evaluate multiple ideas and to choose the </a:t>
            </a:r>
            <a:r>
              <a:rPr lang="en-US" dirty="0" err="1"/>
              <a:t>the</a:t>
            </a:r>
            <a:r>
              <a:rPr lang="en-US" dirty="0"/>
              <a:t> best solution to a problem.  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57348" name="Picture 4" descr="j0234673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95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391877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bldLvl="5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Creativity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6051550" cy="4373563"/>
          </a:xfrm>
        </p:spPr>
        <p:txBody>
          <a:bodyPr/>
          <a:lstStyle/>
          <a:p>
            <a:r>
              <a:rPr lang="en-US" dirty="0"/>
              <a:t>Searching for the one “right” answer  </a:t>
            </a:r>
          </a:p>
          <a:p>
            <a:r>
              <a:rPr lang="en-US" dirty="0"/>
              <a:t>Focusing on “being logical”</a:t>
            </a:r>
          </a:p>
          <a:p>
            <a:r>
              <a:rPr lang="en-US" dirty="0"/>
              <a:t>Blindly following the rules</a:t>
            </a:r>
          </a:p>
          <a:p>
            <a:r>
              <a:rPr lang="en-US" dirty="0"/>
              <a:t>Constantly being practical</a:t>
            </a:r>
          </a:p>
          <a:p>
            <a:r>
              <a:rPr lang="en-US" dirty="0"/>
              <a:t>Viewing play as frivolous</a:t>
            </a:r>
          </a:p>
          <a:p>
            <a:endParaRPr lang="en-US" dirty="0"/>
          </a:p>
        </p:txBody>
      </p:sp>
      <p:pic>
        <p:nvPicPr>
          <p:cNvPr id="59397" name="Picture 5" descr="j0336847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19400"/>
            <a:ext cx="1914525" cy="189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81713" y="3948113"/>
              <a:ext cx="1587" cy="1587"/>
            </p14:xfrm>
          </p:contentPart>
        </mc:Choice>
        <mc:Fallback xmlns=""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40451" y="3906851"/>
                <a:ext cx="84111" cy="84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2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81713" y="3000375"/>
              <a:ext cx="4608512" cy="947738"/>
            </p14:xfrm>
          </p:contentPart>
        </mc:Choice>
        <mc:Fallback xmlns="">
          <p:pic>
            <p:nvPicPr>
              <p:cNvPr id="102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72353" y="2991016"/>
                <a:ext cx="4627233" cy="9664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5525240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Creativity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6051550" cy="4373563"/>
          </a:xfrm>
        </p:spPr>
        <p:txBody>
          <a:bodyPr/>
          <a:lstStyle/>
          <a:p>
            <a:r>
              <a:rPr lang="en-US" dirty="0"/>
              <a:t>Becoming overly specialized</a:t>
            </a:r>
          </a:p>
          <a:p>
            <a:r>
              <a:rPr lang="en-US" dirty="0"/>
              <a:t>Avoiding ambiguity</a:t>
            </a:r>
          </a:p>
          <a:p>
            <a:r>
              <a:rPr lang="en-US" dirty="0"/>
              <a:t>Fearing looking foolish</a:t>
            </a:r>
          </a:p>
          <a:p>
            <a:r>
              <a:rPr lang="en-US" dirty="0"/>
              <a:t>Fearing mistakes and failure</a:t>
            </a:r>
          </a:p>
          <a:p>
            <a:r>
              <a:rPr lang="en-US" dirty="0"/>
              <a:t>Believing that “I’m not creative”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9397" name="Picture 5" descr="j0336847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19400"/>
            <a:ext cx="1914525" cy="189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372347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368</Words>
  <Application>Microsoft Office PowerPoint</Application>
  <PresentationFormat>On-screen Show (4:3)</PresentationFormat>
  <Paragraphs>80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ENTREPRENEURSHIP </vt:lpstr>
      <vt:lpstr>Deadly Mistakes of Entrepreneurship</vt:lpstr>
      <vt:lpstr>Ten Deadly Mistakes of Entrepreneurship</vt:lpstr>
      <vt:lpstr>Putting Failure into Perspective</vt:lpstr>
      <vt:lpstr>Avoiding the Pitfalls of  Small Business Failure</vt:lpstr>
      <vt:lpstr>Objectives</vt:lpstr>
      <vt:lpstr>Creativity and Innovation</vt:lpstr>
      <vt:lpstr>Entrepreneurship</vt:lpstr>
      <vt:lpstr>Failure: Just Part of the Creative Process!</vt:lpstr>
      <vt:lpstr>Can We Learn to Be Creative?</vt:lpstr>
      <vt:lpstr>Left-Brained or Right-Brained?</vt:lpstr>
      <vt:lpstr>Barriers to Creativity</vt:lpstr>
      <vt:lpstr>Barriers to Creativity</vt:lpstr>
    </vt:vector>
  </TitlesOfParts>
  <Company>MyCompanyName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OBJECTIVES</dc:title>
  <dc:creator>MyUserName</dc:creator>
  <cp:lastModifiedBy>Rabia Shafaat</cp:lastModifiedBy>
  <cp:revision>27</cp:revision>
  <dcterms:created xsi:type="dcterms:W3CDTF">2013-09-29T07:52:42Z</dcterms:created>
  <dcterms:modified xsi:type="dcterms:W3CDTF">2019-07-30T09:17:08Z</dcterms:modified>
</cp:coreProperties>
</file>