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307" r:id="rId2"/>
    <p:sldId id="308" r:id="rId3"/>
    <p:sldId id="309" r:id="rId4"/>
    <p:sldId id="310" r:id="rId5"/>
    <p:sldId id="311" r:id="rId6"/>
    <p:sldId id="312" r:id="rId7"/>
    <p:sldId id="319" r:id="rId8"/>
    <p:sldId id="275" r:id="rId9"/>
    <p:sldId id="276" r:id="rId10"/>
    <p:sldId id="313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588" autoAdjust="0"/>
    <p:restoredTop sz="94671" autoAdjust="0"/>
  </p:normalViewPr>
  <p:slideViewPr>
    <p:cSldViewPr>
      <p:cViewPr varScale="1">
        <p:scale>
          <a:sx n="69" d="100"/>
          <a:sy n="69" d="100"/>
        </p:scale>
        <p:origin x="-546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9.xml"/><Relationship Id="rId1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85B88A-C841-402B-B2F9-EDF798484FBC}" type="datetimeFigureOut">
              <a:rPr lang="en-US" smtClean="0"/>
              <a:pPr/>
              <a:t>10/29/2019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E3A5EB-6F79-4447-ABC5-06DD9934805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77825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15CF7-932B-438C-9FB7-FCA53A92D0FB}" type="datetime1">
              <a:rPr lang="en-US" smtClean="0"/>
              <a:pPr/>
              <a:t>10/29/2019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2: Creativity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94157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67265-9A8D-4E3C-B190-90DD391ACF89}" type="datetime1">
              <a:rPr lang="en-US" smtClean="0"/>
              <a:pPr/>
              <a:t>10/29/2019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2: Creativity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53092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A61BB-047E-4149-B017-ED8E8782C3F7}" type="datetime1">
              <a:rPr lang="en-US" smtClean="0"/>
              <a:pPr/>
              <a:t>10/29/2019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2: Creativity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72462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ED0B2-0846-484B-BB2B-CB63C95662D0}" type="datetime1">
              <a:rPr lang="en-US" smtClean="0"/>
              <a:pPr/>
              <a:t>10/29/2019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2: Creativity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02116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CE149-9043-42E5-9BEC-185CEE4BE464}" type="datetime1">
              <a:rPr lang="en-US" smtClean="0"/>
              <a:pPr/>
              <a:t>10/29/2019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2: Creativity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73893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007A0-4DD6-49D8-8D80-9F6594D0EAF1}" type="datetime1">
              <a:rPr lang="en-US" smtClean="0"/>
              <a:pPr/>
              <a:t>10/29/2019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2: Creativity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763149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BB0126-9913-499E-9026-7BE43B49E0F8}" type="datetime1">
              <a:rPr lang="en-US" smtClean="0"/>
              <a:pPr/>
              <a:t>10/29/2019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2: Creativity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26882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455C0-6C58-49A8-8353-D58392881603}" type="datetime1">
              <a:rPr lang="en-US" smtClean="0"/>
              <a:pPr/>
              <a:t>10/29/2019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2: Creativity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741652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57D96-211B-4855-A31A-1A6E4CE2DB29}" type="datetime1">
              <a:rPr lang="en-US" smtClean="0"/>
              <a:pPr/>
              <a:t>10/29/2019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2: Creativity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3508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917A8-5A9D-4F2B-88F5-8FCEA6B57F18}" type="datetime1">
              <a:rPr lang="en-US" smtClean="0"/>
              <a:pPr/>
              <a:t>10/29/2019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2: Creativity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70703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BEBEB-4BAC-4C6F-9FDD-CE9243E04695}" type="datetime1">
              <a:rPr lang="en-US" smtClean="0"/>
              <a:pPr/>
              <a:t>10/29/2019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2: Creativity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41067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5B83BD-542B-42DE-8D24-AECE3D5C43C9}" type="datetime1">
              <a:rPr lang="en-US" smtClean="0"/>
              <a:pPr/>
              <a:t>10/29/2019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2: Creativity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30905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ENTREPRENEURSHIP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000" dirty="0"/>
              <a:t>Lecture No</a:t>
            </a:r>
            <a:r>
              <a:rPr lang="en-US" sz="6000"/>
              <a:t>: </a:t>
            </a:r>
            <a:r>
              <a:rPr lang="en-US" sz="6000" smtClean="0"/>
              <a:t>8</a:t>
            </a:r>
            <a:endParaRPr lang="en-US" sz="6000" dirty="0"/>
          </a:p>
          <a:p>
            <a:pPr marL="0" indent="0">
              <a:buNone/>
            </a:pPr>
            <a:endParaRPr lang="en-US" sz="2000" dirty="0"/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r>
              <a:rPr lang="en-US" sz="2800" dirty="0"/>
              <a:t>Resource Person:</a:t>
            </a:r>
          </a:p>
          <a:p>
            <a:pPr marL="0" indent="0" algn="ctr">
              <a:buNone/>
            </a:pPr>
            <a:r>
              <a:rPr lang="en-US" sz="3600" dirty="0"/>
              <a:t>Malik </a:t>
            </a:r>
            <a:r>
              <a:rPr lang="en-US" sz="3600" dirty="0" err="1"/>
              <a:t>Jawad</a:t>
            </a:r>
            <a:r>
              <a:rPr lang="en-US" sz="3600" dirty="0"/>
              <a:t> </a:t>
            </a:r>
            <a:r>
              <a:rPr lang="en-US" sz="3600" dirty="0" err="1"/>
              <a:t>Saboor</a:t>
            </a:r>
            <a:endParaRPr lang="en-US" sz="3600" dirty="0"/>
          </a:p>
          <a:p>
            <a:pPr marL="0" indent="0" algn="ctr">
              <a:buNone/>
            </a:pPr>
            <a:r>
              <a:rPr lang="en-US" sz="2000" dirty="0"/>
              <a:t>Assistant Professor</a:t>
            </a:r>
          </a:p>
          <a:p>
            <a:pPr marL="0" indent="0" algn="ctr">
              <a:buNone/>
            </a:pPr>
            <a:r>
              <a:rPr lang="en-US" sz="2000" dirty="0"/>
              <a:t>Department of Management Sciences</a:t>
            </a:r>
          </a:p>
          <a:p>
            <a:pPr marL="0" indent="0" algn="ctr">
              <a:buNone/>
            </a:pPr>
            <a:r>
              <a:rPr lang="en-US" sz="2000" dirty="0"/>
              <a:t>COMSATS Institute of Information Technology</a:t>
            </a:r>
          </a:p>
          <a:p>
            <a:pPr marL="0" indent="0" algn="ctr">
              <a:buNone/>
            </a:pPr>
            <a:r>
              <a:rPr lang="en-US" sz="2000" dirty="0"/>
              <a:t>Islamabad.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38770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066800" y="228600"/>
            <a:ext cx="8229600" cy="1143000"/>
          </a:xfrm>
        </p:spPr>
        <p:txBody>
          <a:bodyPr/>
          <a:lstStyle/>
          <a:p>
            <a:r>
              <a:rPr lang="en-US" dirty="0"/>
              <a:t> Previous Lecture 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943600" y="85298"/>
            <a:ext cx="3124104" cy="3038901"/>
          </a:xfrm>
          <a:prstGeom prst="rect">
            <a:avLst/>
          </a:prstGeom>
        </p:spPr>
      </p:pic>
      <p:sp>
        <p:nvSpPr>
          <p:cNvPr id="8" name="Subtitle 2"/>
          <p:cNvSpPr txBox="1">
            <a:spLocks/>
          </p:cNvSpPr>
          <p:nvPr/>
        </p:nvSpPr>
        <p:spPr>
          <a:xfrm>
            <a:off x="84161" y="1653652"/>
            <a:ext cx="83820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defRPr/>
            </a:pPr>
            <a:r>
              <a:rPr lang="en-US" dirty="0"/>
              <a:t>Understand Difference between </a:t>
            </a:r>
          </a:p>
          <a:p>
            <a:pPr marL="0" indent="0">
              <a:lnSpc>
                <a:spcPct val="90000"/>
              </a:lnSpc>
              <a:buNone/>
              <a:defRPr/>
            </a:pPr>
            <a:r>
              <a:rPr lang="en-US" dirty="0"/>
              <a:t>     Creativity and Innovation</a:t>
            </a:r>
          </a:p>
          <a:p>
            <a:pPr>
              <a:lnSpc>
                <a:spcPct val="90000"/>
              </a:lnSpc>
              <a:defRPr/>
            </a:pPr>
            <a:r>
              <a:rPr lang="en-US" dirty="0"/>
              <a:t>Understand Paradigms</a:t>
            </a:r>
          </a:p>
          <a:p>
            <a:pPr>
              <a:lnSpc>
                <a:spcPct val="90000"/>
              </a:lnSpc>
              <a:defRPr/>
            </a:pPr>
            <a:r>
              <a:rPr lang="en-US" dirty="0"/>
              <a:t>Barriers to Creativity</a:t>
            </a:r>
          </a:p>
          <a:p>
            <a:pPr>
              <a:lnSpc>
                <a:spcPct val="90000"/>
              </a:lnSpc>
              <a:defRPr/>
            </a:pPr>
            <a:r>
              <a:rPr lang="en-US" dirty="0"/>
              <a:t>How to Spur Imagination</a:t>
            </a:r>
          </a:p>
          <a:p>
            <a:pPr marL="0" indent="0">
              <a:lnSpc>
                <a:spcPct val="90000"/>
              </a:lnSpc>
              <a:buNone/>
              <a:defRPr/>
            </a:pP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xmlns="" val="2015126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021" y="328282"/>
            <a:ext cx="7772400" cy="1470025"/>
          </a:xfrm>
        </p:spPr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2330355"/>
            <a:ext cx="8382000" cy="4038600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dirty="0">
                <a:solidFill>
                  <a:schemeClr val="tx1"/>
                </a:solidFill>
              </a:rPr>
              <a:t>How to Enhance Organizational Creativity</a:t>
            </a: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dirty="0">
                <a:solidFill>
                  <a:schemeClr val="tx1"/>
                </a:solidFill>
              </a:rPr>
              <a:t>How to enhance individual’s Creativity</a:t>
            </a: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algn="l">
              <a:lnSpc>
                <a:spcPct val="90000"/>
              </a:lnSpc>
              <a:defRPr/>
            </a:pPr>
            <a:endParaRPr lang="en-US" dirty="0">
              <a:solidFill>
                <a:schemeClr val="tx1"/>
              </a:solidFill>
            </a:endParaRPr>
          </a:p>
          <a:p>
            <a:pPr algn="l">
              <a:lnSpc>
                <a:spcPct val="90000"/>
              </a:lnSpc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813644" y="31845"/>
            <a:ext cx="2330355" cy="2330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919447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Tips for Enhancing Organizational Creativity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5648325" cy="4373563"/>
          </a:xfrm>
        </p:spPr>
        <p:txBody>
          <a:bodyPr/>
          <a:lstStyle/>
          <a:p>
            <a:r>
              <a:rPr lang="en-US" dirty="0"/>
              <a:t>Include creativity as a core company value</a:t>
            </a:r>
          </a:p>
          <a:p>
            <a:r>
              <a:rPr lang="en-US" dirty="0"/>
              <a:t>Embrace diversity</a:t>
            </a:r>
          </a:p>
          <a:p>
            <a:r>
              <a:rPr lang="en-US" dirty="0"/>
              <a:t>Expect creativity</a:t>
            </a:r>
          </a:p>
          <a:p>
            <a:r>
              <a:rPr lang="en-US" dirty="0"/>
              <a:t>Expect and tolerate failure </a:t>
            </a:r>
          </a:p>
          <a:p>
            <a:r>
              <a:rPr lang="en-US" dirty="0"/>
              <a:t>Encourage creativity</a:t>
            </a:r>
          </a:p>
        </p:txBody>
      </p:sp>
      <p:pic>
        <p:nvPicPr>
          <p:cNvPr id="63493" name="Picture 5" descr="bd05086_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107113" y="2484438"/>
            <a:ext cx="2870200" cy="297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316343822"/>
      </p:ext>
    </p:extLst>
  </p:cSld>
  <p:clrMapOvr>
    <a:masterClrMapping/>
  </p:clrMapOvr>
  <p:transition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Tips for Enhancing Organizational Creativity</a:t>
            </a:r>
          </a:p>
        </p:txBody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5567363" cy="4373563"/>
          </a:xfrm>
        </p:spPr>
        <p:txBody>
          <a:bodyPr/>
          <a:lstStyle/>
          <a:p>
            <a:r>
              <a:rPr lang="en-US" dirty="0"/>
              <a:t>Create a change of scenery periodically</a:t>
            </a:r>
          </a:p>
          <a:p>
            <a:r>
              <a:rPr lang="en-US" dirty="0"/>
              <a:t>View problems as challenges</a:t>
            </a:r>
          </a:p>
          <a:p>
            <a:r>
              <a:rPr lang="en-US" dirty="0"/>
              <a:t>Provide creativity training</a:t>
            </a:r>
          </a:p>
          <a:p>
            <a:r>
              <a:rPr lang="en-US" dirty="0"/>
              <a:t>Provide support</a:t>
            </a:r>
          </a:p>
          <a:p>
            <a:r>
              <a:rPr lang="en-US" dirty="0"/>
              <a:t>Develop a procedure for capturing ideas</a:t>
            </a:r>
          </a:p>
          <a:p>
            <a:pPr>
              <a:buFont typeface="Wingdings" pitchFamily="2" charset="2"/>
              <a:buNone/>
            </a:pPr>
            <a:endParaRPr lang="en-US" dirty="0"/>
          </a:p>
        </p:txBody>
      </p:sp>
      <p:pic>
        <p:nvPicPr>
          <p:cNvPr id="100358" name="Picture 6" descr="bd05086_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107113" y="2484438"/>
            <a:ext cx="2870200" cy="297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601638071"/>
      </p:ext>
    </p:extLst>
  </p:cSld>
  <p:clrMapOvr>
    <a:masterClrMapping/>
  </p:clrMapOvr>
  <p:transition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0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5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Tips for Enhancing Organizational Creativity</a:t>
            </a:r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5567363" cy="4373563"/>
          </a:xfrm>
        </p:spPr>
        <p:txBody>
          <a:bodyPr/>
          <a:lstStyle/>
          <a:p>
            <a:r>
              <a:rPr lang="en-US" dirty="0"/>
              <a:t>Talk with customers</a:t>
            </a:r>
          </a:p>
          <a:p>
            <a:r>
              <a:rPr lang="en-US" dirty="0"/>
              <a:t>Look for uses for your company’s products or services in other markets</a:t>
            </a:r>
          </a:p>
          <a:p>
            <a:r>
              <a:rPr lang="en-US" dirty="0"/>
              <a:t>Reward creativity</a:t>
            </a:r>
          </a:p>
          <a:p>
            <a:r>
              <a:rPr lang="en-US" dirty="0"/>
              <a:t>Model creative behavior</a:t>
            </a:r>
          </a:p>
          <a:p>
            <a:pPr>
              <a:buFont typeface="Wingdings" pitchFamily="2" charset="2"/>
              <a:buNone/>
            </a:pPr>
            <a:endParaRPr lang="en-US" dirty="0"/>
          </a:p>
        </p:txBody>
      </p:sp>
      <p:pic>
        <p:nvPicPr>
          <p:cNvPr id="114692" name="Picture 4" descr="bd05086_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107113" y="2484438"/>
            <a:ext cx="2870200" cy="297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60030938"/>
      </p:ext>
    </p:extLst>
  </p:cSld>
  <p:clrMapOvr>
    <a:masterClrMapping/>
  </p:clrMapOvr>
  <p:transition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4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4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4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4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91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600200" y="990600"/>
            <a:ext cx="6201802" cy="5122136"/>
          </a:xfrm>
        </p:spPr>
      </p:pic>
    </p:spTree>
    <p:extLst>
      <p:ext uri="{BB962C8B-B14F-4D97-AF65-F5344CB8AC3E}">
        <p14:creationId xmlns:p14="http://schemas.microsoft.com/office/powerpoint/2010/main" xmlns="" val="276427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Tips for Enhancing Individual Creativity</a:t>
            </a:r>
          </a:p>
        </p:txBody>
      </p:sp>
      <p:sp>
        <p:nvSpPr>
          <p:cNvPr id="64518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685800" y="2120900"/>
            <a:ext cx="7772400" cy="3670300"/>
          </a:xfrm>
        </p:spPr>
        <p:txBody>
          <a:bodyPr/>
          <a:lstStyle/>
          <a:p>
            <a:r>
              <a:rPr lang="en-US" sz="2800" dirty="0"/>
              <a:t>Allow yourself to be creative</a:t>
            </a:r>
          </a:p>
          <a:p>
            <a:r>
              <a:rPr lang="en-US" sz="2800" dirty="0"/>
              <a:t>Give your mind fresh input every day</a:t>
            </a:r>
          </a:p>
          <a:p>
            <a:r>
              <a:rPr lang="en-US" sz="2800" dirty="0"/>
              <a:t>Observe the products and services of other companies, especially those in completely different markets</a:t>
            </a:r>
          </a:p>
          <a:p>
            <a:r>
              <a:rPr lang="en-US" sz="2800" dirty="0"/>
              <a:t>Recognize the creative power of mistakes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248400" y="4953000"/>
            <a:ext cx="2438400" cy="162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058322122"/>
      </p:ext>
    </p:extLst>
  </p:cSld>
  <p:clrMapOvr>
    <a:masterClrMapping/>
  </p:clrMapOvr>
  <p:transition>
    <p:pull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45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45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45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45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8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Tips for Enhancing Individual Creativity</a:t>
            </a:r>
          </a:p>
        </p:txBody>
      </p:sp>
      <p:sp>
        <p:nvSpPr>
          <p:cNvPr id="10240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685800" y="2120900"/>
            <a:ext cx="7772400" cy="3976688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800" dirty="0"/>
              <a:t>Keep a journal handy to record your thoughts and ideas</a:t>
            </a:r>
          </a:p>
          <a:p>
            <a:pPr>
              <a:lnSpc>
                <a:spcPct val="80000"/>
              </a:lnSpc>
            </a:pPr>
            <a:r>
              <a:rPr lang="en-US" sz="2800" dirty="0"/>
              <a:t>Listen to other people</a:t>
            </a:r>
          </a:p>
          <a:p>
            <a:pPr>
              <a:lnSpc>
                <a:spcPct val="80000"/>
              </a:lnSpc>
            </a:pPr>
            <a:r>
              <a:rPr lang="en-US" sz="2800" dirty="0"/>
              <a:t>Listen to customers</a:t>
            </a:r>
          </a:p>
          <a:p>
            <a:pPr>
              <a:lnSpc>
                <a:spcPct val="80000"/>
              </a:lnSpc>
            </a:pPr>
            <a:r>
              <a:rPr lang="en-US" sz="2800" dirty="0"/>
              <a:t>Talk to a child</a:t>
            </a:r>
          </a:p>
          <a:p>
            <a:pPr>
              <a:lnSpc>
                <a:spcPct val="80000"/>
              </a:lnSpc>
            </a:pPr>
            <a:r>
              <a:rPr lang="en-US" sz="2800" dirty="0"/>
              <a:t>Keep a toy box in your office</a:t>
            </a:r>
          </a:p>
          <a:p>
            <a:pPr>
              <a:lnSpc>
                <a:spcPct val="80000"/>
              </a:lnSpc>
            </a:pPr>
            <a:r>
              <a:rPr lang="en-US" sz="2800" dirty="0"/>
              <a:t>Read books on stimulating creativity or take a class on creativity</a:t>
            </a:r>
          </a:p>
          <a:p>
            <a:pPr>
              <a:lnSpc>
                <a:spcPct val="80000"/>
              </a:lnSpc>
            </a:pPr>
            <a:r>
              <a:rPr lang="en-US" sz="2800" dirty="0"/>
              <a:t>Take some time off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962400" y="5105400"/>
            <a:ext cx="4953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534239465"/>
      </p:ext>
    </p:extLst>
  </p:cSld>
  <p:clrMapOvr>
    <a:masterClrMapping/>
  </p:clrMapOvr>
  <p:transition>
    <p:pull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4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24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24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24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24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24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04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021" y="328282"/>
            <a:ext cx="7772400" cy="1470025"/>
          </a:xfrm>
        </p:spPr>
        <p:txBody>
          <a:bodyPr/>
          <a:lstStyle/>
          <a:p>
            <a:r>
              <a:rPr lang="en-US" dirty="0"/>
              <a:t>Lecture 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905767" y="152400"/>
            <a:ext cx="2209800" cy="16859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8200" y="5715000"/>
            <a:ext cx="7543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Reference: Essentials of Entrepreneurship &amp; Small Business Management, Zimmer, Scarborough &amp;Wilson, 5</a:t>
            </a:r>
            <a:r>
              <a:rPr lang="en-US" baseline="30000" dirty="0"/>
              <a:t>th</a:t>
            </a:r>
            <a:r>
              <a:rPr lang="en-US" dirty="0"/>
              <a:t> Edition</a:t>
            </a: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419100" y="1676400"/>
            <a:ext cx="8382000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dirty="0">
                <a:solidFill>
                  <a:schemeClr val="tx1"/>
                </a:solidFill>
              </a:rPr>
              <a:t>How to Enhance Organizational Creativity</a:t>
            </a: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r>
              <a:rPr lang="en-US" dirty="0">
                <a:solidFill>
                  <a:schemeClr val="tx1"/>
                </a:solidFill>
              </a:rPr>
              <a:t>How to enhance individual’s Creativity</a:t>
            </a: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algn="l">
              <a:lnSpc>
                <a:spcPct val="90000"/>
              </a:lnSpc>
              <a:defRPr/>
            </a:pPr>
            <a:endParaRPr lang="en-US" dirty="0">
              <a:solidFill>
                <a:schemeClr val="tx1"/>
              </a:solidFill>
            </a:endParaRPr>
          </a:p>
          <a:p>
            <a:pPr algn="l">
              <a:lnSpc>
                <a:spcPct val="90000"/>
              </a:lnSpc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90000"/>
              </a:lnSpc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09728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625</TotalTime>
  <Words>249</Words>
  <Application>Microsoft Office PowerPoint</Application>
  <PresentationFormat>On-screen Show (4:3)</PresentationFormat>
  <Paragraphs>72</Paragraphs>
  <Slides>10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ENTREPRENEURSHIP </vt:lpstr>
      <vt:lpstr> Previous Lecture Review</vt:lpstr>
      <vt:lpstr>Objectives</vt:lpstr>
      <vt:lpstr>Tips for Enhancing Organizational Creativity</vt:lpstr>
      <vt:lpstr>Tips for Enhancing Organizational Creativity</vt:lpstr>
      <vt:lpstr>Tips for Enhancing Organizational Creativity</vt:lpstr>
      <vt:lpstr>Slide 7</vt:lpstr>
      <vt:lpstr>Tips for Enhancing Individual Creativity</vt:lpstr>
      <vt:lpstr>Tips for Enhancing Individual Creativity</vt:lpstr>
      <vt:lpstr>Lecture Review</vt:lpstr>
    </vt:vector>
  </TitlesOfParts>
  <Company>MyCompanyName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Inside the Entrepreneurial Mind: From Ideas to Reality</dc:title>
  <dc:creator>MyUserName</dc:creator>
  <cp:lastModifiedBy>Sara</cp:lastModifiedBy>
  <cp:revision>41</cp:revision>
  <dcterms:created xsi:type="dcterms:W3CDTF">2013-10-03T09:43:12Z</dcterms:created>
  <dcterms:modified xsi:type="dcterms:W3CDTF">2019-10-29T08:59:16Z</dcterms:modified>
</cp:coreProperties>
</file>