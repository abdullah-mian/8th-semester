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6" r:id="rId2"/>
    <p:sldId id="311" r:id="rId3"/>
    <p:sldId id="312" r:id="rId4"/>
    <p:sldId id="313" r:id="rId5"/>
    <p:sldId id="314" r:id="rId6"/>
    <p:sldId id="315" r:id="rId7"/>
    <p:sldId id="316" r:id="rId8"/>
    <p:sldId id="298" r:id="rId9"/>
    <p:sldId id="291" r:id="rId10"/>
    <p:sldId id="292" r:id="rId11"/>
    <p:sldId id="293" r:id="rId12"/>
    <p:sldId id="294" r:id="rId13"/>
    <p:sldId id="300" r:id="rId14"/>
    <p:sldId id="301" r:id="rId15"/>
    <p:sldId id="302" r:id="rId16"/>
    <p:sldId id="307" r:id="rId17"/>
    <p:sldId id="305" r:id="rId18"/>
    <p:sldId id="295" r:id="rId19"/>
    <p:sldId id="308" r:id="rId20"/>
    <p:sldId id="310" r:id="rId21"/>
    <p:sldId id="309" r:id="rId22"/>
    <p:sldId id="29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71" autoAdjust="0"/>
  </p:normalViewPr>
  <p:slideViewPr>
    <p:cSldViewPr>
      <p:cViewPr varScale="1">
        <p:scale>
          <a:sx n="69" d="100"/>
          <a:sy n="69" d="100"/>
        </p:scale>
        <p:origin x="-54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.xml"/><Relationship Id="rId1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11/8/2019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15CF7-932B-438C-9FB7-FCA53A92D0FB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67265-9A8D-4E3C-B190-90DD391ACF89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A61BB-047E-4149-B017-ED8E8782C3F7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D0B2-0846-484B-BB2B-CB63C95662D0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CE149-9043-42E5-9BEC-185CEE4BE464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007A0-4DD6-49D8-8D80-9F6594D0EAF1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0126-9913-499E-9026-7BE43B49E0F8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55C0-6C58-49A8-8353-D58392881603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D96-211B-4855-A31A-1A6E4CE2DB29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17A8-5A9D-4F2B-88F5-8FCEA6B57F18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BEBEB-4BAC-4C6F-9FDD-CE9243E04695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B83BD-542B-42DE-8D24-AECE3D5C43C9}" type="datetime1">
              <a:rPr lang="en-US" smtClean="0"/>
              <a:pPr/>
              <a:t>11/8/2019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</a:t>
            </a:r>
            <a:r>
              <a:rPr lang="en-US" sz="6000"/>
              <a:t>: </a:t>
            </a:r>
            <a:r>
              <a:rPr lang="en-US" sz="6000" smtClean="0"/>
              <a:t>9</a:t>
            </a:r>
            <a:endParaRPr lang="en-US" sz="6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Organizational Creativity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5648325" cy="4373563"/>
          </a:xfrm>
        </p:spPr>
        <p:txBody>
          <a:bodyPr/>
          <a:lstStyle/>
          <a:p>
            <a:r>
              <a:rPr lang="en-US" dirty="0"/>
              <a:t>Include creativity as a core company value</a:t>
            </a:r>
          </a:p>
          <a:p>
            <a:r>
              <a:rPr lang="en-US" dirty="0"/>
              <a:t>Embrace diversity</a:t>
            </a:r>
          </a:p>
          <a:p>
            <a:r>
              <a:rPr lang="en-US" dirty="0"/>
              <a:t>Expect creativity</a:t>
            </a:r>
          </a:p>
          <a:p>
            <a:r>
              <a:rPr lang="en-US" dirty="0"/>
              <a:t>Expect and tolerate failure </a:t>
            </a:r>
          </a:p>
          <a:p>
            <a:r>
              <a:rPr lang="en-US" dirty="0"/>
              <a:t>Encourage creativity</a:t>
            </a:r>
          </a:p>
        </p:txBody>
      </p:sp>
      <p:pic>
        <p:nvPicPr>
          <p:cNvPr id="63493" name="Picture 5" descr="bd050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113" y="2484438"/>
            <a:ext cx="2870200" cy="2971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316343822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Organizational Creativity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5567363" cy="4373563"/>
          </a:xfrm>
        </p:spPr>
        <p:txBody>
          <a:bodyPr/>
          <a:lstStyle/>
          <a:p>
            <a:r>
              <a:rPr lang="en-US" dirty="0"/>
              <a:t>Create a change of scenery periodically</a:t>
            </a:r>
          </a:p>
          <a:p>
            <a:r>
              <a:rPr lang="en-US" dirty="0"/>
              <a:t>View problems as challenges</a:t>
            </a:r>
          </a:p>
          <a:p>
            <a:r>
              <a:rPr lang="en-US" dirty="0"/>
              <a:t>Provide creativity training</a:t>
            </a:r>
          </a:p>
          <a:p>
            <a:r>
              <a:rPr lang="en-US" dirty="0"/>
              <a:t>Provide support</a:t>
            </a:r>
          </a:p>
          <a:p>
            <a:r>
              <a:rPr lang="en-US" dirty="0"/>
              <a:t>Develop a procedure for capturing ideas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00358" name="Picture 6" descr="bd050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113" y="2484438"/>
            <a:ext cx="2870200" cy="2971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601638071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Organizational Creativity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5567363" cy="4373563"/>
          </a:xfrm>
        </p:spPr>
        <p:txBody>
          <a:bodyPr/>
          <a:lstStyle/>
          <a:p>
            <a:r>
              <a:rPr lang="en-US" dirty="0"/>
              <a:t>Talk with customers</a:t>
            </a:r>
          </a:p>
          <a:p>
            <a:r>
              <a:rPr lang="en-US" dirty="0"/>
              <a:t>Look for uses for your company’s products or services in other markets</a:t>
            </a:r>
          </a:p>
          <a:p>
            <a:r>
              <a:rPr lang="en-US" dirty="0"/>
              <a:t>Reward creativity</a:t>
            </a:r>
          </a:p>
          <a:p>
            <a:r>
              <a:rPr lang="en-US" dirty="0"/>
              <a:t>Model creative behavior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14692" name="Picture 4" descr="bd050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113" y="2484438"/>
            <a:ext cx="2870200" cy="2971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60030938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90600"/>
            <a:ext cx="6201802" cy="5122136"/>
          </a:xfrm>
        </p:spPr>
      </p:pic>
    </p:spTree>
    <p:extLst>
      <p:ext uri="{BB962C8B-B14F-4D97-AF65-F5344CB8AC3E}">
        <p14:creationId xmlns="" xmlns:p14="http://schemas.microsoft.com/office/powerpoint/2010/main" val="27642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Individual Creativity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2120900"/>
            <a:ext cx="7772400" cy="3670300"/>
          </a:xfrm>
        </p:spPr>
        <p:txBody>
          <a:bodyPr/>
          <a:lstStyle/>
          <a:p>
            <a:r>
              <a:rPr lang="en-US" sz="2800" dirty="0"/>
              <a:t>Allow yourself to be creative</a:t>
            </a:r>
          </a:p>
          <a:p>
            <a:r>
              <a:rPr lang="en-US" sz="2800" dirty="0"/>
              <a:t>Give your mind fresh input every day</a:t>
            </a:r>
          </a:p>
          <a:p>
            <a:r>
              <a:rPr lang="en-US" sz="2800" dirty="0"/>
              <a:t>Observe the products and services of other companies, especially those in completely different markets</a:t>
            </a:r>
          </a:p>
          <a:p>
            <a:r>
              <a:rPr lang="en-US" sz="2800" dirty="0"/>
              <a:t>Recognize the creative power of mistakes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953000"/>
            <a:ext cx="2438400" cy="162153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58322122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Individual Creativity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2120900"/>
            <a:ext cx="7772400" cy="39766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Keep a journal handy to record your thoughts and ideas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Listen to other people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Listen to customers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Talk to a child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Keep a toy box in your office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Read books on stimulating creativity or take a class on creativity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Take some time off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5105400"/>
            <a:ext cx="4953000" cy="1524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34239465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2400" y="1524000"/>
            <a:ext cx="8458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To learn creativity techniques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Brainstorming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6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Mind Mapping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6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Rapid Prototyping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6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Mix n Match (Thomas Edison Challenge)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6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Attribute Listing Chart</a:t>
            </a:r>
          </a:p>
        </p:txBody>
      </p:sp>
    </p:spTree>
    <p:extLst>
      <p:ext uri="{BB962C8B-B14F-4D97-AF65-F5344CB8AC3E}">
        <p14:creationId xmlns="" xmlns:p14="http://schemas.microsoft.com/office/powerpoint/2010/main" val="91984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Brainstorming</a:t>
            </a:r>
            <a:br>
              <a:rPr lang="en-US" dirty="0"/>
            </a:b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3810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A group problem-solving technique that involves the spontaneous contribution of  large quantity of  novel and imaginative ideas from all members of the group;  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the mulling over of ideas by one or more individuals in an attempt to devise or find a solution to a problem 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2389284545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Brainstorming Guidelines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Keep the group small – “Two pizza rule.”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Make the group as diverse as possible.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Company rank is irrelevant.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Have a well-defined problem, but don’t reveal it ahead of time.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Limit the session to 40 to 60 minutes.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Take a field trip.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Appoint  a recorder.</a:t>
            </a:r>
          </a:p>
        </p:txBody>
      </p:sp>
      <p:pic>
        <p:nvPicPr>
          <p:cNvPr id="120838" name="Picture 6" descr="MCj0387131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54588"/>
            <a:ext cx="2667000" cy="19034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56219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Brainstorming Guidelines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r>
              <a:rPr lang="en-US" sz="2800" dirty="0"/>
              <a:t>Use a seating pattern that encourages interaction.</a:t>
            </a:r>
          </a:p>
          <a:p>
            <a:r>
              <a:rPr lang="en-US" sz="2800" dirty="0"/>
              <a:t>Throw logic out the window.</a:t>
            </a:r>
          </a:p>
          <a:p>
            <a:r>
              <a:rPr lang="en-US" sz="2800" dirty="0"/>
              <a:t>Encourage </a:t>
            </a:r>
            <a:r>
              <a:rPr lang="en-US" sz="2800" i="1" dirty="0"/>
              <a:t>all</a:t>
            </a:r>
            <a:r>
              <a:rPr lang="en-US" sz="2800" dirty="0"/>
              <a:t> ideas from the team.</a:t>
            </a:r>
          </a:p>
          <a:p>
            <a:r>
              <a:rPr lang="en-US" sz="2800" dirty="0"/>
              <a:t>Shoot for quantity of ideas over quality of ideas. </a:t>
            </a:r>
          </a:p>
          <a:p>
            <a:r>
              <a:rPr lang="en-US" sz="2800" dirty="0"/>
              <a:t>Forbid criticism.</a:t>
            </a:r>
          </a:p>
          <a:p>
            <a:r>
              <a:rPr lang="en-US" sz="2800" dirty="0"/>
              <a:t>Encourage idea “hitch-hiking.” </a:t>
            </a:r>
          </a:p>
          <a:p>
            <a:r>
              <a:rPr lang="en-US" sz="2800" dirty="0"/>
              <a:t>Dare to imagine the unreasonable.  </a:t>
            </a:r>
          </a:p>
        </p:txBody>
      </p:sp>
      <p:pic>
        <p:nvPicPr>
          <p:cNvPr id="121861" name="Picture 5" descr="MCj0387131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54588"/>
            <a:ext cx="2667000" cy="190341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17201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for Improving the Creative Process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3154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Mind-mapping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/>
              <a:t>A graphical technique that encourages thinking on both sides of the brain, visually displays relationships among ideas, and improves the ability to see a problem from many sides.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  <p:pic>
        <p:nvPicPr>
          <p:cNvPr id="117765" name="Picture 5" descr="j01875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057775"/>
            <a:ext cx="1619250" cy="18002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790814537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Mind Mapping- How to Draw?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4495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Take a large sheet of paper and place it horizontally in front of you.</a:t>
            </a:r>
          </a:p>
          <a:p>
            <a:r>
              <a:rPr lang="en-US" sz="2800" dirty="0"/>
              <a:t>Write the text or Draw a reasonably sized (colored) memorable central image  that represents the topic you are going to be mapping.</a:t>
            </a:r>
          </a:p>
          <a:p>
            <a:r>
              <a:rPr lang="en-US" sz="2800" dirty="0"/>
              <a:t>Draw </a:t>
            </a:r>
            <a:r>
              <a:rPr lang="en-US" sz="2800" b="1" dirty="0"/>
              <a:t> thick </a:t>
            </a:r>
            <a:r>
              <a:rPr lang="en-US" sz="2800" dirty="0"/>
              <a:t>organic looking branches radiating outwards from the central image. Make sure to use a different color to represent each branch.</a:t>
            </a:r>
          </a:p>
          <a:p>
            <a:r>
              <a:rPr lang="en-US" sz="2800" dirty="0"/>
              <a:t>Write key-topic words along these branches that represent the central image and the topic you are mapping.</a:t>
            </a:r>
          </a:p>
        </p:txBody>
      </p:sp>
    </p:spTree>
    <p:extLst>
      <p:ext uri="{BB962C8B-B14F-4D97-AF65-F5344CB8AC3E}">
        <p14:creationId xmlns="" xmlns:p14="http://schemas.microsoft.com/office/powerpoint/2010/main" val="2755090529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Mind Mapping – How to Draw?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4495800"/>
          </a:xfrm>
        </p:spPr>
        <p:txBody>
          <a:bodyPr>
            <a:normAutofit/>
          </a:bodyPr>
          <a:lstStyle/>
          <a:p>
            <a:r>
              <a:rPr lang="en-US" sz="2800" dirty="0"/>
              <a:t>Draw additional branches that extend from your main </a:t>
            </a:r>
            <a:r>
              <a:rPr lang="en-US" sz="2800"/>
              <a:t>branches.</a:t>
            </a:r>
          </a:p>
          <a:p>
            <a:r>
              <a:rPr lang="en-US" sz="2800"/>
              <a:t> </a:t>
            </a:r>
            <a:r>
              <a:rPr lang="en-US" sz="2800" dirty="0"/>
              <a:t>The words on these branches are sub-topics of the words you wrote on your main branches</a:t>
            </a:r>
            <a:r>
              <a:rPr lang="en-US" sz="2800"/>
              <a:t>. </a:t>
            </a:r>
          </a:p>
          <a:p>
            <a:r>
              <a:rPr lang="en-US" sz="2800" dirty="0"/>
              <a:t>Keep expanding the mind map outwards with additional sub sub-topics/keywords and branches.</a:t>
            </a:r>
          </a:p>
        </p:txBody>
      </p:sp>
      <p:pic>
        <p:nvPicPr>
          <p:cNvPr id="117765" name="Picture 5" descr="j01875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057775"/>
            <a:ext cx="1619250" cy="18002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589929931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MIND MAP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18154"/>
            <a:ext cx="8840895" cy="5587446"/>
          </a:xfrm>
        </p:spPr>
      </p:pic>
    </p:spTree>
    <p:extLst>
      <p:ext uri="{BB962C8B-B14F-4D97-AF65-F5344CB8AC3E}">
        <p14:creationId xmlns="" xmlns:p14="http://schemas.microsoft.com/office/powerpoint/2010/main" val="363366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 n Match ( Thomas Edison)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165941193"/>
              </p:ext>
            </p:extLst>
          </p:nvPr>
        </p:nvGraphicFramePr>
        <p:xfrm>
          <a:off x="685800" y="1523996"/>
          <a:ext cx="7620000" cy="4800606"/>
        </p:xfrm>
        <a:graphic>
          <a:graphicData uri="http://schemas.openxmlformats.org/drawingml/2006/table">
            <a:tbl>
              <a:tblPr/>
              <a:tblGrid>
                <a:gridCol w="384374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762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+mj-lt"/>
                        </a:rPr>
                        <a:t>LIST A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effectLst/>
                          <a:latin typeface="+mj-lt"/>
                        </a:rPr>
                        <a:t>LIST B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PERFUME 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CIGARETTE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SCOTCH TAPE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INSECT KILLER SPRAY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35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CHOCOLATE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SOAP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PEN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OLIVES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RUBBER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SHIRT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GLASS (Water wala)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KASHMIRI TEA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PAPER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ASH TRAY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BISCUITS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NAIL POLISH REMOVER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MOUTH FRESHNER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PIZZA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34325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+mj-lt"/>
                        </a:rPr>
                        <a:t>PAD LOCK</a:t>
                      </a:r>
                      <a:endParaRPr lang="en-US" sz="360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+mj-lt"/>
                        </a:rPr>
                        <a:t>ALARM</a:t>
                      </a:r>
                      <a:endParaRPr lang="en-US" sz="3600" dirty="0">
                        <a:effectLst/>
                        <a:latin typeface="+mj-lt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565400" y="29368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 </a:t>
            </a:r>
          </a:p>
        </p:txBody>
      </p:sp>
    </p:spTree>
    <p:extLst>
      <p:ext uri="{BB962C8B-B14F-4D97-AF65-F5344CB8AC3E}">
        <p14:creationId xmlns="" xmlns:p14="http://schemas.microsoft.com/office/powerpoint/2010/main" val="213409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 n Match ( Thomas Edison)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374094504"/>
              </p:ext>
            </p:extLst>
          </p:nvPr>
        </p:nvGraphicFramePr>
        <p:xfrm>
          <a:off x="2209800" y="1295400"/>
          <a:ext cx="4267200" cy="5304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Glass</a:t>
                      </a:r>
                      <a:r>
                        <a:rPr lang="en-US" sz="2800" baseline="0" dirty="0"/>
                        <a:t> + Ashtray</a:t>
                      </a:r>
                      <a:endParaRPr lang="en-US" sz="2800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+ Kashmiri Tea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Biscuits</a:t>
                      </a:r>
                      <a:r>
                        <a:rPr lang="en-US" baseline="0" dirty="0"/>
                        <a:t> + Olives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Padlock +</a:t>
                      </a:r>
                      <a:r>
                        <a:rPr lang="en-US" baseline="0" dirty="0"/>
                        <a:t> Alarm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 + Soap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Pizza + Chocolate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Perfume + Insect Killer Spray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Pen + Insect Killer</a:t>
                      </a:r>
                      <a:r>
                        <a:rPr lang="en-US" baseline="0" dirty="0"/>
                        <a:t> Spray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69116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Techniques for Improving the Creative Process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152400" y="1676400"/>
            <a:ext cx="8229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eaLnBrk="1" hangingPunct="1">
              <a:spcBef>
                <a:spcPct val="20000"/>
              </a:spcBef>
              <a:buSzPct val="70000"/>
              <a:buFont typeface="Arial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Rapid prototyping</a:t>
            </a:r>
          </a:p>
          <a:p>
            <a:pPr marL="457200" indent="-457200" eaLnBrk="1" hangingPunct="1">
              <a:spcBef>
                <a:spcPct val="20000"/>
              </a:spcBef>
              <a:buSzPct val="70000"/>
              <a:buFont typeface="Arial" pitchFamily="34" charset="0"/>
              <a:buChar char="•"/>
            </a:pP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SzPct val="70000"/>
            </a:pP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 eaLnBrk="1" hangingPunct="1">
              <a:spcBef>
                <a:spcPct val="20000"/>
              </a:spcBef>
              <a:buSzPct val="70000"/>
              <a:buFont typeface="Arial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Transforming an idea into an actual model that will point out flaws and lead to design improvements.</a:t>
            </a:r>
          </a:p>
        </p:txBody>
      </p:sp>
      <p:pic>
        <p:nvPicPr>
          <p:cNvPr id="122886" name="Picture 6" descr="j01875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057775"/>
            <a:ext cx="1619250" cy="18002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462638262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Listing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List the attributes of the product, service or strategy you are examining. </a:t>
            </a:r>
          </a:p>
          <a:p>
            <a:pPr marL="0" indent="0">
              <a:buNone/>
            </a:pPr>
            <a:r>
              <a:rPr lang="en-US" sz="2000" dirty="0"/>
              <a:t>Attributes are parts, properties, qualities or design elements of the thing being looked at.</a:t>
            </a:r>
          </a:p>
          <a:p>
            <a:r>
              <a:rPr lang="en-US" dirty="0"/>
              <a:t>Draw up a table using these attributes as column headings. </a:t>
            </a:r>
          </a:p>
          <a:p>
            <a:r>
              <a:rPr lang="en-US" dirty="0"/>
              <a:t>Write down as many variations of the attribute as possible within these columns</a:t>
            </a:r>
          </a:p>
          <a:p>
            <a:r>
              <a:rPr lang="en-US" dirty="0"/>
              <a:t>Now select one entry from each column. Either do this randomly or select interesting combinations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84721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 Listing Chart to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152400" y="1676400"/>
            <a:ext cx="8229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eaLnBrk="1" hangingPunct="1">
              <a:spcBef>
                <a:spcPct val="20000"/>
              </a:spcBef>
              <a:buSzPct val="7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22886" name="Picture 6" descr="j01875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057775"/>
            <a:ext cx="1619250" cy="18002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" y="1828800"/>
            <a:ext cx="83820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Attributes for a Lamp</a:t>
            </a:r>
          </a:p>
          <a:p>
            <a:endParaRPr lang="en-US" dirty="0"/>
          </a:p>
          <a:p>
            <a:r>
              <a:rPr lang="en-US" sz="2800" dirty="0"/>
              <a:t>Power Supply</a:t>
            </a:r>
          </a:p>
          <a:p>
            <a:r>
              <a:rPr lang="en-US" sz="2800" dirty="0"/>
              <a:t>Bulb Type</a:t>
            </a:r>
          </a:p>
          <a:p>
            <a:r>
              <a:rPr lang="en-US" sz="2800" dirty="0"/>
              <a:t>Light Intensity </a:t>
            </a:r>
          </a:p>
          <a:p>
            <a:r>
              <a:rPr lang="en-US" sz="2800" dirty="0"/>
              <a:t>Size</a:t>
            </a:r>
          </a:p>
          <a:p>
            <a:r>
              <a:rPr lang="en-US" sz="2800" dirty="0"/>
              <a:t>Style</a:t>
            </a:r>
          </a:p>
          <a:p>
            <a:r>
              <a:rPr lang="en-US" sz="2800" dirty="0"/>
              <a:t>Finish </a:t>
            </a:r>
          </a:p>
          <a:p>
            <a:r>
              <a:rPr lang="en-US" sz="2800" dirty="0"/>
              <a:t>Material</a:t>
            </a:r>
          </a:p>
        </p:txBody>
      </p:sp>
    </p:spTree>
    <p:extLst>
      <p:ext uri="{BB962C8B-B14F-4D97-AF65-F5344CB8AC3E}">
        <p14:creationId xmlns="" xmlns:p14="http://schemas.microsoft.com/office/powerpoint/2010/main" val="1710646630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build="p" bldLvl="2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Attribute Listing Chart to Create a new Lamp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152400" y="1676400"/>
            <a:ext cx="8229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 eaLnBrk="1" hangingPunct="1">
              <a:spcBef>
                <a:spcPct val="20000"/>
              </a:spcBef>
              <a:buSzPct val="70000"/>
              <a:buFont typeface="Arial" pitchFamily="34" charset="0"/>
              <a:buChar char="•"/>
            </a:pP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77621066"/>
              </p:ext>
            </p:extLst>
          </p:nvPr>
        </p:nvGraphicFramePr>
        <p:xfrm>
          <a:off x="187657" y="2057400"/>
          <a:ext cx="8915403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6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736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736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7362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8248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16477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27362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BULB </a:t>
                      </a:r>
                    </a:p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Light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Halogen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Metallic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Industrial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Fabric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</a:t>
                      </a:r>
                      <a:r>
                        <a:rPr lang="en-US" baseline="0" dirty="0"/>
                        <a:t> Held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896370544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85800" y="6281964"/>
            <a:ext cx="8077200" cy="3810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sz="1800" dirty="0">
                <a:latin typeface="Tw Cen MT" pitchFamily="34" charset="0"/>
              </a:rPr>
              <a:t>Reference: </a:t>
            </a:r>
            <a:r>
              <a:rPr lang="en-US" sz="1800" dirty="0" err="1">
                <a:latin typeface="Tw Cen MT" pitchFamily="34" charset="0"/>
              </a:rPr>
              <a:t>Bygrave</a:t>
            </a:r>
            <a:r>
              <a:rPr lang="en-US" sz="1800" dirty="0">
                <a:latin typeface="Tw Cen MT" pitchFamily="34" charset="0"/>
              </a:rPr>
              <a:t> &amp; </a:t>
            </a:r>
            <a:r>
              <a:rPr lang="en-US" sz="1800" dirty="0" err="1">
                <a:latin typeface="Tw Cen MT" pitchFamily="34" charset="0"/>
              </a:rPr>
              <a:t>Zacharakis</a:t>
            </a:r>
            <a:r>
              <a:rPr lang="en-US" sz="1800" dirty="0">
                <a:latin typeface="Tw Cen MT" pitchFamily="34" charset="0"/>
              </a:rPr>
              <a:t>, </a:t>
            </a:r>
            <a:r>
              <a:rPr lang="en-US" sz="1800" i="1" dirty="0">
                <a:latin typeface="Tw Cen MT" pitchFamily="34" charset="0"/>
              </a:rPr>
              <a:t>Entrepreneurship</a:t>
            </a:r>
            <a:r>
              <a:rPr lang="en-US" sz="1800" dirty="0">
                <a:latin typeface="Tw Cen MT" pitchFamily="34" charset="0"/>
              </a:rPr>
              <a:t>, New York: Wiley, 2010.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12" y="1295400"/>
            <a:ext cx="8915400" cy="4081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dirty="0"/>
              <a:t>Brainstorming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dirty="0"/>
              <a:t>Mind Mapping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dirty="0"/>
              <a:t>Rapid Prototyping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dirty="0"/>
              <a:t>Mix n Match (Thomas Edison Challenge)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200" dirty="0"/>
              <a:t>Attribute Listing Chart</a:t>
            </a:r>
          </a:p>
        </p:txBody>
      </p:sp>
    </p:spTree>
    <p:extLst>
      <p:ext uri="{BB962C8B-B14F-4D97-AF65-F5344CB8AC3E}">
        <p14:creationId xmlns="" xmlns:p14="http://schemas.microsoft.com/office/powerpoint/2010/main" val="290972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774</Words>
  <Application>Microsoft Office PowerPoint</Application>
  <PresentationFormat>On-screen Show (4:3)</PresentationFormat>
  <Paragraphs>191</Paragraphs>
  <Slides>22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ENTREPRENEURSHIP </vt:lpstr>
      <vt:lpstr>Tips for Enhancing Organizational Creativity</vt:lpstr>
      <vt:lpstr>Tips for Enhancing Organizational Creativity</vt:lpstr>
      <vt:lpstr>Tips for Enhancing Organizational Creativity</vt:lpstr>
      <vt:lpstr>Slide 5</vt:lpstr>
      <vt:lpstr>Tips for Enhancing Individual Creativity</vt:lpstr>
      <vt:lpstr>Tips for Enhancing Individual Creativity</vt:lpstr>
      <vt:lpstr>Objectives</vt:lpstr>
      <vt:lpstr>Brainstorming </vt:lpstr>
      <vt:lpstr>Brainstorming Guidelines</vt:lpstr>
      <vt:lpstr>Brainstorming Guidelines</vt:lpstr>
      <vt:lpstr>Techniques for Improving the Creative Process</vt:lpstr>
      <vt:lpstr>Mind Mapping- How to Draw?</vt:lpstr>
      <vt:lpstr>Mind Mapping – How to Draw?</vt:lpstr>
      <vt:lpstr>EXAMPLES OF MIND MAP</vt:lpstr>
      <vt:lpstr>Mix n Match ( Thomas Edison)</vt:lpstr>
      <vt:lpstr>Mix n Match ( Thomas Edison)</vt:lpstr>
      <vt:lpstr>Techniques for Improving the Creative Process</vt:lpstr>
      <vt:lpstr>Attribute Listing Chart</vt:lpstr>
      <vt:lpstr>Attribute Listing Chart to</vt:lpstr>
      <vt:lpstr>Attribute Listing Chart to Create a new Lamp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Sara</cp:lastModifiedBy>
  <cp:revision>65</cp:revision>
  <dcterms:created xsi:type="dcterms:W3CDTF">2013-10-03T09:43:12Z</dcterms:created>
  <dcterms:modified xsi:type="dcterms:W3CDTF">2019-11-08T05:29:32Z</dcterms:modified>
</cp:coreProperties>
</file>