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6" r:id="rId2"/>
    <p:sldId id="297" r:id="rId3"/>
    <p:sldId id="298" r:id="rId4"/>
    <p:sldId id="300" r:id="rId5"/>
    <p:sldId id="302" r:id="rId6"/>
    <p:sldId id="305" r:id="rId7"/>
    <p:sldId id="301" r:id="rId8"/>
    <p:sldId id="306" r:id="rId9"/>
    <p:sldId id="308" r:id="rId10"/>
    <p:sldId id="304" r:id="rId11"/>
    <p:sldId id="309" r:id="rId12"/>
    <p:sldId id="303" r:id="rId13"/>
    <p:sldId id="307" r:id="rId14"/>
    <p:sldId id="313" r:id="rId15"/>
    <p:sldId id="312" r:id="rId16"/>
    <p:sldId id="314" r:id="rId17"/>
    <p:sldId id="311" r:id="rId18"/>
    <p:sldId id="316" r:id="rId19"/>
    <p:sldId id="317" r:id="rId20"/>
    <p:sldId id="318" r:id="rId21"/>
    <p:sldId id="319" r:id="rId22"/>
    <p:sldId id="320" r:id="rId23"/>
    <p:sldId id="321" r:id="rId24"/>
    <p:sldId id="29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4812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3-10-21T04:31:25.17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11/21/2019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4FC7C-2C86-42B5-8ACD-2311E570519F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0F12F-779F-4AED-AFCA-F91AF493A901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2F095-ECE1-425E-8DF0-DADB8C6F86E3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76DA-82AC-413F-B864-71617FE0E175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6A7FE-7034-4681-B124-5890A5F87616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ED661-C88F-4EB2-A0C2-A132533721E7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35F82-4F9B-4580-B7D3-1D4F645348FF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1650-239C-41B5-8365-064BCF755539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00E58-1F7B-4CD3-846B-5C043A6C39FB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A7D9E-ECF3-4A62-A80F-D84CEFBCCCB1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D57C-0224-4C79-BDA6-18228FA95FAF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9C2C6-5BB7-46EE-8EB1-A9F11F5DD6C2}" type="datetime1">
              <a:rPr lang="en-US" smtClean="0"/>
              <a:pPr/>
              <a:t>11/21/2019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</a:t>
            </a:r>
            <a:r>
              <a:rPr lang="en-US" sz="6000"/>
              <a:t>: </a:t>
            </a:r>
            <a:r>
              <a:rPr lang="en-US" sz="6000" smtClean="0"/>
              <a:t>10</a:t>
            </a:r>
            <a:endParaRPr lang="en-US" sz="6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6664325" y="4686300"/>
              <a:ext cx="0" cy="0"/>
            </p14:xfrm>
          </p:contentPart>
        </mc:Choice>
        <mc:Fallback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664325" y="4686300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Previous Lecture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206991" y="1626357"/>
            <a:ext cx="83820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dirty="0"/>
              <a:t>Creativity Techniques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Brainstorming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Mind Mapping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Rapid Prototyping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Mix n Match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Attribute Listing Chart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963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Distinguish the different forms of Innovation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Differentiate between the different types of innovation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984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Making Sense of Innovation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Categorization based upon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514350" indent="-514350">
              <a:lnSpc>
                <a:spcPct val="90000"/>
              </a:lnSpc>
              <a:buFont typeface="+mj-lt"/>
              <a:buAutoNum type="arabicParenR"/>
            </a:pPr>
            <a:r>
              <a:rPr lang="en-US" sz="2800" dirty="0"/>
              <a:t>Form of Innovation (Application)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arenR"/>
            </a:pPr>
            <a:r>
              <a:rPr lang="en-US" sz="2800" dirty="0"/>
              <a:t>Degree of Novelty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57803" y="1447800"/>
            <a:ext cx="3091721" cy="2057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05400" y="4315536"/>
            <a:ext cx="3668810" cy="187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1282354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3 Principles Applications of Innovation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Product Innovation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Service Innovation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Process Innovation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4012171818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648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Consumer Products- Most obvious Application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Example: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Dyson- Dual Cyclone Technology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IPhone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Helps Persuade Customers in buying decision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 err="1"/>
              <a:t>Ansoff</a:t>
            </a:r>
            <a:r>
              <a:rPr lang="en-US" sz="2800" dirty="0"/>
              <a:t> matrix has a business strategy called New Product Development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Equally applicable to Industrial Products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91400" y="2133600"/>
            <a:ext cx="1469672" cy="174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2171818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New Service Applications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Do not attract as much as Product Innovations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Take form of a new way of providing  existing service with new Business Model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Example ‘Direct Line’ Telephone Insurance Business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Example ‘Ryan Air’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81400" y="5045549"/>
            <a:ext cx="1988510" cy="1819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36326" y="5045549"/>
            <a:ext cx="2552700" cy="1790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2676" y="152400"/>
            <a:ext cx="180975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2171818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Completely New Services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Example: lastminute.com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Example: ebay.com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90600" y="4556441"/>
            <a:ext cx="3314700" cy="1381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57800" y="3946659"/>
            <a:ext cx="3448532" cy="26006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1066800"/>
            <a:ext cx="180975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2508438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 INNOVATION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" y="990600"/>
            <a:ext cx="8305800" cy="576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043272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9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Bigger impact on Society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Sometimes least visible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Example: Alistair’s Float Glass Manufacturing Process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Example: B2B E-Commerce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	      B2C E-Commerce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05400" y="1295399"/>
            <a:ext cx="3581400" cy="23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2171818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INNOVATION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" y="1371600"/>
            <a:ext cx="7766445" cy="4525963"/>
          </a:xfrm>
        </p:spPr>
      </p:pic>
    </p:spTree>
    <p:extLst>
      <p:ext uri="{BB962C8B-B14F-4D97-AF65-F5344CB8AC3E}">
        <p14:creationId xmlns:p14="http://schemas.microsoft.com/office/powerpoint/2010/main" xmlns="" val="1975350869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Forms of Innovation-Examples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1701917"/>
            <a:ext cx="8229600" cy="4322528"/>
          </a:xfrm>
        </p:spPr>
      </p:pic>
    </p:spTree>
    <p:extLst>
      <p:ext uri="{BB962C8B-B14F-4D97-AF65-F5344CB8AC3E}">
        <p14:creationId xmlns:p14="http://schemas.microsoft.com/office/powerpoint/2010/main" xmlns="" val="4012171818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Forms of Innovation-Examples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1000" y="1371600"/>
            <a:ext cx="8229600" cy="4212882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05600" y="4769893"/>
            <a:ext cx="2057400" cy="205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2000" y="4769893"/>
            <a:ext cx="1447800" cy="19328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5600" y="4896712"/>
            <a:ext cx="2743200" cy="193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7567506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763000" cy="48006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Henderson &amp; Clarke’s Innovation Framework (1990)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Applicable to Products, Services and Process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Recognizes that Products are systems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Systems are made up of Components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Example:  Pen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Components: </a:t>
            </a:r>
            <a:r>
              <a:rPr lang="en-US" sz="2800" dirty="0" err="1"/>
              <a:t>Knib</a:t>
            </a:r>
            <a:r>
              <a:rPr lang="en-US" sz="2800" dirty="0"/>
              <a:t>, Ink Storage, Stem, Cover, Ink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System: Interaction of Components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939266945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Component Knowledge (CORE DESIGN CONCEPTS)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Knowledge of Components that Perform Well Defined Function within  Broader System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System Knowledge (ARCHITECTURAL KNOWLEDGE)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The way components are integrated and linked together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939266945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Example: Washing Machine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Components : M</a:t>
            </a:r>
            <a:r>
              <a:rPr lang="en-US" sz="2800" i="1" dirty="0"/>
              <a:t>otor, Pump, Drum,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i="1" dirty="0"/>
              <a:t>Programmer, Chassis, Door and Body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i="1" dirty="0"/>
              <a:t>System : the way in which the system is configured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i="1" dirty="0"/>
              <a:t>Incremental Innovation: Change in Speed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i="1" dirty="0"/>
              <a:t>20 years ago 1000 rpm; Today 1600 rpm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i="1" dirty="0"/>
              <a:t>Architectural Innovation: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i="1" dirty="0"/>
              <a:t>Twin Tubs Machine to Automatic Washing Machine with Spinner and Washer in one Drum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67500" y="762000"/>
            <a:ext cx="2476500" cy="1847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467600" y="3505200"/>
            <a:ext cx="1552992" cy="207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3818572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3462" y="1524000"/>
            <a:ext cx="707707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9266945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Incremental Innovation</a:t>
            </a:r>
          </a:p>
          <a:p>
            <a:r>
              <a:rPr lang="en-US" sz="2800" dirty="0"/>
              <a:t>refines and improves an existing design, through</a:t>
            </a:r>
          </a:p>
          <a:p>
            <a:pPr marL="0" indent="0">
              <a:buNone/>
            </a:pPr>
            <a:r>
              <a:rPr lang="en-US" sz="2800" dirty="0"/>
              <a:t> improvements in the components.</a:t>
            </a:r>
          </a:p>
          <a:p>
            <a:pPr marL="0" indent="0">
              <a:buNone/>
            </a:pPr>
            <a:endParaRPr lang="en-US" sz="2800" i="1" dirty="0"/>
          </a:p>
          <a:p>
            <a:pPr>
              <a:lnSpc>
                <a:spcPct val="90000"/>
              </a:lnSpc>
            </a:pPr>
            <a:r>
              <a:rPr lang="en-US" sz="2800" dirty="0"/>
              <a:t>Components are not Radically Altered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r>
              <a:rPr lang="en-US" sz="2800" dirty="0"/>
              <a:t>Result of Improvements in Knowledge and Materials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300065631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Radical Innovation</a:t>
            </a:r>
          </a:p>
          <a:p>
            <a:r>
              <a:rPr lang="en-US" sz="2800" dirty="0"/>
              <a:t>Establishes a new dominant design, and hence a new set of core design concepts embodied in components that are linked together in a new architecture.</a:t>
            </a:r>
          </a:p>
          <a:p>
            <a:endParaRPr lang="en-US" sz="2800" dirty="0"/>
          </a:p>
          <a:p>
            <a:r>
              <a:rPr lang="en-US" sz="2800" dirty="0"/>
              <a:t>Often associated with the introduction of a new technology</a:t>
            </a:r>
            <a:endParaRPr lang="en-US" sz="2800" i="1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691523564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" y="1066800"/>
            <a:ext cx="8652786" cy="4953000"/>
          </a:xfrm>
        </p:spPr>
      </p:pic>
    </p:spTree>
    <p:extLst>
      <p:ext uri="{BB962C8B-B14F-4D97-AF65-F5344CB8AC3E}">
        <p14:creationId xmlns:p14="http://schemas.microsoft.com/office/powerpoint/2010/main" xmlns="" val="2081261898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Modular Innovation</a:t>
            </a:r>
          </a:p>
          <a:p>
            <a:r>
              <a:rPr lang="en-US" sz="2800" dirty="0"/>
              <a:t>uses the architecture of existing system of an established product, but employs new components with different design concepts.</a:t>
            </a:r>
          </a:p>
          <a:p>
            <a:r>
              <a:rPr lang="en-US" sz="2800" dirty="0"/>
              <a:t>impact is usually less dramatic than radical innovation.</a:t>
            </a:r>
          </a:p>
          <a:p>
            <a:r>
              <a:rPr lang="en-US" sz="2800" dirty="0"/>
              <a:t>Example: Clockwork Radio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Used in areas facing power shortages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In Developed Countries by Hikers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05600" y="4500562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709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Architectural Innovation</a:t>
            </a:r>
          </a:p>
          <a:p>
            <a:r>
              <a:rPr lang="en-US" sz="2800" i="1" dirty="0"/>
              <a:t>The reconfiguration of an established system to link together existing components in a new way.</a:t>
            </a:r>
          </a:p>
          <a:p>
            <a:r>
              <a:rPr lang="en-US" sz="2800" dirty="0"/>
              <a:t>Manufacturers take the opportunity to refine and improve some components but changes are minor</a:t>
            </a:r>
          </a:p>
          <a:p>
            <a:endParaRPr lang="en-US" sz="2800" dirty="0"/>
          </a:p>
          <a:p>
            <a:r>
              <a:rPr lang="en-US" sz="2800" dirty="0"/>
              <a:t>Example: Sony Walkman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81601" y="4114800"/>
            <a:ext cx="2514600" cy="241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7090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INNOVATION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1000" y="1676400"/>
            <a:ext cx="8464443" cy="3620451"/>
          </a:xfrm>
        </p:spPr>
      </p:pic>
    </p:spTree>
    <p:extLst>
      <p:ext uri="{BB962C8B-B14F-4D97-AF65-F5344CB8AC3E}">
        <p14:creationId xmlns:p14="http://schemas.microsoft.com/office/powerpoint/2010/main" xmlns="" val="3724725752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3384645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Distinguish the different forms of Innovation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Differentiate between the different types of innovation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0972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538</Words>
  <Application>Microsoft Office PowerPoint</Application>
  <PresentationFormat>On-screen Show (4:3)</PresentationFormat>
  <Paragraphs>155</Paragraphs>
  <Slides>24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ENTREPRENEURSHIP </vt:lpstr>
      <vt:lpstr> Previous Lecture Review</vt:lpstr>
      <vt:lpstr>Objectives</vt:lpstr>
      <vt:lpstr>INNOVATION </vt:lpstr>
      <vt:lpstr>FORMS OF INNOVATION </vt:lpstr>
      <vt:lpstr>PRODUCT INNOVATION </vt:lpstr>
      <vt:lpstr>SERVICE INNOVATION </vt:lpstr>
      <vt:lpstr>SERVICE INNOVATION </vt:lpstr>
      <vt:lpstr>SERVICE INNOVATION </vt:lpstr>
      <vt:lpstr>PROCESS INNOVATION </vt:lpstr>
      <vt:lpstr>PROCESS INNOVATION </vt:lpstr>
      <vt:lpstr>Forms of Innovation-Examples </vt:lpstr>
      <vt:lpstr>Forms of Innovation-Examples </vt:lpstr>
      <vt:lpstr>TYPES OF INNOVATION </vt:lpstr>
      <vt:lpstr>TYPES OF INNOVATION </vt:lpstr>
      <vt:lpstr>TYPES OF INNOVATION </vt:lpstr>
      <vt:lpstr>TYPES OF INNOVATION </vt:lpstr>
      <vt:lpstr>TYPES OF INNOVATION </vt:lpstr>
      <vt:lpstr>TYPES OF INNOVATION </vt:lpstr>
      <vt:lpstr>TYPES OF INNOVATION </vt:lpstr>
      <vt:lpstr>TYPES OF INNOVATION </vt:lpstr>
      <vt:lpstr>TYPES OF INNOVATION </vt:lpstr>
      <vt:lpstr>TYPES OF INNOVATION 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Sara</cp:lastModifiedBy>
  <cp:revision>144</cp:revision>
  <dcterms:created xsi:type="dcterms:W3CDTF">2013-10-03T09:43:12Z</dcterms:created>
  <dcterms:modified xsi:type="dcterms:W3CDTF">2019-11-21T07:32:45Z</dcterms:modified>
</cp:coreProperties>
</file>