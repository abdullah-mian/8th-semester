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97" r:id="rId2"/>
    <p:sldId id="298" r:id="rId3"/>
    <p:sldId id="300" r:id="rId4"/>
    <p:sldId id="301" r:id="rId5"/>
    <p:sldId id="302" r:id="rId6"/>
    <p:sldId id="303" r:id="rId7"/>
    <p:sldId id="304" r:id="rId8"/>
    <p:sldId id="305" r:id="rId9"/>
    <p:sldId id="306" r:id="rId10"/>
    <p:sldId id="307" r:id="rId11"/>
    <p:sldId id="308" r:id="rId12"/>
    <p:sldId id="309" r:id="rId13"/>
    <p:sldId id="310" r:id="rId14"/>
    <p:sldId id="311" r:id="rId15"/>
    <p:sldId id="312" r:id="rId16"/>
    <p:sldId id="313" r:id="rId17"/>
    <p:sldId id="318" r:id="rId18"/>
    <p:sldId id="315" r:id="rId19"/>
    <p:sldId id="316" r:id="rId20"/>
    <p:sldId id="319" r:id="rId21"/>
    <p:sldId id="320" r:id="rId22"/>
    <p:sldId id="29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1" autoAdjust="0"/>
  </p:normalViewPr>
  <p:slideViewPr>
    <p:cSldViewPr>
      <p:cViewPr varScale="1">
        <p:scale>
          <a:sx n="67" d="100"/>
          <a:sy n="67" d="100"/>
        </p:scale>
        <p:origin x="528" y="60"/>
      </p:cViewPr>
      <p:guideLst>
        <p:guide orient="horz" pos="2160"/>
        <p:guide pos="2880"/>
      </p:guideLst>
    </p:cSldViewPr>
  </p:slideViewPr>
  <p:outlineViewPr>
    <p:cViewPr>
      <p:scale>
        <a:sx n="33" d="100"/>
        <a:sy n="33" d="100"/>
      </p:scale>
      <p:origin x="0" y="0"/>
    </p:cViewPr>
    <p:sldLst>
      <p:sld r:id="rId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85B88A-C841-402B-B2F9-EDF798484FBC}" type="datetimeFigureOut">
              <a:rPr lang="en-US" smtClean="0"/>
              <a:pPr/>
              <a:t>12/5/2019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E3A5EB-6F79-4447-ABC5-06DD99348053}" type="slidenum">
              <a:rPr lang="en-US" smtClean="0"/>
              <a:pPr/>
              <a:t>‹#›</a:t>
            </a:fld>
            <a:endParaRPr lang="en-US"/>
          </a:p>
        </p:txBody>
      </p:sp>
    </p:spTree>
    <p:extLst>
      <p:ext uri="{BB962C8B-B14F-4D97-AF65-F5344CB8AC3E}">
        <p14:creationId xmlns:p14="http://schemas.microsoft.com/office/powerpoint/2010/main" val="2277825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9646EEB-3ABB-484B-AA77-E051017B9AE3}" type="slidenum">
              <a:rPr lang="en-US" smtClean="0"/>
              <a:pPr/>
              <a:t>4</a:t>
            </a:fld>
            <a:endParaRPr lang="en-US"/>
          </a:p>
        </p:txBody>
      </p:sp>
    </p:spTree>
    <p:extLst>
      <p:ext uri="{BB962C8B-B14F-4D97-AF65-F5344CB8AC3E}">
        <p14:creationId xmlns:p14="http://schemas.microsoft.com/office/powerpoint/2010/main" val="2731482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6589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xfrm>
            <a:off x="1144588" y="687388"/>
            <a:ext cx="4568825" cy="3425825"/>
          </a:xfrm>
          <a:prstGeom prst="rect">
            <a:avLst/>
          </a:prstGeom>
          <a:solidFill>
            <a:srgbClr val="FFFFFF"/>
          </a:solidFill>
          <a:ln>
            <a:solidFill>
              <a:srgbClr val="000000"/>
            </a:solidFill>
            <a:miter lim="800000"/>
            <a:headEnd/>
            <a:tailEnd/>
          </a:ln>
        </p:spPr>
      </p:sp>
      <p:sp>
        <p:nvSpPr>
          <p:cNvPr id="921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500266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xfrm>
            <a:off x="1144588" y="687388"/>
            <a:ext cx="4568825" cy="3425825"/>
          </a:xfrm>
          <a:prstGeom prst="rect">
            <a:avLst/>
          </a:prstGeom>
          <a:solidFill>
            <a:srgbClr val="FFFFFF"/>
          </a:solidFill>
          <a:ln>
            <a:solidFill>
              <a:srgbClr val="000000"/>
            </a:solidFill>
            <a:miter lim="800000"/>
            <a:headEnd/>
            <a:tailEnd/>
          </a:ln>
        </p:spPr>
      </p:sp>
      <p:sp>
        <p:nvSpPr>
          <p:cNvPr id="921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60940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xfrm>
            <a:off x="1144588" y="687388"/>
            <a:ext cx="4568825" cy="3425825"/>
          </a:xfrm>
          <a:prstGeom prst="rect">
            <a:avLst/>
          </a:prstGeom>
          <a:solidFill>
            <a:srgbClr val="FFFFFF"/>
          </a:solidFill>
          <a:ln>
            <a:solidFill>
              <a:srgbClr val="000000"/>
            </a:solidFill>
            <a:miter lim="800000"/>
            <a:headEnd/>
            <a:tailEnd/>
          </a:ln>
        </p:spPr>
      </p:sp>
      <p:sp>
        <p:nvSpPr>
          <p:cNvPr id="921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486367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06238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xfrm>
            <a:off x="1144588" y="687388"/>
            <a:ext cx="4568825" cy="3425825"/>
          </a:xfrm>
          <a:prstGeom prst="rect">
            <a:avLst/>
          </a:prstGeom>
          <a:solidFill>
            <a:srgbClr val="FFFFFF"/>
          </a:solidFill>
          <a:ln>
            <a:solidFill>
              <a:srgbClr val="000000"/>
            </a:solidFill>
            <a:miter lim="800000"/>
            <a:headEnd/>
            <a:tailEnd/>
          </a:ln>
        </p:spPr>
      </p:sp>
      <p:sp>
        <p:nvSpPr>
          <p:cNvPr id="921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2336162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xfrm>
            <a:off x="1144588" y="687388"/>
            <a:ext cx="4568825" cy="3425825"/>
          </a:xfrm>
          <a:prstGeom prst="rect">
            <a:avLst/>
          </a:prstGeom>
          <a:solidFill>
            <a:srgbClr val="FFFFFF"/>
          </a:solidFill>
          <a:ln>
            <a:solidFill>
              <a:srgbClr val="000000"/>
            </a:solidFill>
            <a:miter lim="800000"/>
            <a:headEnd/>
            <a:tailEnd/>
          </a:ln>
        </p:spPr>
      </p:sp>
      <p:sp>
        <p:nvSpPr>
          <p:cNvPr id="921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472417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xfrm>
            <a:off x="1144588" y="687388"/>
            <a:ext cx="4568825" cy="3425825"/>
          </a:xfrm>
          <a:prstGeom prst="rect">
            <a:avLst/>
          </a:prstGeom>
          <a:solidFill>
            <a:srgbClr val="FFFFFF"/>
          </a:solidFill>
          <a:ln>
            <a:solidFill>
              <a:srgbClr val="000000"/>
            </a:solidFill>
            <a:miter lim="800000"/>
            <a:headEnd/>
            <a:tailEnd/>
          </a:ln>
        </p:spPr>
      </p:sp>
      <p:sp>
        <p:nvSpPr>
          <p:cNvPr id="9216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3655837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1144588" y="687388"/>
            <a:ext cx="4568825" cy="3425825"/>
          </a:xfrm>
          <a:prstGeom prst="rect">
            <a:avLst/>
          </a:prstGeom>
          <a:solidFill>
            <a:srgbClr val="FFFFFF"/>
          </a:solidFill>
          <a:ln>
            <a:solidFill>
              <a:srgbClr val="000000"/>
            </a:solidFill>
            <a:miter lim="800000"/>
            <a:headEnd/>
            <a:tailEnd/>
          </a:ln>
        </p:spPr>
      </p:sp>
      <p:sp>
        <p:nvSpPr>
          <p:cNvPr id="942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087960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1144588" y="687388"/>
            <a:ext cx="4568825" cy="3425825"/>
          </a:xfrm>
          <a:prstGeom prst="rect">
            <a:avLst/>
          </a:prstGeom>
          <a:solidFill>
            <a:srgbClr val="FFFFFF"/>
          </a:solidFill>
          <a:ln>
            <a:solidFill>
              <a:srgbClr val="000000"/>
            </a:solidFill>
            <a:miter lim="800000"/>
            <a:headEnd/>
            <a:tailEnd/>
          </a:ln>
        </p:spPr>
      </p:sp>
      <p:sp>
        <p:nvSpPr>
          <p:cNvPr id="9421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2000457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E915CF7-932B-438C-9FB7-FCA53A92D0FB}" type="datetime1">
              <a:rPr lang="en-US" smtClean="0"/>
              <a:pPr/>
              <a:t>12/5/2019</a:t>
            </a:fld>
            <a:endParaRPr lang="en-US"/>
          </a:p>
        </p:txBody>
      </p:sp>
      <p:sp>
        <p:nvSpPr>
          <p:cNvPr id="5" name="Footer Placeholder 4"/>
          <p:cNvSpPr>
            <a:spLocks noGrp="1"/>
          </p:cNvSpPr>
          <p:nvPr>
            <p:ph type="ftr" sz="quarter" idx="11"/>
          </p:nvPr>
        </p:nvSpPr>
        <p:spPr/>
        <p:txBody>
          <a:bodyPr/>
          <a:lstStyle/>
          <a:p>
            <a:r>
              <a:rPr lang="en-US"/>
              <a:t>Chapter 2: Creativity</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2594157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B67265-9A8D-4E3C-B190-90DD391ACF89}" type="datetime1">
              <a:rPr lang="en-US" smtClean="0"/>
              <a:pPr/>
              <a:t>12/5/2019</a:t>
            </a:fld>
            <a:endParaRPr lang="en-US"/>
          </a:p>
        </p:txBody>
      </p:sp>
      <p:sp>
        <p:nvSpPr>
          <p:cNvPr id="5" name="Footer Placeholder 4"/>
          <p:cNvSpPr>
            <a:spLocks noGrp="1"/>
          </p:cNvSpPr>
          <p:nvPr>
            <p:ph type="ftr" sz="quarter" idx="11"/>
          </p:nvPr>
        </p:nvSpPr>
        <p:spPr/>
        <p:txBody>
          <a:bodyPr/>
          <a:lstStyle/>
          <a:p>
            <a:r>
              <a:rPr lang="en-US"/>
              <a:t>Chapter 2: Creativity</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953092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A61BB-047E-4149-B017-ED8E8782C3F7}" type="datetime1">
              <a:rPr lang="en-US" smtClean="0"/>
              <a:pPr/>
              <a:t>12/5/2019</a:t>
            </a:fld>
            <a:endParaRPr lang="en-US"/>
          </a:p>
        </p:txBody>
      </p:sp>
      <p:sp>
        <p:nvSpPr>
          <p:cNvPr id="5" name="Footer Placeholder 4"/>
          <p:cNvSpPr>
            <a:spLocks noGrp="1"/>
          </p:cNvSpPr>
          <p:nvPr>
            <p:ph type="ftr" sz="quarter" idx="11"/>
          </p:nvPr>
        </p:nvSpPr>
        <p:spPr/>
        <p:txBody>
          <a:bodyPr/>
          <a:lstStyle/>
          <a:p>
            <a:r>
              <a:rPr lang="en-US"/>
              <a:t>Chapter 2: Creativity</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3672462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DED0B2-0846-484B-BB2B-CB63C95662D0}" type="datetime1">
              <a:rPr lang="en-US" smtClean="0"/>
              <a:pPr/>
              <a:t>12/5/2019</a:t>
            </a:fld>
            <a:endParaRPr lang="en-US"/>
          </a:p>
        </p:txBody>
      </p:sp>
      <p:sp>
        <p:nvSpPr>
          <p:cNvPr id="6" name="Footer Placeholder 5"/>
          <p:cNvSpPr>
            <a:spLocks noGrp="1"/>
          </p:cNvSpPr>
          <p:nvPr>
            <p:ph type="ftr" sz="quarter" idx="11"/>
          </p:nvPr>
        </p:nvSpPr>
        <p:spPr/>
        <p:txBody>
          <a:bodyPr/>
          <a:lstStyle/>
          <a:p>
            <a:r>
              <a:rPr lang="en-US"/>
              <a:t>Chapter 2: Creativity</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2902116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1CE149-9043-42E5-9BEC-185CEE4BE464}" type="datetime1">
              <a:rPr lang="en-US" smtClean="0"/>
              <a:pPr/>
              <a:t>12/5/2019</a:t>
            </a:fld>
            <a:endParaRPr lang="en-US"/>
          </a:p>
        </p:txBody>
      </p:sp>
      <p:sp>
        <p:nvSpPr>
          <p:cNvPr id="8" name="Footer Placeholder 7"/>
          <p:cNvSpPr>
            <a:spLocks noGrp="1"/>
          </p:cNvSpPr>
          <p:nvPr>
            <p:ph type="ftr" sz="quarter" idx="11"/>
          </p:nvPr>
        </p:nvSpPr>
        <p:spPr/>
        <p:txBody>
          <a:bodyPr/>
          <a:lstStyle/>
          <a:p>
            <a:r>
              <a:rPr lang="en-US"/>
              <a:t>Chapter 2: Creativity</a:t>
            </a:r>
          </a:p>
        </p:txBody>
      </p:sp>
      <p:sp>
        <p:nvSpPr>
          <p:cNvPr id="9" name="Slide Number Placeholder 8"/>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1873893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29007A0-4DD6-49D8-8D80-9F6594D0EAF1}" type="datetime1">
              <a:rPr lang="en-US" smtClean="0"/>
              <a:pPr/>
              <a:t>12/5/2019</a:t>
            </a:fld>
            <a:endParaRPr lang="en-US"/>
          </a:p>
        </p:txBody>
      </p:sp>
      <p:sp>
        <p:nvSpPr>
          <p:cNvPr id="4" name="Footer Placeholder 3"/>
          <p:cNvSpPr>
            <a:spLocks noGrp="1"/>
          </p:cNvSpPr>
          <p:nvPr>
            <p:ph type="ftr" sz="quarter" idx="11"/>
          </p:nvPr>
        </p:nvSpPr>
        <p:spPr/>
        <p:txBody>
          <a:bodyPr/>
          <a:lstStyle/>
          <a:p>
            <a:r>
              <a:rPr lang="en-US"/>
              <a:t>Chapter 2: Creativity</a:t>
            </a:r>
          </a:p>
        </p:txBody>
      </p:sp>
      <p:sp>
        <p:nvSpPr>
          <p:cNvPr id="5" name="Slide Number Placeholder 4"/>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3763149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BB0126-9913-499E-9026-7BE43B49E0F8}" type="datetime1">
              <a:rPr lang="en-US" smtClean="0"/>
              <a:pPr/>
              <a:t>12/5/2019</a:t>
            </a:fld>
            <a:endParaRPr lang="en-US"/>
          </a:p>
        </p:txBody>
      </p:sp>
      <p:sp>
        <p:nvSpPr>
          <p:cNvPr id="3" name="Footer Placeholder 2"/>
          <p:cNvSpPr>
            <a:spLocks noGrp="1"/>
          </p:cNvSpPr>
          <p:nvPr>
            <p:ph type="ftr" sz="quarter" idx="11"/>
          </p:nvPr>
        </p:nvSpPr>
        <p:spPr/>
        <p:txBody>
          <a:bodyPr/>
          <a:lstStyle/>
          <a:p>
            <a:r>
              <a:rPr lang="en-US"/>
              <a:t>Chapter 2: Creativity</a:t>
            </a:r>
          </a:p>
        </p:txBody>
      </p:sp>
      <p:sp>
        <p:nvSpPr>
          <p:cNvPr id="4" name="Slide Number Placeholder 3"/>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1126882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D455C0-6C58-49A8-8353-D58392881603}" type="datetime1">
              <a:rPr lang="en-US" smtClean="0"/>
              <a:pPr/>
              <a:t>12/5/2019</a:t>
            </a:fld>
            <a:endParaRPr lang="en-US"/>
          </a:p>
        </p:txBody>
      </p:sp>
      <p:sp>
        <p:nvSpPr>
          <p:cNvPr id="6" name="Footer Placeholder 5"/>
          <p:cNvSpPr>
            <a:spLocks noGrp="1"/>
          </p:cNvSpPr>
          <p:nvPr>
            <p:ph type="ftr" sz="quarter" idx="11"/>
          </p:nvPr>
        </p:nvSpPr>
        <p:spPr/>
        <p:txBody>
          <a:bodyPr/>
          <a:lstStyle/>
          <a:p>
            <a:r>
              <a:rPr lang="en-US"/>
              <a:t>Chapter 2: Creativity</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3741652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557D96-211B-4855-A31A-1A6E4CE2DB29}" type="datetime1">
              <a:rPr lang="en-US" smtClean="0"/>
              <a:pPr/>
              <a:t>12/5/2019</a:t>
            </a:fld>
            <a:endParaRPr lang="en-US"/>
          </a:p>
        </p:txBody>
      </p:sp>
      <p:sp>
        <p:nvSpPr>
          <p:cNvPr id="6" name="Footer Placeholder 5"/>
          <p:cNvSpPr>
            <a:spLocks noGrp="1"/>
          </p:cNvSpPr>
          <p:nvPr>
            <p:ph type="ftr" sz="quarter" idx="11"/>
          </p:nvPr>
        </p:nvSpPr>
        <p:spPr/>
        <p:txBody>
          <a:bodyPr/>
          <a:lstStyle/>
          <a:p>
            <a:r>
              <a:rPr lang="en-US"/>
              <a:t>Chapter 2: Creativity</a:t>
            </a:r>
          </a:p>
        </p:txBody>
      </p:sp>
      <p:sp>
        <p:nvSpPr>
          <p:cNvPr id="7" name="Slide Number Placeholder 6"/>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83508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5917A8-5A9D-4F2B-88F5-8FCEA6B57F18}" type="datetime1">
              <a:rPr lang="en-US" smtClean="0"/>
              <a:pPr/>
              <a:t>12/5/2019</a:t>
            </a:fld>
            <a:endParaRPr lang="en-US"/>
          </a:p>
        </p:txBody>
      </p:sp>
      <p:sp>
        <p:nvSpPr>
          <p:cNvPr id="5" name="Footer Placeholder 4"/>
          <p:cNvSpPr>
            <a:spLocks noGrp="1"/>
          </p:cNvSpPr>
          <p:nvPr>
            <p:ph type="ftr" sz="quarter" idx="11"/>
          </p:nvPr>
        </p:nvSpPr>
        <p:spPr/>
        <p:txBody>
          <a:bodyPr/>
          <a:lstStyle/>
          <a:p>
            <a:r>
              <a:rPr lang="en-US"/>
              <a:t>Chapter 2: Creativity</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770703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7BEBEB-4BAC-4C6F-9FDD-CE9243E04695}" type="datetime1">
              <a:rPr lang="en-US" smtClean="0"/>
              <a:pPr/>
              <a:t>12/5/2019</a:t>
            </a:fld>
            <a:endParaRPr lang="en-US"/>
          </a:p>
        </p:txBody>
      </p:sp>
      <p:sp>
        <p:nvSpPr>
          <p:cNvPr id="5" name="Footer Placeholder 4"/>
          <p:cNvSpPr>
            <a:spLocks noGrp="1"/>
          </p:cNvSpPr>
          <p:nvPr>
            <p:ph type="ftr" sz="quarter" idx="11"/>
          </p:nvPr>
        </p:nvSpPr>
        <p:spPr/>
        <p:txBody>
          <a:bodyPr/>
          <a:lstStyle/>
          <a:p>
            <a:r>
              <a:rPr lang="en-US"/>
              <a:t>Chapter 2: Creativity</a:t>
            </a:r>
          </a:p>
        </p:txBody>
      </p:sp>
      <p:sp>
        <p:nvSpPr>
          <p:cNvPr id="6" name="Slide Number Placeholder 5"/>
          <p:cNvSpPr>
            <a:spLocks noGrp="1"/>
          </p:cNvSpPr>
          <p:nvPr>
            <p:ph type="sldNum" sz="quarter" idx="12"/>
          </p:nvPr>
        </p:nvSpPr>
        <p:spPr/>
        <p:txBody>
          <a:bodyPr/>
          <a:lstStyle/>
          <a:p>
            <a:fld id="{E2E19BCC-EB6D-4706-855E-B16354E90296}" type="slidenum">
              <a:rPr lang="en-US" smtClean="0"/>
              <a:pPr/>
              <a:t>‹#›</a:t>
            </a:fld>
            <a:endParaRPr lang="en-US"/>
          </a:p>
        </p:txBody>
      </p:sp>
    </p:spTree>
    <p:extLst>
      <p:ext uri="{BB962C8B-B14F-4D97-AF65-F5344CB8AC3E}">
        <p14:creationId xmlns:p14="http://schemas.microsoft.com/office/powerpoint/2010/main" val="2841067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5B83BD-542B-42DE-8D24-AECE3D5C43C9}" type="datetime1">
              <a:rPr lang="en-US" smtClean="0"/>
              <a:pPr/>
              <a:t>12/5/2019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2: Creativity</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E19BCC-EB6D-4706-855E-B16354E90296}" type="slidenum">
              <a:rPr lang="en-US" smtClean="0"/>
              <a:pPr/>
              <a:t>‹#›</a:t>
            </a:fld>
            <a:endParaRPr lang="en-US"/>
          </a:p>
        </p:txBody>
      </p:sp>
    </p:spTree>
    <p:extLst>
      <p:ext uri="{BB962C8B-B14F-4D97-AF65-F5344CB8AC3E}">
        <p14:creationId xmlns:p14="http://schemas.microsoft.com/office/powerpoint/2010/main" val="4030905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28600"/>
            <a:ext cx="8229600" cy="1143000"/>
          </a:xfrm>
        </p:spPr>
        <p:txBody>
          <a:bodyPr/>
          <a:lstStyle/>
          <a:p>
            <a:r>
              <a:rPr lang="en-US" dirty="0"/>
              <a:t> Previous Lecture Review</a:t>
            </a:r>
          </a:p>
        </p:txBody>
      </p:sp>
      <p:sp>
        <p:nvSpPr>
          <p:cNvPr id="4" name="Slide Number Placeholder 3"/>
          <p:cNvSpPr>
            <a:spLocks noGrp="1"/>
          </p:cNvSpPr>
          <p:nvPr>
            <p:ph type="sldNum" sz="quarter" idx="12"/>
          </p:nvPr>
        </p:nvSpPr>
        <p:spPr/>
        <p:txBody>
          <a:bodyPr/>
          <a:lstStyle/>
          <a:p>
            <a:fld id="{066D2596-C744-4D7D-B83A-C0CE2C30BEB3}" type="slidenum">
              <a:rPr lang="en-US">
                <a:solidFill>
                  <a:prstClr val="black">
                    <a:tint val="75000"/>
                  </a:prstClr>
                </a:solidFill>
              </a:rPr>
              <a:pPr/>
              <a:t>1</a:t>
            </a:fld>
            <a:endParaRPr lang="en-US">
              <a:solidFill>
                <a:prstClr val="black">
                  <a:tint val="75000"/>
                </a:prstClr>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85298"/>
            <a:ext cx="3124104" cy="3038901"/>
          </a:xfrm>
          <a:prstGeom prst="rect">
            <a:avLst/>
          </a:prstGeom>
        </p:spPr>
      </p:pic>
      <p:sp>
        <p:nvSpPr>
          <p:cNvPr id="8" name="Subtitle 2"/>
          <p:cNvSpPr txBox="1">
            <a:spLocks/>
          </p:cNvSpPr>
          <p:nvPr/>
        </p:nvSpPr>
        <p:spPr>
          <a:xfrm>
            <a:off x="206991" y="1626356"/>
            <a:ext cx="8382000" cy="469824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r>
              <a:rPr lang="en-US" dirty="0"/>
              <a:t>Distinguish the different forms</a:t>
            </a:r>
          </a:p>
          <a:p>
            <a:pPr marL="0" indent="0">
              <a:buNone/>
            </a:pPr>
            <a:r>
              <a:rPr lang="en-US" dirty="0"/>
              <a:t> of Innovation</a:t>
            </a:r>
          </a:p>
          <a:p>
            <a:pPr marL="0" indent="0">
              <a:buNone/>
            </a:pPr>
            <a:r>
              <a:rPr lang="en-US" dirty="0"/>
              <a:t>Product, Service and Process.</a:t>
            </a:r>
          </a:p>
          <a:p>
            <a:pPr marL="457200" indent="-457200"/>
            <a:endParaRPr lang="en-US" dirty="0"/>
          </a:p>
          <a:p>
            <a:pPr marL="457200" indent="-457200"/>
            <a:r>
              <a:rPr lang="en-US" dirty="0"/>
              <a:t>Differentiate between the different types of innovation</a:t>
            </a:r>
          </a:p>
          <a:p>
            <a:pPr marL="457200" indent="-457200"/>
            <a:r>
              <a:rPr lang="en-US" dirty="0"/>
              <a:t>Radical, Incremental, Modular and Architectural.</a:t>
            </a:r>
          </a:p>
          <a:p>
            <a:pPr marL="457200" indent="-457200"/>
            <a:endParaRPr lang="en-US" dirty="0"/>
          </a:p>
        </p:txBody>
      </p:sp>
    </p:spTree>
    <p:extLst>
      <p:ext uri="{BB962C8B-B14F-4D97-AF65-F5344CB8AC3E}">
        <p14:creationId xmlns:p14="http://schemas.microsoft.com/office/powerpoint/2010/main" val="1479637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021" y="328282"/>
            <a:ext cx="7772400" cy="1470025"/>
          </a:xfrm>
        </p:spPr>
        <p:txBody>
          <a:bodyPr/>
          <a:lstStyle/>
          <a:p>
            <a:r>
              <a:rPr lang="en-US" dirty="0"/>
              <a:t>Objectives</a:t>
            </a:r>
          </a:p>
        </p:txBody>
      </p:sp>
      <p:sp>
        <p:nvSpPr>
          <p:cNvPr id="3" name="Subtitle 2"/>
          <p:cNvSpPr>
            <a:spLocks noGrp="1"/>
          </p:cNvSpPr>
          <p:nvPr>
            <p:ph type="subTitle" idx="1"/>
          </p:nvPr>
        </p:nvSpPr>
        <p:spPr>
          <a:xfrm>
            <a:off x="228600" y="2330355"/>
            <a:ext cx="8382000" cy="4038600"/>
          </a:xfrm>
        </p:spPr>
        <p:txBody>
          <a:bodyPr>
            <a:normAutofit/>
          </a:bodyPr>
          <a:lstStyle/>
          <a:p>
            <a:pPr marL="342900" indent="-342900" algn="l">
              <a:lnSpc>
                <a:spcPct val="90000"/>
              </a:lnSpc>
              <a:buFont typeface="Arial" pitchFamily="34" charset="0"/>
              <a:buChar char="•"/>
              <a:defRPr/>
            </a:pPr>
            <a:r>
              <a:rPr lang="en-US" dirty="0">
                <a:solidFill>
                  <a:schemeClr val="tx1"/>
                </a:solidFill>
              </a:rPr>
              <a:t>Patents</a:t>
            </a:r>
          </a:p>
          <a:p>
            <a:pPr marL="342900" indent="-342900" algn="l">
              <a:lnSpc>
                <a:spcPct val="90000"/>
              </a:lnSpc>
              <a:buFont typeface="Arial" pitchFamily="34" charset="0"/>
              <a:buChar char="•"/>
              <a:defRPr/>
            </a:pPr>
            <a:r>
              <a:rPr lang="en-US" dirty="0">
                <a:solidFill>
                  <a:schemeClr val="tx1"/>
                </a:solidFill>
              </a:rPr>
              <a:t>Steps to Patent</a:t>
            </a:r>
          </a:p>
          <a:p>
            <a:pPr marL="342900" indent="-342900" algn="l">
              <a:lnSpc>
                <a:spcPct val="90000"/>
              </a:lnSpc>
              <a:buFont typeface="Arial" pitchFamily="34" charset="0"/>
              <a:buChar char="•"/>
              <a:defRPr/>
            </a:pPr>
            <a:r>
              <a:rPr lang="en-US" dirty="0">
                <a:solidFill>
                  <a:schemeClr val="tx1"/>
                </a:solidFill>
              </a:rPr>
              <a:t>Benefits of Obtaining Patents</a:t>
            </a:r>
          </a:p>
          <a:p>
            <a:pPr marL="342900" indent="-342900" algn="l">
              <a:lnSpc>
                <a:spcPct val="90000"/>
              </a:lnSpc>
              <a:buFont typeface="Arial" pitchFamily="34" charset="0"/>
              <a:buChar char="•"/>
              <a:defRPr/>
            </a:pPr>
            <a:r>
              <a:rPr lang="en-US" dirty="0">
                <a:solidFill>
                  <a:schemeClr val="tx1"/>
                </a:solidFill>
              </a:rPr>
              <a:t>Trademarks </a:t>
            </a: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endParaRPr lang="en-US" dirty="0">
              <a:solidFill>
                <a:schemeClr val="tx1"/>
              </a:solidFill>
            </a:endParaRPr>
          </a:p>
        </p:txBody>
      </p:sp>
      <p:sp>
        <p:nvSpPr>
          <p:cNvPr id="4" name="Slide Number Placeholder 3"/>
          <p:cNvSpPr>
            <a:spLocks noGrp="1"/>
          </p:cNvSpPr>
          <p:nvPr>
            <p:ph type="sldNum" sz="quarter" idx="12"/>
          </p:nvPr>
        </p:nvSpPr>
        <p:spPr/>
        <p:txBody>
          <a:bodyPr/>
          <a:lstStyle/>
          <a:p>
            <a:fld id="{066D2596-C744-4D7D-B83A-C0CE2C30BEB3}" type="slidenum">
              <a:rPr lang="en-US" smtClean="0"/>
              <a:pPr/>
              <a:t>2</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3644" y="31845"/>
            <a:ext cx="2330355" cy="2330355"/>
          </a:xfrm>
          <a:prstGeom prst="rect">
            <a:avLst/>
          </a:prstGeom>
        </p:spPr>
      </p:pic>
    </p:spTree>
    <p:extLst>
      <p:ext uri="{BB962C8B-B14F-4D97-AF65-F5344CB8AC3E}">
        <p14:creationId xmlns:p14="http://schemas.microsoft.com/office/powerpoint/2010/main" val="91984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Two Questions.</a:t>
            </a:r>
          </a:p>
          <a:p>
            <a:endParaRPr lang="en-US" dirty="0"/>
          </a:p>
          <a:p>
            <a:r>
              <a:rPr lang="en-US" dirty="0"/>
              <a:t>Can I protect it?</a:t>
            </a:r>
          </a:p>
          <a:p>
            <a:endParaRPr lang="en-US" dirty="0"/>
          </a:p>
          <a:p>
            <a:r>
              <a:rPr lang="en-US" dirty="0"/>
              <a:t>Can I keep competition from copying the idea.</a:t>
            </a:r>
          </a:p>
        </p:txBody>
      </p:sp>
      <p:sp>
        <p:nvSpPr>
          <p:cNvPr id="4" name="Slide Number Placeholder 3"/>
          <p:cNvSpPr>
            <a:spLocks noGrp="1"/>
          </p:cNvSpPr>
          <p:nvPr>
            <p:ph type="sldNum" sz="quarter" idx="12"/>
          </p:nvPr>
        </p:nvSpPr>
        <p:spPr/>
        <p:txBody>
          <a:bodyPr/>
          <a:lstStyle/>
          <a:p>
            <a:fld id="{E2E19BCC-EB6D-4706-855E-B16354E90296}" type="slidenum">
              <a:rPr lang="en-US" smtClean="0"/>
              <a:pPr/>
              <a:t>3</a:t>
            </a:fld>
            <a:endParaRPr lang="en-US"/>
          </a:p>
        </p:txBody>
      </p:sp>
      <p:sp>
        <p:nvSpPr>
          <p:cNvPr id="5" name="TextBox 4"/>
          <p:cNvSpPr txBox="1"/>
          <p:nvPr/>
        </p:nvSpPr>
        <p:spPr>
          <a:xfrm>
            <a:off x="762000" y="304800"/>
            <a:ext cx="7391400" cy="830997"/>
          </a:xfrm>
          <a:prstGeom prst="rect">
            <a:avLst/>
          </a:prstGeom>
          <a:noFill/>
        </p:spPr>
        <p:txBody>
          <a:bodyPr wrap="square" rtlCol="0">
            <a:spAutoFit/>
          </a:bodyPr>
          <a:lstStyle/>
          <a:p>
            <a:pPr algn="ctr"/>
            <a:r>
              <a:rPr lang="en-US" sz="4800" dirty="0"/>
              <a:t>NEW IDEA</a:t>
            </a:r>
          </a:p>
        </p:txBody>
      </p:sp>
    </p:spTree>
    <p:extLst>
      <p:ext uri="{BB962C8B-B14F-4D97-AF65-F5344CB8AC3E}">
        <p14:creationId xmlns:p14="http://schemas.microsoft.com/office/powerpoint/2010/main" val="36672415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3794125" y="2093913"/>
            <a:ext cx="184150" cy="366712"/>
          </a:xfrm>
          <a:prstGeom prst="rect">
            <a:avLst/>
          </a:prstGeom>
          <a:noFill/>
          <a:ln w="9525">
            <a:noFill/>
            <a:miter lim="800000"/>
            <a:headEnd/>
            <a:tailEnd/>
          </a:ln>
          <a:effectLst/>
        </p:spPr>
        <p:txBody>
          <a:bodyPr wrap="none">
            <a:spAutoFit/>
          </a:bodyPr>
          <a:lstStyle/>
          <a:p>
            <a:endParaRPr lang="en-US"/>
          </a:p>
        </p:txBody>
      </p:sp>
      <p:sp>
        <p:nvSpPr>
          <p:cNvPr id="109572" name="Text Box 4"/>
          <p:cNvSpPr txBox="1">
            <a:spLocks noChangeArrowheads="1"/>
          </p:cNvSpPr>
          <p:nvPr/>
        </p:nvSpPr>
        <p:spPr bwMode="auto">
          <a:xfrm>
            <a:off x="548185" y="2277269"/>
            <a:ext cx="7772400" cy="3216265"/>
          </a:xfrm>
          <a:prstGeom prst="rect">
            <a:avLst/>
          </a:prstGeom>
          <a:noFill/>
          <a:ln w="9525">
            <a:noFill/>
            <a:miter lim="800000"/>
            <a:headEnd/>
            <a:tailEnd/>
          </a:ln>
          <a:effectLst/>
        </p:spPr>
        <p:txBody>
          <a:bodyPr>
            <a:spAutoFit/>
          </a:bodyPr>
          <a:lstStyle/>
          <a:p>
            <a:pPr marL="457200" indent="-457200">
              <a:buSzPct val="60000"/>
              <a:buFont typeface="Arial" pitchFamily="34" charset="0"/>
              <a:buChar char="•"/>
            </a:pPr>
            <a:r>
              <a:rPr lang="en-US" sz="2900" dirty="0">
                <a:cs typeface="Arial" pitchFamily="34" charset="0"/>
              </a:rPr>
              <a:t>Investors need to see a venture with a unique product niche</a:t>
            </a:r>
          </a:p>
          <a:p>
            <a:pPr marL="457200" indent="-457200">
              <a:buSzPct val="60000"/>
              <a:buFont typeface="Arial" pitchFamily="34" charset="0"/>
              <a:buChar char="•"/>
            </a:pPr>
            <a:endParaRPr lang="en-US" sz="2900" dirty="0">
              <a:cs typeface="Arial" pitchFamily="34" charset="0"/>
            </a:endParaRPr>
          </a:p>
          <a:p>
            <a:pPr marL="457200" indent="-457200">
              <a:buSzPct val="60000"/>
              <a:buFont typeface="Arial" pitchFamily="34" charset="0"/>
              <a:buChar char="•"/>
            </a:pPr>
            <a:r>
              <a:rPr lang="en-US" sz="2900" dirty="0">
                <a:cs typeface="Arial" pitchFamily="34" charset="0"/>
              </a:rPr>
              <a:t> Stockholders will challenge a corporation's investment of its resources in a program that can be easily copied once it is introduced to the market.</a:t>
            </a:r>
          </a:p>
        </p:txBody>
      </p:sp>
      <p:sp>
        <p:nvSpPr>
          <p:cNvPr id="7" name="Title 6"/>
          <p:cNvSpPr>
            <a:spLocks noGrp="1"/>
          </p:cNvSpPr>
          <p:nvPr>
            <p:ph type="title"/>
          </p:nvPr>
        </p:nvSpPr>
        <p:spPr>
          <a:xfrm>
            <a:off x="612648" y="304800"/>
            <a:ext cx="8153400" cy="990600"/>
          </a:xfrm>
        </p:spPr>
        <p:txBody>
          <a:bodyPr/>
          <a:lstStyle/>
          <a:p>
            <a:r>
              <a:rPr lang="en-US" dirty="0"/>
              <a:t>Share a New Idea</a:t>
            </a:r>
          </a:p>
        </p:txBody>
      </p:sp>
      <p:sp>
        <p:nvSpPr>
          <p:cNvPr id="2" name="Slide Number Placeholder 1"/>
          <p:cNvSpPr>
            <a:spLocks noGrp="1"/>
          </p:cNvSpPr>
          <p:nvPr>
            <p:ph type="sldNum" sz="quarter" idx="12"/>
          </p:nvPr>
        </p:nvSpPr>
        <p:spPr/>
        <p:txBody>
          <a:bodyPr/>
          <a:lstStyle/>
          <a:p>
            <a:fld id="{E2E19BCC-EB6D-4706-855E-B16354E90296}" type="slidenum">
              <a:rPr lang="en-US" smtClean="0"/>
              <a:pPr/>
              <a:t>4</a:t>
            </a:fld>
            <a:endParaRPr lang="en-US"/>
          </a:p>
        </p:txBody>
      </p:sp>
    </p:spTree>
    <p:extLst>
      <p:ext uri="{BB962C8B-B14F-4D97-AF65-F5344CB8AC3E}">
        <p14:creationId xmlns:p14="http://schemas.microsoft.com/office/powerpoint/2010/main" val="33004757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Share a New Idea</a:t>
            </a:r>
          </a:p>
        </p:txBody>
      </p:sp>
      <p:sp>
        <p:nvSpPr>
          <p:cNvPr id="3" name="Content Placeholder 2"/>
          <p:cNvSpPr>
            <a:spLocks noGrp="1"/>
          </p:cNvSpPr>
          <p:nvPr>
            <p:ph idx="1"/>
          </p:nvPr>
        </p:nvSpPr>
        <p:spPr/>
        <p:txBody>
          <a:bodyPr>
            <a:normAutofit fontScale="92500" lnSpcReduction="20000"/>
          </a:bodyPr>
          <a:lstStyle/>
          <a:p>
            <a:pPr>
              <a:buClr>
                <a:schemeClr val="accent2"/>
              </a:buClr>
              <a:buSzPct val="60000"/>
              <a:buFont typeface="Wingdings" charset="2"/>
              <a:buChar char="q"/>
            </a:pPr>
            <a:endParaRPr lang="en-US" dirty="0">
              <a:cs typeface="Arial" pitchFamily="34" charset="0"/>
            </a:endParaRPr>
          </a:p>
          <a:p>
            <a:pPr>
              <a:buSzPct val="60000"/>
            </a:pPr>
            <a:r>
              <a:rPr lang="en-US" dirty="0">
                <a:cs typeface="Arial" pitchFamily="34" charset="0"/>
              </a:rPr>
              <a:t> All the time, effort, and money people invest in perfecting a product, as well as advertising and promoting it, may be wasted if imitators can enter the market easily.</a:t>
            </a:r>
          </a:p>
          <a:p>
            <a:pPr>
              <a:buSzPct val="60000"/>
            </a:pPr>
            <a:endParaRPr lang="en-US" dirty="0">
              <a:cs typeface="Arial" pitchFamily="34" charset="0"/>
            </a:endParaRPr>
          </a:p>
          <a:p>
            <a:pPr>
              <a:buSzPct val="60000"/>
            </a:pPr>
            <a:r>
              <a:rPr lang="en-US" dirty="0">
                <a:cs typeface="Arial" pitchFamily="34" charset="0"/>
              </a:rPr>
              <a:t> Moreover, the imitators can cut prices, because they have not incurred the startup expenses the company had to endure to bring the idea from conception to a mass-producible, reliable, and appealing product or service.</a:t>
            </a:r>
          </a:p>
          <a:p>
            <a:endParaRPr lang="en-US" dirty="0"/>
          </a:p>
        </p:txBody>
      </p:sp>
      <p:sp>
        <p:nvSpPr>
          <p:cNvPr id="4" name="Slide Number Placeholder 3"/>
          <p:cNvSpPr>
            <a:spLocks noGrp="1"/>
          </p:cNvSpPr>
          <p:nvPr>
            <p:ph type="sldNum" sz="quarter" idx="12"/>
          </p:nvPr>
        </p:nvSpPr>
        <p:spPr/>
        <p:txBody>
          <a:bodyPr/>
          <a:lstStyle/>
          <a:p>
            <a:fld id="{E2E19BCC-EB6D-4706-855E-B16354E90296}" type="slidenum">
              <a:rPr lang="en-US" smtClean="0"/>
              <a:pPr/>
              <a:t>5</a:t>
            </a:fld>
            <a:endParaRPr lang="en-US"/>
          </a:p>
        </p:txBody>
      </p:sp>
    </p:spTree>
    <p:extLst>
      <p:ext uri="{BB962C8B-B14F-4D97-AF65-F5344CB8AC3E}">
        <p14:creationId xmlns:p14="http://schemas.microsoft.com/office/powerpoint/2010/main" val="38438779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53E0003A-DA13-4F7B-83BF-019EC412ABC0}" type="slidenum">
              <a:rPr lang="en-US"/>
              <a:pPr/>
              <a:t>6</a:t>
            </a:fld>
            <a:endParaRPr lang="en-US"/>
          </a:p>
        </p:txBody>
      </p:sp>
      <p:sp>
        <p:nvSpPr>
          <p:cNvPr id="75778" name="Rectangle 2"/>
          <p:cNvSpPr>
            <a:spLocks noGrp="1" noRot="1" noChangeArrowheads="1"/>
          </p:cNvSpPr>
          <p:nvPr>
            <p:ph type="title"/>
          </p:nvPr>
        </p:nvSpPr>
        <p:spPr/>
        <p:txBody>
          <a:bodyPr>
            <a:normAutofit/>
          </a:bodyPr>
          <a:lstStyle/>
          <a:p>
            <a:r>
              <a:rPr lang="en-US" dirty="0"/>
              <a:t>Patents</a:t>
            </a:r>
          </a:p>
        </p:txBody>
      </p:sp>
      <p:sp>
        <p:nvSpPr>
          <p:cNvPr id="75779" name="Rectangle 3"/>
          <p:cNvSpPr>
            <a:spLocks noGrp="1" noChangeArrowheads="1"/>
          </p:cNvSpPr>
          <p:nvPr>
            <p:ph type="body" idx="1"/>
          </p:nvPr>
        </p:nvSpPr>
        <p:spPr/>
        <p:txBody>
          <a:bodyPr/>
          <a:lstStyle/>
          <a:p>
            <a:pPr algn="just"/>
            <a:r>
              <a:rPr lang="en-US" dirty="0"/>
              <a:t>Patent is an official document, recognized by law that confers a right or a title especially the sole right to make, use or sell some invention or process, hence protecting the said invention or process.</a:t>
            </a:r>
          </a:p>
        </p:txBody>
      </p:sp>
    </p:spTree>
    <p:extLst>
      <p:ext uri="{BB962C8B-B14F-4D97-AF65-F5344CB8AC3E}">
        <p14:creationId xmlns:p14="http://schemas.microsoft.com/office/powerpoint/2010/main" val="3243818781"/>
      </p:ext>
    </p:extLst>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500"/>
                                        <p:tgtEl>
                                          <p:spTgt spid="757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Rot="1" noChangeArrowheads="1"/>
          </p:cNvSpPr>
          <p:nvPr>
            <p:ph type="title"/>
          </p:nvPr>
        </p:nvSpPr>
        <p:spPr/>
        <p:txBody>
          <a:bodyPr>
            <a:normAutofit/>
          </a:bodyPr>
          <a:lstStyle/>
          <a:p>
            <a:r>
              <a:rPr lang="en-US" dirty="0"/>
              <a:t>Examples of Patentable Items</a:t>
            </a:r>
          </a:p>
        </p:txBody>
      </p:sp>
      <p:sp>
        <p:nvSpPr>
          <p:cNvPr id="91139" name="Rectangle 3"/>
          <p:cNvSpPr>
            <a:spLocks noGrp="1" noChangeArrowheads="1"/>
          </p:cNvSpPr>
          <p:nvPr>
            <p:ph type="body" idx="1"/>
          </p:nvPr>
        </p:nvSpPr>
        <p:spPr/>
        <p:txBody>
          <a:bodyPr>
            <a:normAutofit/>
          </a:bodyPr>
          <a:lstStyle/>
          <a:p>
            <a:pPr algn="just"/>
            <a:r>
              <a:rPr lang="en-US" b="1" i="1" dirty="0"/>
              <a:t>Chemical inventions </a:t>
            </a:r>
            <a:r>
              <a:rPr lang="en-US" dirty="0"/>
              <a:t>include new compounds, new methods of making old or new compounds, new methods of using old or new compounds, and new combinations of old</a:t>
            </a:r>
          </a:p>
          <a:p>
            <a:pPr marL="0" indent="0">
              <a:buNone/>
            </a:pPr>
            <a:r>
              <a:rPr lang="en-US" dirty="0"/>
              <a:t>    compounds.</a:t>
            </a:r>
          </a:p>
          <a:p>
            <a:r>
              <a:rPr lang="en-US" b="1" i="1" dirty="0"/>
              <a:t>General/mechanical inventions </a:t>
            </a:r>
            <a:r>
              <a:rPr lang="en-US" dirty="0"/>
              <a:t>include everything from gears and engines to  tweezers and propellers</a:t>
            </a:r>
          </a:p>
        </p:txBody>
      </p:sp>
    </p:spTree>
    <p:extLst>
      <p:ext uri="{BB962C8B-B14F-4D97-AF65-F5344CB8AC3E}">
        <p14:creationId xmlns:p14="http://schemas.microsoft.com/office/powerpoint/2010/main" val="3448654526"/>
      </p:ext>
    </p:extLst>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wipe(left)">
                                      <p:cBhvr>
                                        <p:cTn id="7" dur="500"/>
                                        <p:tgtEl>
                                          <p:spTgt spid="911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39">
                                            <p:txEl>
                                              <p:pRg st="1" end="1"/>
                                            </p:txEl>
                                          </p:spTgt>
                                        </p:tgtEl>
                                        <p:attrNameLst>
                                          <p:attrName>style.visibility</p:attrName>
                                        </p:attrNameLst>
                                      </p:cBhvr>
                                      <p:to>
                                        <p:strVal val="visible"/>
                                      </p:to>
                                    </p:set>
                                    <p:animEffect transition="in" filter="wipe(left)">
                                      <p:cBhvr>
                                        <p:cTn id="12" dur="500"/>
                                        <p:tgtEl>
                                          <p:spTgt spid="911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Rot="1" noChangeArrowheads="1"/>
          </p:cNvSpPr>
          <p:nvPr>
            <p:ph type="title"/>
          </p:nvPr>
        </p:nvSpPr>
        <p:spPr/>
        <p:txBody>
          <a:bodyPr/>
          <a:lstStyle/>
          <a:p>
            <a:r>
              <a:rPr lang="en-US" dirty="0"/>
              <a:t>Examples of Patentable Items</a:t>
            </a:r>
          </a:p>
        </p:txBody>
      </p:sp>
      <p:sp>
        <p:nvSpPr>
          <p:cNvPr id="91139" name="Rectangle 3"/>
          <p:cNvSpPr>
            <a:spLocks noGrp="1" noChangeArrowheads="1"/>
          </p:cNvSpPr>
          <p:nvPr>
            <p:ph type="body" idx="1"/>
          </p:nvPr>
        </p:nvSpPr>
        <p:spPr/>
        <p:txBody>
          <a:bodyPr>
            <a:normAutofit/>
          </a:bodyPr>
          <a:lstStyle/>
          <a:p>
            <a:pPr algn="just"/>
            <a:r>
              <a:rPr lang="en-US" b="1" i="1" dirty="0"/>
              <a:t>Electrical inventions </a:t>
            </a:r>
            <a:r>
              <a:rPr lang="en-US" dirty="0"/>
              <a:t>include everything from lasers to light switches</a:t>
            </a:r>
          </a:p>
          <a:p>
            <a:pPr algn="just"/>
            <a:r>
              <a:rPr lang="en-US" b="1" i="1" dirty="0"/>
              <a:t>Computer software is also patentable </a:t>
            </a:r>
            <a:r>
              <a:rPr lang="en-US" dirty="0"/>
              <a:t>in various forms:</a:t>
            </a:r>
          </a:p>
          <a:p>
            <a:r>
              <a:rPr lang="en-US" b="1" dirty="0"/>
              <a:t>Application programs</a:t>
            </a:r>
            <a:r>
              <a:rPr lang="en-US" dirty="0"/>
              <a:t> such as the software that runs in a computer used to control a chemical-processing plant.</a:t>
            </a:r>
          </a:p>
        </p:txBody>
      </p:sp>
    </p:spTree>
    <p:extLst>
      <p:ext uri="{BB962C8B-B14F-4D97-AF65-F5344CB8AC3E}">
        <p14:creationId xmlns:p14="http://schemas.microsoft.com/office/powerpoint/2010/main" val="2476630145"/>
      </p:ext>
    </p:extLst>
  </p:cSld>
  <p:clrMapOvr>
    <a:masterClrMapping/>
  </p:clrMapOvr>
  <p:transition>
    <p:pull dir="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Rot="1" noChangeArrowheads="1"/>
          </p:cNvSpPr>
          <p:nvPr>
            <p:ph type="title"/>
          </p:nvPr>
        </p:nvSpPr>
        <p:spPr/>
        <p:txBody>
          <a:bodyPr/>
          <a:lstStyle/>
          <a:p>
            <a:r>
              <a:rPr lang="en-US" dirty="0"/>
              <a:t>Patents</a:t>
            </a:r>
          </a:p>
        </p:txBody>
      </p:sp>
      <p:sp>
        <p:nvSpPr>
          <p:cNvPr id="91139" name="Rectangle 3"/>
          <p:cNvSpPr>
            <a:spLocks noGrp="1" noChangeArrowheads="1"/>
          </p:cNvSpPr>
          <p:nvPr>
            <p:ph type="body" idx="1"/>
          </p:nvPr>
        </p:nvSpPr>
        <p:spPr/>
        <p:txBody>
          <a:bodyPr>
            <a:normAutofit/>
          </a:bodyPr>
          <a:lstStyle/>
          <a:p>
            <a:r>
              <a:rPr lang="en-US" dirty="0"/>
              <a:t>No rule that patents cover only remarkable inventions.</a:t>
            </a:r>
          </a:p>
          <a:p>
            <a:r>
              <a:rPr lang="en-US" dirty="0"/>
              <a:t>the idea needs to  be different in some way from what came before.</a:t>
            </a:r>
          </a:p>
          <a:p>
            <a:r>
              <a:rPr lang="en-US" dirty="0"/>
              <a:t>Idea needs to be Novel and not Obvious</a:t>
            </a:r>
          </a:p>
          <a:p>
            <a:r>
              <a:rPr lang="en-US" dirty="0"/>
              <a:t>Example:</a:t>
            </a:r>
          </a:p>
          <a:p>
            <a:r>
              <a:rPr lang="en-US" dirty="0"/>
              <a:t>Single blade screw driver</a:t>
            </a:r>
          </a:p>
          <a:p>
            <a:r>
              <a:rPr lang="en-US" dirty="0"/>
              <a:t>Double blade Philips Screw Driver</a:t>
            </a:r>
          </a:p>
        </p:txBody>
      </p:sp>
    </p:spTree>
    <p:extLst>
      <p:ext uri="{BB962C8B-B14F-4D97-AF65-F5344CB8AC3E}">
        <p14:creationId xmlns:p14="http://schemas.microsoft.com/office/powerpoint/2010/main" val="1140327538"/>
      </p:ext>
    </p:extLst>
  </p:cSld>
  <p:clrMapOvr>
    <a:masterClrMapping/>
  </p:clrMapOvr>
  <p:transition>
    <p:pull dir="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p:cNvSpPr>
            <a:spLocks noGrp="1" noRot="1" noChangeArrowheads="1"/>
          </p:cNvSpPr>
          <p:nvPr>
            <p:ph type="title"/>
          </p:nvPr>
        </p:nvSpPr>
        <p:spPr/>
        <p:txBody>
          <a:bodyPr/>
          <a:lstStyle/>
          <a:p>
            <a:r>
              <a:rPr lang="en-US"/>
              <a:t>The Steps to a Patent</a:t>
            </a:r>
          </a:p>
        </p:txBody>
      </p:sp>
      <p:sp>
        <p:nvSpPr>
          <p:cNvPr id="76804" name="AutoShape 4"/>
          <p:cNvSpPr>
            <a:spLocks noChangeArrowheads="1"/>
          </p:cNvSpPr>
          <p:nvPr/>
        </p:nvSpPr>
        <p:spPr bwMode="auto">
          <a:xfrm>
            <a:off x="1676400" y="5522913"/>
            <a:ext cx="5715000" cy="838200"/>
          </a:xfrm>
          <a:prstGeom prst="cube">
            <a:avLst>
              <a:gd name="adj" fmla="val 25000"/>
            </a:avLst>
          </a:prstGeom>
          <a:solidFill>
            <a:srgbClr val="FDE3BA"/>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a:latin typeface="Times New Roman" pitchFamily="18" charset="0"/>
              </a:rPr>
              <a:t>Establish the invention’s novelty</a:t>
            </a:r>
          </a:p>
        </p:txBody>
      </p:sp>
      <p:sp>
        <p:nvSpPr>
          <p:cNvPr id="76805" name="AutoShape 5"/>
          <p:cNvSpPr>
            <a:spLocks noChangeArrowheads="1"/>
          </p:cNvSpPr>
          <p:nvPr/>
        </p:nvSpPr>
        <p:spPr bwMode="auto">
          <a:xfrm>
            <a:off x="1866900" y="4684713"/>
            <a:ext cx="5715000" cy="838200"/>
          </a:xfrm>
          <a:prstGeom prst="cube">
            <a:avLst>
              <a:gd name="adj" fmla="val 25000"/>
            </a:avLst>
          </a:prstGeom>
          <a:solidFill>
            <a:srgbClr val="FDE3BA"/>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a:latin typeface="Times New Roman" pitchFamily="18" charset="0"/>
              </a:rPr>
              <a:t>Document the device</a:t>
            </a:r>
          </a:p>
        </p:txBody>
      </p:sp>
      <p:sp>
        <p:nvSpPr>
          <p:cNvPr id="76806" name="AutoShape 6"/>
          <p:cNvSpPr>
            <a:spLocks noChangeArrowheads="1"/>
          </p:cNvSpPr>
          <p:nvPr/>
        </p:nvSpPr>
        <p:spPr bwMode="auto">
          <a:xfrm>
            <a:off x="2036763" y="3886200"/>
            <a:ext cx="5715000" cy="838200"/>
          </a:xfrm>
          <a:prstGeom prst="cube">
            <a:avLst>
              <a:gd name="adj" fmla="val 25000"/>
            </a:avLst>
          </a:prstGeom>
          <a:solidFill>
            <a:srgbClr val="FDE3BA"/>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a:latin typeface="Times New Roman" pitchFamily="18" charset="0"/>
              </a:rPr>
              <a:t>Search existing patents</a:t>
            </a:r>
          </a:p>
        </p:txBody>
      </p:sp>
      <p:sp>
        <p:nvSpPr>
          <p:cNvPr id="76807" name="AutoShape 7"/>
          <p:cNvSpPr>
            <a:spLocks noChangeArrowheads="1"/>
          </p:cNvSpPr>
          <p:nvPr/>
        </p:nvSpPr>
        <p:spPr bwMode="auto">
          <a:xfrm>
            <a:off x="2436813" y="2254250"/>
            <a:ext cx="5715000" cy="838200"/>
          </a:xfrm>
          <a:prstGeom prst="cube">
            <a:avLst>
              <a:gd name="adj" fmla="val 25000"/>
            </a:avLst>
          </a:prstGeom>
          <a:solidFill>
            <a:srgbClr val="FDE3BA"/>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a:latin typeface="Times New Roman" pitchFamily="18" charset="0"/>
              </a:rPr>
              <a:t>Submit the patent application</a:t>
            </a:r>
          </a:p>
        </p:txBody>
      </p:sp>
      <p:sp>
        <p:nvSpPr>
          <p:cNvPr id="76808" name="AutoShape 8"/>
          <p:cNvSpPr>
            <a:spLocks noChangeArrowheads="1"/>
          </p:cNvSpPr>
          <p:nvPr/>
        </p:nvSpPr>
        <p:spPr bwMode="auto">
          <a:xfrm>
            <a:off x="2590800" y="1439863"/>
            <a:ext cx="5715000" cy="838200"/>
          </a:xfrm>
          <a:prstGeom prst="cube">
            <a:avLst>
              <a:gd name="adj" fmla="val 25000"/>
            </a:avLst>
          </a:prstGeom>
          <a:solidFill>
            <a:srgbClr val="FDE3BA"/>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a:latin typeface="Times New Roman" pitchFamily="18" charset="0"/>
              </a:rPr>
              <a:t>Prosecute the patent application</a:t>
            </a:r>
          </a:p>
        </p:txBody>
      </p:sp>
      <p:sp>
        <p:nvSpPr>
          <p:cNvPr id="76809" name="AutoShape 9"/>
          <p:cNvSpPr>
            <a:spLocks noChangeArrowheads="1"/>
          </p:cNvSpPr>
          <p:nvPr/>
        </p:nvSpPr>
        <p:spPr bwMode="auto">
          <a:xfrm>
            <a:off x="2209800" y="3044825"/>
            <a:ext cx="5715000" cy="838200"/>
          </a:xfrm>
          <a:prstGeom prst="cube">
            <a:avLst>
              <a:gd name="adj" fmla="val 25000"/>
            </a:avLst>
          </a:prstGeom>
          <a:solidFill>
            <a:srgbClr val="FDE3BA"/>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800" b="1">
                <a:latin typeface="Times New Roman" pitchFamily="18" charset="0"/>
              </a:rPr>
              <a:t>Study search results</a:t>
            </a:r>
          </a:p>
        </p:txBody>
      </p:sp>
    </p:spTree>
    <p:extLst>
      <p:ext uri="{BB962C8B-B14F-4D97-AF65-F5344CB8AC3E}">
        <p14:creationId xmlns:p14="http://schemas.microsoft.com/office/powerpoint/2010/main" val="2955391245"/>
      </p:ext>
    </p:extLst>
  </p:cSld>
  <p:clrMapOvr>
    <a:masterClrMapping/>
  </p:clrMapOvr>
  <p:transition>
    <p:pull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804"/>
                                        </p:tgtEl>
                                        <p:attrNameLst>
                                          <p:attrName>style.visibility</p:attrName>
                                        </p:attrNameLst>
                                      </p:cBhvr>
                                      <p:to>
                                        <p:strVal val="visible"/>
                                      </p:to>
                                    </p:set>
                                    <p:animEffect transition="in" filter="dissolve">
                                      <p:cBhvr>
                                        <p:cTn id="7" dur="500"/>
                                        <p:tgtEl>
                                          <p:spTgt spid="768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6805"/>
                                        </p:tgtEl>
                                        <p:attrNameLst>
                                          <p:attrName>style.visibility</p:attrName>
                                        </p:attrNameLst>
                                      </p:cBhvr>
                                      <p:to>
                                        <p:strVal val="visible"/>
                                      </p:to>
                                    </p:set>
                                    <p:animEffect transition="in" filter="dissolve">
                                      <p:cBhvr>
                                        <p:cTn id="12" dur="500"/>
                                        <p:tgtEl>
                                          <p:spTgt spid="768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6806"/>
                                        </p:tgtEl>
                                        <p:attrNameLst>
                                          <p:attrName>style.visibility</p:attrName>
                                        </p:attrNameLst>
                                      </p:cBhvr>
                                      <p:to>
                                        <p:strVal val="visible"/>
                                      </p:to>
                                    </p:set>
                                    <p:animEffect transition="in" filter="dissolve">
                                      <p:cBhvr>
                                        <p:cTn id="17" dur="500"/>
                                        <p:tgtEl>
                                          <p:spTgt spid="768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6809"/>
                                        </p:tgtEl>
                                        <p:attrNameLst>
                                          <p:attrName>style.visibility</p:attrName>
                                        </p:attrNameLst>
                                      </p:cBhvr>
                                      <p:to>
                                        <p:strVal val="visible"/>
                                      </p:to>
                                    </p:set>
                                    <p:animEffect transition="in" filter="dissolve">
                                      <p:cBhvr>
                                        <p:cTn id="22" dur="500"/>
                                        <p:tgtEl>
                                          <p:spTgt spid="768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6807"/>
                                        </p:tgtEl>
                                        <p:attrNameLst>
                                          <p:attrName>style.visibility</p:attrName>
                                        </p:attrNameLst>
                                      </p:cBhvr>
                                      <p:to>
                                        <p:strVal val="visible"/>
                                      </p:to>
                                    </p:set>
                                    <p:animEffect transition="in" filter="dissolve">
                                      <p:cBhvr>
                                        <p:cTn id="27" dur="500"/>
                                        <p:tgtEl>
                                          <p:spTgt spid="7680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6808"/>
                                        </p:tgtEl>
                                        <p:attrNameLst>
                                          <p:attrName>style.visibility</p:attrName>
                                        </p:attrNameLst>
                                      </p:cBhvr>
                                      <p:to>
                                        <p:strVal val="visible"/>
                                      </p:to>
                                    </p:set>
                                    <p:animEffect transition="in" filter="dissolve">
                                      <p:cBhvr>
                                        <p:cTn id="32" dur="500"/>
                                        <p:tgtEl>
                                          <p:spTgt spid="76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animBg="1" autoUpdateAnimBg="0"/>
      <p:bldP spid="76805" grpId="0" animBg="1" autoUpdateAnimBg="0"/>
      <p:bldP spid="76806" grpId="0" animBg="1" autoUpdateAnimBg="0"/>
      <p:bldP spid="76807" grpId="0" animBg="1" autoUpdateAnimBg="0"/>
      <p:bldP spid="76808" grpId="0" animBg="1" autoUpdateAnimBg="0"/>
      <p:bldP spid="76809"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 of Specification</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Every complete specification shall consist of:</a:t>
            </a:r>
          </a:p>
          <a:p>
            <a:r>
              <a:rPr lang="en-US" dirty="0"/>
              <a:t>A full description of the invention.</a:t>
            </a:r>
          </a:p>
          <a:p>
            <a:r>
              <a:rPr lang="en-US" dirty="0"/>
              <a:t>The method by which it is to be performed.</a:t>
            </a:r>
          </a:p>
          <a:p>
            <a:r>
              <a:rPr lang="en-US" dirty="0"/>
              <a:t>Must end with a claim defining the scope of the invention.</a:t>
            </a:r>
          </a:p>
          <a:p>
            <a:r>
              <a:rPr lang="en-US" dirty="0"/>
              <a:t>An abstract.( should not be more than 2 pages and must include the entire technical details relating to the invention)</a:t>
            </a:r>
          </a:p>
          <a:p>
            <a:r>
              <a:rPr lang="en-US" dirty="0"/>
              <a:t>Drawings may also be submitted along with the abstract either at the applicants will or the controller’s request.</a:t>
            </a:r>
          </a:p>
        </p:txBody>
      </p:sp>
      <p:sp>
        <p:nvSpPr>
          <p:cNvPr id="4" name="Slide Number Placeholder 3"/>
          <p:cNvSpPr>
            <a:spLocks noGrp="1"/>
          </p:cNvSpPr>
          <p:nvPr>
            <p:ph type="sldNum" sz="quarter" idx="12"/>
          </p:nvPr>
        </p:nvSpPr>
        <p:spPr/>
        <p:txBody>
          <a:bodyPr/>
          <a:lstStyle/>
          <a:p>
            <a:fld id="{E2E19BCC-EB6D-4706-855E-B16354E90296}" type="slidenum">
              <a:rPr lang="en-US" smtClean="0"/>
              <a:pPr/>
              <a:t>11</a:t>
            </a:fld>
            <a:endParaRPr lang="en-US"/>
          </a:p>
        </p:txBody>
      </p:sp>
    </p:spTree>
    <p:extLst>
      <p:ext uri="{BB962C8B-B14F-4D97-AF65-F5344CB8AC3E}">
        <p14:creationId xmlns:p14="http://schemas.microsoft.com/office/powerpoint/2010/main" val="4946824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Obtaining Patent</a:t>
            </a:r>
          </a:p>
        </p:txBody>
      </p:sp>
      <p:sp>
        <p:nvSpPr>
          <p:cNvPr id="3" name="Content Placeholder 2"/>
          <p:cNvSpPr>
            <a:spLocks noGrp="1"/>
          </p:cNvSpPr>
          <p:nvPr>
            <p:ph idx="1"/>
          </p:nvPr>
        </p:nvSpPr>
        <p:spPr/>
        <p:txBody>
          <a:bodyPr>
            <a:normAutofit fontScale="92500" lnSpcReduction="20000"/>
          </a:bodyPr>
          <a:lstStyle/>
          <a:p>
            <a:r>
              <a:rPr lang="en-US" dirty="0"/>
              <a:t>A patent gives the inventor the right to stop others from manufacturing, copying, selling or importing the patented goods without permission of the patent holder.</a:t>
            </a:r>
          </a:p>
          <a:p>
            <a:r>
              <a:rPr lang="en-US" dirty="0"/>
              <a:t>The patent holder has exclusive commercial rights to use the invention.</a:t>
            </a:r>
          </a:p>
          <a:p>
            <a:r>
              <a:rPr lang="en-US" dirty="0"/>
              <a:t>The patent holder can utilize the invention for his/her own purpose.</a:t>
            </a:r>
          </a:p>
          <a:p>
            <a:r>
              <a:rPr lang="en-US" dirty="0"/>
              <a:t>The patent holder can license the patent to others for us. Licensing provides revenue to business by collecting royalties from the users.</a:t>
            </a:r>
          </a:p>
          <a:p>
            <a:pPr marL="0" indent="0">
              <a:buNone/>
            </a:pPr>
            <a:endParaRPr lang="en-US" dirty="0"/>
          </a:p>
        </p:txBody>
      </p:sp>
      <p:sp>
        <p:nvSpPr>
          <p:cNvPr id="4" name="Slide Number Placeholder 3"/>
          <p:cNvSpPr>
            <a:spLocks noGrp="1"/>
          </p:cNvSpPr>
          <p:nvPr>
            <p:ph type="sldNum" sz="quarter" idx="12"/>
          </p:nvPr>
        </p:nvSpPr>
        <p:spPr/>
        <p:txBody>
          <a:bodyPr/>
          <a:lstStyle/>
          <a:p>
            <a:fld id="{E2E19BCC-EB6D-4706-855E-B16354E90296}" type="slidenum">
              <a:rPr lang="en-US" smtClean="0"/>
              <a:pPr/>
              <a:t>12</a:t>
            </a:fld>
            <a:endParaRPr lang="en-US"/>
          </a:p>
        </p:txBody>
      </p:sp>
    </p:spTree>
    <p:extLst>
      <p:ext uri="{BB962C8B-B14F-4D97-AF65-F5344CB8AC3E}">
        <p14:creationId xmlns:p14="http://schemas.microsoft.com/office/powerpoint/2010/main" val="22568549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Obtaining Patent</a:t>
            </a:r>
          </a:p>
        </p:txBody>
      </p:sp>
      <p:sp>
        <p:nvSpPr>
          <p:cNvPr id="3" name="Content Placeholder 2"/>
          <p:cNvSpPr>
            <a:spLocks noGrp="1"/>
          </p:cNvSpPr>
          <p:nvPr>
            <p:ph idx="1"/>
          </p:nvPr>
        </p:nvSpPr>
        <p:spPr/>
        <p:txBody>
          <a:bodyPr>
            <a:normAutofit fontScale="92500" lnSpcReduction="20000"/>
          </a:bodyPr>
          <a:lstStyle/>
          <a:p>
            <a:r>
              <a:rPr lang="en-US" dirty="0"/>
              <a:t>The patent holder can sell the patent any price they believe to be suitable.</a:t>
            </a:r>
          </a:p>
          <a:p>
            <a:r>
              <a:rPr lang="en-US" dirty="0"/>
              <a:t> The patent provides protection for a predetermined period (20 years) which keeps your competitors at bay. </a:t>
            </a:r>
          </a:p>
          <a:p>
            <a:r>
              <a:rPr lang="en-US" dirty="0"/>
              <a:t>Patents are partially responsible for advancements in medical science, biotechnology, drug chemistry, computers etc.</a:t>
            </a:r>
          </a:p>
          <a:p>
            <a:r>
              <a:rPr lang="en-US" dirty="0"/>
              <a:t> Patents reward inventors with the aforementioned advantages and hence, create bigger and better discoveries.</a:t>
            </a:r>
          </a:p>
        </p:txBody>
      </p:sp>
      <p:sp>
        <p:nvSpPr>
          <p:cNvPr id="4" name="Slide Number Placeholder 3"/>
          <p:cNvSpPr>
            <a:spLocks noGrp="1"/>
          </p:cNvSpPr>
          <p:nvPr>
            <p:ph type="sldNum" sz="quarter" idx="12"/>
          </p:nvPr>
        </p:nvSpPr>
        <p:spPr/>
        <p:txBody>
          <a:bodyPr/>
          <a:lstStyle/>
          <a:p>
            <a:fld id="{E2E19BCC-EB6D-4706-855E-B16354E90296}" type="slidenum">
              <a:rPr lang="en-US" smtClean="0"/>
              <a:pPr/>
              <a:t>13</a:t>
            </a:fld>
            <a:endParaRPr lang="en-US"/>
          </a:p>
        </p:txBody>
      </p:sp>
    </p:spTree>
    <p:extLst>
      <p:ext uri="{BB962C8B-B14F-4D97-AF65-F5344CB8AC3E}">
        <p14:creationId xmlns:p14="http://schemas.microsoft.com/office/powerpoint/2010/main" val="34649913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Rot="1" noChangeArrowheads="1"/>
          </p:cNvSpPr>
          <p:nvPr>
            <p:ph type="title"/>
          </p:nvPr>
        </p:nvSpPr>
        <p:spPr/>
        <p:txBody>
          <a:bodyPr>
            <a:normAutofit fontScale="90000"/>
          </a:bodyPr>
          <a:lstStyle/>
          <a:p>
            <a:r>
              <a:rPr lang="en-US" dirty="0"/>
              <a:t>Cases in which Patent will not be Granted</a:t>
            </a:r>
          </a:p>
        </p:txBody>
      </p:sp>
      <p:sp>
        <p:nvSpPr>
          <p:cNvPr id="91139" name="Rectangle 3"/>
          <p:cNvSpPr>
            <a:spLocks noGrp="1" noChangeArrowheads="1"/>
          </p:cNvSpPr>
          <p:nvPr>
            <p:ph type="body" idx="1"/>
          </p:nvPr>
        </p:nvSpPr>
        <p:spPr/>
        <p:txBody>
          <a:bodyPr>
            <a:normAutofit/>
          </a:bodyPr>
          <a:lstStyle/>
          <a:p>
            <a:r>
              <a:rPr lang="en-US" dirty="0"/>
              <a:t>For an invention, the commercial exploitation of which would be </a:t>
            </a:r>
            <a:r>
              <a:rPr lang="en-US" b="1" dirty="0"/>
              <a:t>injurious to public order, morality, environment or the protection of human, animal and plant life.</a:t>
            </a:r>
          </a:p>
          <a:p>
            <a:r>
              <a:rPr lang="en-US" b="1" dirty="0"/>
              <a:t>For plants and animals </a:t>
            </a:r>
            <a:r>
              <a:rPr lang="en-US" dirty="0"/>
              <a:t>other than micro-organisms</a:t>
            </a:r>
          </a:p>
          <a:p>
            <a:r>
              <a:rPr lang="en-US" b="1" dirty="0"/>
              <a:t>For biological processes </a:t>
            </a:r>
            <a:r>
              <a:rPr lang="en-US" dirty="0"/>
              <a:t>for the production of plants and animals.</a:t>
            </a:r>
          </a:p>
        </p:txBody>
      </p:sp>
    </p:spTree>
    <p:extLst>
      <p:ext uri="{BB962C8B-B14F-4D97-AF65-F5344CB8AC3E}">
        <p14:creationId xmlns:p14="http://schemas.microsoft.com/office/powerpoint/2010/main" val="3640083563"/>
      </p:ext>
    </p:extLst>
  </p:cSld>
  <p:clrMapOvr>
    <a:masterClrMapping/>
  </p:clrMapOvr>
  <p:transition>
    <p:pull dir="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Cases in which Patent will not be Granted</a:t>
            </a:r>
          </a:p>
        </p:txBody>
      </p:sp>
      <p:sp>
        <p:nvSpPr>
          <p:cNvPr id="3" name="Content Placeholder 2"/>
          <p:cNvSpPr>
            <a:spLocks noGrp="1"/>
          </p:cNvSpPr>
          <p:nvPr>
            <p:ph idx="1"/>
          </p:nvPr>
        </p:nvSpPr>
        <p:spPr/>
        <p:txBody>
          <a:bodyPr>
            <a:normAutofit/>
          </a:bodyPr>
          <a:lstStyle/>
          <a:p>
            <a:r>
              <a:rPr lang="en-US" dirty="0"/>
              <a:t>For diagnostic, therapeutic and surgical methods for the treatment of humans and animals.</a:t>
            </a:r>
          </a:p>
          <a:p>
            <a:r>
              <a:rPr lang="en-US" dirty="0"/>
              <a:t>For a new and consequent use of a known product or process.</a:t>
            </a:r>
          </a:p>
          <a:p>
            <a:r>
              <a:rPr lang="en-US" dirty="0"/>
              <a:t>For a change in the physical appearance of a chemical product where the chemical formula or process of manufacture remains the same. </a:t>
            </a:r>
          </a:p>
        </p:txBody>
      </p:sp>
      <p:sp>
        <p:nvSpPr>
          <p:cNvPr id="4" name="Slide Number Placeholder 3"/>
          <p:cNvSpPr>
            <a:spLocks noGrp="1"/>
          </p:cNvSpPr>
          <p:nvPr>
            <p:ph type="sldNum" sz="quarter" idx="12"/>
          </p:nvPr>
        </p:nvSpPr>
        <p:spPr/>
        <p:txBody>
          <a:bodyPr/>
          <a:lstStyle/>
          <a:p>
            <a:fld id="{E2E19BCC-EB6D-4706-855E-B16354E90296}" type="slidenum">
              <a:rPr lang="en-US" smtClean="0"/>
              <a:pPr/>
              <a:t>15</a:t>
            </a:fld>
            <a:endParaRPr lang="en-US"/>
          </a:p>
        </p:txBody>
      </p:sp>
    </p:spTree>
    <p:extLst>
      <p:ext uri="{BB962C8B-B14F-4D97-AF65-F5344CB8AC3E}">
        <p14:creationId xmlns:p14="http://schemas.microsoft.com/office/powerpoint/2010/main" val="34072894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Rot="1" noChangeArrowheads="1"/>
          </p:cNvSpPr>
          <p:nvPr>
            <p:ph type="title"/>
          </p:nvPr>
        </p:nvSpPr>
        <p:spPr/>
        <p:txBody>
          <a:bodyPr/>
          <a:lstStyle/>
          <a:p>
            <a:r>
              <a:rPr lang="en-US"/>
              <a:t>Protecting Your Ideas</a:t>
            </a:r>
          </a:p>
        </p:txBody>
      </p:sp>
      <p:sp>
        <p:nvSpPr>
          <p:cNvPr id="91139" name="Rectangle 3"/>
          <p:cNvSpPr>
            <a:spLocks noGrp="1" noChangeArrowheads="1"/>
          </p:cNvSpPr>
          <p:nvPr>
            <p:ph type="body" idx="1"/>
          </p:nvPr>
        </p:nvSpPr>
        <p:spPr/>
        <p:txBody>
          <a:bodyPr/>
          <a:lstStyle/>
          <a:p>
            <a:r>
              <a:rPr lang="en-US" i="1" dirty="0"/>
              <a:t>Trademark</a:t>
            </a:r>
            <a:r>
              <a:rPr lang="en-US" dirty="0"/>
              <a:t> – any distinctive word, symbol, design, name, logo, slogan, or trade dress a company uses to identify the origin of a product or to distinguish it from other goods on the market.  </a:t>
            </a:r>
          </a:p>
          <a:p>
            <a:r>
              <a:rPr lang="en-US" i="1" dirty="0" err="1"/>
              <a:t>Servicemark</a:t>
            </a:r>
            <a:r>
              <a:rPr lang="en-US" dirty="0"/>
              <a:t> – the same as a trademark except that it identifies the source of a service rather than a product.  </a:t>
            </a:r>
          </a:p>
        </p:txBody>
      </p:sp>
    </p:spTree>
    <p:extLst>
      <p:ext uri="{BB962C8B-B14F-4D97-AF65-F5344CB8AC3E}">
        <p14:creationId xmlns:p14="http://schemas.microsoft.com/office/powerpoint/2010/main" val="4098878895"/>
      </p:ext>
    </p:extLst>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wipe(left)">
                                      <p:cBhvr>
                                        <p:cTn id="7" dur="500"/>
                                        <p:tgtEl>
                                          <p:spTgt spid="911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39">
                                            <p:txEl>
                                              <p:pRg st="1" end="1"/>
                                            </p:txEl>
                                          </p:spTgt>
                                        </p:tgtEl>
                                        <p:attrNameLst>
                                          <p:attrName>style.visibility</p:attrName>
                                        </p:attrNameLst>
                                      </p:cBhvr>
                                      <p:to>
                                        <p:strVal val="visible"/>
                                      </p:to>
                                    </p:set>
                                    <p:animEffect transition="in" filter="wipe(left)">
                                      <p:cBhvr>
                                        <p:cTn id="12" dur="500"/>
                                        <p:tgtEl>
                                          <p:spTgt spid="911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Rot="1" noChangeArrowheads="1"/>
          </p:cNvSpPr>
          <p:nvPr>
            <p:ph type="title"/>
          </p:nvPr>
        </p:nvSpPr>
        <p:spPr/>
        <p:txBody>
          <a:bodyPr/>
          <a:lstStyle/>
          <a:p>
            <a:r>
              <a:rPr lang="en-US"/>
              <a:t>Protecting Your Ideas</a:t>
            </a:r>
          </a:p>
        </p:txBody>
      </p:sp>
      <p:sp>
        <p:nvSpPr>
          <p:cNvPr id="91139" name="Rectangle 3"/>
          <p:cNvSpPr>
            <a:spLocks noGrp="1" noChangeArrowheads="1"/>
          </p:cNvSpPr>
          <p:nvPr>
            <p:ph type="body" idx="1"/>
          </p:nvPr>
        </p:nvSpPr>
        <p:spPr/>
        <p:txBody>
          <a:bodyPr/>
          <a:lstStyle/>
          <a:p>
            <a:r>
              <a:rPr lang="en-US" i="1" dirty="0"/>
              <a:t>Trademark</a:t>
            </a:r>
          </a:p>
          <a:p>
            <a:r>
              <a:rPr lang="en-US" i="1" dirty="0"/>
              <a:t>May by more valuable to some companies than patents e.g.,  Ben &amp; Jerry’s, Microsoft</a:t>
            </a:r>
          </a:p>
          <a:p>
            <a:r>
              <a:rPr lang="en-US" i="1" dirty="0"/>
              <a:t>Don’t be misled; Trademarks do not protect products and services but the names of product</a:t>
            </a:r>
          </a:p>
          <a:p>
            <a:r>
              <a:rPr lang="en-US" i="1" dirty="0"/>
              <a:t>Should be prevented from becoming generic </a:t>
            </a:r>
          </a:p>
          <a:p>
            <a:pPr marL="0" indent="0">
              <a:buNone/>
            </a:pPr>
            <a:r>
              <a:rPr lang="en-US" i="1" dirty="0"/>
              <a:t> e.g., Surf, Zip, Aspirin</a:t>
            </a:r>
            <a:endParaRPr lang="en-US" dirty="0"/>
          </a:p>
        </p:txBody>
      </p:sp>
    </p:spTree>
    <p:extLst>
      <p:ext uri="{BB962C8B-B14F-4D97-AF65-F5344CB8AC3E}">
        <p14:creationId xmlns:p14="http://schemas.microsoft.com/office/powerpoint/2010/main" val="4081689085"/>
      </p:ext>
    </p:extLst>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Effect transition="in" filter="wipe(left)">
                                      <p:cBhvr>
                                        <p:cTn id="7" dur="500"/>
                                        <p:tgtEl>
                                          <p:spTgt spid="911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1139">
                                            <p:txEl>
                                              <p:pRg st="1" end="1"/>
                                            </p:txEl>
                                          </p:spTgt>
                                        </p:tgtEl>
                                        <p:attrNameLst>
                                          <p:attrName>style.visibility</p:attrName>
                                        </p:attrNameLst>
                                      </p:cBhvr>
                                      <p:to>
                                        <p:strVal val="visible"/>
                                      </p:to>
                                    </p:set>
                                    <p:animEffect transition="in" filter="wipe(left)">
                                      <p:cBhvr>
                                        <p:cTn id="12" dur="500"/>
                                        <p:tgtEl>
                                          <p:spTgt spid="911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1139">
                                            <p:txEl>
                                              <p:pRg st="2" end="2"/>
                                            </p:txEl>
                                          </p:spTgt>
                                        </p:tgtEl>
                                        <p:attrNameLst>
                                          <p:attrName>style.visibility</p:attrName>
                                        </p:attrNameLst>
                                      </p:cBhvr>
                                      <p:to>
                                        <p:strVal val="visible"/>
                                      </p:to>
                                    </p:set>
                                    <p:animEffect transition="in" filter="wipe(left)">
                                      <p:cBhvr>
                                        <p:cTn id="17" dur="500"/>
                                        <p:tgtEl>
                                          <p:spTgt spid="911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1139">
                                            <p:txEl>
                                              <p:pRg st="3" end="3"/>
                                            </p:txEl>
                                          </p:spTgt>
                                        </p:tgtEl>
                                        <p:attrNameLst>
                                          <p:attrName>style.visibility</p:attrName>
                                        </p:attrNameLst>
                                      </p:cBhvr>
                                      <p:to>
                                        <p:strVal val="visible"/>
                                      </p:to>
                                    </p:set>
                                    <p:animEffect transition="in" filter="wipe(left)">
                                      <p:cBhvr>
                                        <p:cTn id="22" dur="500"/>
                                        <p:tgtEl>
                                          <p:spTgt spid="911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1139">
                                            <p:txEl>
                                              <p:pRg st="4" end="4"/>
                                            </p:txEl>
                                          </p:spTgt>
                                        </p:tgtEl>
                                        <p:attrNameLst>
                                          <p:attrName>style.visibility</p:attrName>
                                        </p:attrNameLst>
                                      </p:cBhvr>
                                      <p:to>
                                        <p:strVal val="visible"/>
                                      </p:to>
                                    </p:set>
                                    <p:animEffect transition="in" filter="wipe(left)">
                                      <p:cBhvr>
                                        <p:cTn id="27" dur="500"/>
                                        <p:tgtEl>
                                          <p:spTgt spid="911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Benefits of Trade Mark Registration </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Entrepreneur can</a:t>
            </a:r>
          </a:p>
          <a:p>
            <a:pPr marL="0" indent="0">
              <a:buNone/>
            </a:pPr>
            <a:endParaRPr lang="en-US" dirty="0"/>
          </a:p>
          <a:p>
            <a:r>
              <a:rPr lang="en-US" b="1" dirty="0"/>
              <a:t>Use registered trade mark as a brand name </a:t>
            </a:r>
            <a:r>
              <a:rPr lang="en-US" dirty="0"/>
              <a:t>for the goods and services specified in the registration </a:t>
            </a:r>
          </a:p>
          <a:p>
            <a:r>
              <a:rPr lang="en-US" b="1" dirty="0"/>
              <a:t>Authorize other people to use registered trade mark </a:t>
            </a:r>
            <a:r>
              <a:rPr lang="en-US" dirty="0"/>
              <a:t>for the goods and services specified in the registration </a:t>
            </a:r>
          </a:p>
          <a:p>
            <a:r>
              <a:rPr lang="en-US" dirty="0"/>
              <a:t>have a registered </a:t>
            </a:r>
            <a:r>
              <a:rPr lang="en-US" b="1" dirty="0"/>
              <a:t>trade mark that is personal property </a:t>
            </a:r>
            <a:r>
              <a:rPr lang="en-US" dirty="0"/>
              <a:t>and can be sold </a:t>
            </a:r>
          </a:p>
          <a:p>
            <a:r>
              <a:rPr lang="en-US" b="1" dirty="0"/>
              <a:t>may give the a notice objecting to the importation of goods </a:t>
            </a:r>
            <a:r>
              <a:rPr lang="en-US" dirty="0"/>
              <a:t>that infringe your registered trade mark </a:t>
            </a:r>
          </a:p>
          <a:p>
            <a:r>
              <a:rPr lang="en-US" b="1" dirty="0"/>
              <a:t>can be in a stronger position to stop other people from using your trade mark as their brand name</a:t>
            </a:r>
            <a:r>
              <a:rPr lang="en-US" dirty="0"/>
              <a:t>.</a:t>
            </a:r>
          </a:p>
        </p:txBody>
      </p:sp>
      <p:sp>
        <p:nvSpPr>
          <p:cNvPr id="4" name="Slide Number Placeholder 3"/>
          <p:cNvSpPr>
            <a:spLocks noGrp="1"/>
          </p:cNvSpPr>
          <p:nvPr>
            <p:ph type="sldNum" sz="quarter" idx="12"/>
          </p:nvPr>
        </p:nvSpPr>
        <p:spPr/>
        <p:txBody>
          <a:bodyPr/>
          <a:lstStyle/>
          <a:p>
            <a:fld id="{E2E19BCC-EB6D-4706-855E-B16354E90296}" type="slidenum">
              <a:rPr lang="en-US" smtClean="0"/>
              <a:pPr/>
              <a:t>18</a:t>
            </a:fld>
            <a:endParaRPr lang="en-US"/>
          </a:p>
        </p:txBody>
      </p:sp>
    </p:spTree>
    <p:extLst>
      <p:ext uri="{BB962C8B-B14F-4D97-AF65-F5344CB8AC3E}">
        <p14:creationId xmlns:p14="http://schemas.microsoft.com/office/powerpoint/2010/main" val="41945140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E849547B-4361-41E2-A2F2-B3815CB0CDE2}" type="slidenum">
              <a:rPr lang="en-US"/>
              <a:pPr/>
              <a:t>19</a:t>
            </a:fld>
            <a:endParaRPr lang="en-US"/>
          </a:p>
        </p:txBody>
      </p:sp>
      <p:sp>
        <p:nvSpPr>
          <p:cNvPr id="93186" name="Rectangle 2"/>
          <p:cNvSpPr>
            <a:spLocks noGrp="1" noRot="1" noChangeArrowheads="1"/>
          </p:cNvSpPr>
          <p:nvPr>
            <p:ph type="title"/>
          </p:nvPr>
        </p:nvSpPr>
        <p:spPr/>
        <p:txBody>
          <a:bodyPr/>
          <a:lstStyle/>
          <a:p>
            <a:r>
              <a:rPr lang="en-US"/>
              <a:t>Protecting Your Ideas</a:t>
            </a:r>
          </a:p>
        </p:txBody>
      </p:sp>
      <p:sp>
        <p:nvSpPr>
          <p:cNvPr id="93187" name="Rectangle 3"/>
          <p:cNvSpPr>
            <a:spLocks noGrp="1" noChangeArrowheads="1"/>
          </p:cNvSpPr>
          <p:nvPr>
            <p:ph type="body" idx="1"/>
          </p:nvPr>
        </p:nvSpPr>
        <p:spPr>
          <a:xfrm>
            <a:off x="0" y="1600200"/>
            <a:ext cx="9144000" cy="4525963"/>
          </a:xfrm>
        </p:spPr>
        <p:txBody>
          <a:bodyPr>
            <a:normAutofit/>
          </a:bodyPr>
          <a:lstStyle/>
          <a:p>
            <a:r>
              <a:rPr lang="en-US" i="1" dirty="0"/>
              <a:t>Copyright</a:t>
            </a:r>
            <a:r>
              <a:rPr lang="en-US" dirty="0"/>
              <a:t> – an exclusive right that protects the creators of original works of authorship. </a:t>
            </a:r>
          </a:p>
          <a:p>
            <a:r>
              <a:rPr lang="en-US" i="1" dirty="0"/>
              <a:t>works covered by the copyright include, but are not limited to, novels, poems, plays, reference work, newspapers, computer programs, databases, films, musical compositions, choreography, paintings,    drawings, photographs, sculpture, architecture,            advertisements, maps, and technical drawings</a:t>
            </a:r>
            <a:r>
              <a:rPr lang="en-US" i="1" dirty="0" smtClean="0"/>
              <a:t>.</a:t>
            </a:r>
            <a:endParaRPr lang="en-US" i="1" dirty="0"/>
          </a:p>
        </p:txBody>
      </p:sp>
    </p:spTree>
    <p:extLst>
      <p:ext uri="{BB962C8B-B14F-4D97-AF65-F5344CB8AC3E}">
        <p14:creationId xmlns:p14="http://schemas.microsoft.com/office/powerpoint/2010/main" val="1642295703"/>
      </p:ext>
    </p:extLst>
  </p:cSld>
  <p:clrMapOvr>
    <a:masterClrMapping/>
  </p:clrMapOvr>
  <p:transition>
    <p:pull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Effect transition="in" filter="wipe(left)">
                                      <p:cBhvr>
                                        <p:cTn id="7" dur="500"/>
                                        <p:tgtEl>
                                          <p:spTgt spid="931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187">
                                            <p:txEl>
                                              <p:pRg st="1" end="1"/>
                                            </p:txEl>
                                          </p:spTgt>
                                        </p:tgtEl>
                                        <p:attrNameLst>
                                          <p:attrName>style.visibility</p:attrName>
                                        </p:attrNameLst>
                                      </p:cBhvr>
                                      <p:to>
                                        <p:strVal val="visible"/>
                                      </p:to>
                                    </p:set>
                                    <p:animEffect transition="in" filter="wipe(left)">
                                      <p:cBhvr>
                                        <p:cTn id="12" dur="500"/>
                                        <p:tgtEl>
                                          <p:spTgt spid="931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Copyright Registration</a:t>
            </a:r>
          </a:p>
        </p:txBody>
      </p:sp>
      <p:sp>
        <p:nvSpPr>
          <p:cNvPr id="3" name="Content Placeholder 2"/>
          <p:cNvSpPr>
            <a:spLocks noGrp="1"/>
          </p:cNvSpPr>
          <p:nvPr>
            <p:ph idx="1"/>
          </p:nvPr>
        </p:nvSpPr>
        <p:spPr/>
        <p:txBody>
          <a:bodyPr/>
          <a:lstStyle/>
          <a:p>
            <a:r>
              <a:rPr lang="en-US" dirty="0"/>
              <a:t>Sell the copyright</a:t>
            </a:r>
          </a:p>
          <a:p>
            <a:endParaRPr lang="en-US" dirty="0"/>
          </a:p>
          <a:p>
            <a:r>
              <a:rPr lang="en-US" dirty="0"/>
              <a:t>License your copyright for use by others but retain the ownership.</a:t>
            </a:r>
          </a:p>
          <a:p>
            <a:endParaRPr lang="en-US" dirty="0"/>
          </a:p>
          <a:p>
            <a:r>
              <a:rPr lang="en-US" dirty="0"/>
              <a:t>Object if your work is distorted or mutilated.</a:t>
            </a:r>
          </a:p>
          <a:p>
            <a:endParaRPr lang="en-US" dirty="0"/>
          </a:p>
        </p:txBody>
      </p:sp>
    </p:spTree>
    <p:extLst>
      <p:ext uri="{BB962C8B-B14F-4D97-AF65-F5344CB8AC3E}">
        <p14:creationId xmlns:p14="http://schemas.microsoft.com/office/powerpoint/2010/main" val="6180497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E849547B-4361-41E2-A2F2-B3815CB0CDE2}" type="slidenum">
              <a:rPr lang="en-US"/>
              <a:pPr/>
              <a:t>21</a:t>
            </a:fld>
            <a:endParaRPr lang="en-US"/>
          </a:p>
        </p:txBody>
      </p:sp>
      <p:sp>
        <p:nvSpPr>
          <p:cNvPr id="93186" name="Rectangle 2"/>
          <p:cNvSpPr>
            <a:spLocks noGrp="1" noRot="1" noChangeArrowheads="1"/>
          </p:cNvSpPr>
          <p:nvPr>
            <p:ph type="title"/>
          </p:nvPr>
        </p:nvSpPr>
        <p:spPr/>
        <p:txBody>
          <a:bodyPr>
            <a:normAutofit fontScale="90000"/>
          </a:bodyPr>
          <a:lstStyle/>
          <a:p>
            <a:r>
              <a:rPr lang="en-US" dirty="0"/>
              <a:t>Case Study</a:t>
            </a:r>
            <a:br>
              <a:rPr lang="en-US" dirty="0"/>
            </a:br>
            <a:endParaRPr lang="en-US" dirty="0"/>
          </a:p>
        </p:txBody>
      </p:sp>
      <p:sp>
        <p:nvSpPr>
          <p:cNvPr id="93187" name="Rectangle 3"/>
          <p:cNvSpPr>
            <a:spLocks noGrp="1" noChangeArrowheads="1"/>
          </p:cNvSpPr>
          <p:nvPr>
            <p:ph type="body" idx="1"/>
          </p:nvPr>
        </p:nvSpPr>
        <p:spPr>
          <a:xfrm>
            <a:off x="-1" y="1066800"/>
            <a:ext cx="9144000" cy="5121275"/>
          </a:xfrm>
        </p:spPr>
        <p:txBody>
          <a:bodyPr>
            <a:normAutofit lnSpcReduction="10000"/>
          </a:bodyPr>
          <a:lstStyle/>
          <a:p>
            <a:pPr marL="0" lvl="0" indent="0" algn="justLow" eaLnBrk="0" fontAlgn="base" hangingPunct="0">
              <a:spcBef>
                <a:spcPct val="0"/>
              </a:spcBef>
              <a:spcAft>
                <a:spcPct val="0"/>
              </a:spcAft>
              <a:buNone/>
              <a:tabLst>
                <a:tab pos="285750" algn="l"/>
                <a:tab pos="457200" algn="l"/>
                <a:tab pos="685800" algn="l"/>
                <a:tab pos="914400" algn="l"/>
                <a:tab pos="1143000" algn="l"/>
                <a:tab pos="1371600" algn="l"/>
                <a:tab pos="1600200" algn="l"/>
                <a:tab pos="1828800" algn="l"/>
                <a:tab pos="5486400" algn="r"/>
              </a:tabLst>
            </a:pPr>
            <a:r>
              <a:rPr lang="en-US" altLang="en-US" sz="1200" b="1" dirty="0">
                <a:solidFill>
                  <a:prstClr val="black"/>
                </a:solidFill>
                <a:latin typeface="Arial" panose="020B0604020202020204" pitchFamily="34" charset="0"/>
                <a:ea typeface="Times New Roman" panose="02020603050405020304" pitchFamily="18" charset="0"/>
              </a:rPr>
              <a:t>The Spirit of Entrepreneurship in the Olympics</a:t>
            </a:r>
            <a:endParaRPr lang="en-US" altLang="en-US" sz="1200" dirty="0">
              <a:solidFill>
                <a:prstClr val="black"/>
              </a:solidFill>
              <a:latin typeface="Arial" panose="020B0604020202020204" pitchFamily="34" charset="0"/>
            </a:endParaRPr>
          </a:p>
          <a:p>
            <a:pPr marL="0" lvl="0" indent="0" algn="justLow" eaLnBrk="0" fontAlgn="base" hangingPunct="0">
              <a:spcBef>
                <a:spcPct val="0"/>
              </a:spcBef>
              <a:spcAft>
                <a:spcPct val="0"/>
              </a:spcAft>
              <a:buNone/>
              <a:tabLst>
                <a:tab pos="285750" algn="l"/>
                <a:tab pos="457200" algn="l"/>
                <a:tab pos="685800" algn="l"/>
                <a:tab pos="914400" algn="l"/>
                <a:tab pos="1143000" algn="l"/>
                <a:tab pos="1371600" algn="l"/>
                <a:tab pos="1600200" algn="l"/>
                <a:tab pos="1828800" algn="l"/>
                <a:tab pos="5486400" algn="r"/>
              </a:tabLst>
            </a:pPr>
            <a:r>
              <a:rPr lang="en-US" altLang="en-US" sz="1600" dirty="0">
                <a:solidFill>
                  <a:prstClr val="black"/>
                </a:solidFill>
                <a:latin typeface="Arial" panose="020B0604020202020204" pitchFamily="34" charset="0"/>
                <a:ea typeface="Times New Roman" panose="02020603050405020304" pitchFamily="18" charset="0"/>
              </a:rPr>
              <a:t>Throughout history, Olympic athletes have pushed back the frontiers of their sports by developing new techniques, improved training methods, and innovative solutions to existing problems. Two of the best examples of applying creativity to their sports are figure skater Sonja Henie and high jumper Dick Fosbury.</a:t>
            </a:r>
            <a:endParaRPr lang="en-US" altLang="en-US" sz="1600" dirty="0">
              <a:solidFill>
                <a:prstClr val="black"/>
              </a:solidFill>
              <a:latin typeface="Arial" panose="020B0604020202020204" pitchFamily="34" charset="0"/>
            </a:endParaRPr>
          </a:p>
          <a:p>
            <a:pPr marL="0" lvl="0" indent="0" algn="justLow" eaLnBrk="0" fontAlgn="base" hangingPunct="0">
              <a:spcBef>
                <a:spcPct val="0"/>
              </a:spcBef>
              <a:spcAft>
                <a:spcPct val="0"/>
              </a:spcAft>
              <a:buNone/>
              <a:tabLst>
                <a:tab pos="285750" algn="l"/>
                <a:tab pos="457200" algn="l"/>
                <a:tab pos="685800" algn="l"/>
                <a:tab pos="914400" algn="l"/>
                <a:tab pos="1143000" algn="l"/>
                <a:tab pos="1371600" algn="l"/>
                <a:tab pos="1600200" algn="l"/>
                <a:tab pos="1828800" algn="l"/>
                <a:tab pos="5486400" algn="r"/>
              </a:tabLst>
            </a:pPr>
            <a:r>
              <a:rPr lang="en-US" altLang="en-US" sz="1600" dirty="0">
                <a:solidFill>
                  <a:prstClr val="black"/>
                </a:solidFill>
                <a:latin typeface="Arial" panose="020B0604020202020204" pitchFamily="34" charset="0"/>
                <a:ea typeface="Times New Roman" panose="02020603050405020304" pitchFamily="18" charset="0"/>
              </a:rPr>
              <a:t>Before Sonja Henie came along, figure skaters performed a series of precise, routine moves that emphasized accuracy and control. Henie transformed the sport into the graceful combination of motion, music, and muscle that it is today. Even her costumes proved to be an exciting innovation. Trained in both dance and ballet as a child, Henie cast aside the existing paradigms of what ice-skating was as she recognized the possibilities of transferring dance movements onto the ice. Today, other skaters like Nancy Kerrigan and Katarina Witt continue her legacy of creativity and change by injecting elements of gymnastics and performing triple jumps and axels.</a:t>
            </a:r>
            <a:endParaRPr lang="en-US" altLang="en-US" sz="1600" dirty="0">
              <a:solidFill>
                <a:prstClr val="black"/>
              </a:solidFill>
              <a:latin typeface="Arial" panose="020B0604020202020204" pitchFamily="34" charset="0"/>
            </a:endParaRPr>
          </a:p>
          <a:p>
            <a:pPr marL="0" lvl="0" indent="0" algn="justLow" eaLnBrk="0" fontAlgn="base" hangingPunct="0">
              <a:spcBef>
                <a:spcPct val="0"/>
              </a:spcBef>
              <a:spcAft>
                <a:spcPct val="0"/>
              </a:spcAft>
              <a:buNone/>
              <a:tabLst>
                <a:tab pos="285750" algn="l"/>
                <a:tab pos="457200" algn="l"/>
                <a:tab pos="685800" algn="l"/>
                <a:tab pos="914400" algn="l"/>
                <a:tab pos="1143000" algn="l"/>
                <a:tab pos="1371600" algn="l"/>
                <a:tab pos="1600200" algn="l"/>
                <a:tab pos="1828800" algn="l"/>
                <a:tab pos="5486400" algn="r"/>
              </a:tabLst>
            </a:pPr>
            <a:r>
              <a:rPr lang="en-US" altLang="en-US" sz="1600" dirty="0">
                <a:solidFill>
                  <a:prstClr val="black"/>
                </a:solidFill>
                <a:latin typeface="Arial" panose="020B0604020202020204" pitchFamily="34" charset="0"/>
                <a:ea typeface="Times New Roman" panose="02020603050405020304" pitchFamily="18" charset="0"/>
              </a:rPr>
              <a:t>In the 1968 Olympics in Mexico City, Dick Fosbury forever changed the sport of high jumping. He approached the bar at a different angle and then curved his body over the bar face up, kicking his legs over the end of the jump. “Fosbury Flop,” as the style became known, transfers the weight of the jumper over the bar in stages. He broke the world’s high jumping record by 6cm, but also had the satisfaction of creating a new style used by athletes all over the world today. </a:t>
            </a:r>
          </a:p>
          <a:p>
            <a:pPr marL="0" lvl="0" indent="0" algn="justLow" eaLnBrk="0" fontAlgn="base" hangingPunct="0">
              <a:spcBef>
                <a:spcPct val="0"/>
              </a:spcBef>
              <a:spcAft>
                <a:spcPct val="0"/>
              </a:spcAft>
              <a:buNone/>
              <a:tabLst>
                <a:tab pos="285750" algn="l"/>
                <a:tab pos="457200" algn="l"/>
                <a:tab pos="685800" algn="l"/>
                <a:tab pos="914400" algn="l"/>
                <a:tab pos="1143000" algn="l"/>
                <a:tab pos="1371600" algn="l"/>
                <a:tab pos="1600200" algn="l"/>
                <a:tab pos="1828800" algn="l"/>
                <a:tab pos="5486400" algn="r"/>
              </a:tabLst>
            </a:pPr>
            <a:endParaRPr lang="en-US" altLang="en-US" sz="1200" dirty="0">
              <a:solidFill>
                <a:prstClr val="black"/>
              </a:solidFill>
              <a:latin typeface="Arial" panose="020B0604020202020204" pitchFamily="34" charset="0"/>
            </a:endParaRPr>
          </a:p>
          <a:p>
            <a:pPr marL="0" lvl="0" indent="0" algn="justLow" eaLnBrk="0" fontAlgn="base" hangingPunct="0">
              <a:spcBef>
                <a:spcPct val="0"/>
              </a:spcBef>
              <a:spcAft>
                <a:spcPct val="0"/>
              </a:spcAft>
              <a:buNone/>
              <a:tabLst>
                <a:tab pos="285750" algn="l"/>
                <a:tab pos="457200" algn="l"/>
                <a:tab pos="685800" algn="l"/>
                <a:tab pos="914400" algn="l"/>
                <a:tab pos="1143000" algn="l"/>
                <a:tab pos="1371600" algn="l"/>
                <a:tab pos="1600200" algn="l"/>
                <a:tab pos="1828800" algn="l"/>
                <a:tab pos="5486400" algn="r"/>
              </a:tabLst>
            </a:pPr>
            <a:endParaRPr lang="en-US" altLang="en-US" sz="1200" dirty="0">
              <a:solidFill>
                <a:prstClr val="black"/>
              </a:solidFill>
              <a:latin typeface="Arial" panose="020B0604020202020204" pitchFamily="34" charset="0"/>
            </a:endParaRPr>
          </a:p>
          <a:p>
            <a:pPr marL="0" lvl="0" indent="0" algn="justLow" eaLnBrk="0" fontAlgn="base" hangingPunct="0">
              <a:spcBef>
                <a:spcPct val="0"/>
              </a:spcBef>
              <a:spcAft>
                <a:spcPct val="0"/>
              </a:spcAft>
              <a:buNone/>
              <a:tabLst>
                <a:tab pos="285750" algn="l"/>
                <a:tab pos="457200" algn="l"/>
                <a:tab pos="685800" algn="l"/>
                <a:tab pos="914400" algn="l"/>
                <a:tab pos="1143000" algn="l"/>
                <a:tab pos="1371600" algn="l"/>
                <a:tab pos="1600200" algn="l"/>
                <a:tab pos="1828800" algn="l"/>
                <a:tab pos="5486400" algn="r"/>
              </a:tabLst>
            </a:pPr>
            <a:r>
              <a:rPr lang="en-US" altLang="en-US" sz="1200" dirty="0">
                <a:solidFill>
                  <a:prstClr val="black"/>
                </a:solidFill>
                <a:latin typeface="Arial" panose="020B0604020202020204" pitchFamily="34" charset="0"/>
                <a:ea typeface="Times New Roman" panose="02020603050405020304" pitchFamily="18" charset="0"/>
              </a:rPr>
              <a:t>———————————————————————————————</a:t>
            </a:r>
            <a:endParaRPr lang="en-US" altLang="en-US" sz="1200" dirty="0">
              <a:solidFill>
                <a:prstClr val="black"/>
              </a:solidFill>
              <a:latin typeface="Arial" panose="020B0604020202020204" pitchFamily="34" charset="0"/>
            </a:endParaRPr>
          </a:p>
          <a:p>
            <a:pPr marL="0" lvl="0" indent="0" algn="justLow" eaLnBrk="0" fontAlgn="base" hangingPunct="0">
              <a:spcBef>
                <a:spcPct val="0"/>
              </a:spcBef>
              <a:spcAft>
                <a:spcPct val="0"/>
              </a:spcAft>
              <a:buNone/>
              <a:tabLst>
                <a:tab pos="285750" algn="l"/>
                <a:tab pos="457200" algn="l"/>
                <a:tab pos="685800" algn="l"/>
                <a:tab pos="914400" algn="l"/>
                <a:tab pos="1143000" algn="l"/>
                <a:tab pos="1371600" algn="l"/>
                <a:tab pos="1600200" algn="l"/>
                <a:tab pos="1828800" algn="l"/>
                <a:tab pos="5486400" algn="r"/>
              </a:tabLst>
            </a:pPr>
            <a:r>
              <a:rPr lang="en-US" altLang="en-US" sz="1200" dirty="0">
                <a:solidFill>
                  <a:prstClr val="black"/>
                </a:solidFill>
                <a:latin typeface="Arial" panose="020B0604020202020204" pitchFamily="34" charset="0"/>
                <a:ea typeface="Times New Roman" panose="02020603050405020304" pitchFamily="18" charset="0"/>
              </a:rPr>
              <a:t>Q1. 	What is a paradigm?  How does a paradigm stifle creativity?</a:t>
            </a:r>
            <a:endParaRPr lang="en-US" altLang="en-US" sz="1200" dirty="0">
              <a:solidFill>
                <a:prstClr val="black"/>
              </a:solidFill>
              <a:latin typeface="Arial" panose="020B0604020202020204" pitchFamily="34" charset="0"/>
            </a:endParaRPr>
          </a:p>
          <a:p>
            <a:pPr marL="0" lvl="0" indent="0" algn="justLow" eaLnBrk="0" fontAlgn="base" hangingPunct="0">
              <a:spcBef>
                <a:spcPct val="0"/>
              </a:spcBef>
              <a:spcAft>
                <a:spcPct val="0"/>
              </a:spcAft>
              <a:buNone/>
              <a:tabLst>
                <a:tab pos="285750" algn="l"/>
                <a:tab pos="457200" algn="l"/>
                <a:tab pos="685800" algn="l"/>
                <a:tab pos="914400" algn="l"/>
                <a:tab pos="1143000" algn="l"/>
                <a:tab pos="1371600" algn="l"/>
                <a:tab pos="1600200" algn="l"/>
                <a:tab pos="1828800" algn="l"/>
                <a:tab pos="5486400" algn="r"/>
              </a:tabLst>
            </a:pPr>
            <a:r>
              <a:rPr lang="en-US" altLang="en-US" sz="1200" dirty="0">
                <a:solidFill>
                  <a:prstClr val="black"/>
                </a:solidFill>
                <a:latin typeface="Arial" panose="020B0604020202020204" pitchFamily="34" charset="0"/>
                <a:ea typeface="Times New Roman" panose="02020603050405020304" pitchFamily="18" charset="0"/>
              </a:rPr>
              <a:t>Q2. 	Work with a small group of your classmates to identify a local business that is bound by a paradigm. </a:t>
            </a:r>
            <a:endParaRPr lang="en-US" altLang="en-US" sz="1200" dirty="0">
              <a:solidFill>
                <a:prstClr val="black"/>
              </a:solidFill>
              <a:latin typeface="Arial" panose="020B0604020202020204" pitchFamily="34" charset="0"/>
            </a:endParaRPr>
          </a:p>
          <a:p>
            <a:pPr marL="0" lvl="0" indent="0" algn="justLow" eaLnBrk="0" fontAlgn="base" hangingPunct="0">
              <a:spcBef>
                <a:spcPct val="0"/>
              </a:spcBef>
              <a:spcAft>
                <a:spcPct val="0"/>
              </a:spcAft>
              <a:buNone/>
              <a:tabLst>
                <a:tab pos="285750" algn="l"/>
                <a:tab pos="457200" algn="l"/>
                <a:tab pos="685800" algn="l"/>
                <a:tab pos="914400" algn="l"/>
                <a:tab pos="1143000" algn="l"/>
                <a:tab pos="1371600" algn="l"/>
                <a:tab pos="1600200" algn="l"/>
                <a:tab pos="1828800" algn="l"/>
                <a:tab pos="5486400" algn="r"/>
              </a:tabLst>
            </a:pPr>
            <a:r>
              <a:rPr lang="en-US" altLang="en-US" sz="1200" dirty="0">
                <a:solidFill>
                  <a:prstClr val="black"/>
                </a:solidFill>
                <a:latin typeface="Arial" panose="020B0604020202020204" pitchFamily="34" charset="0"/>
                <a:ea typeface="Times New Roman" panose="02020603050405020304" pitchFamily="18" charset="0"/>
              </a:rPr>
              <a:t>Q3.		What impact is this paradigm having on the business</a:t>
            </a:r>
            <a:r>
              <a:rPr lang="en-US" altLang="en-US" sz="1100" dirty="0">
                <a:solidFill>
                  <a:prstClr val="black"/>
                </a:solidFill>
                <a:latin typeface="Arial" panose="020B0604020202020204" pitchFamily="34" charset="0"/>
                <a:ea typeface="Times New Roman" panose="02020603050405020304" pitchFamily="18" charset="0"/>
              </a:rPr>
              <a:t>?  Identify the paradigm and then generate as many creative suggestions as you can in 20 minutes that would change the paradigm.</a:t>
            </a:r>
            <a:endParaRPr lang="en-US" altLang="en-US" sz="1800" dirty="0">
              <a:solidFill>
                <a:prstClr val="black"/>
              </a:solidFill>
              <a:latin typeface="Arial" panose="020B0604020202020204" pitchFamily="34" charset="0"/>
            </a:endParaRPr>
          </a:p>
          <a:p>
            <a:endParaRPr lang="en-US" dirty="0"/>
          </a:p>
        </p:txBody>
      </p:sp>
    </p:spTree>
    <p:extLst>
      <p:ext uri="{BB962C8B-B14F-4D97-AF65-F5344CB8AC3E}">
        <p14:creationId xmlns:p14="http://schemas.microsoft.com/office/powerpoint/2010/main" val="3855466050"/>
      </p:ext>
    </p:extLst>
  </p:cSld>
  <p:clrMapOvr>
    <a:masterClrMapping/>
  </p:clrMapOvr>
  <p:transition>
    <p:pull dir="l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Effect transition="in" filter="wipe(left)">
                                      <p:cBhvr>
                                        <p:cTn id="7" dur="500"/>
                                        <p:tgtEl>
                                          <p:spTgt spid="931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187">
                                            <p:txEl>
                                              <p:pRg st="1" end="1"/>
                                            </p:txEl>
                                          </p:spTgt>
                                        </p:tgtEl>
                                        <p:attrNameLst>
                                          <p:attrName>style.visibility</p:attrName>
                                        </p:attrNameLst>
                                      </p:cBhvr>
                                      <p:to>
                                        <p:strVal val="visible"/>
                                      </p:to>
                                    </p:set>
                                    <p:animEffect transition="in" filter="wipe(left)">
                                      <p:cBhvr>
                                        <p:cTn id="12" dur="500"/>
                                        <p:tgtEl>
                                          <p:spTgt spid="931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187">
                                            <p:txEl>
                                              <p:pRg st="2" end="2"/>
                                            </p:txEl>
                                          </p:spTgt>
                                        </p:tgtEl>
                                        <p:attrNameLst>
                                          <p:attrName>style.visibility</p:attrName>
                                        </p:attrNameLst>
                                      </p:cBhvr>
                                      <p:to>
                                        <p:strVal val="visible"/>
                                      </p:to>
                                    </p:set>
                                    <p:animEffect transition="in" filter="wipe(left)">
                                      <p:cBhvr>
                                        <p:cTn id="17" dur="500"/>
                                        <p:tgtEl>
                                          <p:spTgt spid="931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187">
                                            <p:txEl>
                                              <p:pRg st="3" end="3"/>
                                            </p:txEl>
                                          </p:spTgt>
                                        </p:tgtEl>
                                        <p:attrNameLst>
                                          <p:attrName>style.visibility</p:attrName>
                                        </p:attrNameLst>
                                      </p:cBhvr>
                                      <p:to>
                                        <p:strVal val="visible"/>
                                      </p:to>
                                    </p:set>
                                    <p:animEffect transition="in" filter="wipe(left)">
                                      <p:cBhvr>
                                        <p:cTn id="22" dur="500"/>
                                        <p:tgtEl>
                                          <p:spTgt spid="931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3187">
                                            <p:txEl>
                                              <p:pRg st="6" end="6"/>
                                            </p:txEl>
                                          </p:spTgt>
                                        </p:tgtEl>
                                        <p:attrNameLst>
                                          <p:attrName>style.visibility</p:attrName>
                                        </p:attrNameLst>
                                      </p:cBhvr>
                                      <p:to>
                                        <p:strVal val="visible"/>
                                      </p:to>
                                    </p:set>
                                    <p:animEffect transition="in" filter="wipe(left)">
                                      <p:cBhvr>
                                        <p:cTn id="27" dur="500"/>
                                        <p:tgtEl>
                                          <p:spTgt spid="9318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3187">
                                            <p:txEl>
                                              <p:pRg st="7" end="7"/>
                                            </p:txEl>
                                          </p:spTgt>
                                        </p:tgtEl>
                                        <p:attrNameLst>
                                          <p:attrName>style.visibility</p:attrName>
                                        </p:attrNameLst>
                                      </p:cBhvr>
                                      <p:to>
                                        <p:strVal val="visible"/>
                                      </p:to>
                                    </p:set>
                                    <p:animEffect transition="in" filter="wipe(left)">
                                      <p:cBhvr>
                                        <p:cTn id="32" dur="500"/>
                                        <p:tgtEl>
                                          <p:spTgt spid="9318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3187">
                                            <p:txEl>
                                              <p:pRg st="8" end="8"/>
                                            </p:txEl>
                                          </p:spTgt>
                                        </p:tgtEl>
                                        <p:attrNameLst>
                                          <p:attrName>style.visibility</p:attrName>
                                        </p:attrNameLst>
                                      </p:cBhvr>
                                      <p:to>
                                        <p:strVal val="visible"/>
                                      </p:to>
                                    </p:set>
                                    <p:animEffect transition="in" filter="wipe(left)">
                                      <p:cBhvr>
                                        <p:cTn id="37" dur="500"/>
                                        <p:tgtEl>
                                          <p:spTgt spid="9318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3187">
                                            <p:txEl>
                                              <p:pRg st="9" end="9"/>
                                            </p:txEl>
                                          </p:spTgt>
                                        </p:tgtEl>
                                        <p:attrNameLst>
                                          <p:attrName>style.visibility</p:attrName>
                                        </p:attrNameLst>
                                      </p:cBhvr>
                                      <p:to>
                                        <p:strVal val="visible"/>
                                      </p:to>
                                    </p:set>
                                    <p:animEffect transition="in" filter="wipe(left)">
                                      <p:cBhvr>
                                        <p:cTn id="42" dur="500"/>
                                        <p:tgtEl>
                                          <p:spTgt spid="9318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021" y="328282"/>
            <a:ext cx="7772400" cy="1470025"/>
          </a:xfrm>
        </p:spPr>
        <p:txBody>
          <a:bodyPr/>
          <a:lstStyle/>
          <a:p>
            <a:r>
              <a:rPr lang="en-US" dirty="0"/>
              <a:t>Lecture Review</a:t>
            </a:r>
          </a:p>
        </p:txBody>
      </p:sp>
      <p:sp>
        <p:nvSpPr>
          <p:cNvPr id="3" name="Subtitle 2"/>
          <p:cNvSpPr>
            <a:spLocks noGrp="1"/>
          </p:cNvSpPr>
          <p:nvPr>
            <p:ph type="subTitle" idx="1"/>
          </p:nvPr>
        </p:nvSpPr>
        <p:spPr>
          <a:xfrm>
            <a:off x="228600" y="2330355"/>
            <a:ext cx="8382000" cy="3384645"/>
          </a:xfrm>
        </p:spPr>
        <p:txBody>
          <a:bodyPr>
            <a:normAutofit/>
          </a:bodyPr>
          <a:lstStyle/>
          <a:p>
            <a:pPr marL="342900" indent="-342900" algn="l">
              <a:lnSpc>
                <a:spcPct val="90000"/>
              </a:lnSpc>
              <a:buFont typeface="Arial" pitchFamily="34" charset="0"/>
              <a:buChar char="•"/>
              <a:defRPr/>
            </a:pPr>
            <a:r>
              <a:rPr lang="en-US" dirty="0">
                <a:solidFill>
                  <a:schemeClr val="tx1"/>
                </a:solidFill>
              </a:rPr>
              <a:t>Patents</a:t>
            </a:r>
          </a:p>
          <a:p>
            <a:pPr marL="342900" indent="-342900" algn="l">
              <a:lnSpc>
                <a:spcPct val="90000"/>
              </a:lnSpc>
              <a:buFont typeface="Arial" pitchFamily="34" charset="0"/>
              <a:buChar char="•"/>
              <a:defRPr/>
            </a:pPr>
            <a:r>
              <a:rPr lang="en-US" dirty="0">
                <a:solidFill>
                  <a:schemeClr val="tx1"/>
                </a:solidFill>
              </a:rPr>
              <a:t>Steps to Patent</a:t>
            </a:r>
          </a:p>
          <a:p>
            <a:pPr marL="342900" indent="-342900" algn="l">
              <a:lnSpc>
                <a:spcPct val="90000"/>
              </a:lnSpc>
              <a:buFont typeface="Arial" pitchFamily="34" charset="0"/>
              <a:buChar char="•"/>
              <a:defRPr/>
            </a:pPr>
            <a:r>
              <a:rPr lang="en-US" dirty="0">
                <a:solidFill>
                  <a:schemeClr val="tx1"/>
                </a:solidFill>
              </a:rPr>
              <a:t>Benefits of Obtaining Patents</a:t>
            </a:r>
          </a:p>
          <a:p>
            <a:pPr marL="342900" indent="-342900" algn="l">
              <a:lnSpc>
                <a:spcPct val="90000"/>
              </a:lnSpc>
              <a:buFont typeface="Arial" pitchFamily="34" charset="0"/>
              <a:buChar char="•"/>
              <a:defRPr/>
            </a:pPr>
            <a:r>
              <a:rPr lang="en-US">
                <a:solidFill>
                  <a:schemeClr val="tx1"/>
                </a:solidFill>
              </a:rPr>
              <a:t>Trademarks </a:t>
            </a:r>
            <a:endParaRPr lang="en-US" dirty="0">
              <a:solidFill>
                <a:schemeClr val="tx1"/>
              </a:solidFill>
            </a:endParaRPr>
          </a:p>
        </p:txBody>
      </p:sp>
      <p:sp>
        <p:nvSpPr>
          <p:cNvPr id="4" name="Slide Number Placeholder 3"/>
          <p:cNvSpPr>
            <a:spLocks noGrp="1"/>
          </p:cNvSpPr>
          <p:nvPr>
            <p:ph type="sldNum" sz="quarter" idx="12"/>
          </p:nvPr>
        </p:nvSpPr>
        <p:spPr/>
        <p:txBody>
          <a:bodyPr/>
          <a:lstStyle/>
          <a:p>
            <a:fld id="{066D2596-C744-4D7D-B83A-C0CE2C30BEB3}" type="slidenum">
              <a:rPr lang="en-US" smtClean="0">
                <a:solidFill>
                  <a:prstClr val="black">
                    <a:tint val="75000"/>
                  </a:prstClr>
                </a:solidFill>
              </a:rPr>
              <a:pPr/>
              <a:t>22</a:t>
            </a:fld>
            <a:endParaRPr lang="en-US">
              <a:solidFill>
                <a:prstClr val="black">
                  <a:tint val="75000"/>
                </a:prst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5767" y="152400"/>
            <a:ext cx="2209800" cy="1685925"/>
          </a:xfrm>
          <a:prstGeom prst="rect">
            <a:avLst/>
          </a:prstGeom>
        </p:spPr>
      </p:pic>
      <p:sp>
        <p:nvSpPr>
          <p:cNvPr id="8" name="Footer Placeholder 4"/>
          <p:cNvSpPr>
            <a:spLocks noGrp="1"/>
          </p:cNvSpPr>
          <p:nvPr>
            <p:ph type="ftr" sz="quarter" idx="11"/>
          </p:nvPr>
        </p:nvSpPr>
        <p:spPr bwMode="auto">
          <a:xfrm>
            <a:off x="304800" y="6172200"/>
            <a:ext cx="8077200" cy="381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MS PGothic" pitchFamily="34" charset="-128"/>
              </a:defRPr>
            </a:lvl1pPr>
            <a:lvl2pPr marL="742950" indent="-285750">
              <a:defRPr>
                <a:solidFill>
                  <a:schemeClr val="tx1"/>
                </a:solidFill>
                <a:latin typeface="Arial" pitchFamily="34" charset="0"/>
                <a:ea typeface="MS PGothic" pitchFamily="34" charset="-128"/>
              </a:defRPr>
            </a:lvl2pPr>
            <a:lvl3pPr marL="1143000" indent="-228600">
              <a:defRPr>
                <a:solidFill>
                  <a:schemeClr val="tx1"/>
                </a:solidFill>
                <a:latin typeface="Arial" pitchFamily="34" charset="0"/>
                <a:ea typeface="MS PGothic" pitchFamily="34" charset="-128"/>
              </a:defRPr>
            </a:lvl3pPr>
            <a:lvl4pPr marL="1600200" indent="-228600">
              <a:defRPr>
                <a:solidFill>
                  <a:schemeClr val="tx1"/>
                </a:solidFill>
                <a:latin typeface="Arial" pitchFamily="34" charset="0"/>
                <a:ea typeface="MS PGothic" pitchFamily="34" charset="-128"/>
              </a:defRPr>
            </a:lvl4pPr>
            <a:lvl5pPr marL="2057400" indent="-228600">
              <a:defRPr>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Arial" pitchFamily="34" charset="0"/>
                <a:ea typeface="MS PGothic" pitchFamily="34" charset="-128"/>
              </a:defRPr>
            </a:lvl9pPr>
          </a:lstStyle>
          <a:p>
            <a:r>
              <a:rPr lang="en-US" sz="1800" dirty="0" err="1">
                <a:latin typeface="Tw Cen MT" pitchFamily="34" charset="0"/>
              </a:rPr>
              <a:t>Bygrave</a:t>
            </a:r>
            <a:r>
              <a:rPr lang="en-US" sz="1800" dirty="0">
                <a:latin typeface="Tw Cen MT" pitchFamily="34" charset="0"/>
              </a:rPr>
              <a:t> &amp; </a:t>
            </a:r>
            <a:r>
              <a:rPr lang="en-US" sz="1800" dirty="0" err="1">
                <a:latin typeface="Tw Cen MT" pitchFamily="34" charset="0"/>
              </a:rPr>
              <a:t>Zacharakis</a:t>
            </a:r>
            <a:r>
              <a:rPr lang="en-US" sz="1800" dirty="0">
                <a:latin typeface="Tw Cen MT" pitchFamily="34" charset="0"/>
              </a:rPr>
              <a:t>, </a:t>
            </a:r>
            <a:r>
              <a:rPr lang="en-US" sz="1800" i="1" dirty="0">
                <a:latin typeface="Tw Cen MT" pitchFamily="34" charset="0"/>
              </a:rPr>
              <a:t>Entrepreneurship</a:t>
            </a:r>
            <a:r>
              <a:rPr lang="en-US" sz="1800" dirty="0">
                <a:latin typeface="Tw Cen MT" pitchFamily="34" charset="0"/>
              </a:rPr>
              <a:t>, New York: Wiley, 2010.  </a:t>
            </a:r>
          </a:p>
        </p:txBody>
      </p:sp>
      <p:sp>
        <p:nvSpPr>
          <p:cNvPr id="7" name="TextBox 6"/>
          <p:cNvSpPr txBox="1"/>
          <p:nvPr/>
        </p:nvSpPr>
        <p:spPr>
          <a:xfrm>
            <a:off x="685800" y="5621867"/>
            <a:ext cx="7543800" cy="646331"/>
          </a:xfrm>
          <a:prstGeom prst="rect">
            <a:avLst/>
          </a:prstGeom>
          <a:noFill/>
        </p:spPr>
        <p:txBody>
          <a:bodyPr wrap="square" rtlCol="0">
            <a:spAutoFit/>
          </a:bodyPr>
          <a:lstStyle/>
          <a:p>
            <a:pPr algn="ctr"/>
            <a:r>
              <a:rPr lang="en-US" dirty="0"/>
              <a:t>Reference: Essentials of Entrepreneurship &amp; Small Business Management, Zimmer, Scarborough &amp;Wilson, 5</a:t>
            </a:r>
            <a:r>
              <a:rPr lang="en-US" baseline="30000" dirty="0"/>
              <a:t>th</a:t>
            </a:r>
            <a:r>
              <a:rPr lang="en-US" dirty="0"/>
              <a:t> Edition</a:t>
            </a:r>
          </a:p>
        </p:txBody>
      </p:sp>
    </p:spTree>
    <p:extLst>
      <p:ext uri="{BB962C8B-B14F-4D97-AF65-F5344CB8AC3E}">
        <p14:creationId xmlns:p14="http://schemas.microsoft.com/office/powerpoint/2010/main" val="2909728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30364</TotalTime>
  <Words>1364</Words>
  <Application>Microsoft Office PowerPoint</Application>
  <PresentationFormat>On-screen Show (4:3)</PresentationFormat>
  <Paragraphs>138</Paragraphs>
  <Slides>22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MS PGothic</vt:lpstr>
      <vt:lpstr>Arial</vt:lpstr>
      <vt:lpstr>Calibri</vt:lpstr>
      <vt:lpstr>Times New Roman</vt:lpstr>
      <vt:lpstr>Tw Cen MT</vt:lpstr>
      <vt:lpstr>Wingdings</vt:lpstr>
      <vt:lpstr>Office Theme</vt:lpstr>
      <vt:lpstr> Previous Lecture Review</vt:lpstr>
      <vt:lpstr>Objectives</vt:lpstr>
      <vt:lpstr>PowerPoint Presentation</vt:lpstr>
      <vt:lpstr>Share a New Idea</vt:lpstr>
      <vt:lpstr>Share a New Idea</vt:lpstr>
      <vt:lpstr>Patents</vt:lpstr>
      <vt:lpstr>Examples of Patentable Items</vt:lpstr>
      <vt:lpstr>Examples of Patentable Items</vt:lpstr>
      <vt:lpstr>Patents</vt:lpstr>
      <vt:lpstr>The Steps to a Patent</vt:lpstr>
      <vt:lpstr>Contents of Specification</vt:lpstr>
      <vt:lpstr>Benefits of Obtaining Patent</vt:lpstr>
      <vt:lpstr>Benefits of Obtaining Patent</vt:lpstr>
      <vt:lpstr>Cases in which Patent will not be Granted</vt:lpstr>
      <vt:lpstr>Cases in which Patent will not be Granted</vt:lpstr>
      <vt:lpstr>Protecting Your Ideas</vt:lpstr>
      <vt:lpstr>Protecting Your Ideas</vt:lpstr>
      <vt:lpstr>Benefits of Trade Mark Registration </vt:lpstr>
      <vt:lpstr>Protecting Your Ideas</vt:lpstr>
      <vt:lpstr>Benefits of Copyright Registration</vt:lpstr>
      <vt:lpstr>Case Study </vt:lpstr>
      <vt:lpstr>Lecture Review</vt:lpstr>
    </vt:vector>
  </TitlesOfParts>
  <Company>MyCompanyName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 the Entrepreneurial Mind: From Ideas to Reality</dc:title>
  <dc:creator>MyUserName</dc:creator>
  <cp:lastModifiedBy>Rabia Shafaat</cp:lastModifiedBy>
  <cp:revision>44</cp:revision>
  <dcterms:created xsi:type="dcterms:W3CDTF">2013-10-03T09:43:12Z</dcterms:created>
  <dcterms:modified xsi:type="dcterms:W3CDTF">2019-12-05T10:50:03Z</dcterms:modified>
</cp:coreProperties>
</file>