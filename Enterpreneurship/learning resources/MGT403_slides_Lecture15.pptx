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31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52" r:id="rId23"/>
    <p:sldId id="353" r:id="rId24"/>
    <p:sldId id="354" r:id="rId25"/>
    <p:sldId id="355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671" autoAdjust="0"/>
  </p:normalViewPr>
  <p:slideViewPr>
    <p:cSldViewPr>
      <p:cViewPr varScale="1">
        <p:scale>
          <a:sx n="67" d="100"/>
          <a:sy n="67" d="100"/>
        </p:scale>
        <p:origin x="52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90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85B88A-C841-402B-B2F9-EDF798484FBC}" type="datetimeFigureOut">
              <a:rPr lang="en-US" smtClean="0"/>
              <a:pPr/>
              <a:t>7/24/2019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3A5EB-6F79-4447-ABC5-06DD9934805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825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386009-2F07-4740-8702-9AC409F43F31}" type="slidenum">
              <a:rPr lang="en-US"/>
              <a:pPr/>
              <a:t>7</a:t>
            </a:fld>
            <a:endParaRPr lang="en-US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939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8299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885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090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440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3827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41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011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56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338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285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0302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338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39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1473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043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1215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3760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158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91102-469A-4879-93A4-E66777F6C2D3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5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3D04A7-B3A8-4CD6-BD05-EB61534CF739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92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1348-C853-4895-81CE-2C8AD9C13B0C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462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249D5-4EF4-4E34-8AD2-45EB89C1993C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116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1FDED-C89F-4743-B155-1C5FE21E8D84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9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2FA9D-D6C3-4180-B72E-363C95185CEF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6A363-D944-4FBB-88E4-622783E5770F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882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02941-F41F-4B96-8701-99372650E811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5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9B19B-DF47-4450-81EC-6615EC21D411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8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90A34-46E9-48A8-B6BC-9B2674E07B05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03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996D5A-700F-41EA-8139-E424ECDD61FC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067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A6704-3AAF-4FE0-BCD2-99127DA8E66B}" type="datetime1">
              <a:rPr lang="en-US" smtClean="0"/>
              <a:pPr/>
              <a:t>7/24/2019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Chapter 3: Strategic Plan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19BCC-EB6D-4706-855E-B16354E902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05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://images.google.co.uk/imgres?imgurl=http://www.cnsx.ca/Storage.asp?StorageID=88814&amp;SiteLanguageID=1&amp;imgrefurl=http://www.cnsx.ca/Page.asp?PageID=749&amp;SiteNodeID=160&amp;usg=__-ijpPpCG8V2jvWOP-DaVrNMd2WM=&amp;h=1174&amp;w=1280&amp;sz=176&amp;hl=en&amp;start=1&amp;tbnid=F13K5baDJApOMM:&amp;tbnh=138&amp;tbnw=150&amp;prev=/images?q=technology&amp;gbv=2&amp;hl=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hyperlink" Target="http://images.google.co.uk/imgres?imgurl=http://www.unescap.org/unis/press/2007/aug/space.jpg&amp;imgrefurl=http://www.unescap.org/unis/press/2007/aug/n38.asp&amp;usg=__7oRAEi9bslFC3JFlI2PXNpdBlMU=&amp;h=518&amp;w=600&amp;sz=28&amp;hl=en&amp;start=18&amp;tbnid=Gzsg3671OA2sHM:&amp;tbnh=117&amp;tbnw=135&amp;prev=/images?q=technology&amp;gbv=2&amp;hl=e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images.google.co.uk/imgres?imgurl=http://media.schadenfreude.net/2009/05/barrister.jpg&amp;imgrefurl=http://www.schadenfreude.net/2009/05/19/i-dont-know-about-you-but-i-think-i-trust-mr-sean-atteta.php&amp;usg=__fAPBNp_ZGCxfeGnLRmxbxoO3P7M=&amp;h=238&amp;w=250&amp;sz=17&amp;hl=en&amp;start=4&amp;tbnid=_5w1zy2oX8G5OM:&amp;tbnh=106&amp;tbnw=111&amp;prev=/images?q=barrister&amp;gbv=2&amp;hl=e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hyperlink" Target="http://images.google.co.uk/imgres?imgurl=http://www.campusaccess.com/images/law-school.jpg&amp;imgrefurl=http://www.campusaccess.com/education/law.html&amp;usg=__Fzz7aDjIKd3b7c0wZ0hmnoQqpjE=&amp;h=360&amp;w=333&amp;sz=8&amp;hl=en&amp;start=1&amp;tbnid=sUUsuP-KrXDOBM:&amp;tbnh=121&amp;tbnw=112&amp;prev=/images?q=law&amp;gbv=2&amp;hl=e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228600" y="304800"/>
            <a:ext cx="8610600" cy="45720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The Power of External Market Forces</a:t>
            </a:r>
          </a:p>
        </p:txBody>
      </p:sp>
      <p:sp>
        <p:nvSpPr>
          <p:cNvPr id="67587" name="Text Box 3"/>
          <p:cNvSpPr txBox="1">
            <a:spLocks noChangeArrowheads="1"/>
          </p:cNvSpPr>
          <p:nvPr/>
        </p:nvSpPr>
        <p:spPr bwMode="auto">
          <a:xfrm>
            <a:off x="1676400" y="5098534"/>
            <a:ext cx="2362200" cy="461665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Environmental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6781800" y="2755900"/>
            <a:ext cx="1828800" cy="469900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Economic</a:t>
            </a:r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304800" y="3475186"/>
            <a:ext cx="1981200" cy="461665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Legal</a:t>
            </a:r>
          </a:p>
        </p:txBody>
      </p:sp>
      <p:sp>
        <p:nvSpPr>
          <p:cNvPr id="67590" name="Text Box 6"/>
          <p:cNvSpPr txBox="1">
            <a:spLocks noChangeArrowheads="1"/>
          </p:cNvSpPr>
          <p:nvPr/>
        </p:nvSpPr>
        <p:spPr bwMode="auto">
          <a:xfrm>
            <a:off x="4686300" y="1274928"/>
            <a:ext cx="2057400" cy="469900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>
                <a:solidFill>
                  <a:srgbClr val="000000"/>
                </a:solidFill>
                <a:latin typeface="Times New Roman" pitchFamily="18" charset="0"/>
              </a:rPr>
              <a:t>Technological</a:t>
            </a:r>
          </a:p>
        </p:txBody>
      </p:sp>
      <p:sp>
        <p:nvSpPr>
          <p:cNvPr id="67591" name="Text Box 7"/>
          <p:cNvSpPr txBox="1">
            <a:spLocks noChangeArrowheads="1"/>
          </p:cNvSpPr>
          <p:nvPr/>
        </p:nvSpPr>
        <p:spPr bwMode="auto">
          <a:xfrm>
            <a:off x="6324600" y="5105400"/>
            <a:ext cx="2209800" cy="461665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Social</a:t>
            </a:r>
          </a:p>
        </p:txBody>
      </p:sp>
      <p:pic>
        <p:nvPicPr>
          <p:cNvPr id="67592" name="Picture 8" descr="bs00403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743200"/>
            <a:ext cx="2433638" cy="1925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Box 5"/>
          <p:cNvSpPr txBox="1">
            <a:spLocks noChangeArrowheads="1"/>
          </p:cNvSpPr>
          <p:nvPr/>
        </p:nvSpPr>
        <p:spPr bwMode="auto">
          <a:xfrm>
            <a:off x="685800" y="1765300"/>
            <a:ext cx="1981200" cy="461665"/>
          </a:xfrm>
          <a:prstGeom prst="rect">
            <a:avLst/>
          </a:prstGeom>
          <a:solidFill>
            <a:srgbClr val="FCFEB9"/>
          </a:solidFill>
          <a:ln w="12700">
            <a:solidFill>
              <a:srgbClr val="000000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sz="2400" b="1" dirty="0">
                <a:solidFill>
                  <a:srgbClr val="000000"/>
                </a:solidFill>
                <a:latin typeface="Times New Roman" pitchFamily="18" charset="0"/>
              </a:rPr>
              <a:t>Political</a:t>
            </a:r>
          </a:p>
        </p:txBody>
      </p:sp>
    </p:spTree>
    <p:extLst>
      <p:ext uri="{BB962C8B-B14F-4D97-AF65-F5344CB8AC3E}">
        <p14:creationId xmlns:p14="http://schemas.microsoft.com/office/powerpoint/2010/main" val="1623862977"/>
      </p:ext>
    </p:extLst>
  </p:cSld>
  <p:clrMapOvr>
    <a:masterClrMapping/>
  </p:clrMapOvr>
  <p:transition>
    <p:zoom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POLITICAL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447800"/>
            <a:ext cx="8458200" cy="5257800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Government type and stability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Freedom of the press, rule of law and levels of bureaucracy and corruption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Regulation and de-regulation trends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Social and employment legislation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Tax policy, and trade and tariff controls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Environmental and consumer-protection legislation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Likely changes in the political environment</a:t>
            </a:r>
            <a:endParaRPr lang="en-US" sz="4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486" y="0"/>
            <a:ext cx="3018514" cy="19812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486" y="27432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99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Economic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686800" cy="5105400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Stage of a business cycle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Current and projected economic growth, inflation and interest rates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Unemployment and supply of labor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Labor costs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Levels of disposable income and</a:t>
            </a:r>
          </a:p>
          <a:p>
            <a:pPr marL="457200" lvl="1" indent="0">
              <a:lnSpc>
                <a:spcPct val="80000"/>
              </a:lnSpc>
              <a:buNone/>
              <a:tabLst>
                <a:tab pos="628650" algn="l"/>
                <a:tab pos="714375" algn="l"/>
              </a:tabLst>
            </a:pPr>
            <a:r>
              <a:rPr lang="en-US" dirty="0"/>
              <a:t> income distribution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Impact of globalization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Likely impact of technological or other changes on the economy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Likely changes in the economic environment</a:t>
            </a:r>
            <a:endParaRPr lang="en-US" sz="4400" dirty="0"/>
          </a:p>
          <a:p>
            <a:pPr>
              <a:lnSpc>
                <a:spcPct val="90000"/>
              </a:lnSpc>
            </a:pPr>
            <a:endParaRPr lang="en-US" dirty="0"/>
          </a:p>
        </p:txBody>
      </p:sp>
      <p:pic>
        <p:nvPicPr>
          <p:cNvPr id="5124" name="Picture 4" descr="1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6951" y="5410200"/>
            <a:ext cx="1204913" cy="120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3276600"/>
            <a:ext cx="3078264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38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Social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24000"/>
            <a:ext cx="8229600" cy="4525963"/>
          </a:xfrm>
        </p:spPr>
        <p:txBody>
          <a:bodyPr>
            <a:normAutofit/>
          </a:bodyPr>
          <a:lstStyle/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Cultural aspects, health consciousness, population growth rate, age distribution,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Organizational culture, attitudes to </a:t>
            </a:r>
          </a:p>
          <a:p>
            <a:pPr marL="457200" lvl="1" indent="0">
              <a:lnSpc>
                <a:spcPct val="80000"/>
              </a:lnSpc>
              <a:buNone/>
              <a:tabLst>
                <a:tab pos="628650" algn="l"/>
                <a:tab pos="714375" algn="l"/>
              </a:tabLst>
            </a:pPr>
            <a:r>
              <a:rPr lang="en-US" dirty="0"/>
              <a:t>work, management style, staff attitudes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Education, occupations, earning capacity, living standards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Ethical issues, diversity, immigration/emigration, ethnic/religious factors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Media views, law changes affecting social factors, trends, advertisements, publicity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Demographics: age, gender, race, family size</a:t>
            </a:r>
            <a:endParaRPr lang="en-US" sz="1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981200"/>
            <a:ext cx="23526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7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Technological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Research Funding, Technology legislation, new discoveries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Information technology, internet, global and local communications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Technology access, licensing, patents, potential innovation, replacement technology/solutions,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endParaRPr lang="en-US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dirty="0"/>
              <a:t>Transportation, energy uses/sources/fuels, waste removal/recycling</a:t>
            </a:r>
            <a:endParaRPr lang="en-GB" dirty="0"/>
          </a:p>
        </p:txBody>
      </p:sp>
      <p:pic>
        <p:nvPicPr>
          <p:cNvPr id="9221" name="Picture 5" descr="Storage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2449" y="224051"/>
            <a:ext cx="142875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3" name="Picture 7" descr="space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8636" y="5710521"/>
            <a:ext cx="1285875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244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Legal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>
              <a:lnSpc>
                <a:spcPct val="9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sz="3200" dirty="0"/>
              <a:t>current home market legislation, future legislation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sz="3200" dirty="0"/>
              <a:t>international legislation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sz="3200" dirty="0"/>
              <a:t>regulatory bodies and processes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sz="3200" dirty="0"/>
              <a:t>environmental regulations, employment law, consumer protection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  <a:tabLst>
                <a:tab pos="628650" algn="l"/>
                <a:tab pos="714375" algn="l"/>
              </a:tabLst>
            </a:pPr>
            <a:r>
              <a:rPr lang="en-US" sz="3200" dirty="0"/>
              <a:t>industry-specific regulations, competitive regulations</a:t>
            </a:r>
            <a:endParaRPr lang="en-US" sz="48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197" name="Picture 5" descr="barrister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0"/>
            <a:ext cx="1057275" cy="1009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law-school">
            <a:hlinkClick r:id="rId4"/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5181600"/>
            <a:ext cx="1066800" cy="115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296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Environmental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people’s perception and reaction to environmental issues can affect a business.</a:t>
            </a:r>
          </a:p>
        </p:txBody>
      </p:sp>
      <p:pic>
        <p:nvPicPr>
          <p:cNvPr id="10244" name="Picture 4" descr="DSCN004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429000"/>
            <a:ext cx="2297113" cy="306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5" name="Picture 5" descr="proboscous monley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3810000"/>
            <a:ext cx="1376363" cy="143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Mum and Dad's Visit 12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3048000"/>
            <a:ext cx="1981200" cy="1317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7" name="Picture 7" descr="Mt kk from summit- pan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4648200"/>
            <a:ext cx="3133725" cy="725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978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363538"/>
            <a:ext cx="7924800" cy="10985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4: Identify Key Success Factors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5257800" cy="4572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Key success factors: controllable variables that  determine the relative success of market participants.  </a:t>
            </a:r>
          </a:p>
          <a:p>
            <a:r>
              <a:rPr lang="en-US" sz="2800" dirty="0"/>
              <a:t>The keys to unlocking the secrets of competing successfully in a particular market segment.</a:t>
            </a:r>
          </a:p>
        </p:txBody>
      </p:sp>
      <p:pic>
        <p:nvPicPr>
          <p:cNvPr id="13317" name="Picture 5" descr="pe0332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460009"/>
            <a:ext cx="393404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454892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363538"/>
            <a:ext cx="7924800" cy="10985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4: Identify Key Success Factors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0"/>
            <a:ext cx="8458200" cy="5181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70000" lnSpcReduction="20000"/>
          </a:bodyPr>
          <a:lstStyle/>
          <a:p>
            <a:pPr marL="0" indent="0">
              <a:buNone/>
            </a:pPr>
            <a:r>
              <a:rPr lang="en-US" sz="4500" dirty="0"/>
              <a:t>Common Types of KSFs</a:t>
            </a:r>
          </a:p>
          <a:p>
            <a:r>
              <a:rPr lang="en-US" sz="3800" dirty="0"/>
              <a:t>Technology </a:t>
            </a:r>
          </a:p>
          <a:p>
            <a:pPr marL="0" indent="0">
              <a:buNone/>
            </a:pPr>
            <a:r>
              <a:rPr lang="en-US" sz="2800" i="1" dirty="0"/>
              <a:t>Expertise in Research</a:t>
            </a:r>
          </a:p>
          <a:p>
            <a:endParaRPr lang="en-US" sz="3800" dirty="0"/>
          </a:p>
          <a:p>
            <a:r>
              <a:rPr lang="en-US" sz="3800" dirty="0"/>
              <a:t>Manufacturing Related</a:t>
            </a:r>
          </a:p>
          <a:p>
            <a:pPr marL="0" indent="0">
              <a:buNone/>
            </a:pPr>
            <a:r>
              <a:rPr lang="en-US" sz="2800" i="1" dirty="0"/>
              <a:t>Ability to Achieve Economies of Scale</a:t>
            </a:r>
          </a:p>
          <a:p>
            <a:pPr marL="0" indent="0">
              <a:buNone/>
            </a:pPr>
            <a:r>
              <a:rPr lang="en-US" sz="2800" i="1" dirty="0"/>
              <a:t>Quality Control</a:t>
            </a:r>
          </a:p>
          <a:p>
            <a:pPr marL="0" indent="0">
              <a:buNone/>
            </a:pPr>
            <a:r>
              <a:rPr lang="en-US" sz="2800" i="1" dirty="0"/>
              <a:t>High Utilization of Fixed Assets</a:t>
            </a:r>
          </a:p>
          <a:p>
            <a:pPr marL="0" indent="0">
              <a:buNone/>
            </a:pPr>
            <a:r>
              <a:rPr lang="en-US" sz="2800" i="1" dirty="0"/>
              <a:t>High Labor Productivity</a:t>
            </a:r>
          </a:p>
          <a:p>
            <a:pPr marL="0" indent="0">
              <a:buNone/>
            </a:pPr>
            <a:endParaRPr lang="en-US" sz="2800" i="1" dirty="0"/>
          </a:p>
          <a:p>
            <a:r>
              <a:rPr lang="en-US" sz="3800" dirty="0"/>
              <a:t>Distribution Related</a:t>
            </a:r>
          </a:p>
          <a:p>
            <a:pPr marL="0" indent="0">
              <a:buNone/>
            </a:pPr>
            <a:r>
              <a:rPr lang="en-US" sz="2900" i="1" dirty="0"/>
              <a:t>Strong Network of Wholesale Distributors/Dealers</a:t>
            </a:r>
          </a:p>
          <a:p>
            <a:pPr marL="0" indent="0">
              <a:buNone/>
            </a:pPr>
            <a:r>
              <a:rPr lang="en-US" sz="2900" i="1" dirty="0"/>
              <a:t>Strong Direct Sales Capabilities</a:t>
            </a:r>
          </a:p>
          <a:p>
            <a:pPr marL="0" indent="0">
              <a:buNone/>
            </a:pPr>
            <a:r>
              <a:rPr lang="en-US" sz="2900" i="1" dirty="0"/>
              <a:t>Ability to Secure Favorable Display Space on Retailers Shelves</a:t>
            </a:r>
          </a:p>
          <a:p>
            <a:pPr marL="0" indent="0">
              <a:buNone/>
            </a:pPr>
            <a:endParaRPr lang="en-US" sz="2900" i="1" dirty="0"/>
          </a:p>
        </p:txBody>
      </p:sp>
      <p:pic>
        <p:nvPicPr>
          <p:cNvPr id="13317" name="Picture 5" descr="pe0332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333999" y="1600200"/>
            <a:ext cx="3304599" cy="32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308294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1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363538"/>
            <a:ext cx="7924800" cy="10985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4: Identify Key Success Factors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599" y="1676400"/>
            <a:ext cx="8658447" cy="5181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70000" lnSpcReduction="20000"/>
          </a:bodyPr>
          <a:lstStyle/>
          <a:p>
            <a:pPr marL="0" indent="0">
              <a:buNone/>
            </a:pPr>
            <a:r>
              <a:rPr lang="en-US" sz="4500" dirty="0"/>
              <a:t>Common Types of KSFs</a:t>
            </a:r>
          </a:p>
          <a:p>
            <a:r>
              <a:rPr lang="en-US" sz="3800" dirty="0"/>
              <a:t>Marketing  </a:t>
            </a:r>
          </a:p>
          <a:p>
            <a:pPr marL="0" indent="0">
              <a:buNone/>
            </a:pPr>
            <a:r>
              <a:rPr lang="en-US" sz="2800" i="1" dirty="0"/>
              <a:t>Brand Name</a:t>
            </a:r>
          </a:p>
          <a:p>
            <a:pPr marL="0" indent="0">
              <a:buNone/>
            </a:pPr>
            <a:r>
              <a:rPr lang="en-US" sz="2800" i="1" dirty="0"/>
              <a:t>Fast, Accurate Technical Assistance</a:t>
            </a:r>
          </a:p>
          <a:p>
            <a:pPr marL="0" indent="0">
              <a:buNone/>
            </a:pPr>
            <a:r>
              <a:rPr lang="en-US" sz="2800" i="1" dirty="0"/>
              <a:t>Accurate Filling of Buyer’s Orders</a:t>
            </a:r>
          </a:p>
          <a:p>
            <a:pPr marL="0" indent="0">
              <a:buNone/>
            </a:pPr>
            <a:r>
              <a:rPr lang="en-US" sz="2800" i="1" dirty="0"/>
              <a:t>Customer Guarantees </a:t>
            </a:r>
          </a:p>
          <a:p>
            <a:endParaRPr lang="en-US" sz="3800" dirty="0"/>
          </a:p>
          <a:p>
            <a:r>
              <a:rPr lang="en-US" sz="3800" dirty="0"/>
              <a:t>Skills &amp; Capability</a:t>
            </a:r>
          </a:p>
          <a:p>
            <a:pPr marL="0" indent="0">
              <a:buNone/>
            </a:pPr>
            <a:r>
              <a:rPr lang="en-US" sz="2800" i="1" dirty="0"/>
              <a:t>Talented Workforce</a:t>
            </a:r>
          </a:p>
          <a:p>
            <a:pPr marL="0" indent="0">
              <a:buNone/>
            </a:pPr>
            <a:r>
              <a:rPr lang="en-US" sz="2800" i="1" dirty="0"/>
              <a:t>Product Innovation Capabilities</a:t>
            </a:r>
          </a:p>
          <a:p>
            <a:pPr marL="0" indent="0">
              <a:buNone/>
            </a:pPr>
            <a:r>
              <a:rPr lang="en-US" sz="2800" i="1" dirty="0"/>
              <a:t>Short Delivery time Capabilities</a:t>
            </a:r>
          </a:p>
          <a:p>
            <a:pPr marL="0" indent="0">
              <a:buNone/>
            </a:pPr>
            <a:r>
              <a:rPr lang="en-US" sz="2800" i="1" dirty="0"/>
              <a:t>Strong E Commerce Capabilities</a:t>
            </a:r>
          </a:p>
          <a:p>
            <a:pPr marL="0" indent="0">
              <a:buNone/>
            </a:pPr>
            <a:endParaRPr lang="en-US" sz="2800" i="1" dirty="0"/>
          </a:p>
          <a:p>
            <a:r>
              <a:rPr lang="en-US" sz="3800" dirty="0"/>
              <a:t>Other</a:t>
            </a:r>
          </a:p>
          <a:p>
            <a:pPr marL="0" indent="0">
              <a:buNone/>
            </a:pPr>
            <a:r>
              <a:rPr lang="en-US" sz="2900" i="1" dirty="0"/>
              <a:t>Convenient Location </a:t>
            </a:r>
          </a:p>
          <a:p>
            <a:pPr marL="0" indent="0">
              <a:buNone/>
            </a:pPr>
            <a:endParaRPr lang="en-US" sz="2900" i="1" dirty="0"/>
          </a:p>
        </p:txBody>
      </p:sp>
      <p:pic>
        <p:nvPicPr>
          <p:cNvPr id="13317" name="Picture 5" descr="pe03328_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4953000" y="2133600"/>
            <a:ext cx="393404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695872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1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331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33400" y="400050"/>
            <a:ext cx="8077200" cy="11001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Step 5: Analyze Competitors</a:t>
            </a:r>
            <a:endParaRPr lang="en-US" i="1" dirty="0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6463" y="1808163"/>
            <a:ext cx="7331075" cy="45926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NFIB study: Small business owners believe they operate in a highly competitive environment and the level of competition is increasing.</a:t>
            </a:r>
          </a:p>
          <a:p>
            <a:r>
              <a:rPr lang="en-US" sz="2800" dirty="0"/>
              <a:t>Yet, 97 percent of all U.S. businesses do </a:t>
            </a:r>
            <a:r>
              <a:rPr lang="en-US" sz="2800" i="1" dirty="0"/>
              <a:t>not</a:t>
            </a:r>
            <a:r>
              <a:rPr lang="en-US" sz="2800" dirty="0"/>
              <a:t> systematically track the progress of their key competitors. </a:t>
            </a:r>
          </a:p>
        </p:txBody>
      </p:sp>
      <p:pic>
        <p:nvPicPr>
          <p:cNvPr id="79877" name="Picture 5" descr="j029537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4724400"/>
            <a:ext cx="2027238" cy="1966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967744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5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54000"/>
            <a:ext cx="8153400" cy="812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Step 5: Analyze Competitors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305800" cy="48006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sz="2900" dirty="0"/>
              <a:t>	</a:t>
            </a:r>
            <a:r>
              <a:rPr lang="en-US" sz="2800" dirty="0"/>
              <a:t>Analyzing key competitors allows an entrepreneur to:</a:t>
            </a:r>
          </a:p>
          <a:p>
            <a:pPr lvl="1">
              <a:buFont typeface="Arial" pitchFamily="34" charset="0"/>
              <a:buChar char="•"/>
            </a:pPr>
            <a:r>
              <a:rPr lang="en-US" dirty="0"/>
              <a:t>Avoid surprises from existing competitors’ new strategies and tactics.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Identify potential new competitors and the threats they pose.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Improve reaction time to competitors’ actions.</a:t>
            </a:r>
          </a:p>
          <a:p>
            <a:pPr lvl="1">
              <a:buFont typeface="Arial" pitchFamily="34" charset="0"/>
              <a:buChar char="•"/>
            </a:pPr>
            <a:endParaRPr lang="en-US" dirty="0"/>
          </a:p>
          <a:p>
            <a:pPr lvl="1">
              <a:buFont typeface="Arial" pitchFamily="34" charset="0"/>
              <a:buChar char="•"/>
            </a:pPr>
            <a:r>
              <a:rPr lang="en-US" dirty="0"/>
              <a:t>Anticipate rivals’ next strategic moves. 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4330037"/>
            <a:ext cx="11430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613340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 bldLvl="3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54000"/>
            <a:ext cx="8153400" cy="812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Step 5: Analyze Competitors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077200" cy="4572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500" dirty="0"/>
              <a:t>	</a:t>
            </a:r>
            <a:r>
              <a:rPr lang="en-US" sz="2800" dirty="0"/>
              <a:t>Techniques do </a:t>
            </a:r>
            <a:r>
              <a:rPr lang="en-US" sz="2800" i="1" dirty="0"/>
              <a:t>not</a:t>
            </a:r>
            <a:r>
              <a:rPr lang="en-US" sz="2800" dirty="0"/>
              <a:t> require unethical behavior:</a:t>
            </a:r>
          </a:p>
          <a:p>
            <a:pPr>
              <a:lnSpc>
                <a:spcPct val="80000"/>
              </a:lnSpc>
              <a:buFont typeface="Wingdings" pitchFamily="2" charset="2"/>
              <a:buNone/>
            </a:pPr>
            <a:endParaRPr lang="en-US" sz="28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Monitor industry and trade publications.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Talk to customers and suppliers.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Regularly debrief employees, especially sales representatives and purchasing agents.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Attend trade shows and conferences and study competitors’ sales literature.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905001"/>
            <a:ext cx="2286000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65791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3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54000"/>
            <a:ext cx="8153400" cy="812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Step 5: Analyze Competitors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524000"/>
            <a:ext cx="8077200" cy="4572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lnSpc>
                <a:spcPct val="80000"/>
              </a:lnSpc>
              <a:buFont typeface="Wingdings" pitchFamily="2" charset="2"/>
              <a:buNone/>
            </a:pPr>
            <a:r>
              <a:rPr lang="en-US" sz="2500" dirty="0"/>
              <a:t>	</a:t>
            </a:r>
            <a:r>
              <a:rPr lang="en-US" sz="2800" dirty="0"/>
              <a:t>Techniques do </a:t>
            </a:r>
            <a:r>
              <a:rPr lang="en-US" sz="2800" i="1" dirty="0"/>
              <a:t>not</a:t>
            </a:r>
            <a:r>
              <a:rPr lang="en-US" sz="2800" dirty="0"/>
              <a:t> require unethical behavior: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Watch for employment ads from competitors to get an idea about their plans for the future. 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r>
              <a:rPr lang="en-US" sz="2400" dirty="0"/>
              <a:t>Conduct patent searches for patents competitors have filed.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Learn about the kinds of equipment and raw materials competitors are importing.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Buy competitors’ products and “benchmark”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sz="2400" dirty="0"/>
              <a:t> them.  </a:t>
            </a:r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80000"/>
              </a:lnSpc>
              <a:buFont typeface="Arial" pitchFamily="34" charset="0"/>
              <a:buChar char="•"/>
            </a:pPr>
            <a:endParaRPr lang="en-US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184" y="4953000"/>
            <a:ext cx="2018601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9041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build="p" bldLvl="3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54000"/>
            <a:ext cx="8153400" cy="5461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5: Analyze Competitors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198563"/>
            <a:ext cx="8077200" cy="5126037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lang="en-US" sz="2500" dirty="0"/>
              <a:t>	</a:t>
            </a:r>
            <a:r>
              <a:rPr lang="en-US" sz="2800" dirty="0"/>
              <a:t>Techniques do </a:t>
            </a:r>
            <a:r>
              <a:rPr lang="en-US" sz="2800" i="1" dirty="0"/>
              <a:t>not</a:t>
            </a:r>
            <a:r>
              <a:rPr lang="en-US" sz="2800" dirty="0"/>
              <a:t> require unethical behavior: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Get competitors’ credit reports.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Check out the reports publicly held competitors must file with the SEC.  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Use the World Wide Web to learn more about competitors.</a:t>
            </a:r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endParaRPr lang="en-US" sz="2400" dirty="0"/>
          </a:p>
          <a:p>
            <a:pPr lvl="1">
              <a:lnSpc>
                <a:spcPct val="90000"/>
              </a:lnSpc>
              <a:buFont typeface="Arial" pitchFamily="34" charset="0"/>
              <a:buChar char="•"/>
            </a:pPr>
            <a:r>
              <a:rPr lang="en-US" sz="2400" dirty="0"/>
              <a:t>Visit competing businesses to observe their operations.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227233"/>
            <a:ext cx="1752600" cy="161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43636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9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9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 bldLvl="3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09600" y="254000"/>
            <a:ext cx="8153400" cy="8890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Knowledge Management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077200" cy="4495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The practice of gathering, organizing, and disseminating the collective wisdom and experience of a company’s employees for the purpose of strengthening its competitive position.  </a:t>
            </a:r>
          </a:p>
          <a:p>
            <a:r>
              <a:rPr lang="en-US" sz="2800" dirty="0"/>
              <a:t>Knowledge management involves:</a:t>
            </a:r>
          </a:p>
          <a:p>
            <a:pPr lvl="1"/>
            <a:r>
              <a:rPr lang="en-US" sz="2400" dirty="0"/>
              <a:t>Taking inventory of the special knowledge the people in the company possess.  </a:t>
            </a:r>
          </a:p>
          <a:p>
            <a:pPr lvl="1"/>
            <a:r>
              <a:rPr lang="en-US" sz="2400" dirty="0"/>
              <a:t>Organizing that knowledge and disseminating it to those who need it.  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01499547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 bldLvl="3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66800" y="247650"/>
            <a:ext cx="7467600" cy="11001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6: Create Company Goals</a:t>
            </a:r>
            <a:br>
              <a:rPr lang="en-US" dirty="0"/>
            </a:br>
            <a:r>
              <a:rPr lang="en-US" dirty="0"/>
              <a:t>and Objectives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520825"/>
            <a:ext cx="7442200" cy="44386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pPr>
              <a:lnSpc>
                <a:spcPct val="90000"/>
              </a:lnSpc>
            </a:pPr>
            <a:r>
              <a:rPr lang="en-US" sz="2800" dirty="0"/>
              <a:t>Goals - broad, long-range attributes to be accomplished. 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Objectives - more detailed, specific targets of performance that are S.M.A.R.T.</a:t>
            </a:r>
          </a:p>
          <a:p>
            <a:pPr lvl="1">
              <a:lnSpc>
                <a:spcPct val="90000"/>
              </a:lnSpc>
            </a:pPr>
            <a:r>
              <a:rPr lang="en-US" sz="2400" u="sng" dirty="0"/>
              <a:t>S</a:t>
            </a:r>
            <a:r>
              <a:rPr lang="en-US" sz="2400" dirty="0"/>
              <a:t>pecific</a:t>
            </a:r>
          </a:p>
          <a:p>
            <a:pPr lvl="1">
              <a:lnSpc>
                <a:spcPct val="90000"/>
              </a:lnSpc>
            </a:pPr>
            <a:r>
              <a:rPr lang="en-US" sz="2400" u="sng" dirty="0"/>
              <a:t>M</a:t>
            </a:r>
            <a:r>
              <a:rPr lang="en-US" sz="2400" dirty="0"/>
              <a:t>easurable</a:t>
            </a:r>
          </a:p>
          <a:p>
            <a:pPr lvl="1">
              <a:lnSpc>
                <a:spcPct val="90000"/>
              </a:lnSpc>
            </a:pPr>
            <a:r>
              <a:rPr lang="en-US" sz="2400" u="sng" dirty="0"/>
              <a:t>A</a:t>
            </a:r>
            <a:r>
              <a:rPr lang="en-US" sz="2400" dirty="0"/>
              <a:t>ttainable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Relevant </a:t>
            </a:r>
          </a:p>
          <a:p>
            <a:pPr lvl="1">
              <a:lnSpc>
                <a:spcPct val="90000"/>
              </a:lnSpc>
            </a:pPr>
            <a:r>
              <a:rPr lang="en-US" sz="2400" u="sng" dirty="0"/>
              <a:t>T</a:t>
            </a:r>
            <a:r>
              <a:rPr lang="en-US" sz="2400" dirty="0"/>
              <a:t>imely</a:t>
            </a:r>
          </a:p>
        </p:txBody>
      </p:sp>
      <p:pic>
        <p:nvPicPr>
          <p:cNvPr id="16389" name="Picture 5" descr="bd05638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630613"/>
            <a:ext cx="3352800" cy="2763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11187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3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66800" y="247650"/>
            <a:ext cx="7467600" cy="11001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6: Create Company Goals</a:t>
            </a:r>
            <a:br>
              <a:rPr lang="en-US" dirty="0"/>
            </a:br>
            <a:r>
              <a:rPr lang="en-US" dirty="0"/>
              <a:t>and Objectives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0825"/>
            <a:ext cx="8128000" cy="5102224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2500" lnSpcReduction="20000"/>
          </a:bodyPr>
          <a:lstStyle/>
          <a:p>
            <a:r>
              <a:rPr lang="en-US" sz="2800" b="1" dirty="0"/>
              <a:t>SMART GOAL EXAMPLE</a:t>
            </a:r>
          </a:p>
          <a:p>
            <a:pPr marL="0" indent="0">
              <a:buNone/>
            </a:pPr>
            <a:r>
              <a:rPr lang="en-US" sz="2800" b="1" dirty="0"/>
              <a:t>Broad Goal: I want to grow my business.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/>
              <a:t>Specific: </a:t>
            </a:r>
            <a:r>
              <a:rPr lang="en-US" sz="2800" dirty="0"/>
              <a:t>I will acquire twenty new clients for my consulting business.</a:t>
            </a:r>
          </a:p>
          <a:p>
            <a:pPr marL="0" indent="0">
              <a:buNone/>
            </a:pPr>
            <a:r>
              <a:rPr lang="en-US" sz="2800" b="1" dirty="0"/>
              <a:t>Measurable: </a:t>
            </a:r>
            <a:r>
              <a:rPr lang="en-US" sz="2800" dirty="0"/>
              <a:t>I will measure my progress by how many new clients I bring on, while maintaining my current client base.</a:t>
            </a:r>
          </a:p>
          <a:p>
            <a:pPr marL="0" indent="0">
              <a:buNone/>
            </a:pPr>
            <a:r>
              <a:rPr lang="en-US" sz="2800" b="1" dirty="0"/>
              <a:t>Attainable: </a:t>
            </a:r>
            <a:r>
              <a:rPr lang="en-US" sz="2800" dirty="0"/>
              <a:t>I will ask current clients for referrals, launch a social media marketing campaign and network with local businesses.</a:t>
            </a:r>
          </a:p>
          <a:p>
            <a:pPr marL="0" indent="0">
              <a:buNone/>
            </a:pPr>
            <a:r>
              <a:rPr lang="en-US" sz="2800" b="1" dirty="0"/>
              <a:t>Relevant: </a:t>
            </a:r>
            <a:r>
              <a:rPr lang="en-US" sz="2800" dirty="0"/>
              <a:t>Adding additional clients to my business will allow me to grow my business and increase my revenue. </a:t>
            </a:r>
          </a:p>
          <a:p>
            <a:pPr marL="0" indent="0">
              <a:buNone/>
            </a:pPr>
            <a:r>
              <a:rPr lang="en-US" sz="2800" b="1" dirty="0"/>
              <a:t>Time-Based: </a:t>
            </a:r>
            <a:r>
              <a:rPr lang="en-US" sz="2800" dirty="0"/>
              <a:t>I will have twenty new clients within six months.</a:t>
            </a:r>
          </a:p>
        </p:txBody>
      </p:sp>
      <p:pic>
        <p:nvPicPr>
          <p:cNvPr id="16389" name="Picture 5" descr="bd05638_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0" y="5187951"/>
            <a:ext cx="1143000" cy="1517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6326799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build="p" bldLvl="3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344613" y="274638"/>
            <a:ext cx="6938962" cy="5715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7: Formulate Strategies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8153400" cy="39624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Strategy - a road map of the actions an entrepreneur draws up to achieve a company’s mission, goals, and objectives.  It is the company’s game plan for gaining a competitive advantage.</a:t>
            </a:r>
          </a:p>
          <a:p>
            <a:r>
              <a:rPr lang="en-US" sz="2800" dirty="0"/>
              <a:t>Three basic strategies:</a:t>
            </a: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209800" y="3886200"/>
            <a:ext cx="4041775" cy="2616200"/>
            <a:chOff x="1196" y="2208"/>
            <a:chExt cx="2546" cy="1648"/>
          </a:xfrm>
        </p:grpSpPr>
        <p:pic>
          <p:nvPicPr>
            <p:cNvPr id="17412" name="Picture 4"/>
            <p:cNvPicPr>
              <a:picLocks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236" t="11844" r="6450" b="11003"/>
            <a:stretch>
              <a:fillRect/>
            </a:stretch>
          </p:blipFill>
          <p:spPr bwMode="auto">
            <a:xfrm>
              <a:off x="1196" y="2208"/>
              <a:ext cx="2546" cy="16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413" name="Rectangle 5"/>
            <p:cNvSpPr>
              <a:spLocks noChangeArrowheads="1"/>
            </p:cNvSpPr>
            <p:nvPr/>
          </p:nvSpPr>
          <p:spPr bwMode="auto">
            <a:xfrm>
              <a:off x="1383" y="2842"/>
              <a:ext cx="1035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sz="2800" b="1">
                  <a:solidFill>
                    <a:schemeClr val="bg2"/>
                  </a:solidFill>
                  <a:latin typeface="Times New Roman" pitchFamily="18" charset="0"/>
                </a:rPr>
                <a:t>Strategy?</a:t>
              </a:r>
            </a:p>
          </p:txBody>
        </p:sp>
      </p:grpSp>
      <p:sp>
        <p:nvSpPr>
          <p:cNvPr id="17414" name="Rectangle 6"/>
          <p:cNvSpPr>
            <a:spLocks noChangeArrowheads="1"/>
          </p:cNvSpPr>
          <p:nvPr/>
        </p:nvSpPr>
        <p:spPr bwMode="auto">
          <a:xfrm>
            <a:off x="5618163" y="3514725"/>
            <a:ext cx="2606675" cy="528638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800" b="1">
                <a:solidFill>
                  <a:schemeClr val="bg2"/>
                </a:solidFill>
                <a:latin typeface="Times New Roman" pitchFamily="18" charset="0"/>
              </a:rPr>
              <a:t>Cost leadership</a:t>
            </a:r>
          </a:p>
        </p:txBody>
      </p:sp>
      <p:sp>
        <p:nvSpPr>
          <p:cNvPr id="17415" name="Rectangle 7"/>
          <p:cNvSpPr>
            <a:spLocks noChangeArrowheads="1"/>
          </p:cNvSpPr>
          <p:nvPr/>
        </p:nvSpPr>
        <p:spPr bwMode="auto">
          <a:xfrm>
            <a:off x="5999163" y="4657725"/>
            <a:ext cx="2606675" cy="528638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800" b="1">
                <a:solidFill>
                  <a:schemeClr val="bg2"/>
                </a:solidFill>
                <a:latin typeface="Times New Roman" pitchFamily="18" charset="0"/>
              </a:rPr>
              <a:t>Differentiation</a:t>
            </a:r>
          </a:p>
        </p:txBody>
      </p:sp>
      <p:sp>
        <p:nvSpPr>
          <p:cNvPr id="17416" name="Rectangle 8"/>
          <p:cNvSpPr>
            <a:spLocks noChangeArrowheads="1"/>
          </p:cNvSpPr>
          <p:nvPr/>
        </p:nvSpPr>
        <p:spPr bwMode="auto">
          <a:xfrm>
            <a:off x="5694363" y="5953125"/>
            <a:ext cx="2606675" cy="528638"/>
          </a:xfrm>
          <a:prstGeom prst="rect">
            <a:avLst/>
          </a:prstGeom>
          <a:solidFill>
            <a:schemeClr val="tx1"/>
          </a:solidFill>
          <a:ln w="12700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lIns="90488" tIns="44450" rIns="90488" bIns="44450">
            <a:spAutoFit/>
          </a:bodyPr>
          <a:lstStyle/>
          <a:p>
            <a:pPr algn="ctr"/>
            <a:r>
              <a:rPr lang="en-US" sz="2800" b="1">
                <a:solidFill>
                  <a:schemeClr val="bg2"/>
                </a:solidFill>
                <a:latin typeface="Times New Roman" pitchFamily="18" charset="0"/>
              </a:rPr>
              <a:t>Focus</a:t>
            </a:r>
          </a:p>
        </p:txBody>
      </p:sp>
    </p:spTree>
    <p:extLst>
      <p:ext uri="{BB962C8B-B14F-4D97-AF65-F5344CB8AC3E}">
        <p14:creationId xmlns:p14="http://schemas.microsoft.com/office/powerpoint/2010/main" val="332187019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 autoUpdateAnimBg="0"/>
      <p:bldP spid="17414" grpId="0" animBg="1" autoUpdateAnimBg="0"/>
      <p:bldP spid="17415" grpId="0" animBg="1" autoUpdateAnimBg="0"/>
      <p:bldP spid="17416" grpId="0" animBg="1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Generic Strategy Options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219200"/>
            <a:ext cx="7162800" cy="534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200762"/>
      </p:ext>
    </p:extLst>
  </p:cSld>
  <p:clrMapOvr>
    <a:masterClrMapping/>
  </p:clrMapOvr>
  <p:transition>
    <p:zoom dir="in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346075"/>
            <a:ext cx="8229600" cy="8572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Cost Leadership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Goal: to be </a:t>
            </a:r>
            <a:r>
              <a:rPr lang="en-US" sz="2800" i="1" dirty="0"/>
              <a:t>the</a:t>
            </a:r>
            <a:r>
              <a:rPr lang="en-US" sz="2800" dirty="0"/>
              <a:t> low-cost producer in the industry (or market segment).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Low-cost leaders have an advantage in reaching buyers who buy on the basis of price, and they have the power to set the industry’s price floor.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Works well when: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Buyers are sensitive to price changes.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Competing firms sell the same commodity products.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A company can benefit from economies of scale.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Example: JetBlue Airlines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4724400"/>
            <a:ext cx="2247900" cy="17907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5181600"/>
            <a:ext cx="2438400" cy="1560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7638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 bldLvl="3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572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Differentiation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295400"/>
            <a:ext cx="7772400" cy="47244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Company seeks to build customer loyalty by positioning its goods or services in a unique or different fashion.</a:t>
            </a:r>
          </a:p>
          <a:p>
            <a:r>
              <a:rPr lang="en-US" sz="2800" dirty="0"/>
              <a:t>Idea is to be special at something customers value.</a:t>
            </a:r>
          </a:p>
          <a:p>
            <a:r>
              <a:rPr lang="en-US" sz="2800" dirty="0"/>
              <a:t>Key: Build basis for differentiation on a distinctive competence, something that the small company is uniquely good at doing in comparison to its competitors.  </a:t>
            </a:r>
          </a:p>
          <a:p>
            <a:r>
              <a:rPr lang="en-US" sz="2800" dirty="0"/>
              <a:t>Examples: Outfitters and the Ice Hotel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024" y="4876800"/>
            <a:ext cx="2466975" cy="184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79577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3" grpId="0" build="p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785812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dirty="0"/>
              <a:t>Focus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295400"/>
            <a:ext cx="7772400" cy="411480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Company selects one or more customer segments in a market; identifies customers’ special needs, wants, or interests; and then targets them with a product or service designed specifically for them.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Strategy builds on </a:t>
            </a:r>
            <a:r>
              <a:rPr lang="en-US" sz="2800" i="1" dirty="0"/>
              <a:t>differences</a:t>
            </a:r>
            <a:r>
              <a:rPr lang="en-US" sz="2800" dirty="0"/>
              <a:t> among market segments.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Rather than try to serve the total market, the company focuses on serving a niche (or several niches) within that market. 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Examples:  Rolls Royce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070712"/>
            <a:ext cx="1905000" cy="175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4495800"/>
            <a:ext cx="3581400" cy="21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001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85800" y="374650"/>
            <a:ext cx="7848600" cy="1100138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8: Translate Strategies</a:t>
            </a:r>
            <a:br>
              <a:rPr lang="en-US" dirty="0"/>
            </a:br>
            <a:r>
              <a:rPr lang="en-US" dirty="0"/>
              <a:t> into Action Plans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768475"/>
            <a:ext cx="7745413" cy="410686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800" dirty="0"/>
              <a:t>Survey of senior executives: Companies achieved only 63 percent of the results in their strategic plans. </a:t>
            </a:r>
          </a:p>
          <a:p>
            <a:r>
              <a:rPr lang="en-US" sz="2800" dirty="0"/>
              <a:t>Create projects by defining:</a:t>
            </a:r>
          </a:p>
          <a:p>
            <a:pPr lvl="1"/>
            <a:r>
              <a:rPr lang="en-US" sz="2400" dirty="0"/>
              <a:t>Purpose</a:t>
            </a:r>
          </a:p>
          <a:p>
            <a:pPr lvl="1"/>
            <a:r>
              <a:rPr lang="en-US" sz="2400" dirty="0"/>
              <a:t>Scope</a:t>
            </a:r>
          </a:p>
          <a:p>
            <a:pPr lvl="1"/>
            <a:r>
              <a:rPr lang="en-US" sz="2400" dirty="0"/>
              <a:t>Contribution</a:t>
            </a:r>
          </a:p>
          <a:p>
            <a:pPr lvl="1"/>
            <a:r>
              <a:rPr lang="en-US" sz="2400" dirty="0"/>
              <a:t>Resource requirements</a:t>
            </a:r>
          </a:p>
          <a:p>
            <a:pPr lvl="1"/>
            <a:r>
              <a:rPr lang="en-US" sz="2400" dirty="0"/>
              <a:t>Timing</a:t>
            </a:r>
          </a:p>
        </p:txBody>
      </p:sp>
      <p:pic>
        <p:nvPicPr>
          <p:cNvPr id="22536" name="Picture 8" descr="j02382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429000"/>
            <a:ext cx="2743200" cy="242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269056"/>
      </p:ext>
    </p:extLst>
  </p:cSld>
  <p:clrMapOvr>
    <a:masterClrMapping/>
  </p:clrMapOvr>
  <p:transition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bldLvl="3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603250"/>
            <a:ext cx="8458200" cy="595313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>
            <a:normAutofit fontScale="90000"/>
          </a:bodyPr>
          <a:lstStyle/>
          <a:p>
            <a:r>
              <a:rPr lang="en-US" dirty="0"/>
              <a:t>Step 9: Establish Accurate Controls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2663" y="1655763"/>
            <a:ext cx="7331075" cy="3778250"/>
          </a:xfrm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88900" tIns="46038" rIns="88900" bIns="46038"/>
          <a:lstStyle/>
          <a:p>
            <a:r>
              <a:rPr lang="en-US" sz="2900" dirty="0"/>
              <a:t>Plan establishes the standards against which actual performance is measured. </a:t>
            </a:r>
          </a:p>
          <a:p>
            <a:r>
              <a:rPr lang="en-US" sz="2900" dirty="0"/>
              <a:t>Entrepreneur must:</a:t>
            </a:r>
          </a:p>
          <a:p>
            <a:pPr lvl="1"/>
            <a:r>
              <a:rPr lang="en-US" dirty="0"/>
              <a:t>identify and track key performance indicators.</a:t>
            </a:r>
          </a:p>
          <a:p>
            <a:pPr lvl="1"/>
            <a:r>
              <a:rPr lang="en-US" dirty="0"/>
              <a:t>take corrective action.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3703021"/>
            <a:ext cx="2819400" cy="2819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599" y="4724400"/>
            <a:ext cx="261937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6474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bldLvl="2" autoUpdateAnimBg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1601</TotalTime>
  <Words>992</Words>
  <Application>Microsoft Office PowerPoint</Application>
  <PresentationFormat>On-screen Show (4:3)</PresentationFormat>
  <Paragraphs>192</Paragraphs>
  <Slides>25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Times New Roman</vt:lpstr>
      <vt:lpstr>Wingdings</vt:lpstr>
      <vt:lpstr>Office Theme</vt:lpstr>
      <vt:lpstr>The Power of External Market Forces</vt:lpstr>
      <vt:lpstr>POLITICAL</vt:lpstr>
      <vt:lpstr>Economic</vt:lpstr>
      <vt:lpstr>Social</vt:lpstr>
      <vt:lpstr>Technological</vt:lpstr>
      <vt:lpstr>Legal</vt:lpstr>
      <vt:lpstr>Environmental</vt:lpstr>
      <vt:lpstr>Step 4: Identify Key Success Factors</vt:lpstr>
      <vt:lpstr>Step 4: Identify Key Success Factors</vt:lpstr>
      <vt:lpstr>Step 4: Identify Key Success Factors</vt:lpstr>
      <vt:lpstr>Step 5: Analyze Competitors</vt:lpstr>
      <vt:lpstr>Step 5: Analyze Competitors</vt:lpstr>
      <vt:lpstr>Step 5: Analyze Competitors</vt:lpstr>
      <vt:lpstr>Step 5: Analyze Competitors</vt:lpstr>
      <vt:lpstr>Step 5: Analyze Competitors</vt:lpstr>
      <vt:lpstr>Knowledge Management</vt:lpstr>
      <vt:lpstr>Step 6: Create Company Goals and Objectives</vt:lpstr>
      <vt:lpstr>Step 6: Create Company Goals and Objectives</vt:lpstr>
      <vt:lpstr>Step 7: Formulate Strategies</vt:lpstr>
      <vt:lpstr>Three Generic Strategy Options</vt:lpstr>
      <vt:lpstr>Cost Leadership</vt:lpstr>
      <vt:lpstr>Differentiation</vt:lpstr>
      <vt:lpstr>Focus</vt:lpstr>
      <vt:lpstr>Step 8: Translate Strategies  into Action Plans</vt:lpstr>
      <vt:lpstr>Step 9: Establish Accurate Controls</vt:lpstr>
    </vt:vector>
  </TitlesOfParts>
  <Company>MyCompanyName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Entrepreneurial Mind: From Ideas to Reality</dc:title>
  <dc:creator>MyUserName</dc:creator>
  <cp:lastModifiedBy>Rabia Shafaat</cp:lastModifiedBy>
  <cp:revision>104</cp:revision>
  <dcterms:created xsi:type="dcterms:W3CDTF">2013-10-03T09:43:12Z</dcterms:created>
  <dcterms:modified xsi:type="dcterms:W3CDTF">2019-07-24T11:25:05Z</dcterms:modified>
</cp:coreProperties>
</file>