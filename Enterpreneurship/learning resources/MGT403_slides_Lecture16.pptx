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sldIdLst>
    <p:sldId id="296" r:id="rId3"/>
    <p:sldId id="433" r:id="rId4"/>
    <p:sldId id="434" r:id="rId5"/>
    <p:sldId id="435" r:id="rId6"/>
    <p:sldId id="436" r:id="rId7"/>
    <p:sldId id="437" r:id="rId8"/>
    <p:sldId id="438" r:id="rId9"/>
    <p:sldId id="301" r:id="rId10"/>
    <p:sldId id="302" r:id="rId11"/>
    <p:sldId id="303" r:id="rId12"/>
    <p:sldId id="304" r:id="rId13"/>
    <p:sldId id="305" r:id="rId14"/>
    <p:sldId id="333" r:id="rId15"/>
    <p:sldId id="328" r:id="rId16"/>
    <p:sldId id="336" r:id="rId17"/>
    <p:sldId id="319" r:id="rId18"/>
    <p:sldId id="320" r:id="rId19"/>
    <p:sldId id="321" r:id="rId20"/>
    <p:sldId id="322" r:id="rId21"/>
    <p:sldId id="323" r:id="rId22"/>
    <p:sldId id="324" r:id="rId23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45" d="100"/>
          <a:sy n="45" d="100"/>
        </p:scale>
        <p:origin x="54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449117-3486-4343-B328-6DF862B25854}" type="slidenum">
              <a:rPr lang="en-GB"/>
              <a:pPr/>
              <a:t>2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325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2729181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1609423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391756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10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91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431880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2201275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1581787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17600" y="698500"/>
            <a:ext cx="4643438" cy="3482975"/>
          </a:xfrm>
          <a:ln cap="flat"/>
        </p:spPr>
      </p:sp>
    </p:spTree>
    <p:extLst>
      <p:ext uri="{BB962C8B-B14F-4D97-AF65-F5344CB8AC3E}">
        <p14:creationId xmlns:p14="http://schemas.microsoft.com/office/powerpoint/2010/main" val="1406525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69B08-B379-4875-BD0E-8F8985669D50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58E06-6644-4C0A-B5A0-1C489E334BE0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29C30-8FA1-4AEC-A860-FA58C4D30ECF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9377A-EA1B-4BA2-AF6F-3245A63910F5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105B-301A-4C22-8D69-A4AC71FCABC8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66D5-D47E-4BAC-99AB-5D9284AB7E34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5F245-6A87-4192-B66E-55303014D186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7E84-2A19-4DCB-8D93-9027DC2B183C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7A814-3939-4717-A8E8-64BAFA540EB0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69F40-6186-4152-8F80-028F7AC4CC3D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B2649-FDAE-4889-B28F-3AEB83C009C3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7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6350" y="409575"/>
            <a:ext cx="635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874000" y="5016500"/>
            <a:ext cx="1268413" cy="139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214" y="399616"/>
            <a:ext cx="8274783" cy="720725"/>
          </a:xfrm>
        </p:spPr>
        <p:txBody>
          <a:bodyPr anchorCtr="0"/>
          <a:lstStyle>
            <a:lvl1pPr marL="0" indent="0">
              <a:defRPr sz="3200" b="1">
                <a:solidFill>
                  <a:srgbClr val="3366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299411"/>
            <a:ext cx="8126413" cy="5117264"/>
          </a:xfrm>
        </p:spPr>
        <p:txBody>
          <a:bodyPr/>
          <a:lstStyle>
            <a:lvl1pPr marL="349250" indent="-349250">
              <a:spcBef>
                <a:spcPts val="1200"/>
              </a:spcBef>
              <a:buClrTx/>
              <a:buSzPct val="65000"/>
              <a:buFont typeface="Wingdings" pitchFamily="2" charset="2"/>
              <a:buChar char=""/>
              <a:defRPr sz="2800">
                <a:solidFill>
                  <a:srgbClr val="800000"/>
                </a:solidFill>
              </a:defRPr>
            </a:lvl1pPr>
            <a:lvl2pPr marL="685800" indent="-279400">
              <a:spcBef>
                <a:spcPts val="1200"/>
              </a:spcBef>
              <a:buClr>
                <a:srgbClr val="006666"/>
              </a:buClr>
              <a:buSzPct val="80000"/>
              <a:buFont typeface="Arial" pitchFamily="34" charset="0"/>
              <a:buChar char="●"/>
              <a:defRPr sz="2400">
                <a:solidFill>
                  <a:srgbClr val="006666"/>
                </a:solidFill>
              </a:defRPr>
            </a:lvl2pPr>
            <a:lvl3pPr marL="1035050" indent="-349250">
              <a:spcBef>
                <a:spcPts val="1200"/>
              </a:spcBef>
              <a:buClrTx/>
              <a:buSzPct val="80000"/>
              <a:buFont typeface="Wingdings" pitchFamily="2" charset="2"/>
              <a:buChar char="v"/>
              <a:defRPr sz="20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buClrTx/>
              <a:defRPr sz="2000"/>
            </a:lvl4pPr>
            <a:lvl5pPr>
              <a:spcBef>
                <a:spcPts val="1200"/>
              </a:spcBef>
              <a:buClrTx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7311756"/>
      </p:ext>
    </p:extLst>
  </p:cSld>
  <p:clrMapOvr>
    <a:masterClrMapping/>
  </p:clrMapOvr>
  <p:transition spd="slow">
    <p:cut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6350" y="427038"/>
            <a:ext cx="6350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509000" y="427038"/>
            <a:ext cx="6350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1235" y="560650"/>
            <a:ext cx="7897862" cy="460317"/>
          </a:xfrm>
        </p:spPr>
        <p:txBody>
          <a:bodyPr/>
          <a:lstStyle>
            <a:lvl1pPr marL="0" indent="0" algn="ctr">
              <a:defRPr sz="3600" b="1">
                <a:solidFill>
                  <a:srgbClr val="3366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228705"/>
      </p:ext>
    </p:extLst>
  </p:cSld>
  <p:clrMapOvr>
    <a:masterClrMapping/>
  </p:clrMapOvr>
  <p:transition spd="slow">
    <p:cut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8431213" y="6584950"/>
            <a:ext cx="427037" cy="21590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cs typeface="Arial" charset="0"/>
              </a:rPr>
              <a:t>3–</a:t>
            </a:r>
            <a:fld id="{DE48E9C2-B5B7-4229-89A6-41E40F143F34}" type="slidenum">
              <a:rPr lang="en-US" sz="800" b="1">
                <a:solidFill>
                  <a:srgbClr val="000000"/>
                </a:solidFill>
                <a:cs typeface="Arial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5" name="Text Box 12"/>
          <p:cNvSpPr txBox="1">
            <a:spLocks noChangeArrowheads="1"/>
          </p:cNvSpPr>
          <p:nvPr/>
        </p:nvSpPr>
        <p:spPr bwMode="auto">
          <a:xfrm>
            <a:off x="377825" y="6584950"/>
            <a:ext cx="4048125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cs typeface="Arial" charset="0"/>
              </a:rPr>
              <a:t>© 2013 by McGraw-Hill Education. All rights reserved.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826500" y="820738"/>
            <a:ext cx="3175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819150"/>
            <a:ext cx="3175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10"/>
          <p:cNvCxnSpPr>
            <a:cxnSpLocks noChangeShapeType="1"/>
          </p:cNvCxnSpPr>
          <p:nvPr userDrawn="1"/>
        </p:nvCxnSpPr>
        <p:spPr bwMode="auto">
          <a:xfrm flipH="1">
            <a:off x="244475" y="1054100"/>
            <a:ext cx="8629650" cy="0"/>
          </a:xfrm>
          <a:prstGeom prst="line">
            <a:avLst/>
          </a:prstGeom>
          <a:noFill/>
          <a:ln w="38100" algn="ctr">
            <a:solidFill>
              <a:srgbClr val="006699"/>
            </a:solidFill>
            <a:round/>
            <a:headEnd/>
            <a:tailEnd type="none" w="lg" len="lg"/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63" y="316807"/>
            <a:ext cx="8210985" cy="650756"/>
          </a:xfrm>
        </p:spPr>
        <p:txBody>
          <a:bodyPr/>
          <a:lstStyle>
            <a:lvl1pPr marL="0" indent="0" algn="ctr">
              <a:tabLst/>
              <a:defRPr sz="3200">
                <a:solidFill>
                  <a:srgbClr val="3366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272859"/>
            <a:ext cx="8126413" cy="5143816"/>
          </a:xfrm>
        </p:spPr>
        <p:txBody>
          <a:bodyPr/>
          <a:lstStyle>
            <a:lvl1pPr marL="349250" indent="-349250">
              <a:buClrTx/>
              <a:buSzPct val="65000"/>
              <a:buFont typeface="Wingdings" pitchFamily="2" charset="2"/>
              <a:buChar char=""/>
              <a:defRPr>
                <a:solidFill>
                  <a:srgbClr val="800000"/>
                </a:solidFill>
              </a:defRPr>
            </a:lvl1pPr>
            <a:lvl2pPr marL="685800" indent="-279400">
              <a:buClr>
                <a:srgbClr val="006666"/>
              </a:buClr>
              <a:buSzPct val="80000"/>
              <a:buFont typeface="Arial" pitchFamily="34" charset="0"/>
              <a:buChar char="●"/>
              <a:defRPr>
                <a:solidFill>
                  <a:srgbClr val="006666"/>
                </a:solidFill>
              </a:defRPr>
            </a:lvl2pPr>
            <a:lvl3pPr marL="1035050" indent="-349250">
              <a:buClrTx/>
              <a:buSzPct val="80000"/>
              <a:buFont typeface="Wingdings" pitchFamily="2" charset="2"/>
              <a:buChar char="v"/>
              <a:defRPr sz="2400">
                <a:solidFill>
                  <a:schemeClr val="tx1"/>
                </a:solidFill>
              </a:defRPr>
            </a:lvl3pPr>
            <a:lvl4pPr>
              <a:buClrTx/>
              <a:defRPr sz="2000"/>
            </a:lvl4pPr>
            <a:lvl5pPr>
              <a:buClrTx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9736215"/>
      </p:ext>
    </p:extLst>
  </p:cSld>
  <p:clrMapOvr>
    <a:masterClrMapping/>
  </p:clrMapOvr>
  <p:transition spd="slow">
    <p:cut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826500" y="1181100"/>
            <a:ext cx="3175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1179513"/>
            <a:ext cx="317500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10"/>
          <p:cNvCxnSpPr>
            <a:cxnSpLocks noChangeShapeType="1"/>
          </p:cNvCxnSpPr>
          <p:nvPr userDrawn="1"/>
        </p:nvCxnSpPr>
        <p:spPr bwMode="auto">
          <a:xfrm flipH="1">
            <a:off x="244475" y="1414463"/>
            <a:ext cx="8629650" cy="0"/>
          </a:xfrm>
          <a:prstGeom prst="line">
            <a:avLst/>
          </a:prstGeom>
          <a:noFill/>
          <a:ln w="38100" algn="ctr">
            <a:solidFill>
              <a:srgbClr val="006699"/>
            </a:solidFill>
            <a:round/>
            <a:headEnd/>
            <a:tailEnd type="none" w="lg" len="lg"/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63" y="316807"/>
            <a:ext cx="8210985" cy="1030362"/>
          </a:xfrm>
        </p:spPr>
        <p:txBody>
          <a:bodyPr anchor="t" anchorCtr="0"/>
          <a:lstStyle>
            <a:lvl1pPr marL="0" indent="0" algn="ctr">
              <a:tabLst/>
              <a:defRPr sz="3200">
                <a:solidFill>
                  <a:srgbClr val="3366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588167"/>
            <a:ext cx="8126413" cy="4828507"/>
          </a:xfrm>
        </p:spPr>
        <p:txBody>
          <a:bodyPr/>
          <a:lstStyle>
            <a:lvl1pPr marL="349250" indent="-349250">
              <a:spcBef>
                <a:spcPts val="1200"/>
              </a:spcBef>
              <a:buClrTx/>
              <a:buSzPct val="65000"/>
              <a:buFont typeface="Wingdings" pitchFamily="2" charset="2"/>
              <a:buChar char=""/>
              <a:defRPr>
                <a:solidFill>
                  <a:srgbClr val="800000"/>
                </a:solidFill>
              </a:defRPr>
            </a:lvl1pPr>
            <a:lvl2pPr marL="685800" indent="-279400">
              <a:spcBef>
                <a:spcPts val="1200"/>
              </a:spcBef>
              <a:buClr>
                <a:srgbClr val="006666"/>
              </a:buClr>
              <a:buSzPct val="80000"/>
              <a:buFont typeface="Arial" pitchFamily="34" charset="0"/>
              <a:buChar char="●"/>
              <a:defRPr>
                <a:solidFill>
                  <a:srgbClr val="006666"/>
                </a:solidFill>
              </a:defRPr>
            </a:lvl2pPr>
            <a:lvl3pPr marL="1035050" indent="-349250">
              <a:spcBef>
                <a:spcPts val="1200"/>
              </a:spcBef>
              <a:buClrTx/>
              <a:buSzPct val="80000"/>
              <a:buFont typeface="Wingdings" pitchFamily="2" charset="2"/>
              <a:buChar char="v"/>
              <a:defRPr sz="24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buClrTx/>
              <a:defRPr sz="2000"/>
            </a:lvl4pPr>
            <a:lvl5pPr>
              <a:spcBef>
                <a:spcPts val="1200"/>
              </a:spcBef>
              <a:buClrTx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7119271"/>
      </p:ext>
    </p:extLst>
  </p:cSld>
  <p:clrMapOvr>
    <a:masterClrMapping/>
  </p:clrMapOvr>
  <p:transition spd="slow">
    <p:cut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826500" y="1468438"/>
            <a:ext cx="3175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1466850"/>
            <a:ext cx="317500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10"/>
          <p:cNvCxnSpPr>
            <a:cxnSpLocks noChangeShapeType="1"/>
          </p:cNvCxnSpPr>
          <p:nvPr userDrawn="1"/>
        </p:nvCxnSpPr>
        <p:spPr bwMode="auto">
          <a:xfrm flipH="1">
            <a:off x="244475" y="1701800"/>
            <a:ext cx="8629650" cy="0"/>
          </a:xfrm>
          <a:prstGeom prst="line">
            <a:avLst/>
          </a:prstGeom>
          <a:noFill/>
          <a:ln w="38100" algn="ctr">
            <a:solidFill>
              <a:srgbClr val="006699"/>
            </a:solidFill>
            <a:round/>
            <a:headEnd/>
            <a:tailEnd type="none" w="lg" len="lg"/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63" y="263641"/>
            <a:ext cx="8210985" cy="1250007"/>
          </a:xfrm>
        </p:spPr>
        <p:txBody>
          <a:bodyPr anchor="t" anchorCtr="0"/>
          <a:lstStyle>
            <a:lvl1pPr marL="0" indent="0" algn="ctr">
              <a:tabLst/>
              <a:defRPr sz="3200">
                <a:solidFill>
                  <a:srgbClr val="33669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25" y="1913860"/>
            <a:ext cx="8126413" cy="4502814"/>
          </a:xfrm>
        </p:spPr>
        <p:txBody>
          <a:bodyPr/>
          <a:lstStyle>
            <a:lvl1pPr marL="349250" indent="-349250">
              <a:spcBef>
                <a:spcPts val="1200"/>
              </a:spcBef>
              <a:buClrTx/>
              <a:buSzPct val="65000"/>
              <a:buFont typeface="Wingdings" pitchFamily="2" charset="2"/>
              <a:buChar char=""/>
              <a:defRPr>
                <a:solidFill>
                  <a:srgbClr val="800000"/>
                </a:solidFill>
              </a:defRPr>
            </a:lvl1pPr>
            <a:lvl2pPr marL="685800" indent="-279400">
              <a:spcBef>
                <a:spcPts val="1200"/>
              </a:spcBef>
              <a:buClr>
                <a:srgbClr val="006666"/>
              </a:buClr>
              <a:buSzPct val="80000"/>
              <a:buFont typeface="Arial" pitchFamily="34" charset="0"/>
              <a:buChar char="●"/>
              <a:defRPr>
                <a:solidFill>
                  <a:srgbClr val="006666"/>
                </a:solidFill>
              </a:defRPr>
            </a:lvl2pPr>
            <a:lvl3pPr marL="1035050" indent="-349250">
              <a:spcBef>
                <a:spcPts val="1200"/>
              </a:spcBef>
              <a:buClrTx/>
              <a:buSzPct val="80000"/>
              <a:buFont typeface="Wingdings" pitchFamily="2" charset="2"/>
              <a:buChar char="v"/>
              <a:defRPr sz="2400">
                <a:solidFill>
                  <a:schemeClr val="tx1"/>
                </a:solidFill>
              </a:defRPr>
            </a:lvl3pPr>
            <a:lvl4pPr>
              <a:spcBef>
                <a:spcPts val="1200"/>
              </a:spcBef>
              <a:buClrTx/>
              <a:defRPr sz="2000"/>
            </a:lvl4pPr>
            <a:lvl5pPr>
              <a:spcBef>
                <a:spcPts val="1200"/>
              </a:spcBef>
              <a:buClrTx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5916326"/>
      </p:ext>
    </p:extLst>
  </p:cSld>
  <p:clrMapOvr>
    <a:masterClrMapping/>
  </p:clrMapOvr>
  <p:transition spd="slow">
    <p:cut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199893"/>
      </p:ext>
    </p:extLst>
  </p:cSld>
  <p:clrMapOvr>
    <a:masterClrMapping/>
  </p:clrMapOvr>
  <p:transition spd="slow">
    <p:cut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72877"/>
      </p:ext>
    </p:extLst>
  </p:cSld>
  <p:clrMapOvr>
    <a:masterClrMapping/>
  </p:clrMapOvr>
  <p:transition spd="slow">
    <p:cut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8_Title and Content">
    <p:bg>
      <p:bgPr>
        <a:blipFill dpi="0" rotWithShape="1">
          <a:blip r:embed="rId2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/>
          <p:cNvSpPr/>
          <p:nvPr userDrawn="1"/>
        </p:nvSpPr>
        <p:spPr bwMode="auto">
          <a:xfrm>
            <a:off x="8955088" y="9525"/>
            <a:ext cx="192087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" name="Rectangle 14"/>
          <p:cNvSpPr/>
          <p:nvPr userDrawn="1"/>
        </p:nvSpPr>
        <p:spPr bwMode="auto">
          <a:xfrm>
            <a:off x="0" y="6350"/>
            <a:ext cx="192088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5" name="TextBox 15"/>
          <p:cNvSpPr txBox="1"/>
          <p:nvPr userDrawn="1"/>
        </p:nvSpPr>
        <p:spPr bwMode="auto">
          <a:xfrm>
            <a:off x="0" y="0"/>
            <a:ext cx="9144000" cy="914400"/>
          </a:xfrm>
          <a:prstGeom prst="rect">
            <a:avLst/>
          </a:prstGeom>
          <a:blipFill dpi="0" rotWithShape="1">
            <a:blip r:embed="rId3">
              <a:extLst/>
            </a:blip>
            <a:srcRect/>
            <a:stretch>
              <a:fillRect/>
            </a:stretch>
          </a:blipFill>
          <a:ln>
            <a:solidFill>
              <a:srgbClr val="6699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STRATEGIC MANAGEMENT PRINCIPLE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7602538" y="5148263"/>
            <a:ext cx="135255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1038" y="1276350"/>
            <a:ext cx="7962900" cy="5176838"/>
          </a:xfrm>
        </p:spPr>
        <p:txBody>
          <a:bodyPr/>
          <a:lstStyle>
            <a:lvl1pPr>
              <a:buClrTx/>
              <a:defRPr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2455159"/>
      </p:ext>
    </p:extLst>
  </p:cSld>
  <p:clrMapOvr>
    <a:masterClrMapping/>
  </p:clrMapOvr>
  <p:transition spd="slow">
    <p:cut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/>
          <p:nvPr userDrawn="1"/>
        </p:nvSpPr>
        <p:spPr bwMode="auto">
          <a:xfrm>
            <a:off x="0" y="0"/>
            <a:ext cx="9144000" cy="914400"/>
          </a:xfrm>
          <a:prstGeom prst="rect">
            <a:avLst/>
          </a:prstGeom>
          <a:blipFill dpi="0" rotWithShape="1">
            <a:blip r:embed="rId3">
              <a:extLst/>
            </a:blip>
            <a:srcRect/>
            <a:stretch>
              <a:fillRect/>
            </a:stretch>
          </a:blipFill>
          <a:ln>
            <a:solidFill>
              <a:srgbClr val="6699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CORE CONCEPT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 userDrawn="1"/>
        </p:nvPicPr>
        <p:blipFill rotWithShape="1">
          <a:blip r:embed="rId4">
            <a:clrChange>
              <a:clrFrom>
                <a:srgbClr val="CFEAF5"/>
              </a:clrFrom>
              <a:clrTo>
                <a:srgbClr val="CFEAF5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/>
          </a:blip>
          <a:srcRect l="9523" t="14517" r="-1" b="-108"/>
          <a:stretch/>
        </p:blipFill>
        <p:spPr bwMode="auto">
          <a:xfrm rot="10800000" flipH="1">
            <a:off x="4986670" y="4736877"/>
            <a:ext cx="3974487" cy="2107391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5" name="Rectangle 3"/>
          <p:cNvSpPr/>
          <p:nvPr userDrawn="1"/>
        </p:nvSpPr>
        <p:spPr bwMode="auto">
          <a:xfrm>
            <a:off x="8955088" y="9525"/>
            <a:ext cx="192087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" name="Rectangle 4"/>
          <p:cNvSpPr/>
          <p:nvPr userDrawn="1"/>
        </p:nvSpPr>
        <p:spPr bwMode="auto">
          <a:xfrm>
            <a:off x="0" y="6350"/>
            <a:ext cx="192088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1038" y="1276350"/>
            <a:ext cx="7962900" cy="5176838"/>
          </a:xfr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8347128"/>
      </p:ext>
    </p:extLst>
  </p:cSld>
  <p:clrMapOvr>
    <a:masterClrMapping/>
  </p:clrMapOvr>
  <p:transition spd="slow">
    <p:cut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/>
          <p:cNvSpPr txBox="1"/>
          <p:nvPr userDrawn="1"/>
        </p:nvSpPr>
        <p:spPr bwMode="auto">
          <a:xfrm>
            <a:off x="0" y="0"/>
            <a:ext cx="9144000" cy="914400"/>
          </a:xfrm>
          <a:prstGeom prst="rect">
            <a:avLst/>
          </a:prstGeom>
          <a:blipFill dpi="0" rotWithShape="1">
            <a:blip r:embed="rId3">
              <a:extLst/>
            </a:blip>
            <a:srcRect/>
            <a:stretch>
              <a:fillRect/>
            </a:stretch>
          </a:blipFill>
          <a:ln>
            <a:solidFill>
              <a:srgbClr val="6699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rPr>
              <a:t>CORE CONCEPTS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 userDrawn="1"/>
        </p:nvPicPr>
        <p:blipFill rotWithShape="1">
          <a:blip r:embed="rId4">
            <a:clrChange>
              <a:clrFrom>
                <a:srgbClr val="CFEAF5"/>
              </a:clrFrom>
              <a:clrTo>
                <a:srgbClr val="CFEAF5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/>
          </a:blip>
          <a:srcRect l="9523" t="14517" r="-1" b="-108"/>
          <a:stretch/>
        </p:blipFill>
        <p:spPr bwMode="auto">
          <a:xfrm rot="10800000" flipH="1">
            <a:off x="4986670" y="4736877"/>
            <a:ext cx="3974487" cy="2107391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5" name="Rectangle 3"/>
          <p:cNvSpPr/>
          <p:nvPr userDrawn="1"/>
        </p:nvSpPr>
        <p:spPr bwMode="auto">
          <a:xfrm>
            <a:off x="8955088" y="9525"/>
            <a:ext cx="192087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6" name="Rectangle 4"/>
          <p:cNvSpPr/>
          <p:nvPr userDrawn="1"/>
        </p:nvSpPr>
        <p:spPr bwMode="auto">
          <a:xfrm>
            <a:off x="0" y="6350"/>
            <a:ext cx="192088" cy="6858000"/>
          </a:xfrm>
          <a:prstGeom prst="rect">
            <a:avLst/>
          </a:prstGeom>
          <a:gradFill flip="none" rotWithShape="1">
            <a:gsLst>
              <a:gs pos="7000">
                <a:schemeClr val="bg2"/>
              </a:gs>
              <a:gs pos="50000">
                <a:schemeClr val="bg1">
                  <a:lumMod val="85000"/>
                </a:schemeClr>
              </a:gs>
              <a:gs pos="95000">
                <a:schemeClr val="bg2"/>
              </a:gs>
            </a:gsLst>
            <a:lin ang="0" scaled="1"/>
            <a:tileRect/>
          </a:gradFill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base">
              <a:spcBef>
                <a:spcPct val="20000"/>
              </a:spcBef>
              <a:spcAft>
                <a:spcPct val="0"/>
              </a:spcAft>
              <a:buClr>
                <a:srgbClr val="800000"/>
              </a:buClr>
              <a:buFont typeface="Wingdings" pitchFamily="2" charset="2"/>
              <a:buNone/>
              <a:defRPr/>
            </a:pPr>
            <a:endParaRPr lang="en-US" sz="26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1038" y="1276350"/>
            <a:ext cx="7962900" cy="5176838"/>
          </a:xfrm>
        </p:spPr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166390"/>
      </p:ext>
    </p:extLst>
  </p:cSld>
  <p:clrMapOvr>
    <a:masterClrMapping/>
  </p:clrMapOvr>
  <p:transition spd="slow">
    <p:cut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 bwMode="grayWhite">
      <p:bgPr>
        <a:solidFill>
          <a:schemeClr val="accent3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/>
          <p:cNvSpPr>
            <a:spLocks noChangeArrowheads="1"/>
          </p:cNvSpPr>
          <p:nvPr/>
        </p:nvSpPr>
        <p:spPr bwMode="auto">
          <a:xfrm>
            <a:off x="8431213" y="6584950"/>
            <a:ext cx="427037" cy="21590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cs typeface="Arial" charset="0"/>
              </a:rPr>
              <a:t>3–</a:t>
            </a:r>
            <a:fld id="{6BC8E88D-0C5B-4123-B29D-26E8C2E47E0D}" type="slidenum">
              <a:rPr lang="en-US" sz="800" b="1">
                <a:solidFill>
                  <a:srgbClr val="000000"/>
                </a:solidFill>
                <a:cs typeface="Arial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377825" y="6584950"/>
            <a:ext cx="4048125" cy="214313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000000"/>
                </a:solidFill>
                <a:cs typeface="Arial" charset="0"/>
              </a:rPr>
              <a:t>© 2013 by McGraw-Hill Education. All rights reserved.</a:t>
            </a:r>
          </a:p>
        </p:txBody>
      </p:sp>
      <p:grpSp>
        <p:nvGrpSpPr>
          <p:cNvPr id="5" name="Group 7"/>
          <p:cNvGrpSpPr>
            <a:grpSpLocks/>
          </p:cNvGrpSpPr>
          <p:nvPr userDrawn="1"/>
        </p:nvGrpSpPr>
        <p:grpSpPr bwMode="auto">
          <a:xfrm>
            <a:off x="0" y="0"/>
            <a:ext cx="9147175" cy="6867525"/>
            <a:chOff x="0" y="0"/>
            <a:chExt cx="9146972" cy="6867947"/>
          </a:xfrm>
        </p:grpSpPr>
        <p:sp>
          <p:nvSpPr>
            <p:cNvPr id="6" name="TextBox 5"/>
            <p:cNvSpPr txBox="1"/>
            <p:nvPr userDrawn="1"/>
          </p:nvSpPr>
          <p:spPr bwMode="auto">
            <a:xfrm>
              <a:off x="0" y="0"/>
              <a:ext cx="9143797" cy="914456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80000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4000" dirty="0">
                  <a:solidFill>
                    <a:srgbClr val="FFFFFF"/>
                  </a:solidFill>
                  <a:cs typeface="Arial" charset="0"/>
                </a:rPr>
                <a:t>THINKING STRATEGICALLY</a:t>
              </a:r>
            </a:p>
          </p:txBody>
        </p:sp>
        <p:sp>
          <p:nvSpPr>
            <p:cNvPr id="8" name="Rectangle 3"/>
            <p:cNvSpPr/>
            <p:nvPr userDrawn="1"/>
          </p:nvSpPr>
          <p:spPr bwMode="auto">
            <a:xfrm>
              <a:off x="8954889" y="9526"/>
              <a:ext cx="192083" cy="6858421"/>
            </a:xfrm>
            <a:prstGeom prst="rect">
              <a:avLst/>
            </a:prstGeom>
            <a:gradFill flip="none" rotWithShape="1">
              <a:gsLst>
                <a:gs pos="7000">
                  <a:schemeClr val="bg2"/>
                </a:gs>
                <a:gs pos="50000">
                  <a:schemeClr val="bg1">
                    <a:lumMod val="85000"/>
                  </a:schemeClr>
                </a:gs>
                <a:gs pos="95000">
                  <a:schemeClr val="bg2"/>
                </a:gs>
              </a:gsLst>
              <a:lin ang="0" scaled="1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80000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9" name="Rectangle 4"/>
            <p:cNvSpPr/>
            <p:nvPr userDrawn="1"/>
          </p:nvSpPr>
          <p:spPr bwMode="auto">
            <a:xfrm>
              <a:off x="0" y="6350"/>
              <a:ext cx="192084" cy="6858421"/>
            </a:xfrm>
            <a:prstGeom prst="rect">
              <a:avLst/>
            </a:prstGeom>
            <a:gradFill flip="none" rotWithShape="1">
              <a:gsLst>
                <a:gs pos="7000">
                  <a:schemeClr val="bg2"/>
                </a:gs>
                <a:gs pos="50000">
                  <a:schemeClr val="bg1">
                    <a:lumMod val="85000"/>
                  </a:schemeClr>
                </a:gs>
                <a:gs pos="95000">
                  <a:schemeClr val="bg2"/>
                </a:gs>
              </a:gsLst>
              <a:lin ang="0" scaled="1"/>
              <a:tileRect/>
            </a:gradFill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800000"/>
                </a:buClr>
                <a:buFont typeface="Wingdings" pitchFamily="2" charset="2"/>
                <a:buNone/>
                <a:defRPr/>
              </a:pPr>
              <a:endParaRPr lang="en-US" sz="2600">
                <a:solidFill>
                  <a:srgbClr val="000000"/>
                </a:solidFill>
                <a:cs typeface="Arial" charset="0"/>
              </a:endParaRPr>
            </a:p>
          </p:txBody>
        </p:sp>
      </p:grp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1038" y="1276350"/>
            <a:ext cx="7962900" cy="5176838"/>
          </a:xfrm>
        </p:spPr>
        <p:txBody>
          <a:bodyPr/>
          <a:lstStyle>
            <a:lvl1pPr>
              <a:buClrTx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>
              <a:buClrTx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  <a:lvl3pPr>
              <a:buClrTx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96723"/>
      </p:ext>
    </p:extLst>
  </p:cSld>
  <p:clrMapOvr>
    <a:masterClrMapping/>
  </p:clrMapOvr>
  <p:transition spd="slow">
    <p:cut thruBlk="1"/>
  </p:transition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 bwMode="gray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ChangeArrowheads="1"/>
          </p:cNvSpPr>
          <p:nvPr userDrawn="1"/>
        </p:nvSpPr>
        <p:spPr bwMode="auto">
          <a:xfrm>
            <a:off x="8413750" y="6584950"/>
            <a:ext cx="460375" cy="2444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t>3–</a:t>
            </a:r>
            <a:fld id="{DBEF5231-0D3C-4607-86D1-E64032624200}" type="slidenum">
              <a:rPr lang="en-US" sz="1000" b="1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b="1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021131"/>
      </p:ext>
    </p:extLst>
  </p:cSld>
  <p:clrMapOvr>
    <a:masterClrMapping/>
  </p:clrMapOvr>
  <p:transition spd="slow">
    <p:cut thruBlk="1"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986F6-278F-40B8-AC45-148BA630F023}" type="datetime1">
              <a:rPr lang="en-US" smtClean="0"/>
              <a:pPr/>
              <a:t>7/30/2019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1579563"/>
            <a:ext cx="8126413" cy="48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 rot="16200000" flipH="1">
            <a:off x="1143000" y="3048000"/>
            <a:ext cx="1676400" cy="914400"/>
          </a:xfrm>
          <a:prstGeom prst="lin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00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 rot="5400000" flipH="1" flipV="1">
            <a:off x="647700" y="5067300"/>
            <a:ext cx="2667000" cy="914400"/>
          </a:xfrm>
          <a:prstGeom prst="line">
            <a:avLst/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tint val="20000"/>
                  <a:invGamma/>
                </a:schemeClr>
              </a:gs>
              <a:gs pos="100000">
                <a:schemeClr val="accent1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82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369888"/>
            <a:ext cx="8413750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013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ut thruBlk="1"/>
  </p:transition>
  <p:txStyles>
    <p:titleStyle>
      <a:lvl1pPr marL="461963" indent="-476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lang="en-US" sz="3200" b="1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marL="461963" indent="-476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marL="461963" indent="-476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marL="461963" indent="-476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marL="461963" indent="-4763"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336699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216471"/>
          </a:solidFill>
          <a:latin typeface="Arial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216471"/>
          </a:solidFill>
          <a:latin typeface="Arial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216471"/>
          </a:solidFill>
          <a:latin typeface="Arial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rgbClr val="216471"/>
          </a:solidFill>
          <a:latin typeface="Arial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100000"/>
        <a:buFont typeface="Arial" charset="0"/>
        <a:buChar char="♦"/>
        <a:defRPr lang="en-US" sz="2800" dirty="0">
          <a:solidFill>
            <a:srgbClr val="8000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685800" indent="-282575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80000"/>
        <a:buFont typeface="Arial" charset="0"/>
        <a:buChar char="●"/>
        <a:defRPr lang="en-US" sz="2400" dirty="0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2pPr>
      <a:lvl3pPr marL="1143000" indent="-282575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65000"/>
        <a:buFont typeface="Wingdings 3" pitchFamily="18" charset="2"/>
        <a:buChar char="u"/>
        <a:defRPr lang="en-US" sz="2000" dirty="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3pPr>
      <a:lvl4pPr marL="1600200" indent="-282575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65000"/>
        <a:buFont typeface="Wingdings 3" pitchFamily="18" charset="2"/>
        <a:buChar char="u"/>
        <a:defRPr lang="en-US" sz="2000" dirty="0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4pPr>
      <a:lvl5pPr marL="2068513" indent="-284163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65000"/>
        <a:buFont typeface="Wingdings 3" pitchFamily="18" charset="2"/>
        <a:buChar char="u"/>
        <a:defRPr lang="en-US" dirty="0">
          <a:solidFill>
            <a:srgbClr val="006666"/>
          </a:solidFill>
          <a:effectLst>
            <a:outerShdw blurRad="38100" dist="38100" dir="2700000" algn="tl">
              <a:srgbClr val="C0C0C0"/>
            </a:outerShdw>
          </a:effectLst>
          <a:latin typeface="+mn-lt"/>
        </a:defRPr>
      </a:lvl5pPr>
      <a:lvl6pPr marL="2692400" indent="-290513" algn="l" rtl="0" fontAlgn="base">
        <a:spcBef>
          <a:spcPct val="20000"/>
        </a:spcBef>
        <a:spcAft>
          <a:spcPct val="0"/>
        </a:spcAft>
        <a:buClr>
          <a:srgbClr val="CC6C18"/>
        </a:buClr>
        <a:buFont typeface="Arial" charset="0"/>
        <a:buChar char="»"/>
        <a:defRPr sz="2000">
          <a:solidFill>
            <a:srgbClr val="216471"/>
          </a:solidFill>
          <a:latin typeface="+mn-lt"/>
        </a:defRPr>
      </a:lvl6pPr>
      <a:lvl7pPr marL="3149600" indent="-290513" algn="l" rtl="0" fontAlgn="base">
        <a:spcBef>
          <a:spcPct val="20000"/>
        </a:spcBef>
        <a:spcAft>
          <a:spcPct val="0"/>
        </a:spcAft>
        <a:buClr>
          <a:srgbClr val="CC6C18"/>
        </a:buClr>
        <a:buFont typeface="Arial" charset="0"/>
        <a:buChar char="»"/>
        <a:defRPr sz="2000">
          <a:solidFill>
            <a:srgbClr val="216471"/>
          </a:solidFill>
          <a:latin typeface="+mn-lt"/>
        </a:defRPr>
      </a:lvl7pPr>
      <a:lvl8pPr marL="3606800" indent="-290513" algn="l" rtl="0" fontAlgn="base">
        <a:spcBef>
          <a:spcPct val="20000"/>
        </a:spcBef>
        <a:spcAft>
          <a:spcPct val="0"/>
        </a:spcAft>
        <a:buClr>
          <a:srgbClr val="CC6C18"/>
        </a:buClr>
        <a:buFont typeface="Arial" charset="0"/>
        <a:buChar char="»"/>
        <a:defRPr sz="2000">
          <a:solidFill>
            <a:srgbClr val="216471"/>
          </a:solidFill>
          <a:latin typeface="+mn-lt"/>
        </a:defRPr>
      </a:lvl8pPr>
      <a:lvl9pPr marL="4064000" indent="-290513" algn="l" rtl="0" fontAlgn="base">
        <a:spcBef>
          <a:spcPct val="20000"/>
        </a:spcBef>
        <a:spcAft>
          <a:spcPct val="0"/>
        </a:spcAft>
        <a:buClr>
          <a:srgbClr val="CC6C18"/>
        </a:buClr>
        <a:buFont typeface="Arial" charset="0"/>
        <a:buChar char="»"/>
        <a:defRPr sz="2000">
          <a:solidFill>
            <a:srgbClr val="21647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</a:t>
            </a:r>
            <a:r>
              <a:rPr lang="en-US" sz="6000" dirty="0" smtClean="0"/>
              <a:t>16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TOWS MATRIX</a:t>
            </a:r>
          </a:p>
        </p:txBody>
      </p:sp>
    </p:spTree>
    <p:extLst>
      <p:ext uri="{BB962C8B-B14F-4D97-AF65-F5344CB8AC3E}">
        <p14:creationId xmlns:p14="http://schemas.microsoft.com/office/powerpoint/2010/main" val="8622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dirty="0"/>
              <a:t>TOWS Matrix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936625" y="1538288"/>
            <a:ext cx="7537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 rot="-10413504">
            <a:off x="1984375" y="3729038"/>
            <a:ext cx="5670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rot="1080000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5241925" y="2605088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74087" name="Rectangle 7"/>
          <p:cNvSpPr>
            <a:spLocks noChangeArrowheads="1"/>
          </p:cNvSpPr>
          <p:nvPr/>
        </p:nvSpPr>
        <p:spPr bwMode="auto">
          <a:xfrm>
            <a:off x="59055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marL="342900" indent="-342900" algn="ctr">
              <a:spcBef>
                <a:spcPct val="40000"/>
              </a:spcBef>
              <a:buClr>
                <a:srgbClr val="000066"/>
              </a:buClr>
            </a:pPr>
            <a:r>
              <a:rPr lang="en-US" sz="3200" b="1">
                <a:solidFill>
                  <a:srgbClr val="003366"/>
                </a:solidFill>
                <a:latin typeface="Arial" pitchFamily="34" charset="0"/>
              </a:rPr>
              <a:t>SO Strategies</a:t>
            </a:r>
          </a:p>
          <a:p>
            <a:pPr marL="342900" indent="-342900">
              <a:spcBef>
                <a:spcPct val="40000"/>
              </a:spcBef>
              <a:buClr>
                <a:srgbClr val="000066"/>
              </a:buClr>
              <a:buFontTx/>
              <a:buChar char="•"/>
            </a:pPr>
            <a:r>
              <a:rPr lang="en-US" sz="3200" b="1" i="1">
                <a:solidFill>
                  <a:srgbClr val="333300"/>
                </a:solidFill>
                <a:latin typeface="Arial" pitchFamily="34" charset="0"/>
              </a:rPr>
              <a:t>Strategies that enable competitive    advantage, external opportunities match well with internal strengths, allows for competitive advantage to be built and maintained.</a:t>
            </a:r>
            <a:endParaRPr lang="en-US" sz="3200" b="1" i="1">
              <a:solidFill>
                <a:srgbClr val="1C1C1C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46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0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dirty="0"/>
              <a:t>TOWS Matrix</a:t>
            </a: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59055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marL="342900" indent="-342900" algn="ctr">
              <a:spcBef>
                <a:spcPct val="40000"/>
              </a:spcBef>
              <a:buClr>
                <a:srgbClr val="000066"/>
              </a:buClr>
            </a:pPr>
            <a:r>
              <a:rPr lang="en-US" sz="3200" b="1">
                <a:solidFill>
                  <a:srgbClr val="003366"/>
                </a:solidFill>
                <a:latin typeface="Arial" pitchFamily="34" charset="0"/>
              </a:rPr>
              <a:t>ST Strategies</a:t>
            </a:r>
          </a:p>
          <a:p>
            <a:pPr marL="342900" indent="-342900">
              <a:spcBef>
                <a:spcPct val="40000"/>
              </a:spcBef>
              <a:buClr>
                <a:srgbClr val="000066"/>
              </a:buClr>
              <a:buFontTx/>
              <a:buChar char="•"/>
            </a:pPr>
            <a:r>
              <a:rPr lang="en-US" sz="3200" b="1" i="1">
                <a:solidFill>
                  <a:srgbClr val="333300"/>
                </a:solidFill>
                <a:latin typeface="Arial" pitchFamily="34" charset="0"/>
              </a:rPr>
              <a:t>Mitigation Strategies, firm possesses internal strengths that facilitates neutralization of external threats, may lead to temporary advantage if competitors are impacted by environmental threats.</a:t>
            </a:r>
            <a:endParaRPr lang="en-US" sz="3200" b="1" i="1">
              <a:solidFill>
                <a:srgbClr val="1C1C1C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67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1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dirty="0"/>
              <a:t>TOWS Matrix</a:t>
            </a:r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auto">
          <a:xfrm>
            <a:off x="59055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marL="342900" indent="-342900" algn="ctr">
              <a:spcBef>
                <a:spcPct val="40000"/>
              </a:spcBef>
              <a:buClr>
                <a:srgbClr val="000066"/>
              </a:buClr>
            </a:pPr>
            <a:r>
              <a:rPr lang="en-US" sz="3200" b="1">
                <a:solidFill>
                  <a:srgbClr val="003366"/>
                </a:solidFill>
                <a:latin typeface="Arial" pitchFamily="34" charset="0"/>
              </a:rPr>
              <a:t>WO Strategies</a:t>
            </a:r>
          </a:p>
          <a:p>
            <a:pPr marL="342900" indent="-342900">
              <a:spcBef>
                <a:spcPct val="40000"/>
              </a:spcBef>
              <a:buClr>
                <a:srgbClr val="000066"/>
              </a:buClr>
              <a:buFontTx/>
              <a:buChar char="•"/>
            </a:pPr>
            <a:r>
              <a:rPr lang="en-US" sz="3200" b="1" i="1">
                <a:solidFill>
                  <a:srgbClr val="1C1C1C"/>
                </a:solidFill>
                <a:latin typeface="Arial" pitchFamily="34" charset="0"/>
              </a:rPr>
              <a:t>Acquisition/Development Strategies, situation where strategies are formulated to acquire or develop new resources/capabilities to take advantage of external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5285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1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1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1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10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4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dirty="0"/>
              <a:t>TOWS Matrix</a:t>
            </a: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59055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/>
          <a:p>
            <a:pPr marL="342900" indent="-342900" algn="ctr">
              <a:spcBef>
                <a:spcPct val="40000"/>
              </a:spcBef>
              <a:buClr>
                <a:srgbClr val="000066"/>
              </a:buClr>
            </a:pPr>
            <a:r>
              <a:rPr lang="en-US" sz="3200" b="1">
                <a:solidFill>
                  <a:srgbClr val="003366"/>
                </a:solidFill>
                <a:latin typeface="Arial" pitchFamily="34" charset="0"/>
              </a:rPr>
              <a:t>WT Strategies</a:t>
            </a:r>
          </a:p>
          <a:p>
            <a:pPr marL="342900" indent="-342900">
              <a:spcBef>
                <a:spcPct val="40000"/>
              </a:spcBef>
              <a:buClr>
                <a:srgbClr val="000066"/>
              </a:buClr>
              <a:buFontTx/>
              <a:buChar char="•"/>
            </a:pPr>
            <a:r>
              <a:rPr lang="en-US" sz="3200" b="1" i="1">
                <a:solidFill>
                  <a:srgbClr val="333300"/>
                </a:solidFill>
                <a:latin typeface="Arial" pitchFamily="34" charset="0"/>
              </a:rPr>
              <a:t>Consolidation/Exit Strategies, if firms can’t find ways to convert weaknesses to strengths via acquisition/development, exit from market is recommended.</a:t>
            </a:r>
            <a:endParaRPr lang="en-US" sz="3200" b="1" i="1">
              <a:solidFill>
                <a:srgbClr val="1C1C1C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53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7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6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noFill/>
        </p:spPr>
        <p:txBody>
          <a:bodyPr lIns="92075" tIns="46038" rIns="92075" bIns="46038" anchor="ctr"/>
          <a:lstStyle/>
          <a:p>
            <a:pPr algn="ctr" eaLnBrk="1" hangingPunct="1"/>
            <a:r>
              <a:rPr lang="en-US" dirty="0"/>
              <a:t>TOWS Matrix</a:t>
            </a:r>
          </a:p>
        </p:txBody>
      </p:sp>
      <p:pic>
        <p:nvPicPr>
          <p:cNvPr id="3075" name="Picture 3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71600"/>
            <a:ext cx="7620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31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274638"/>
            <a:ext cx="6211887" cy="107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Feasibility Analysis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391400" cy="4267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Entrepreneurs do not lack creative ideas,</a:t>
            </a:r>
            <a:br>
              <a:rPr lang="en-US" dirty="0"/>
            </a:br>
            <a:r>
              <a:rPr lang="en-US" dirty="0"/>
              <a:t>but…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Is a particular idea a viable foundation for creating a successful business?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Feasibility study addresses the question: “Should we proceed with this business idea?”</a:t>
            </a:r>
          </a:p>
        </p:txBody>
      </p:sp>
    </p:spTree>
    <p:extLst>
      <p:ext uri="{BB962C8B-B14F-4D97-AF65-F5344CB8AC3E}">
        <p14:creationId xmlns:p14="http://schemas.microsoft.com/office/powerpoint/2010/main" val="1865108366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274638"/>
            <a:ext cx="6211887" cy="107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Feasibility Study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391400" cy="4267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i="1"/>
              <a:t>Not</a:t>
            </a:r>
            <a:r>
              <a:rPr lang="en-US"/>
              <a:t> the same as a business plan.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/>
              <a:t>Serves as a filter, screening out ideas that lack the potential for building a successful business </a:t>
            </a:r>
            <a:r>
              <a:rPr lang="en-US" i="1"/>
              <a:t>before</a:t>
            </a:r>
            <a:r>
              <a:rPr lang="en-US"/>
              <a:t> an entrepreneur commits the necessary resources to building a business plan.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/>
              <a:t>An investigative tool.</a:t>
            </a:r>
          </a:p>
        </p:txBody>
      </p:sp>
      <p:pic>
        <p:nvPicPr>
          <p:cNvPr id="43012" name="Picture 4" descr="j039878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953000"/>
            <a:ext cx="13620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5576373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Oval 2"/>
          <p:cNvSpPr>
            <a:spLocks noChangeArrowheads="1"/>
          </p:cNvSpPr>
          <p:nvPr/>
        </p:nvSpPr>
        <p:spPr bwMode="auto">
          <a:xfrm>
            <a:off x="1600200" y="1600200"/>
            <a:ext cx="3048000" cy="29718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Industry and 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Market Feasibility</a:t>
            </a:r>
          </a:p>
        </p:txBody>
      </p:sp>
      <p:sp>
        <p:nvSpPr>
          <p:cNvPr id="45059" name="Oval 3"/>
          <p:cNvSpPr>
            <a:spLocks noChangeArrowheads="1"/>
          </p:cNvSpPr>
          <p:nvPr/>
        </p:nvSpPr>
        <p:spPr bwMode="auto">
          <a:xfrm>
            <a:off x="4114800" y="1676400"/>
            <a:ext cx="3048000" cy="29718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Product or Service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Feasibility</a:t>
            </a:r>
          </a:p>
          <a:p>
            <a:pPr algn="ctr" eaLnBrk="1" hangingPunct="1"/>
            <a:endParaRPr lang="en-US" sz="1600" b="1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2743200" y="3352800"/>
            <a:ext cx="3048000" cy="29718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Financial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Feasibility</a:t>
            </a:r>
          </a:p>
        </p:txBody>
      </p:sp>
      <p:sp>
        <p:nvSpPr>
          <p:cNvPr id="45061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Elements of a 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91318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Oval 2"/>
          <p:cNvSpPr>
            <a:spLocks noChangeArrowheads="1"/>
          </p:cNvSpPr>
          <p:nvPr/>
        </p:nvSpPr>
        <p:spPr bwMode="auto">
          <a:xfrm>
            <a:off x="1676400" y="1676400"/>
            <a:ext cx="3048000" cy="29718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 dirty="0">
                <a:latin typeface="Arial" pitchFamily="34" charset="0"/>
              </a:rPr>
              <a:t>Industry and </a:t>
            </a:r>
          </a:p>
          <a:p>
            <a:pPr algn="ctr" eaLnBrk="1" hangingPunct="1"/>
            <a:r>
              <a:rPr lang="en-US" sz="1600" b="1" dirty="0">
                <a:latin typeface="Arial" pitchFamily="34" charset="0"/>
              </a:rPr>
              <a:t>Market Feasibility</a:t>
            </a:r>
          </a:p>
        </p:txBody>
      </p:sp>
      <p:sp>
        <p:nvSpPr>
          <p:cNvPr id="74755" name="Oval 3"/>
          <p:cNvSpPr>
            <a:spLocks noChangeArrowheads="1"/>
          </p:cNvSpPr>
          <p:nvPr/>
        </p:nvSpPr>
        <p:spPr bwMode="auto">
          <a:xfrm>
            <a:off x="4114800" y="1676400"/>
            <a:ext cx="3048000" cy="2971800"/>
          </a:xfrm>
          <a:prstGeom prst="ellipse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Product or Service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Feasibility</a:t>
            </a:r>
          </a:p>
          <a:p>
            <a:pPr algn="ctr" eaLnBrk="1" hangingPunct="1"/>
            <a:endParaRPr lang="en-US" sz="1600" b="1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74756" name="Oval 4"/>
          <p:cNvSpPr>
            <a:spLocks noChangeArrowheads="1"/>
          </p:cNvSpPr>
          <p:nvPr/>
        </p:nvSpPr>
        <p:spPr bwMode="auto">
          <a:xfrm>
            <a:off x="2743200" y="3352800"/>
            <a:ext cx="3048000" cy="2971800"/>
          </a:xfrm>
          <a:prstGeom prst="ellipse">
            <a:avLst/>
          </a:prstGeom>
          <a:solidFill>
            <a:schemeClr val="accent3">
              <a:lumMod val="75000"/>
              <a:alpha val="5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Financial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Feasibility</a:t>
            </a:r>
          </a:p>
        </p:txBody>
      </p:sp>
      <p:sp>
        <p:nvSpPr>
          <p:cNvPr id="74757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Elements of a 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960898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274638"/>
            <a:ext cx="6211887" cy="107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Industry and Market Feasibility Analysis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7391400" cy="4267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u="sng"/>
              <a:t>Two areas of focus: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/>
              <a:t>Determining how attractive an industry is overall as a “home” for a new business.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/>
              <a:t>Identifying possible niches a small business can occupy profitably.  </a:t>
            </a:r>
          </a:p>
        </p:txBody>
      </p:sp>
    </p:spTree>
    <p:extLst>
      <p:ext uri="{BB962C8B-B14F-4D97-AF65-F5344CB8AC3E}">
        <p14:creationId xmlns:p14="http://schemas.microsoft.com/office/powerpoint/2010/main" val="336808492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6" descr="030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8875" y="528638"/>
            <a:ext cx="6792913" cy="5976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165100" y="747713"/>
            <a:ext cx="28384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cs typeface="Arial" charset="0"/>
              </a:rPr>
              <a:t>The Five-Forces Model of Competition: A Key Analytical Tool</a:t>
            </a:r>
          </a:p>
        </p:txBody>
      </p:sp>
    </p:spTree>
    <p:extLst>
      <p:ext uri="{BB962C8B-B14F-4D97-AF65-F5344CB8AC3E}">
        <p14:creationId xmlns:p14="http://schemas.microsoft.com/office/powerpoint/2010/main" val="3218879511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Text Box 3"/>
          <p:cNvSpPr txBox="1">
            <a:spLocks noChangeArrowheads="1"/>
          </p:cNvSpPr>
          <p:nvPr/>
        </p:nvSpPr>
        <p:spPr bwMode="auto">
          <a:xfrm>
            <a:off x="685800" y="544395"/>
            <a:ext cx="72167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cs typeface="Arial" charset="0"/>
              </a:rPr>
              <a:t>Factors Affecting the Strength of Rivalry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516F53-A26A-4EF0-B122-7093EB29635B}"/>
              </a:ext>
            </a:extLst>
          </p:cNvPr>
          <p:cNvSpPr txBox="1"/>
          <p:nvPr/>
        </p:nvSpPr>
        <p:spPr>
          <a:xfrm>
            <a:off x="609600" y="1215538"/>
            <a:ext cx="6448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Slow growth in product demand</a:t>
            </a: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Low switching cost</a:t>
            </a:r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Competitors are numerous and of almost same size</a:t>
            </a:r>
            <a:endParaRPr lang="en-US" b="1" dirty="0"/>
          </a:p>
          <a:p>
            <a:pPr lvl="0"/>
            <a:endParaRPr 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xmlns="" id="{20C8637A-0665-41A1-BB09-6515F44F3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67" y="2986457"/>
            <a:ext cx="4343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cs typeface="Arial" charset="0"/>
              </a:rPr>
              <a:t>Factors Affecting the Threat of Entry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4F477C5-E4E7-40EC-A0B3-0E1417B3917D}"/>
              </a:ext>
            </a:extLst>
          </p:cNvPr>
          <p:cNvSpPr/>
          <p:nvPr/>
        </p:nvSpPr>
        <p:spPr>
          <a:xfrm>
            <a:off x="838200" y="36576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/>
              <a:t>Entry </a:t>
            </a:r>
            <a:r>
              <a:rPr lang="en-GB" dirty="0"/>
              <a:t>ease/barriers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GB" dirty="0"/>
              <a:t>Buyers demand is increasing rapidly</a:t>
            </a:r>
            <a:endParaRPr lang="en-US" dirty="0"/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dirty="0"/>
              <a:t>Large pool of potential entrants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xmlns="" id="{D0DD4C18-B877-4F3A-BEDC-8FC2FECEA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46097"/>
            <a:ext cx="5943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Factors Affecting Supplier Power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ECCC383-E793-4694-A4EE-0A447E20BA5D}"/>
              </a:ext>
            </a:extLst>
          </p:cNvPr>
          <p:cNvSpPr txBox="1"/>
          <p:nvPr/>
        </p:nvSpPr>
        <p:spPr>
          <a:xfrm>
            <a:off x="852311" y="5219041"/>
            <a:ext cx="6448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Supplies are in limited supply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No substitute available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High Switching Costs</a:t>
            </a:r>
          </a:p>
        </p:txBody>
      </p:sp>
    </p:spTree>
    <p:extLst>
      <p:ext uri="{BB962C8B-B14F-4D97-AF65-F5344CB8AC3E}">
        <p14:creationId xmlns:p14="http://schemas.microsoft.com/office/powerpoint/2010/main" val="3879318463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xmlns="" id="{DE23BCE4-0D4D-48B5-987D-3713A41AE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09600"/>
            <a:ext cx="5943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Factors Affecting Competition from Substitute Products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AF74896-665A-4CBC-953D-992181387A5C}"/>
              </a:ext>
            </a:extLst>
          </p:cNvPr>
          <p:cNvSpPr txBox="1"/>
          <p:nvPr/>
        </p:nvSpPr>
        <p:spPr>
          <a:xfrm>
            <a:off x="457200" y="1676400"/>
            <a:ext cx="594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substitutes are readily available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Substitutes have better performance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Buyers have low cost of Switching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EA31C3A-7D5A-406C-8E2F-AB1C221EE33D}"/>
              </a:ext>
            </a:extLst>
          </p:cNvPr>
          <p:cNvSpPr/>
          <p:nvPr/>
        </p:nvSpPr>
        <p:spPr>
          <a:xfrm>
            <a:off x="457200" y="3044279"/>
            <a:ext cx="5257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</a:rPr>
              <a:t>Factors Affecting the Bargaining Power of Buyers 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69B0376-D342-454B-A019-681E42FA0FEA}"/>
              </a:ext>
            </a:extLst>
          </p:cNvPr>
          <p:cNvSpPr txBox="1"/>
          <p:nvPr/>
        </p:nvSpPr>
        <p:spPr>
          <a:xfrm>
            <a:off x="457200" y="3886200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Industry Products are standardized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Switching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Buyers are well informed about to quality  and prices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number of buyers</a:t>
            </a:r>
          </a:p>
        </p:txBody>
      </p:sp>
    </p:spTree>
    <p:extLst>
      <p:ext uri="{BB962C8B-B14F-4D97-AF65-F5344CB8AC3E}">
        <p14:creationId xmlns:p14="http://schemas.microsoft.com/office/powerpoint/2010/main" val="2105073371"/>
      </p:ext>
    </p:extLst>
  </p:cSld>
  <p:clrMapOvr>
    <a:masterClrMapping/>
  </p:clrMapOvr>
  <p:transition spd="slow">
    <p:cut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90600" y="274638"/>
            <a:ext cx="7239000" cy="107156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Business Prototyping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696200" cy="4648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/>
              <a:t>Entrepreneurs test their business models on a small scale before committing serious resources to launch a business that might not work.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/>
              <a:t>Recognizes that a business idea is a hypothesis that needs to be tested before taking it full scale.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510" y="5105400"/>
            <a:ext cx="2819400" cy="176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55600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Oval 2"/>
          <p:cNvSpPr>
            <a:spLocks noChangeArrowheads="1"/>
          </p:cNvSpPr>
          <p:nvPr/>
        </p:nvSpPr>
        <p:spPr bwMode="auto">
          <a:xfrm>
            <a:off x="1600200" y="1600200"/>
            <a:ext cx="3048000" cy="29718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dirty="0">
                <a:latin typeface="Arial" pitchFamily="34" charset="0"/>
              </a:rPr>
              <a:t>Industry and </a:t>
            </a:r>
          </a:p>
          <a:p>
            <a:pPr algn="ctr" eaLnBrk="1" hangingPunct="1"/>
            <a:r>
              <a:rPr lang="en-US" sz="1600" dirty="0">
                <a:latin typeface="Arial" pitchFamily="34" charset="0"/>
              </a:rPr>
              <a:t>Market Feasibility</a:t>
            </a:r>
          </a:p>
        </p:txBody>
      </p:sp>
      <p:sp>
        <p:nvSpPr>
          <p:cNvPr id="75779" name="Oval 3"/>
          <p:cNvSpPr>
            <a:spLocks noChangeArrowheads="1"/>
          </p:cNvSpPr>
          <p:nvPr/>
        </p:nvSpPr>
        <p:spPr bwMode="auto">
          <a:xfrm>
            <a:off x="4114800" y="1676400"/>
            <a:ext cx="3048000" cy="2971800"/>
          </a:xfrm>
          <a:prstGeom prst="ellipse">
            <a:avLst/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latin typeface="Arial" pitchFamily="34" charset="0"/>
              </a:rPr>
              <a:t>Product or Service</a:t>
            </a:r>
          </a:p>
          <a:p>
            <a:pPr algn="ctr" eaLnBrk="1" hangingPunct="1"/>
            <a:r>
              <a:rPr lang="en-US" sz="1600" b="1">
                <a:latin typeface="Arial" pitchFamily="34" charset="0"/>
              </a:rPr>
              <a:t>Feasibility</a:t>
            </a:r>
          </a:p>
          <a:p>
            <a:pPr algn="ctr" eaLnBrk="1" hangingPunct="1"/>
            <a:endParaRPr lang="en-US" sz="1600" b="1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75780" name="Oval 4"/>
          <p:cNvSpPr>
            <a:spLocks noChangeArrowheads="1"/>
          </p:cNvSpPr>
          <p:nvPr/>
        </p:nvSpPr>
        <p:spPr bwMode="auto">
          <a:xfrm>
            <a:off x="2743200" y="3352800"/>
            <a:ext cx="3048000" cy="2971800"/>
          </a:xfrm>
          <a:prstGeom prst="ellipse">
            <a:avLst/>
          </a:prstGeom>
          <a:solidFill>
            <a:srgbClr val="FFCC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dirty="0">
                <a:latin typeface="Arial" pitchFamily="34" charset="0"/>
              </a:rPr>
              <a:t>Financial</a:t>
            </a:r>
          </a:p>
          <a:p>
            <a:pPr algn="ctr" eaLnBrk="1" hangingPunct="1"/>
            <a:r>
              <a:rPr lang="en-US" sz="1600" dirty="0">
                <a:latin typeface="Arial" pitchFamily="34" charset="0"/>
              </a:rPr>
              <a:t>Feasibility</a:t>
            </a:r>
          </a:p>
        </p:txBody>
      </p:sp>
      <p:sp>
        <p:nvSpPr>
          <p:cNvPr id="75781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Elements of a 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31615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68475" y="631825"/>
            <a:ext cx="5868988" cy="7762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Product or Service Feasibility Analysis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582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/>
              <a:t>Determines the degree to which a product or service idea appeals to potential customers and identifies the resources necessary to produce it. 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/>
              <a:t>Two questions: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/>
              <a:t>Are customers willing to purchase our good or service?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/>
              <a:t>Can we provide the product or service to customers at a profit?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899" y="5175504"/>
            <a:ext cx="3124200" cy="16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701298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bldLvl="5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68475" y="631825"/>
            <a:ext cx="5868988" cy="7762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Product or Service Feasibility Analysis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582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Primary research – collect data firsthand and analyze it.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Customer surveys and questionnaires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Focus groups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Secondary research – gather data that already has been compiled and analyze it. 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Prototypes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In-home trials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899" y="5175504"/>
            <a:ext cx="3124200" cy="168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40763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bldLvl="5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Oval 2"/>
          <p:cNvSpPr>
            <a:spLocks noChangeArrowheads="1"/>
          </p:cNvSpPr>
          <p:nvPr/>
        </p:nvSpPr>
        <p:spPr bwMode="auto">
          <a:xfrm>
            <a:off x="1600200" y="1600200"/>
            <a:ext cx="3048000" cy="2971800"/>
          </a:xfrm>
          <a:prstGeom prst="ellipse">
            <a:avLst/>
          </a:prstGeom>
          <a:solidFill>
            <a:srgbClr val="FFFF99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Industry and 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Market Feasibility</a:t>
            </a:r>
          </a:p>
        </p:txBody>
      </p:sp>
      <p:sp>
        <p:nvSpPr>
          <p:cNvPr id="76803" name="Oval 3"/>
          <p:cNvSpPr>
            <a:spLocks noChangeArrowheads="1"/>
          </p:cNvSpPr>
          <p:nvPr/>
        </p:nvSpPr>
        <p:spPr bwMode="auto">
          <a:xfrm>
            <a:off x="4114800" y="1676400"/>
            <a:ext cx="3048000" cy="2971800"/>
          </a:xfrm>
          <a:prstGeom prst="ellipse">
            <a:avLst/>
          </a:prstGeom>
          <a:solidFill>
            <a:srgbClr val="CCFFCC">
              <a:alpha val="5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Product or Service</a:t>
            </a:r>
          </a:p>
          <a:p>
            <a:pPr algn="ctr" eaLnBrk="1" hangingPunct="1"/>
            <a:r>
              <a:rPr lang="en-US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Feasibility</a:t>
            </a:r>
          </a:p>
          <a:p>
            <a:pPr algn="ctr" eaLnBrk="1" hangingPunct="1"/>
            <a:endParaRPr lang="en-US" sz="1600" b="1"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</a:endParaRPr>
          </a:p>
        </p:txBody>
      </p:sp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2743200" y="3352800"/>
            <a:ext cx="3048000" cy="2971800"/>
          </a:xfrm>
          <a:prstGeom prst="ellipse">
            <a:avLst/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r>
              <a:rPr lang="en-US" sz="1600" b="1">
                <a:solidFill>
                  <a:schemeClr val="bg2"/>
                </a:solidFill>
                <a:latin typeface="Arial" pitchFamily="34" charset="0"/>
              </a:rPr>
              <a:t>Financial</a:t>
            </a:r>
          </a:p>
          <a:p>
            <a:pPr algn="ctr" eaLnBrk="1" hangingPunct="1"/>
            <a:r>
              <a:rPr lang="en-US" sz="1600" b="1">
                <a:solidFill>
                  <a:schemeClr val="bg2"/>
                </a:solidFill>
                <a:latin typeface="Arial" pitchFamily="34" charset="0"/>
              </a:rPr>
              <a:t>Feasibility</a:t>
            </a:r>
          </a:p>
        </p:txBody>
      </p:sp>
      <p:sp>
        <p:nvSpPr>
          <p:cNvPr id="76805" name="Rectangle 5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Elements of a 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00508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68475" y="631825"/>
            <a:ext cx="5868988" cy="7762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000" dirty="0"/>
              <a:t>Financial Feasibility Analysis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582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/>
              <a:t>Capital requirements – must have an estimate of how much start-up capital is required to launch the business.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/>
              <a:t>Estimated earnings – forecasted income statements.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/>
              <a:t>Return on investment – combining the previous two estimates to determine how much investors can expect their investments to return.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7582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 bldLvl="5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rafting and Executing Strategy 19e">
  <a:themeElements>
    <a:clrScheme name="3_PPT007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16471"/>
      </a:accent2>
      <a:accent3>
        <a:srgbClr val="FFFFFF"/>
      </a:accent3>
      <a:accent4>
        <a:srgbClr val="000000"/>
      </a:accent4>
      <a:accent5>
        <a:srgbClr val="DAEDEF"/>
      </a:accent5>
      <a:accent6>
        <a:srgbClr val="1D5A66"/>
      </a:accent6>
      <a:hlink>
        <a:srgbClr val="009999"/>
      </a:hlink>
      <a:folHlink>
        <a:srgbClr val="99CC00"/>
      </a:folHlink>
    </a:clrScheme>
    <a:fontScheme name="3_PPT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5D5B4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800000"/>
          </a:buClr>
          <a:buSzTx/>
          <a:buFont typeface="Wingdings" pitchFamily="2" charset="2"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E5D5B4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800000"/>
          </a:buClr>
          <a:buSzTx/>
          <a:buFont typeface="Wingdings" pitchFamily="2" charset="2"/>
          <a:buNone/>
          <a:tabLst/>
          <a:defRPr kumimoji="0" lang="en-US" sz="2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PPT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PT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PT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PT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PT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PT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PT007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216471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1D5A66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588</Words>
  <Application>Microsoft Office PowerPoint</Application>
  <PresentationFormat>On-screen Show (4:3)</PresentationFormat>
  <Paragraphs>107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Wingdings 3</vt:lpstr>
      <vt:lpstr>Office Theme</vt:lpstr>
      <vt:lpstr>Crafting and Executing Strategy 19e</vt:lpstr>
      <vt:lpstr>ENTREPRENEURSHIP </vt:lpstr>
      <vt:lpstr>TOWS MATRIX</vt:lpstr>
      <vt:lpstr>TOWS Matrix</vt:lpstr>
      <vt:lpstr>TOWS Matrix</vt:lpstr>
      <vt:lpstr>TOWS Matrix</vt:lpstr>
      <vt:lpstr>TOWS Matrix</vt:lpstr>
      <vt:lpstr>TOWS Matrix</vt:lpstr>
      <vt:lpstr>Feasibility Analysis</vt:lpstr>
      <vt:lpstr>Feasibility Study</vt:lpstr>
      <vt:lpstr>Elements of a Feasibility Analysis</vt:lpstr>
      <vt:lpstr>Elements of a Feasibility Analysis</vt:lpstr>
      <vt:lpstr>Industry and Market Feasibility Analysis</vt:lpstr>
      <vt:lpstr>PowerPoint Presentation</vt:lpstr>
      <vt:lpstr>PowerPoint Presentation</vt:lpstr>
      <vt:lpstr>PowerPoint Presentation</vt:lpstr>
      <vt:lpstr>Business Prototyping</vt:lpstr>
      <vt:lpstr>Elements of a Feasibility Analysis</vt:lpstr>
      <vt:lpstr>Product or Service Feasibility Analysis</vt:lpstr>
      <vt:lpstr>Product or Service Feasibility Analysis</vt:lpstr>
      <vt:lpstr>Elements of a Feasibility Analysis</vt:lpstr>
      <vt:lpstr>Financial Feasibility Analysis</vt:lpstr>
    </vt:vector>
  </TitlesOfParts>
  <Company>MyCompanyName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Rabia Shafaat</cp:lastModifiedBy>
  <cp:revision>87</cp:revision>
  <cp:lastPrinted>2019-04-15T03:16:07Z</cp:lastPrinted>
  <dcterms:created xsi:type="dcterms:W3CDTF">2013-10-03T09:43:12Z</dcterms:created>
  <dcterms:modified xsi:type="dcterms:W3CDTF">2019-07-30T05:42:21Z</dcterms:modified>
</cp:coreProperties>
</file>