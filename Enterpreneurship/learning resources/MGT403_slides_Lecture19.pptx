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61" r:id="rId2"/>
    <p:sldId id="297" r:id="rId3"/>
    <p:sldId id="300" r:id="rId4"/>
    <p:sldId id="348" r:id="rId5"/>
    <p:sldId id="349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8" r:id="rId14"/>
    <p:sldId id="359" r:id="rId15"/>
    <p:sldId id="360" r:id="rId16"/>
    <p:sldId id="334" r:id="rId17"/>
    <p:sldId id="335" r:id="rId18"/>
    <p:sldId id="337" r:id="rId19"/>
    <p:sldId id="33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71" autoAdjust="0"/>
  </p:normalViewPr>
  <p:slideViewPr>
    <p:cSldViewPr>
      <p:cViewPr varScale="1">
        <p:scale>
          <a:sx n="68" d="100"/>
          <a:sy n="68" d="100"/>
        </p:scale>
        <p:origin x="-14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5806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8/30/2020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r>
              <a:rPr lang="en-US">
                <a:latin typeface="Arial" pitchFamily="34" charset="0"/>
              </a:rPr>
              <a:t>Chapter 6: Franchising</a:t>
            </a:r>
          </a:p>
        </p:txBody>
      </p:sp>
      <p:sp>
        <p:nvSpPr>
          <p:cNvPr id="3993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B8E97AE0-DBCF-40CE-B53E-87D7F3C9CD98}" type="slidenum">
              <a:rPr lang="en-US">
                <a:latin typeface="Arial" pitchFamily="34" charset="0"/>
              </a:rPr>
              <a:pPr/>
              <a:t>4</a:t>
            </a:fld>
            <a:endParaRPr lang="en-US">
              <a:latin typeface="Arial" pitchFamily="34" charset="0"/>
            </a:endParaRPr>
          </a:p>
        </p:txBody>
      </p:sp>
      <p:sp>
        <p:nvSpPr>
          <p:cNvPr id="399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6978" y="687050"/>
            <a:ext cx="4544046" cy="3425877"/>
          </a:xfrm>
          <a:ln/>
        </p:spPr>
      </p:sp>
      <p:sp>
        <p:nvSpPr>
          <p:cNvPr id="399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r>
              <a:rPr lang="en-US">
                <a:latin typeface="Arial" pitchFamily="34" charset="0"/>
              </a:rPr>
              <a:t>Chapter 6: Franchising</a:t>
            </a:r>
          </a:p>
        </p:txBody>
      </p:sp>
      <p:sp>
        <p:nvSpPr>
          <p:cNvPr id="409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366BCE53-9D19-4E6A-8DB7-85BC5E5C2E08}" type="slidenum">
              <a:rPr lang="en-US">
                <a:latin typeface="Arial" pitchFamily="34" charset="0"/>
              </a:rPr>
              <a:pPr/>
              <a:t>5</a:t>
            </a:fld>
            <a:endParaRPr lang="en-US">
              <a:latin typeface="Arial" pitchFamily="34" charset="0"/>
            </a:endParaRPr>
          </a:p>
        </p:txBody>
      </p:sp>
      <p:sp>
        <p:nvSpPr>
          <p:cNvPr id="40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6978" y="687050"/>
            <a:ext cx="4544046" cy="3425877"/>
          </a:xfrm>
          <a:ln/>
        </p:spPr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r>
              <a:rPr lang="en-US">
                <a:latin typeface="Arial" pitchFamily="34" charset="0"/>
              </a:rPr>
              <a:t>Chapter 6: Franchising</a:t>
            </a:r>
          </a:p>
        </p:txBody>
      </p:sp>
      <p:sp>
        <p:nvSpPr>
          <p:cNvPr id="4198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9CED98FB-6F15-4D25-A288-E4F76D7168AA}" type="slidenum">
              <a:rPr lang="en-US">
                <a:latin typeface="Arial" pitchFamily="34" charset="0"/>
              </a:rPr>
              <a:pPr/>
              <a:t>6</a:t>
            </a:fld>
            <a:endParaRPr lang="en-US">
              <a:latin typeface="Arial" pitchFamily="34" charset="0"/>
            </a:endParaRPr>
          </a:p>
        </p:txBody>
      </p:sp>
      <p:sp>
        <p:nvSpPr>
          <p:cNvPr id="419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6978" y="687050"/>
            <a:ext cx="4544046" cy="3425877"/>
          </a:xfrm>
          <a:ln/>
        </p:spPr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r>
              <a:rPr lang="en-US">
                <a:latin typeface="Arial" pitchFamily="34" charset="0"/>
              </a:rPr>
              <a:t>Chapter 6: Franchising</a:t>
            </a:r>
          </a:p>
        </p:txBody>
      </p:sp>
      <p:sp>
        <p:nvSpPr>
          <p:cNvPr id="440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75CF96E5-EDDB-454B-BA42-6DF4245CE7B9}" type="slidenum">
              <a:rPr lang="en-US">
                <a:latin typeface="Arial" pitchFamily="34" charset="0"/>
              </a:rPr>
              <a:pPr/>
              <a:t>7</a:t>
            </a:fld>
            <a:endParaRPr lang="en-US">
              <a:latin typeface="Arial" pitchFamily="34" charset="0"/>
            </a:endParaRPr>
          </a:p>
        </p:txBody>
      </p:sp>
      <p:sp>
        <p:nvSpPr>
          <p:cNvPr id="440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5825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r>
              <a:rPr lang="en-US">
                <a:latin typeface="Arial" pitchFamily="34" charset="0"/>
              </a:rPr>
              <a:t>Chapter 6: Franchising</a:t>
            </a:r>
          </a:p>
        </p:txBody>
      </p:sp>
      <p:sp>
        <p:nvSpPr>
          <p:cNvPr id="4505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B3DA3BD4-A940-464A-BD56-1ED0360A51B0}" type="slidenum">
              <a:rPr lang="en-US">
                <a:latin typeface="Arial" pitchFamily="34" charset="0"/>
              </a:rPr>
              <a:pPr/>
              <a:t>8</a:t>
            </a:fld>
            <a:endParaRPr lang="en-US">
              <a:latin typeface="Arial" pitchFamily="34" charset="0"/>
            </a:endParaRPr>
          </a:p>
        </p:txBody>
      </p:sp>
      <p:sp>
        <p:nvSpPr>
          <p:cNvPr id="450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687388"/>
            <a:ext cx="4565650" cy="3425825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r>
              <a:rPr lang="en-US">
                <a:latin typeface="Arial" pitchFamily="34" charset="0"/>
              </a:rPr>
              <a:t>Chapter 6: Franchising</a:t>
            </a:r>
          </a:p>
        </p:txBody>
      </p:sp>
      <p:sp>
        <p:nvSpPr>
          <p:cNvPr id="460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itchFamily="18" charset="0"/>
              </a:defRPr>
            </a:lvl1pPr>
            <a:lvl2pPr marL="742909" indent="-285734">
              <a:defRPr>
                <a:solidFill>
                  <a:schemeClr val="tx1"/>
                </a:solidFill>
                <a:latin typeface="Garamond" pitchFamily="18" charset="0"/>
              </a:defRPr>
            </a:lvl2pPr>
            <a:lvl3pPr marL="1142937" indent="-228587">
              <a:defRPr>
                <a:solidFill>
                  <a:schemeClr val="tx1"/>
                </a:solidFill>
                <a:latin typeface="Garamond" pitchFamily="18" charset="0"/>
              </a:defRPr>
            </a:lvl3pPr>
            <a:lvl4pPr marL="1600112" indent="-228587">
              <a:defRPr>
                <a:solidFill>
                  <a:schemeClr val="tx1"/>
                </a:solidFill>
                <a:latin typeface="Garamond" pitchFamily="18" charset="0"/>
              </a:defRPr>
            </a:lvl4pPr>
            <a:lvl5pPr marL="2057287" indent="-228587">
              <a:defRPr>
                <a:solidFill>
                  <a:schemeClr val="tx1"/>
                </a:solidFill>
                <a:latin typeface="Garamond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7pPr>
            <a:lvl8pPr marL="3428810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itchFamily="18" charset="0"/>
              </a:defRPr>
            </a:lvl9pPr>
          </a:lstStyle>
          <a:p>
            <a:fld id="{06589FE4-A2E4-486F-AB12-92FE537381B8}" type="slidenum">
              <a:rPr lang="en-US">
                <a:latin typeface="Arial" pitchFamily="34" charset="0"/>
              </a:rPr>
              <a:pPr/>
              <a:t>9</a:t>
            </a:fld>
            <a:endParaRPr lang="en-US">
              <a:latin typeface="Arial" pitchFamily="34" charset="0"/>
            </a:endParaRPr>
          </a:p>
        </p:txBody>
      </p:sp>
      <p:sp>
        <p:nvSpPr>
          <p:cNvPr id="460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6978" y="687050"/>
            <a:ext cx="4544046" cy="3425877"/>
          </a:xfrm>
          <a:ln/>
        </p:spPr>
      </p:sp>
      <p:sp>
        <p:nvSpPr>
          <p:cNvPr id="460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DABF-9E7B-4A73-A870-A1DF3978D7B2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11: Financial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1D37A-0A85-4FA5-8AE6-344EB1C3DC69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11: Financial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DF41-47AF-442A-805C-3F025E3CEFB3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11: Financial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BFC1C-56B0-45F6-B770-D43701CE1F47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11: Financial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1B376-0F42-457A-B19C-058AE60A27D0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11: Financial Plan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649F7-8D8B-43B8-AEB2-87B1A5B0687A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11: Financial Plan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F0E8F-BF7C-4EDC-8BD1-97577F5B35A7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11: Financial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70F8-22FD-4C7B-9B0F-10F67CCC4C7E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11: Financial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6317-A52E-4D31-89A9-A87175CEEE51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11: Financial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0188-47FE-460B-B764-DDE4361C339C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11: Financial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2A73C-EE1D-4A66-A792-1B4CE4642FF1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11: Financial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41067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624F48-404E-4DD8-A8FD-8DA1DB1ED3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6: Franchising</a:t>
            </a:r>
          </a:p>
        </p:txBody>
      </p:sp>
    </p:spTree>
    <p:extLst>
      <p:ext uri="{BB962C8B-B14F-4D97-AF65-F5344CB8AC3E}">
        <p14:creationId xmlns="" xmlns:p14="http://schemas.microsoft.com/office/powerpoint/2010/main" val="86753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F318F-435C-468B-84B3-AEAC56F15FAB}" type="datetime1">
              <a:rPr lang="en-US" smtClean="0"/>
              <a:pPr/>
              <a:t>8/30/2020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11: Financial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itle 4"/>
          <p:cNvSpPr>
            <a:spLocks noGrp="1"/>
          </p:cNvSpPr>
          <p:nvPr>
            <p:ph type="ctrTitle"/>
          </p:nvPr>
        </p:nvSpPr>
        <p:spPr>
          <a:xfrm>
            <a:off x="1439863" y="990600"/>
            <a:ext cx="6272212" cy="1817688"/>
          </a:xfrm>
        </p:spPr>
        <p:txBody>
          <a:bodyPr/>
          <a:lstStyle/>
          <a:p>
            <a:r>
              <a:rPr lang="en-US" sz="4000" dirty="0" smtClean="0">
                <a:latin typeface="Candara" pitchFamily="34" charset="0"/>
              </a:rPr>
              <a:t>MGT403</a:t>
            </a:r>
            <a:r>
              <a:rPr lang="en-US" sz="4000" dirty="0" smtClean="0">
                <a:latin typeface="Candara" pitchFamily="34" charset="0"/>
              </a:rPr>
              <a:t/>
            </a:r>
            <a:br>
              <a:rPr lang="en-US" sz="4000" dirty="0" smtClean="0">
                <a:latin typeface="Candara" pitchFamily="34" charset="0"/>
              </a:rPr>
            </a:br>
            <a:r>
              <a:rPr lang="en-US" sz="4000" dirty="0" err="1" smtClean="0">
                <a:latin typeface="Candara" pitchFamily="34" charset="0"/>
              </a:rPr>
              <a:t>Enterpreneurship</a:t>
            </a:r>
            <a:endParaRPr lang="en-US" sz="4000" dirty="0" smtClean="0">
              <a:latin typeface="Candara" pitchFamily="34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38200" y="3209925"/>
            <a:ext cx="7391400" cy="1528763"/>
          </a:xfrm>
        </p:spPr>
        <p:txBody>
          <a:bodyPr>
            <a:noAutofit/>
          </a:bodyPr>
          <a:lstStyle/>
          <a:p>
            <a:pPr>
              <a:buFont typeface="Arial" charset="0"/>
              <a:buNone/>
              <a:defRPr/>
            </a:pPr>
            <a:r>
              <a:rPr lang="en-US" dirty="0">
                <a:latin typeface="Candara" panose="020E0502030303020204" pitchFamily="34" charset="0"/>
              </a:rPr>
              <a:t>Lecture </a:t>
            </a:r>
            <a:r>
              <a:rPr lang="en-US" dirty="0" smtClean="0">
                <a:latin typeface="Candara" panose="020E0502030303020204" pitchFamily="34" charset="0"/>
              </a:rPr>
              <a:t># 19</a:t>
            </a:r>
            <a:endParaRPr lang="en-US" dirty="0">
              <a:latin typeface="Candara" panose="020E0502030303020204" pitchFamily="34" charset="0"/>
            </a:endParaRPr>
          </a:p>
          <a:p>
            <a:pPr>
              <a:buFont typeface="Arial" charset="0"/>
              <a:buNone/>
              <a:defRPr/>
            </a:pPr>
            <a:r>
              <a:rPr lang="en-US" dirty="0" smtClean="0">
                <a:latin typeface="Candara" panose="020E0502030303020204" pitchFamily="34" charset="0"/>
              </a:rPr>
              <a:t>Franchising and Financial Reporting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EC7F6-85E0-47CD-9342-52691E1D77B1}" type="slidenum">
              <a:rPr lang="en-US" smtClean="0">
                <a:latin typeface="Candara" panose="020E0502030303020204" pitchFamily="34" charset="0"/>
              </a:rPr>
              <a:pPr>
                <a:defRPr/>
              </a:pPr>
              <a:t>1</a:t>
            </a:fld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031" name="Subtitle 5"/>
          <p:cNvSpPr txBox="1">
            <a:spLocks/>
          </p:cNvSpPr>
          <p:nvPr/>
        </p:nvSpPr>
        <p:spPr bwMode="auto">
          <a:xfrm>
            <a:off x="4092575" y="5181600"/>
            <a:ext cx="5432425" cy="101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defTabSz="685800">
              <a:lnSpc>
                <a:spcPct val="112000"/>
              </a:lnSpc>
              <a:buFont typeface="Franklin Gothic Book" pitchFamily="34" charset="0"/>
              <a:buNone/>
            </a:pPr>
            <a:r>
              <a:rPr lang="en-US" sz="3000" b="1" dirty="0" smtClean="0">
                <a:solidFill>
                  <a:schemeClr val="tx2"/>
                </a:solidFill>
                <a:latin typeface="Candara" pitchFamily="34" charset="0"/>
              </a:rPr>
              <a:t>Sir. </a:t>
            </a:r>
            <a:r>
              <a:rPr lang="en-US" sz="3000" b="1" dirty="0" err="1" smtClean="0">
                <a:solidFill>
                  <a:schemeClr val="tx2"/>
                </a:solidFill>
                <a:latin typeface="Candara" pitchFamily="34" charset="0"/>
              </a:rPr>
              <a:t>Malik</a:t>
            </a:r>
            <a:r>
              <a:rPr lang="en-US" sz="3000" b="1" dirty="0" smtClean="0">
                <a:solidFill>
                  <a:schemeClr val="tx2"/>
                </a:solidFill>
                <a:latin typeface="Candara" pitchFamily="34" charset="0"/>
              </a:rPr>
              <a:t> </a:t>
            </a:r>
            <a:r>
              <a:rPr lang="en-US" sz="3000" b="1" dirty="0" err="1" smtClean="0">
                <a:solidFill>
                  <a:schemeClr val="tx2"/>
                </a:solidFill>
                <a:latin typeface="Candara" pitchFamily="34" charset="0"/>
              </a:rPr>
              <a:t>Jawad</a:t>
            </a:r>
            <a:r>
              <a:rPr lang="en-US" sz="3000" b="1" dirty="0" smtClean="0">
                <a:solidFill>
                  <a:schemeClr val="tx2"/>
                </a:solidFill>
                <a:latin typeface="Candara" pitchFamily="34" charset="0"/>
              </a:rPr>
              <a:t> </a:t>
            </a:r>
            <a:r>
              <a:rPr lang="en-US" sz="3000" b="1" dirty="0" err="1" smtClean="0">
                <a:solidFill>
                  <a:schemeClr val="tx2"/>
                </a:solidFill>
                <a:latin typeface="Candara" pitchFamily="34" charset="0"/>
              </a:rPr>
              <a:t>Saboor</a:t>
            </a:r>
            <a:endParaRPr lang="en-US" sz="3000" b="1" dirty="0">
              <a:solidFill>
                <a:schemeClr val="tx2"/>
              </a:solidFill>
              <a:latin typeface="Candar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6800" y="228600"/>
            <a:ext cx="8229600" cy="1143000"/>
          </a:xfrm>
        </p:spPr>
        <p:txBody>
          <a:bodyPr/>
          <a:lstStyle/>
          <a:p>
            <a:r>
              <a:rPr lang="en-US" dirty="0"/>
              <a:t> Previous Lecture Review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85298"/>
            <a:ext cx="3124104" cy="3038901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206991" y="1626356"/>
            <a:ext cx="8382000" cy="469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r>
              <a:rPr lang="en-US" dirty="0"/>
              <a:t>Define Franchising.</a:t>
            </a:r>
          </a:p>
          <a:p>
            <a:pPr hangingPunct="0"/>
            <a:r>
              <a:rPr lang="en-US" dirty="0"/>
              <a:t>Explain the benefits and the </a:t>
            </a:r>
          </a:p>
          <a:p>
            <a:pPr marL="0" indent="0" hangingPunct="0">
              <a:buNone/>
            </a:pPr>
            <a:r>
              <a:rPr lang="en-US" dirty="0"/>
              <a:t>   drawbacks of buying a franchise.</a:t>
            </a:r>
          </a:p>
          <a:p>
            <a:pPr hangingPunct="0"/>
            <a:r>
              <a:rPr lang="en-US" dirty="0"/>
              <a:t>Discuss the right way to buy a franchise.</a:t>
            </a:r>
          </a:p>
          <a:p>
            <a:pPr hangingPunct="0"/>
            <a:r>
              <a:rPr lang="en-US" dirty="0"/>
              <a:t>Outline the major trends shaping franchising.</a:t>
            </a:r>
          </a:p>
          <a:p>
            <a:pPr marL="0" indent="0" hangingPunct="0">
              <a:buNone/>
            </a:pPr>
            <a:r>
              <a:rPr lang="en-US" dirty="0"/>
              <a:t>		</a:t>
            </a:r>
          </a:p>
        </p:txBody>
      </p:sp>
    </p:spTree>
    <p:extLst>
      <p:ext uri="{BB962C8B-B14F-4D97-AF65-F5344CB8AC3E}">
        <p14:creationId xmlns="" xmlns:p14="http://schemas.microsoft.com/office/powerpoint/2010/main" val="147963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endParaRPr lang="en-US" dirty="0"/>
          </a:p>
          <a:p>
            <a:pPr hangingPunct="0"/>
            <a:r>
              <a:rPr lang="en-US" dirty="0"/>
              <a:t>Myths &amp; Tips about Franchising</a:t>
            </a:r>
          </a:p>
          <a:p>
            <a:pPr hangingPunct="0"/>
            <a:r>
              <a:rPr lang="en-US" dirty="0"/>
              <a:t>Understand the importance of preparing a financial plan.</a:t>
            </a:r>
          </a:p>
          <a:p>
            <a:pPr hangingPunct="0"/>
            <a:r>
              <a:rPr lang="en-US" dirty="0"/>
              <a:t>Projected Financial Statements- Mistakes.</a:t>
            </a:r>
          </a:p>
        </p:txBody>
      </p:sp>
    </p:spTree>
    <p:extLst>
      <p:ext uri="{BB962C8B-B14F-4D97-AF65-F5344CB8AC3E}">
        <p14:creationId xmlns="" xmlns:p14="http://schemas.microsoft.com/office/powerpoint/2010/main" val="4291187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Ten Myths of Franchising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pPr marL="609600" indent="-609600" defTabSz="89217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/>
              <a:t>1. Franchising is the safest way to go into business because franchises never fail.</a:t>
            </a:r>
          </a:p>
          <a:p>
            <a:pPr marL="609600" indent="-609600" defTabSz="89217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/>
              <a:t>2. I’ll be able to open my franchise for less money than the franchiser estimates.  </a:t>
            </a:r>
          </a:p>
          <a:p>
            <a:pPr marL="609600" indent="-609600" defTabSz="89217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/>
              <a:t>3. The bigger the franchise organization, the more successful I’ll be.  </a:t>
            </a:r>
          </a:p>
          <a:p>
            <a:pPr marL="609600" indent="-609600" defTabSz="892175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800" dirty="0"/>
              <a:t>4. I’ll use 80 percent of the franchiser’s business system, but I’ll improve upon it by substituting my experience and know-how.  </a:t>
            </a:r>
          </a:p>
          <a:p>
            <a:pPr marL="609600" indent="-609600" defTabSz="892175" eaLnBrk="1" hangingPunct="1">
              <a:lnSpc>
                <a:spcPct val="90000"/>
              </a:lnSpc>
              <a:defRPr/>
            </a:pP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155" y="5295209"/>
            <a:ext cx="1555845" cy="156279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359" y="1137882"/>
            <a:ext cx="2466975" cy="838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01347658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Ten Myths of Franchising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pPr marL="609600" indent="-609600" defTabSz="892175" eaLnBrk="1" hangingPunct="1">
              <a:buFont typeface="Wingdings" pitchFamily="2" charset="2"/>
              <a:buNone/>
              <a:defRPr/>
            </a:pPr>
            <a:r>
              <a:rPr lang="en-US" sz="2800" dirty="0"/>
              <a:t>5. All franchises are the same.</a:t>
            </a:r>
          </a:p>
          <a:p>
            <a:pPr marL="609600" indent="-609600" defTabSz="892175" eaLnBrk="1" hangingPunct="1">
              <a:buFont typeface="Wingdings" pitchFamily="2" charset="2"/>
              <a:buNone/>
              <a:defRPr/>
            </a:pPr>
            <a:r>
              <a:rPr lang="en-US" sz="2800" dirty="0"/>
              <a:t>6. I don’t have to be a hands-on manager. I can be an absentee owner and still be very successful.    </a:t>
            </a:r>
          </a:p>
          <a:p>
            <a:pPr marL="609600" indent="-609600" defTabSz="892175" eaLnBrk="1" hangingPunct="1">
              <a:buFont typeface="Wingdings" pitchFamily="2" charset="2"/>
              <a:buNone/>
              <a:defRPr/>
            </a:pPr>
            <a:r>
              <a:rPr lang="en-US" sz="2800" dirty="0"/>
              <a:t>7. Anyone can be a satisfied, successful franchise owner.    </a:t>
            </a:r>
          </a:p>
          <a:p>
            <a:pPr marL="609600" indent="-609600" defTabSz="892175" eaLnBrk="1" hangingPunct="1">
              <a:buFont typeface="Wingdings" pitchFamily="2" charset="2"/>
              <a:buNone/>
              <a:defRPr/>
            </a:pPr>
            <a:endParaRPr lang="en-US" sz="2800" dirty="0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3937000" y="1295400"/>
            <a:ext cx="127000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>
              <a:defRPr/>
            </a:pP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ms Rmn" charset="0"/>
              </a:rPr>
              <a:t>(Continued)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4495800"/>
            <a:ext cx="2133600" cy="2143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4435795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Ten Myths of Franchising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pPr marL="609600" indent="-609600" defTabSz="892175" eaLnBrk="1" hangingPunct="1">
              <a:buFont typeface="Wingdings" pitchFamily="2" charset="2"/>
              <a:buNone/>
              <a:defRPr/>
            </a:pPr>
            <a:r>
              <a:rPr lang="en-US" sz="2800" dirty="0"/>
              <a:t>8. Franchising is the cheapest way to get into business for yourself.  </a:t>
            </a:r>
          </a:p>
          <a:p>
            <a:pPr marL="609600" indent="-609600" defTabSz="892175" eaLnBrk="1" hangingPunct="1">
              <a:buFont typeface="Wingdings" pitchFamily="2" charset="2"/>
              <a:buNone/>
              <a:defRPr/>
            </a:pPr>
            <a:r>
              <a:rPr lang="en-US" sz="2800" dirty="0"/>
              <a:t>9. The franchiser will solve my business problems for me; after all, that’s why I pay an ongoing royalty fee.      </a:t>
            </a:r>
          </a:p>
          <a:p>
            <a:pPr marL="609600" indent="-609600" defTabSz="892175" eaLnBrk="1" hangingPunct="1">
              <a:buFont typeface="Wingdings" pitchFamily="2" charset="2"/>
              <a:buNone/>
              <a:defRPr/>
            </a:pPr>
            <a:r>
              <a:rPr lang="en-US" sz="2800" dirty="0"/>
              <a:t>10. Once I open my franchise, I’ll be able to run things the way </a:t>
            </a:r>
            <a:r>
              <a:rPr lang="en-US" sz="2800" i="1" dirty="0"/>
              <a:t>I</a:t>
            </a:r>
            <a:r>
              <a:rPr lang="en-US" sz="2800" dirty="0"/>
              <a:t> want to.      </a:t>
            </a:r>
          </a:p>
          <a:p>
            <a:pPr marL="609600" indent="-609600" defTabSz="892175" eaLnBrk="1" hangingPunct="1">
              <a:buFont typeface="Wingdings" pitchFamily="2" charset="2"/>
              <a:buNone/>
              <a:defRPr/>
            </a:pPr>
            <a:endParaRPr lang="en-US" sz="2800" dirty="0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3937000" y="1295400"/>
            <a:ext cx="127000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>
              <a:defRPr/>
            </a:pP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ms Rmn" charset="0"/>
              </a:rPr>
              <a:t>(Continued)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4714875"/>
            <a:ext cx="2133600" cy="2143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9590990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358775"/>
            <a:ext cx="8077200" cy="936625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eaLnBrk="1" hangingPunct="1">
              <a:defRPr/>
            </a:pPr>
            <a:r>
              <a:rPr lang="en-US" dirty="0"/>
              <a:t>Detecting Dishonest Franchisers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391400" cy="4724400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eaLnBrk="1" hangingPunct="1">
              <a:defRPr/>
            </a:pPr>
            <a:r>
              <a:rPr lang="en-US" sz="2400" dirty="0"/>
              <a:t>Claims that the contract is “standard; no need to read it.”</a:t>
            </a:r>
          </a:p>
          <a:p>
            <a:pPr eaLnBrk="1" hangingPunct="1">
              <a:defRPr/>
            </a:pPr>
            <a:r>
              <a:rPr lang="en-US" sz="2400" dirty="0"/>
              <a:t>Marginally successful prototype or no prototype.</a:t>
            </a:r>
          </a:p>
          <a:p>
            <a:pPr eaLnBrk="1" hangingPunct="1">
              <a:defRPr/>
            </a:pPr>
            <a:r>
              <a:rPr lang="en-US" sz="2400" dirty="0"/>
              <a:t>Poorly prepared operations manual.</a:t>
            </a:r>
          </a:p>
          <a:p>
            <a:pPr eaLnBrk="1" hangingPunct="1">
              <a:defRPr/>
            </a:pPr>
            <a:r>
              <a:rPr lang="en-US" sz="2400" dirty="0"/>
              <a:t>Promises of future earnings with no documentation.</a:t>
            </a:r>
          </a:p>
          <a:p>
            <a:pPr eaLnBrk="1" hangingPunct="1">
              <a:defRPr/>
            </a:pPr>
            <a:r>
              <a:rPr lang="en-US" sz="2400" dirty="0"/>
              <a:t>High franchisee turnover or termination rate.</a:t>
            </a:r>
          </a:p>
          <a:p>
            <a:pPr eaLnBrk="1" hangingPunct="1">
              <a:defRPr/>
            </a:pPr>
            <a:r>
              <a:rPr lang="en-US" sz="2400" dirty="0"/>
              <a:t>Unusual amount of litigation by franchisees.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2400" dirty="0"/>
          </a:p>
        </p:txBody>
      </p:sp>
      <p:graphicFrame>
        <p:nvGraphicFramePr>
          <p:cNvPr id="20486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7162800" y="4724400"/>
          <a:ext cx="1981200" cy="2133600"/>
        </p:xfrm>
        <a:graphic>
          <a:graphicData uri="http://schemas.openxmlformats.org/presentationml/2006/ole">
            <p:oleObj spid="_x0000_s1030" name="GALLERY" r:id="rId4" imgW="68237100" imgH="72266175" progId="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277432853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eaLnBrk="1" hangingPunct="1">
              <a:defRPr/>
            </a:pPr>
            <a:r>
              <a:rPr lang="en-US" dirty="0"/>
              <a:t>Detecting Dishonest Franchisers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05000"/>
            <a:ext cx="8001000" cy="3810000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Attempts to discourage your attorney from evaluating the contract before signing it.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No written documentation.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A high pressure sale. 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“Get rich quick” schemes, promising huge profits with minimal effort.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Reluctance to provide a list of existing franchisees.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Evasive, vague answers to your questions.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886200" y="1371600"/>
            <a:ext cx="1371600" cy="309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>
              <a:defRPr/>
            </a:pPr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ms Rmn" charset="0"/>
              </a:rPr>
              <a:t>(Continued)</a:t>
            </a:r>
          </a:p>
        </p:txBody>
      </p:sp>
      <p:graphicFrame>
        <p:nvGraphicFramePr>
          <p:cNvPr id="21511" name="Object 8">
            <a:hlinkClick r:id="" action="ppaction://ole?verb=0"/>
          </p:cNvPr>
          <p:cNvGraphicFramePr>
            <a:graphicFrameLocks noGrp="1"/>
          </p:cNvGraphicFramePr>
          <p:nvPr>
            <p:ph sz="half" idx="2"/>
          </p:nvPr>
        </p:nvGraphicFramePr>
        <p:xfrm>
          <a:off x="7239000" y="4953000"/>
          <a:ext cx="1905000" cy="1905000"/>
        </p:xfrm>
        <a:graphic>
          <a:graphicData uri="http://schemas.openxmlformats.org/presentationml/2006/ole">
            <p:oleObj spid="_x0000_s2054" name="GALLERY" r:id="rId4" imgW="68237100" imgH="72266175" progId="">
              <p:embed/>
            </p:oleObj>
          </a:graphicData>
        </a:graphic>
      </p:graphicFrame>
    </p:spTree>
    <p:extLst>
      <p:ext uri="{BB962C8B-B14F-4D97-AF65-F5344CB8AC3E}">
        <p14:creationId xmlns="" xmlns:p14="http://schemas.microsoft.com/office/powerpoint/2010/main" val="140402041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i="1" dirty="0"/>
              <a:t>Right</a:t>
            </a:r>
            <a:r>
              <a:rPr lang="en-US" dirty="0"/>
              <a:t> Way to Buy a Franchise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001000" cy="4267200"/>
          </a:xfrm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eaLnBrk="1" hangingPunct="1">
              <a:defRPr/>
            </a:pPr>
            <a:r>
              <a:rPr lang="en-US" sz="2800" dirty="0"/>
              <a:t>Evaluate yourself - What do you like and dislike?</a:t>
            </a:r>
          </a:p>
          <a:p>
            <a:pPr eaLnBrk="1" hangingPunct="1">
              <a:defRPr/>
            </a:pPr>
            <a:r>
              <a:rPr lang="en-US" sz="2800" dirty="0"/>
              <a:t>Research your market.</a:t>
            </a:r>
          </a:p>
          <a:p>
            <a:pPr eaLnBrk="1" hangingPunct="1">
              <a:defRPr/>
            </a:pPr>
            <a:r>
              <a:rPr lang="en-US" sz="2800" dirty="0"/>
              <a:t>Consider your franchise options.</a:t>
            </a:r>
          </a:p>
          <a:p>
            <a:pPr eaLnBrk="1" hangingPunct="1">
              <a:defRPr/>
            </a:pPr>
            <a:r>
              <a:rPr lang="en-US" sz="2800" dirty="0"/>
              <a:t>Talk to existing franchisees.</a:t>
            </a:r>
          </a:p>
          <a:p>
            <a:pPr eaLnBrk="1" hangingPunct="1">
              <a:defRPr/>
            </a:pPr>
            <a:r>
              <a:rPr lang="en-US" sz="2800" dirty="0"/>
              <a:t>Ask the franchiser some tough questions.</a:t>
            </a:r>
          </a:p>
          <a:p>
            <a:pPr eaLnBrk="1" hangingPunct="1">
              <a:defRPr/>
            </a:pPr>
            <a:r>
              <a:rPr lang="en-US" sz="2800" dirty="0"/>
              <a:t>Make your choice.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588" y="2590801"/>
            <a:ext cx="1744811" cy="1752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792320"/>
            <a:ext cx="1467720" cy="206568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1107228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25575" y="384175"/>
            <a:ext cx="6777038" cy="5588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Financial Reporting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609600" y="1406525"/>
            <a:ext cx="7467600" cy="476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900" tIns="46038" rIns="88900" bIns="46038"/>
          <a:lstStyle/>
          <a:p>
            <a:pPr marL="334963" indent="-334963" defTabSz="892175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n"/>
            </a:pPr>
            <a:r>
              <a:rPr lang="en-US" sz="2600" b="1" dirty="0">
                <a:latin typeface="Times New Roman" pitchFamily="18" charset="0"/>
              </a:rPr>
              <a:t>Common mistake among business owners: Failing to collect and analyze basic financial data.</a:t>
            </a:r>
          </a:p>
          <a:p>
            <a:pPr marL="334963" indent="-334963" defTabSz="892175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n"/>
            </a:pPr>
            <a:r>
              <a:rPr lang="en-US" sz="2600" b="1" dirty="0">
                <a:latin typeface="Times New Roman" pitchFamily="18" charset="0"/>
              </a:rPr>
              <a:t>One-third of entrepreneurs run their companies without any kind of financial plan.</a:t>
            </a:r>
          </a:p>
          <a:p>
            <a:pPr marL="334963" indent="-334963" defTabSz="892175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n"/>
            </a:pPr>
            <a:r>
              <a:rPr lang="en-US" sz="2600" b="1" dirty="0">
                <a:latin typeface="Times New Roman" pitchFamily="18" charset="0"/>
              </a:rPr>
              <a:t>Only 11 percent of business owners analyze their companies’ financial statements as part of the managerial planning process.  </a:t>
            </a:r>
          </a:p>
          <a:p>
            <a:pPr marL="334963" indent="-334963" defTabSz="892175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n"/>
            </a:pPr>
            <a:r>
              <a:rPr lang="en-US" sz="2600" b="1" dirty="0">
                <a:latin typeface="Times New Roman" pitchFamily="18" charset="0"/>
              </a:rPr>
              <a:t>Financial planning is essential to running a successful business and is not that difficult!</a:t>
            </a:r>
          </a:p>
        </p:txBody>
      </p:sp>
      <p:pic>
        <p:nvPicPr>
          <p:cNvPr id="6148" name="Picture 4" descr="BS0103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556250"/>
            <a:ext cx="1981200" cy="13017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72379664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25575" y="384175"/>
            <a:ext cx="6777038" cy="5588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Basic Financial Reports</a:t>
            </a: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457200" y="1406525"/>
            <a:ext cx="8153400" cy="476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900" tIns="46038" rIns="88900" bIns="46038"/>
          <a:lstStyle/>
          <a:p>
            <a:pPr marL="342900" indent="-342900" defTabSz="892175">
              <a:spcBef>
                <a:spcPct val="20000"/>
              </a:spcBef>
              <a:buClr>
                <a:schemeClr val="tx2"/>
              </a:buClr>
              <a:buSzPct val="75000"/>
              <a:buFont typeface="Arial" pitchFamily="34" charset="0"/>
              <a:buChar char="•"/>
            </a:pPr>
            <a:r>
              <a:rPr lang="en-US" sz="2400" u="sng" dirty="0">
                <a:latin typeface="Times New Roman" pitchFamily="18" charset="0"/>
              </a:rPr>
              <a:t>Balance Sheet</a:t>
            </a:r>
            <a:r>
              <a:rPr lang="en-US" sz="2400" dirty="0">
                <a:latin typeface="Times New Roman" pitchFamily="18" charset="0"/>
              </a:rPr>
              <a:t> – “Snapshot.”  Estimates the firm’s worth on a given date; built on the accounting equation: </a:t>
            </a:r>
            <a:br>
              <a:rPr lang="en-US" sz="2400" dirty="0">
                <a:latin typeface="Times New Roman" pitchFamily="18" charset="0"/>
              </a:rPr>
            </a:br>
            <a:r>
              <a:rPr lang="en-US" sz="2400" dirty="0">
                <a:latin typeface="Times New Roman" pitchFamily="18" charset="0"/>
              </a:rPr>
              <a:t>        Assets  =  Liabilities  +  Owner’s Equity</a:t>
            </a:r>
          </a:p>
          <a:p>
            <a:pPr marL="342900" indent="-342900" defTabSz="892175">
              <a:spcBef>
                <a:spcPct val="20000"/>
              </a:spcBef>
              <a:buClr>
                <a:schemeClr val="tx2"/>
              </a:buClr>
              <a:buSzPct val="75000"/>
              <a:buFont typeface="Arial" pitchFamily="34" charset="0"/>
              <a:buChar char="•"/>
            </a:pPr>
            <a:endParaRPr lang="en-US" sz="2400" dirty="0">
              <a:latin typeface="Times New Roman" pitchFamily="18" charset="0"/>
            </a:endParaRPr>
          </a:p>
          <a:p>
            <a:pPr marL="342900" indent="-342900" defTabSz="892175">
              <a:spcBef>
                <a:spcPct val="20000"/>
              </a:spcBef>
              <a:buClr>
                <a:schemeClr val="tx2"/>
              </a:buClr>
              <a:buSzPct val="75000"/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</a:rPr>
              <a:t>Assets: Items of value owned or controlled by the business that contributes towards generating revenue.</a:t>
            </a:r>
          </a:p>
          <a:p>
            <a:pPr marL="342900" indent="-342900" defTabSz="892175">
              <a:spcBef>
                <a:spcPct val="20000"/>
              </a:spcBef>
              <a:buClr>
                <a:schemeClr val="tx2"/>
              </a:buClr>
              <a:buSzPct val="75000"/>
              <a:buFont typeface="Arial" pitchFamily="34" charset="0"/>
              <a:buChar char="•"/>
            </a:pPr>
            <a:endParaRPr lang="en-US" sz="2400" dirty="0">
              <a:latin typeface="Times New Roman" pitchFamily="18" charset="0"/>
            </a:endParaRPr>
          </a:p>
          <a:p>
            <a:pPr marL="342900" indent="-342900" defTabSz="892175">
              <a:spcBef>
                <a:spcPct val="20000"/>
              </a:spcBef>
              <a:buClr>
                <a:schemeClr val="tx2"/>
              </a:buClr>
              <a:buSzPct val="75000"/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</a:rPr>
              <a:t>Liabilities: Liabilities are the financial obligations or debts of the business and include claims that creditors.</a:t>
            </a:r>
          </a:p>
          <a:p>
            <a:pPr marL="342900" indent="-342900" defTabSz="892175">
              <a:spcBef>
                <a:spcPct val="20000"/>
              </a:spcBef>
              <a:buClr>
                <a:schemeClr val="tx2"/>
              </a:buClr>
              <a:buSzPct val="75000"/>
              <a:buFont typeface="Arial" pitchFamily="34" charset="0"/>
              <a:buChar char="•"/>
            </a:pPr>
            <a:r>
              <a:rPr lang="en-US" sz="2400" dirty="0">
                <a:latin typeface="Times New Roman" pitchFamily="18" charset="0"/>
              </a:rPr>
              <a:t>Capital: Equity includes the initial and ongoing capital investments made by the owners, retained earnings</a:t>
            </a:r>
          </a:p>
          <a:p>
            <a:pPr defTabSz="892175">
              <a:spcBef>
                <a:spcPct val="20000"/>
              </a:spcBef>
              <a:buClr>
                <a:schemeClr val="tx2"/>
              </a:buClr>
              <a:buSzPct val="75000"/>
            </a:pPr>
            <a:r>
              <a:rPr lang="en-US" sz="2400" dirty="0">
                <a:latin typeface="Times New Roman" pitchFamily="18" charset="0"/>
              </a:rPr>
              <a:t>     (or accumulated losses), and reserves.  </a:t>
            </a:r>
          </a:p>
        </p:txBody>
      </p:sp>
      <p:pic>
        <p:nvPicPr>
          <p:cNvPr id="99332" name="Picture 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5013325"/>
            <a:ext cx="16764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94670932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9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uiExpand="1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25575" y="384175"/>
            <a:ext cx="6777038" cy="5588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Basic Financial Reports</a:t>
            </a: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457200" y="1406525"/>
            <a:ext cx="8153400" cy="476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900" tIns="46038" rIns="88900" bIns="46038"/>
          <a:lstStyle/>
          <a:p>
            <a:pPr marL="334963" indent="-334963" defTabSz="892175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US" sz="2400" u="sng" dirty="0">
                <a:latin typeface="Times New Roman" pitchFamily="18" charset="0"/>
              </a:rPr>
              <a:t>Income Statement</a:t>
            </a:r>
            <a:r>
              <a:rPr lang="en-US" sz="2400" dirty="0">
                <a:latin typeface="Times New Roman" pitchFamily="18" charset="0"/>
              </a:rPr>
              <a:t> – “Moving picture.”  Compares the firm’s expenses against its revenue over a period of time to show its net income (or loss):</a:t>
            </a:r>
            <a:br>
              <a:rPr lang="en-US" sz="2400" dirty="0">
                <a:latin typeface="Times New Roman" pitchFamily="18" charset="0"/>
              </a:rPr>
            </a:br>
            <a:r>
              <a:rPr lang="en-US" sz="2400" dirty="0">
                <a:latin typeface="Times New Roman" pitchFamily="18" charset="0"/>
              </a:rPr>
              <a:t>           Net Income  =  Sales Revenue  -  Expenses</a:t>
            </a:r>
          </a:p>
          <a:p>
            <a:pPr marL="334963" indent="-334963" defTabSz="892175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endParaRPr lang="en-US" sz="2400" dirty="0">
              <a:latin typeface="Times New Roman" pitchFamily="18" charset="0"/>
            </a:endParaRPr>
          </a:p>
          <a:p>
            <a:pPr marL="334963" indent="-334963" defTabSz="892175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US" sz="2400" dirty="0">
                <a:latin typeface="Times New Roman" pitchFamily="18" charset="0"/>
              </a:rPr>
              <a:t>Revenue</a:t>
            </a:r>
          </a:p>
          <a:p>
            <a:pPr marL="334963" indent="-334963" defTabSz="892175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endParaRPr lang="en-US" sz="2400" dirty="0">
              <a:latin typeface="Times New Roman" pitchFamily="18" charset="0"/>
            </a:endParaRPr>
          </a:p>
          <a:p>
            <a:pPr marL="334963" indent="-334963" defTabSz="892175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US" sz="2400" dirty="0">
                <a:latin typeface="Times New Roman" pitchFamily="18" charset="0"/>
              </a:rPr>
              <a:t>Expenses</a:t>
            </a:r>
          </a:p>
          <a:p>
            <a:pPr defTabSz="892175">
              <a:spcBef>
                <a:spcPct val="20000"/>
              </a:spcBef>
              <a:buClr>
                <a:schemeClr val="tx2"/>
              </a:buClr>
              <a:buSzPct val="75000"/>
            </a:pPr>
            <a:endParaRPr lang="en-US" sz="2400" dirty="0">
              <a:latin typeface="Times New Roman" pitchFamily="18" charset="0"/>
            </a:endParaRPr>
          </a:p>
        </p:txBody>
      </p:sp>
      <p:pic>
        <p:nvPicPr>
          <p:cNvPr id="99332" name="Picture 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5013325"/>
            <a:ext cx="16764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02533469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uiExpand="1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384175"/>
            <a:ext cx="8305800" cy="60642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sz="4000" dirty="0"/>
              <a:t>Projected Financial Statements- Mistakes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1379" name="Rectangle 3"/>
          <p:cNvSpPr>
            <a:spLocks noChangeArrowheads="1"/>
          </p:cNvSpPr>
          <p:nvPr/>
        </p:nvSpPr>
        <p:spPr bwMode="auto">
          <a:xfrm>
            <a:off x="609600" y="1406525"/>
            <a:ext cx="7467600" cy="476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900" tIns="46038" rIns="88900" bIns="46038"/>
          <a:lstStyle/>
          <a:p>
            <a:pPr marL="334963" indent="-334963" defTabSz="892175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n"/>
            </a:pPr>
            <a:endParaRPr lang="en-US" sz="2600" b="1" dirty="0">
              <a:latin typeface="Times New Roman" pitchFamily="18" charset="0"/>
            </a:endParaRPr>
          </a:p>
        </p:txBody>
      </p:sp>
      <p:pic>
        <p:nvPicPr>
          <p:cNvPr id="101381" name="Picture 5" descr="j03970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4725988"/>
            <a:ext cx="1716088" cy="17097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95400" y="1219200"/>
            <a:ext cx="7620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600" dirty="0"/>
              <a:t>Stating “These are Conservative”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600" dirty="0"/>
              <a:t>No Assumptions Listed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3600" dirty="0"/>
              <a:t>No Scenario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3673677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384175"/>
            <a:ext cx="8305800" cy="60642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sz="4000" dirty="0"/>
              <a:t>Projected Financial Statements- Mistakes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1379" name="Rectangle 3"/>
          <p:cNvSpPr>
            <a:spLocks noChangeArrowheads="1"/>
          </p:cNvSpPr>
          <p:nvPr/>
        </p:nvSpPr>
        <p:spPr bwMode="auto">
          <a:xfrm>
            <a:off x="609600" y="1406525"/>
            <a:ext cx="7467600" cy="476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900" tIns="46038" rIns="88900" bIns="46038"/>
          <a:lstStyle/>
          <a:p>
            <a:pPr marL="334963" indent="-334963" defTabSz="892175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n"/>
            </a:pPr>
            <a:endParaRPr lang="en-US" sz="2600" b="1" dirty="0">
              <a:latin typeface="Times New Roman" pitchFamily="18" charset="0"/>
            </a:endParaRPr>
          </a:p>
        </p:txBody>
      </p:sp>
      <p:pic>
        <p:nvPicPr>
          <p:cNvPr id="101381" name="Picture 5" descr="j03970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953000"/>
            <a:ext cx="1716088" cy="17097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95400" y="1219200"/>
            <a:ext cx="7620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3600" dirty="0"/>
              <a:t>Assumptions Not Based on Data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/>
              <a:t>No Written Explanation 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/>
              <a:t>No Bad Debt Expense 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3600" dirty="0"/>
              <a:t>Excluding Loan Payments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3643233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384175"/>
            <a:ext cx="8305800" cy="60642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sz="4000" dirty="0"/>
              <a:t>Projected Financial Statements- Mistakes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01379" name="Rectangle 3"/>
          <p:cNvSpPr>
            <a:spLocks noChangeArrowheads="1"/>
          </p:cNvSpPr>
          <p:nvPr/>
        </p:nvSpPr>
        <p:spPr bwMode="auto">
          <a:xfrm>
            <a:off x="609600" y="1406525"/>
            <a:ext cx="7467600" cy="476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900" tIns="46038" rIns="88900" bIns="46038"/>
          <a:lstStyle/>
          <a:p>
            <a:pPr marL="334963" indent="-334963" defTabSz="892175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n"/>
            </a:pPr>
            <a:endParaRPr lang="en-US" sz="2600" b="1" dirty="0">
              <a:latin typeface="Times New Roman" pitchFamily="18" charset="0"/>
            </a:endParaRPr>
          </a:p>
        </p:txBody>
      </p:sp>
      <p:pic>
        <p:nvPicPr>
          <p:cNvPr id="101381" name="Picture 5" descr="j03970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953000"/>
            <a:ext cx="1716088" cy="17097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40566" y="990600"/>
            <a:ext cx="76200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4000" dirty="0"/>
              <a:t>Excluding Taxes 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40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4000" dirty="0"/>
              <a:t>Excluding Depreciation 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40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4000" dirty="0"/>
              <a:t>No Breakeven Analysis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4000" dirty="0"/>
          </a:p>
          <a:p>
            <a:pPr marL="571500" indent="-571500">
              <a:buFont typeface="Arial" pitchFamily="34" charset="0"/>
              <a:buChar char="•"/>
            </a:pPr>
            <a:r>
              <a:rPr lang="en-US" sz="4000" dirty="0"/>
              <a:t>Excluding Founder Salary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85553177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100012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Breakeven Analysis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5720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lnSpcReduction="10000"/>
          </a:bodyPr>
          <a:lstStyle/>
          <a:p>
            <a:r>
              <a:rPr lang="en-US" sz="2900" dirty="0"/>
              <a:t>The breakeven point is the level of operation at which a business neither earns a profit nor incurs a loss.  </a:t>
            </a:r>
          </a:p>
          <a:p>
            <a:r>
              <a:rPr lang="en-US" sz="2900" dirty="0"/>
              <a:t>It is a useful planning tool because it shows entrepreneurs minimum level of activity required to stay in business.</a:t>
            </a:r>
          </a:p>
          <a:p>
            <a:r>
              <a:rPr lang="en-US" sz="2900" dirty="0"/>
              <a:t>With one change in the breakeven calculation, an entrepreneur can also determine the sales volume required to reach a particular profit target.</a:t>
            </a:r>
          </a:p>
        </p:txBody>
      </p:sp>
    </p:spTree>
    <p:extLst>
      <p:ext uri="{BB962C8B-B14F-4D97-AF65-F5344CB8AC3E}">
        <p14:creationId xmlns="" xmlns:p14="http://schemas.microsoft.com/office/powerpoint/2010/main" val="29002943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19200" y="385763"/>
            <a:ext cx="7315200" cy="595312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Calculating the Breakeven Point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001000" cy="2344738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sz="2400" u="sng" dirty="0">
                <a:latin typeface="Tms Rmn" charset="0"/>
              </a:rPr>
              <a:t>Step 1</a:t>
            </a:r>
            <a:r>
              <a:rPr lang="en-US" sz="2400" dirty="0">
                <a:latin typeface="Tms Rmn" charset="0"/>
              </a:rPr>
              <a:t>. Determine the expenses the business can expect to incur.</a:t>
            </a:r>
          </a:p>
          <a:p>
            <a:pPr>
              <a:buFont typeface="Wingdings" pitchFamily="2" charset="2"/>
              <a:buNone/>
            </a:pPr>
            <a:r>
              <a:rPr lang="en-US" sz="2400" u="sng" dirty="0">
                <a:latin typeface="Tms Rmn" charset="0"/>
              </a:rPr>
              <a:t>Step 2</a:t>
            </a:r>
            <a:r>
              <a:rPr lang="en-US" sz="2400" dirty="0">
                <a:latin typeface="Tms Rmn" charset="0"/>
              </a:rPr>
              <a:t>. Categorize the expenses in step 1 into fixed expenses and variable expenses.</a:t>
            </a:r>
          </a:p>
          <a:p>
            <a:pPr>
              <a:buFont typeface="Wingdings" pitchFamily="2" charset="2"/>
              <a:buNone/>
            </a:pPr>
            <a:r>
              <a:rPr lang="en-US" sz="2400" u="sng" dirty="0">
                <a:latin typeface="Tms Rmn" charset="0"/>
              </a:rPr>
              <a:t>Step 3</a:t>
            </a:r>
            <a:r>
              <a:rPr lang="en-US" sz="2400" dirty="0">
                <a:latin typeface="Tms Rmn" charset="0"/>
              </a:rPr>
              <a:t>. Calculate the ratio of variable expenses to net sales.  Then compute the contribution margin: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990600" y="4267200"/>
            <a:ext cx="2955937" cy="37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/>
            <a:r>
              <a:rPr lang="en-US" sz="2200">
                <a:latin typeface="Tms Rmn" charset="0"/>
              </a:rPr>
              <a:t>Contribution Margin  = 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4225925" y="4197350"/>
            <a:ext cx="577081" cy="37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/>
            <a:r>
              <a:rPr lang="en-US" sz="2200">
                <a:latin typeface="Tms Rmn" charset="0"/>
              </a:rPr>
              <a:t>1  - </a:t>
            </a: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5016500" y="4127500"/>
            <a:ext cx="2422010" cy="37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/>
            <a:r>
              <a:rPr lang="en-US" sz="2200" u="sng">
                <a:latin typeface="Tms Rmn" charset="0"/>
              </a:rPr>
              <a:t>Variable Expenses</a:t>
            </a: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5016500" y="4476750"/>
            <a:ext cx="2489464" cy="37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/>
            <a:r>
              <a:rPr lang="en-US" sz="2200">
                <a:latin typeface="Tms Rmn" charset="0"/>
              </a:rPr>
              <a:t>Net Sales Estimate</a:t>
            </a: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609600" y="4933950"/>
            <a:ext cx="6172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900" tIns="46038" rIns="88900" bIns="46038"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r>
              <a:rPr lang="en-US" sz="2400">
                <a:latin typeface="Tms Rmn" charset="0"/>
              </a:rPr>
              <a:t>Step 4. Compute the breakeven point:</a:t>
            </a: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1376233" y="5597525"/>
            <a:ext cx="2160848" cy="712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algn="ctr" defTabSz="841375"/>
            <a:r>
              <a:rPr lang="en-US" sz="2200">
                <a:latin typeface="Tms Rmn" charset="0"/>
              </a:rPr>
              <a:t>Breakeven Point</a:t>
            </a:r>
          </a:p>
          <a:p>
            <a:pPr algn="ctr" defTabSz="841375"/>
            <a:r>
              <a:rPr lang="en-US" sz="2200">
                <a:latin typeface="Tms Rmn" charset="0"/>
              </a:rPr>
              <a:t>$</a:t>
            </a:r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3722688" y="5667375"/>
            <a:ext cx="333425" cy="37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/>
            <a:r>
              <a:rPr lang="en-US" sz="2200">
                <a:latin typeface="Tms Rmn" charset="0"/>
              </a:rPr>
              <a:t>= </a:t>
            </a:r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4329113" y="5403850"/>
            <a:ext cx="2800960" cy="37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/>
            <a:r>
              <a:rPr lang="en-US" sz="2200" u="sng">
                <a:latin typeface="Tms Rmn" charset="0"/>
              </a:rPr>
              <a:t>    Total Fixed Costs   </a:t>
            </a:r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4368800" y="5737225"/>
            <a:ext cx="2555187" cy="37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/>
            <a:r>
              <a:rPr lang="en-US" sz="2200">
                <a:latin typeface="Tms Rmn" charset="0"/>
              </a:rPr>
              <a:t>Contribution Margin</a:t>
            </a:r>
          </a:p>
        </p:txBody>
      </p:sp>
    </p:spTree>
    <p:extLst>
      <p:ext uri="{BB962C8B-B14F-4D97-AF65-F5344CB8AC3E}">
        <p14:creationId xmlns="" xmlns:p14="http://schemas.microsoft.com/office/powerpoint/2010/main" val="203585313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 autoUpdateAnimBg="0"/>
      <p:bldP spid="18436" grpId="0" build="p" autoUpdateAnimBg="0"/>
      <p:bldP spid="18437" grpId="0" autoUpdateAnimBg="0"/>
      <p:bldP spid="18438" grpId="0" autoUpdateAnimBg="0"/>
      <p:bldP spid="18440" grpId="0" autoUpdateAnimBg="0"/>
      <p:bldP spid="18441" grpId="0" autoUpdateAnimBg="0"/>
      <p:bldP spid="18442" grpId="0" autoUpdateAnimBg="0"/>
      <p:bldP spid="18444" grpId="0" autoUpdateAnimBg="0"/>
      <p:bldP spid="18445" grpId="0" build="p" autoUpdateAnimBg="0" advAuto="0"/>
      <p:bldP spid="18447" grpId="0" build="p" autoUpdateAnimBg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34" name="Line 18"/>
          <p:cNvSpPr>
            <a:spLocks noChangeShapeType="1"/>
          </p:cNvSpPr>
          <p:nvPr/>
        </p:nvSpPr>
        <p:spPr bwMode="auto">
          <a:xfrm flipH="1">
            <a:off x="1447800" y="2590800"/>
            <a:ext cx="4267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2" name="Line 16"/>
          <p:cNvSpPr>
            <a:spLocks noChangeShapeType="1"/>
          </p:cNvSpPr>
          <p:nvPr/>
        </p:nvSpPr>
        <p:spPr bwMode="auto">
          <a:xfrm>
            <a:off x="5715000" y="2590800"/>
            <a:ext cx="0" cy="32004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85812"/>
          </a:xfrm>
        </p:spPr>
        <p:txBody>
          <a:bodyPr/>
          <a:lstStyle/>
          <a:p>
            <a:r>
              <a:rPr lang="en-US" sz="4000" dirty="0"/>
              <a:t>Breakeven Chart</a:t>
            </a:r>
          </a:p>
        </p:txBody>
      </p:sp>
      <p:sp>
        <p:nvSpPr>
          <p:cNvPr id="86019" name="Line 3"/>
          <p:cNvSpPr>
            <a:spLocks noChangeShapeType="1"/>
          </p:cNvSpPr>
          <p:nvPr/>
        </p:nvSpPr>
        <p:spPr bwMode="auto">
          <a:xfrm>
            <a:off x="1447800" y="1295400"/>
            <a:ext cx="0" cy="4495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0" name="Line 4"/>
          <p:cNvSpPr>
            <a:spLocks noChangeShapeType="1"/>
          </p:cNvSpPr>
          <p:nvPr/>
        </p:nvSpPr>
        <p:spPr bwMode="auto">
          <a:xfrm>
            <a:off x="1447800" y="5791200"/>
            <a:ext cx="67056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1" name="Line 5"/>
          <p:cNvSpPr>
            <a:spLocks noChangeShapeType="1"/>
          </p:cNvSpPr>
          <p:nvPr/>
        </p:nvSpPr>
        <p:spPr bwMode="auto">
          <a:xfrm>
            <a:off x="1447800" y="4572000"/>
            <a:ext cx="68580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2" name="Text Box 6"/>
          <p:cNvSpPr txBox="1">
            <a:spLocks noChangeArrowheads="1"/>
          </p:cNvSpPr>
          <p:nvPr/>
        </p:nvSpPr>
        <p:spPr bwMode="auto">
          <a:xfrm>
            <a:off x="6908800" y="5943600"/>
            <a:ext cx="149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Sales Volume</a:t>
            </a:r>
          </a:p>
        </p:txBody>
      </p:sp>
      <p:sp>
        <p:nvSpPr>
          <p:cNvPr id="86023" name="Line 7"/>
          <p:cNvSpPr>
            <a:spLocks noChangeShapeType="1"/>
          </p:cNvSpPr>
          <p:nvPr/>
        </p:nvSpPr>
        <p:spPr bwMode="auto">
          <a:xfrm flipV="1">
            <a:off x="1447800" y="1524000"/>
            <a:ext cx="6781800" cy="30480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7556500" y="1981200"/>
            <a:ext cx="1574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Total Expense</a:t>
            </a:r>
          </a:p>
          <a:p>
            <a:pPr algn="ctr" eaLnBrk="1" hangingPunct="1"/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Line</a:t>
            </a:r>
          </a:p>
        </p:txBody>
      </p:sp>
      <p:sp>
        <p:nvSpPr>
          <p:cNvPr id="86025" name="Line 9"/>
          <p:cNvSpPr>
            <a:spLocks noChangeShapeType="1"/>
          </p:cNvSpPr>
          <p:nvPr/>
        </p:nvSpPr>
        <p:spPr bwMode="auto">
          <a:xfrm flipV="1">
            <a:off x="1447800" y="838200"/>
            <a:ext cx="6705600" cy="4953000"/>
          </a:xfrm>
          <a:prstGeom prst="line">
            <a:avLst/>
          </a:prstGeom>
          <a:noFill/>
          <a:ln w="31750">
            <a:solidFill>
              <a:srgbClr val="99CC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26" name="Text Box 10"/>
          <p:cNvSpPr txBox="1">
            <a:spLocks noChangeArrowheads="1"/>
          </p:cNvSpPr>
          <p:nvPr/>
        </p:nvSpPr>
        <p:spPr bwMode="auto">
          <a:xfrm>
            <a:off x="5638800" y="1219200"/>
            <a:ext cx="1022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Revenue</a:t>
            </a:r>
          </a:p>
          <a:p>
            <a:pPr algn="ctr" eaLnBrk="1" hangingPunct="1"/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Line</a:t>
            </a:r>
          </a:p>
        </p:txBody>
      </p:sp>
      <p:sp>
        <p:nvSpPr>
          <p:cNvPr id="86027" name="Text Box 11"/>
          <p:cNvSpPr txBox="1">
            <a:spLocks noChangeArrowheads="1"/>
          </p:cNvSpPr>
          <p:nvPr/>
        </p:nvSpPr>
        <p:spPr bwMode="auto">
          <a:xfrm>
            <a:off x="7315200" y="3733800"/>
            <a:ext cx="1600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Fixed Expense</a:t>
            </a:r>
          </a:p>
          <a:p>
            <a:pPr algn="ctr" eaLnBrk="1" hangingPunct="1"/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Line</a:t>
            </a:r>
          </a:p>
        </p:txBody>
      </p:sp>
      <p:sp>
        <p:nvSpPr>
          <p:cNvPr id="86028" name="Text Box 12"/>
          <p:cNvSpPr txBox="1">
            <a:spLocks noChangeArrowheads="1"/>
          </p:cNvSpPr>
          <p:nvPr/>
        </p:nvSpPr>
        <p:spPr bwMode="auto">
          <a:xfrm rot="-5399256">
            <a:off x="-353218" y="4010818"/>
            <a:ext cx="2292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Income and Expenses</a:t>
            </a:r>
          </a:p>
        </p:txBody>
      </p:sp>
      <p:sp>
        <p:nvSpPr>
          <p:cNvPr id="86029" name="Oval 13"/>
          <p:cNvSpPr>
            <a:spLocks noChangeArrowheads="1"/>
          </p:cNvSpPr>
          <p:nvPr/>
        </p:nvSpPr>
        <p:spPr bwMode="auto">
          <a:xfrm>
            <a:off x="5603875" y="2536825"/>
            <a:ext cx="228600" cy="15240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30" name="Text Box 14"/>
          <p:cNvSpPr txBox="1">
            <a:spLocks noChangeArrowheads="1"/>
          </p:cNvSpPr>
          <p:nvPr/>
        </p:nvSpPr>
        <p:spPr bwMode="auto">
          <a:xfrm>
            <a:off x="3153044" y="1676400"/>
            <a:ext cx="18155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Breakeven Point</a:t>
            </a:r>
          </a:p>
        </p:txBody>
      </p:sp>
      <p:sp>
        <p:nvSpPr>
          <p:cNvPr id="86031" name="Line 15"/>
          <p:cNvSpPr>
            <a:spLocks noChangeShapeType="1"/>
          </p:cNvSpPr>
          <p:nvPr/>
        </p:nvSpPr>
        <p:spPr bwMode="auto">
          <a:xfrm>
            <a:off x="4953000" y="2209800"/>
            <a:ext cx="609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6" name="Text Box 20"/>
          <p:cNvSpPr txBox="1">
            <a:spLocks noChangeArrowheads="1"/>
          </p:cNvSpPr>
          <p:nvPr/>
        </p:nvSpPr>
        <p:spPr bwMode="auto">
          <a:xfrm rot="-1833197">
            <a:off x="6869113" y="1536700"/>
            <a:ext cx="1047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1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Profit Area</a:t>
            </a:r>
          </a:p>
        </p:txBody>
      </p:sp>
      <p:sp>
        <p:nvSpPr>
          <p:cNvPr id="86037" name="Text Box 21"/>
          <p:cNvSpPr txBox="1">
            <a:spLocks noChangeArrowheads="1"/>
          </p:cNvSpPr>
          <p:nvPr/>
        </p:nvSpPr>
        <p:spPr bwMode="auto">
          <a:xfrm rot="-1833197">
            <a:off x="3305175" y="3625850"/>
            <a:ext cx="9525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1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Loss Area</a:t>
            </a:r>
          </a:p>
        </p:txBody>
      </p:sp>
      <p:sp>
        <p:nvSpPr>
          <p:cNvPr id="86038" name="Line 22"/>
          <p:cNvSpPr>
            <a:spLocks noChangeShapeType="1"/>
          </p:cNvSpPr>
          <p:nvPr/>
        </p:nvSpPr>
        <p:spPr bwMode="auto">
          <a:xfrm flipH="1" flipV="1">
            <a:off x="8001000" y="1752600"/>
            <a:ext cx="2286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39" name="Line 23"/>
          <p:cNvSpPr>
            <a:spLocks noChangeShapeType="1"/>
          </p:cNvSpPr>
          <p:nvPr/>
        </p:nvSpPr>
        <p:spPr bwMode="auto">
          <a:xfrm>
            <a:off x="6477000" y="1600200"/>
            <a:ext cx="2286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40" name="Line 24"/>
          <p:cNvSpPr>
            <a:spLocks noChangeShapeType="1"/>
          </p:cNvSpPr>
          <p:nvPr/>
        </p:nvSpPr>
        <p:spPr bwMode="auto">
          <a:xfrm flipH="1">
            <a:off x="7543800" y="4114800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042" name="Text Box 26"/>
          <p:cNvSpPr txBox="1">
            <a:spLocks noChangeArrowheads="1"/>
          </p:cNvSpPr>
          <p:nvPr/>
        </p:nvSpPr>
        <p:spPr bwMode="auto">
          <a:xfrm>
            <a:off x="1143000" y="577215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0</a:t>
            </a:r>
          </a:p>
        </p:txBody>
      </p:sp>
    </p:spTree>
    <p:extLst>
      <p:ext uri="{BB962C8B-B14F-4D97-AF65-F5344CB8AC3E}">
        <p14:creationId xmlns="" xmlns:p14="http://schemas.microsoft.com/office/powerpoint/2010/main" val="3056254879"/>
      </p:ext>
    </p:extLst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Review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767" y="152400"/>
            <a:ext cx="2209800" cy="1685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621867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Reference: Essentials of Entrepreneurship &amp; Small Business Management, Zimmer, Scarborough &amp;Wilson, 5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381000" y="1157288"/>
            <a:ext cx="8382000" cy="446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r>
              <a:rPr lang="en-US" dirty="0"/>
              <a:t>Myths &amp; Tips about Franchising</a:t>
            </a:r>
          </a:p>
          <a:p>
            <a:pPr hangingPunct="0"/>
            <a:r>
              <a:rPr lang="en-US" dirty="0"/>
              <a:t>Understand the importance of preparing a financial plan.</a:t>
            </a:r>
          </a:p>
          <a:p>
            <a:pPr hangingPunct="0"/>
            <a:r>
              <a:rPr lang="en-US" dirty="0"/>
              <a:t>Projected Financial Statements- Mistakes.</a:t>
            </a:r>
          </a:p>
          <a:p>
            <a:pPr hangingPunct="0"/>
            <a:r>
              <a:rPr lang="en-US" dirty="0"/>
              <a:t>Understand the basic financial statements through ratio analysis.</a:t>
            </a:r>
          </a:p>
        </p:txBody>
      </p:sp>
    </p:spTree>
    <p:extLst>
      <p:ext uri="{BB962C8B-B14F-4D97-AF65-F5344CB8AC3E}">
        <p14:creationId xmlns="" xmlns:p14="http://schemas.microsoft.com/office/powerpoint/2010/main" val="58136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826</Words>
  <Application>Microsoft Office PowerPoint</Application>
  <PresentationFormat>On-screen Show (4:3)</PresentationFormat>
  <Paragraphs>147</Paragraphs>
  <Slides>19</Slides>
  <Notes>14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Office Theme</vt:lpstr>
      <vt:lpstr>GALLERY</vt:lpstr>
      <vt:lpstr>MGT403 Enterpreneurship</vt:lpstr>
      <vt:lpstr> Previous Lecture Review</vt:lpstr>
      <vt:lpstr>OBJECTIVES</vt:lpstr>
      <vt:lpstr>Ten Myths of Franchising</vt:lpstr>
      <vt:lpstr>Ten Myths of Franchising</vt:lpstr>
      <vt:lpstr>Ten Myths of Franchising</vt:lpstr>
      <vt:lpstr>Detecting Dishonest Franchisers</vt:lpstr>
      <vt:lpstr>Detecting Dishonest Franchisers</vt:lpstr>
      <vt:lpstr>The Right Way to Buy a Franchise</vt:lpstr>
      <vt:lpstr>Financial Reporting</vt:lpstr>
      <vt:lpstr>Basic Financial Reports</vt:lpstr>
      <vt:lpstr>Basic Financial Reports</vt:lpstr>
      <vt:lpstr>Projected Financial Statements- Mistakes </vt:lpstr>
      <vt:lpstr>Projected Financial Statements- Mistakes </vt:lpstr>
      <vt:lpstr>Projected Financial Statements- Mistakes </vt:lpstr>
      <vt:lpstr>Breakeven Analysis</vt:lpstr>
      <vt:lpstr>Calculating the Breakeven Point</vt:lpstr>
      <vt:lpstr>Breakeven Chart</vt:lpstr>
      <vt:lpstr>Lecture Review</vt:lpstr>
    </vt:vector>
  </TitlesOfParts>
  <Company>MyCompanyName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OMER JUTT</cp:lastModifiedBy>
  <cp:revision>181</cp:revision>
  <dcterms:created xsi:type="dcterms:W3CDTF">2013-10-03T09:43:12Z</dcterms:created>
  <dcterms:modified xsi:type="dcterms:W3CDTF">2020-08-30T19:06:01Z</dcterms:modified>
</cp:coreProperties>
</file>