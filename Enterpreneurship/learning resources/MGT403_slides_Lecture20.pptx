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96" r:id="rId2"/>
    <p:sldId id="387" r:id="rId3"/>
    <p:sldId id="386" r:id="rId4"/>
    <p:sldId id="339" r:id="rId5"/>
    <p:sldId id="340" r:id="rId6"/>
    <p:sldId id="341" r:id="rId7"/>
    <p:sldId id="342" r:id="rId8"/>
    <p:sldId id="343" r:id="rId9"/>
    <p:sldId id="344" r:id="rId10"/>
    <p:sldId id="345" r:id="rId11"/>
    <p:sldId id="346" r:id="rId12"/>
    <p:sldId id="347" r:id="rId13"/>
    <p:sldId id="348" r:id="rId14"/>
    <p:sldId id="349" r:id="rId15"/>
    <p:sldId id="350" r:id="rId16"/>
    <p:sldId id="352" r:id="rId17"/>
    <p:sldId id="388" r:id="rId18"/>
    <p:sldId id="353" r:id="rId19"/>
    <p:sldId id="354" r:id="rId20"/>
    <p:sldId id="356" r:id="rId21"/>
    <p:sldId id="357" r:id="rId22"/>
    <p:sldId id="358" r:id="rId23"/>
    <p:sldId id="360" r:id="rId24"/>
    <p:sldId id="362" r:id="rId25"/>
    <p:sldId id="363" r:id="rId26"/>
    <p:sldId id="364" r:id="rId27"/>
    <p:sldId id="370" r:id="rId28"/>
    <p:sldId id="371" r:id="rId29"/>
    <p:sldId id="372" r:id="rId30"/>
    <p:sldId id="373" r:id="rId31"/>
    <p:sldId id="377" r:id="rId32"/>
    <p:sldId id="338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71" autoAdjust="0"/>
  </p:normalViewPr>
  <p:slideViewPr>
    <p:cSldViewPr>
      <p:cViewPr varScale="1">
        <p:scale>
          <a:sx n="45" d="100"/>
          <a:sy n="45" d="100"/>
        </p:scale>
        <p:origin x="54" y="2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2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9-05-06T11:04:45.974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-1 1</inkml:trace>
  <inkml:trace contextRef="#ctx0" brushRef="#br0" timeOffset="384">-1 1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</inkml:traceFormat>
        <inkml:channelProperties>
          <inkml:channelProperty channel="X" name="resolution" value="28.34025" units="1/cm"/>
          <inkml:channelProperty channel="Y" name="resolution" value="28.33948" units="1/cm"/>
        </inkml:channelProperties>
      </inkml:inkSource>
      <inkml:timestamp xml:id="ts0" timeString="2019-05-06T11:04:55.493"/>
    </inkml:context>
    <inkml:brush xml:id="br0">
      <inkml:brushProperty name="width" value="0.05292" units="cm"/>
      <inkml:brushProperty name="height" value="0.05292" units="cm"/>
      <inkml:brushProperty name="fitToCurve" value="1"/>
    </inkml:brush>
  </inkml:definitions>
  <inkml:trace contextRef="#ctx0" brushRef="#br0">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85B88A-C841-402B-B2F9-EDF798484FBC}" type="datetimeFigureOut">
              <a:rPr lang="en-US" smtClean="0"/>
              <a:pPr/>
              <a:t>8/28/2019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E3A5EB-6F79-4447-ABC5-06DD9934805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825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8312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4879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8436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733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7388"/>
            <a:ext cx="4568825" cy="3425825"/>
          </a:xfrm>
          <a:ln cap="flat"/>
        </p:spPr>
      </p:sp>
    </p:spTree>
    <p:extLst>
      <p:ext uri="{BB962C8B-B14F-4D97-AF65-F5344CB8AC3E}">
        <p14:creationId xmlns:p14="http://schemas.microsoft.com/office/powerpoint/2010/main" val="32952563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7388"/>
            <a:ext cx="4568825" cy="3425825"/>
          </a:xfrm>
          <a:ln cap="flat"/>
        </p:spPr>
      </p:sp>
    </p:spTree>
    <p:extLst>
      <p:ext uri="{BB962C8B-B14F-4D97-AF65-F5344CB8AC3E}">
        <p14:creationId xmlns:p14="http://schemas.microsoft.com/office/powerpoint/2010/main" val="14970903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  <p:extLst>
      <p:ext uri="{BB962C8B-B14F-4D97-AF65-F5344CB8AC3E}">
        <p14:creationId xmlns:p14="http://schemas.microsoft.com/office/powerpoint/2010/main" val="14002137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7388"/>
            <a:ext cx="4568825" cy="3425825"/>
          </a:xfrm>
          <a:ln cap="flat"/>
        </p:spPr>
      </p:sp>
    </p:spTree>
    <p:extLst>
      <p:ext uri="{BB962C8B-B14F-4D97-AF65-F5344CB8AC3E}">
        <p14:creationId xmlns:p14="http://schemas.microsoft.com/office/powerpoint/2010/main" val="39994748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7388"/>
            <a:ext cx="4568825" cy="3425825"/>
          </a:xfrm>
          <a:ln cap="flat"/>
        </p:spPr>
      </p:sp>
    </p:spTree>
    <p:extLst>
      <p:ext uri="{BB962C8B-B14F-4D97-AF65-F5344CB8AC3E}">
        <p14:creationId xmlns:p14="http://schemas.microsoft.com/office/powerpoint/2010/main" val="19786148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7388"/>
            <a:ext cx="4568825" cy="3425825"/>
          </a:xfrm>
          <a:ln cap="flat"/>
        </p:spPr>
      </p:sp>
    </p:spTree>
    <p:extLst>
      <p:ext uri="{BB962C8B-B14F-4D97-AF65-F5344CB8AC3E}">
        <p14:creationId xmlns:p14="http://schemas.microsoft.com/office/powerpoint/2010/main" val="10588736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7388"/>
            <a:ext cx="4568825" cy="3425825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  <p:extLst>
      <p:ext uri="{BB962C8B-B14F-4D97-AF65-F5344CB8AC3E}">
        <p14:creationId xmlns:p14="http://schemas.microsoft.com/office/powerpoint/2010/main" val="41577416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7388"/>
            <a:ext cx="4568825" cy="3425825"/>
          </a:xfrm>
          <a:ln cap="flat"/>
        </p:spPr>
      </p:sp>
    </p:spTree>
    <p:extLst>
      <p:ext uri="{BB962C8B-B14F-4D97-AF65-F5344CB8AC3E}">
        <p14:creationId xmlns:p14="http://schemas.microsoft.com/office/powerpoint/2010/main" val="17793916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7388"/>
            <a:ext cx="4568825" cy="3425825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  <p:extLst>
      <p:ext uri="{BB962C8B-B14F-4D97-AF65-F5344CB8AC3E}">
        <p14:creationId xmlns:p14="http://schemas.microsoft.com/office/powerpoint/2010/main" val="18158264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7388"/>
            <a:ext cx="4568825" cy="3425825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  <p:extLst>
      <p:ext uri="{BB962C8B-B14F-4D97-AF65-F5344CB8AC3E}">
        <p14:creationId xmlns:p14="http://schemas.microsoft.com/office/powerpoint/2010/main" val="1747555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9209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5145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682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2899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7388"/>
            <a:ext cx="4568825" cy="3425825"/>
          </a:xfrm>
          <a:ln cap="flat"/>
        </p:spPr>
      </p:sp>
    </p:spTree>
    <p:extLst>
      <p:ext uri="{BB962C8B-B14F-4D97-AF65-F5344CB8AC3E}">
        <p14:creationId xmlns:p14="http://schemas.microsoft.com/office/powerpoint/2010/main" val="37162568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2646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7388"/>
            <a:ext cx="4568825" cy="3425825"/>
          </a:xfrm>
          <a:ln cap="flat"/>
        </p:spPr>
      </p:sp>
    </p:spTree>
    <p:extLst>
      <p:ext uri="{BB962C8B-B14F-4D97-AF65-F5344CB8AC3E}">
        <p14:creationId xmlns:p14="http://schemas.microsoft.com/office/powerpoint/2010/main" val="13365136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7388"/>
            <a:ext cx="4568825" cy="3425825"/>
          </a:xfrm>
          <a:ln cap="flat"/>
        </p:spPr>
      </p:sp>
    </p:spTree>
    <p:extLst>
      <p:ext uri="{BB962C8B-B14F-4D97-AF65-F5344CB8AC3E}">
        <p14:creationId xmlns:p14="http://schemas.microsoft.com/office/powerpoint/2010/main" val="4782450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625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</p:spTree>
    <p:extLst>
      <p:ext uri="{BB962C8B-B14F-4D97-AF65-F5344CB8AC3E}">
        <p14:creationId xmlns:p14="http://schemas.microsoft.com/office/powerpoint/2010/main" val="2093403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5EB59-DF0B-4F91-BDC6-BA6D8DBE8D2D}" type="datetime1">
              <a:rPr lang="en-US" smtClean="0"/>
              <a:pPr/>
              <a:t>8/28/2019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13: Sources of Funds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157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771C3-79D4-46CD-8C47-F1B85473EF0B}" type="datetime1">
              <a:rPr lang="en-US" smtClean="0"/>
              <a:pPr/>
              <a:t>8/28/2019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13: Sources of Funds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092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A27FB-E84E-4CBA-AF78-C240724E3482}" type="datetime1">
              <a:rPr lang="en-US" smtClean="0"/>
              <a:pPr/>
              <a:t>8/28/2019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13: Sources of Funds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462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222F7-3D9B-4375-955A-9A4704241F43}" type="datetime1">
              <a:rPr lang="en-US" smtClean="0"/>
              <a:pPr/>
              <a:t>8/28/2019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13: Sources of Funds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116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A46CD-21DD-4427-9F7F-DCED4EA511FD}" type="datetime1">
              <a:rPr lang="en-US" smtClean="0"/>
              <a:pPr/>
              <a:t>8/28/2019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13: Sources of Funds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893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0B320-C702-438D-8C0A-68455560770B}" type="datetime1">
              <a:rPr lang="en-US" smtClean="0"/>
              <a:pPr/>
              <a:t>8/28/2019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13: Sources of Funds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149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CC12B-1F7A-4D4B-B35E-7300C3DD3D4D}" type="datetime1">
              <a:rPr lang="en-US" smtClean="0"/>
              <a:pPr/>
              <a:t>8/28/2019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13: Sources of Funds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882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A6808-2D28-40CC-B93D-92B8F3830B6A}" type="datetime1">
              <a:rPr lang="en-US" smtClean="0"/>
              <a:pPr/>
              <a:t>8/28/2019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13: Sources of Funds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652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76B8A-3F8B-4E41-9770-FDC5D009BC8D}" type="datetime1">
              <a:rPr lang="en-US" smtClean="0"/>
              <a:pPr/>
              <a:t>8/28/2019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13: Sources of Funds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08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226E6-9098-4996-998F-74ACF465B569}" type="datetime1">
              <a:rPr lang="en-US" smtClean="0"/>
              <a:pPr/>
              <a:t>8/28/2019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13: Sources of Funds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703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F68C9-D029-4500-9050-C02EB2885A2A}" type="datetime1">
              <a:rPr lang="en-US" smtClean="0"/>
              <a:pPr/>
              <a:t>8/28/2019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13: Sources of Funds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067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1F05F-7DF9-4613-939A-5553F8FCA2CB}" type="datetime1">
              <a:rPr lang="en-US" smtClean="0"/>
              <a:pPr/>
              <a:t>8/28/2019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13: Sources of Funds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905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ENTREPRENEURSHIP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000" dirty="0"/>
              <a:t>Lecture No: 20</a:t>
            </a:r>
            <a:endParaRPr lang="en-US" sz="2000" dirty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US" sz="2800" dirty="0"/>
              <a:t>Resource Person:</a:t>
            </a:r>
          </a:p>
          <a:p>
            <a:pPr marL="0" indent="0" algn="ctr">
              <a:buNone/>
            </a:pPr>
            <a:r>
              <a:rPr lang="en-US" sz="3600" dirty="0"/>
              <a:t>Malik </a:t>
            </a:r>
            <a:r>
              <a:rPr lang="en-US" sz="3600" dirty="0" err="1"/>
              <a:t>Jawad</a:t>
            </a:r>
            <a:r>
              <a:rPr lang="en-US" sz="3600" dirty="0"/>
              <a:t> </a:t>
            </a:r>
            <a:r>
              <a:rPr lang="en-US" sz="3600" dirty="0" err="1"/>
              <a:t>Saboor</a:t>
            </a:r>
            <a:endParaRPr lang="en-US" sz="3600" dirty="0"/>
          </a:p>
          <a:p>
            <a:pPr marL="0" indent="0" algn="ctr">
              <a:buNone/>
            </a:pPr>
            <a:r>
              <a:rPr lang="en-US" sz="2000" dirty="0"/>
              <a:t>Assistant Professor</a:t>
            </a:r>
          </a:p>
          <a:p>
            <a:pPr marL="0" indent="0" algn="ctr">
              <a:buNone/>
            </a:pPr>
            <a:r>
              <a:rPr lang="en-US" sz="2000" dirty="0"/>
              <a:t>Department of Management Sciences</a:t>
            </a:r>
          </a:p>
          <a:p>
            <a:pPr marL="0" indent="0" algn="ctr">
              <a:buNone/>
            </a:pPr>
            <a:r>
              <a:rPr lang="en-US" sz="2000" dirty="0"/>
              <a:t>COMSATS University Islamabad.</a:t>
            </a:r>
          </a:p>
          <a:p>
            <a:pPr marL="0" indent="0">
              <a:buNone/>
            </a:pP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026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4598988" y="3429000"/>
              <a:ext cx="1587" cy="1588"/>
            </p14:xfrm>
          </p:contentPart>
        </mc:Choice>
        <mc:Fallback>
          <p:pic>
            <p:nvPicPr>
              <p:cNvPr id="1026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57726" y="3387712"/>
                <a:ext cx="84111" cy="8416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41980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066800" y="228600"/>
            <a:ext cx="8229600" cy="1143000"/>
          </a:xfrm>
        </p:spPr>
        <p:txBody>
          <a:bodyPr/>
          <a:lstStyle/>
          <a:p>
            <a:r>
              <a:rPr lang="en-US" dirty="0"/>
              <a:t> Previous Lecture Review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85298"/>
            <a:ext cx="3124104" cy="3038901"/>
          </a:xfrm>
          <a:prstGeom prst="rect">
            <a:avLst/>
          </a:prstGeom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2275" y="1981200"/>
            <a:ext cx="8382000" cy="446458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defRPr/>
            </a:pPr>
            <a:endParaRPr lang="en-US" dirty="0"/>
          </a:p>
          <a:p>
            <a:pPr hangingPunct="0"/>
            <a:r>
              <a:rPr lang="en-US" dirty="0"/>
              <a:t>Myths &amp; Tips about Franchising</a:t>
            </a:r>
          </a:p>
          <a:p>
            <a:pPr hangingPunct="0"/>
            <a:r>
              <a:rPr lang="en-US" dirty="0"/>
              <a:t>Understand the importance of preparing a financial plan.</a:t>
            </a:r>
          </a:p>
          <a:p>
            <a:pPr hangingPunct="0"/>
            <a:r>
              <a:rPr lang="en-US" dirty="0"/>
              <a:t>Projected Financial Statements- Mistakes.</a:t>
            </a:r>
          </a:p>
          <a:p>
            <a:pPr hangingPunct="0"/>
            <a:r>
              <a:rPr lang="en-US" dirty="0"/>
              <a:t>Understand the basic financial statements through ratio analysis.</a:t>
            </a:r>
          </a:p>
          <a:p>
            <a:pPr hangingPunct="0"/>
            <a:r>
              <a:rPr lang="en-US" dirty="0"/>
              <a:t>Conduct a breakeven analysis for a small company.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050" name="Ink 2"/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5264725" y="14927263"/>
              <a:ext cx="0" cy="0"/>
            </p14:xfrm>
          </p:contentPart>
        </mc:Choice>
        <mc:Fallback>
          <p:pic>
            <p:nvPicPr>
              <p:cNvPr id="2050" name="Ink 2"/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264725" y="14927263"/>
                <a:ext cx="0" cy="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45734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OBJECTIVES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3644" y="31845"/>
            <a:ext cx="2330355" cy="2330355"/>
          </a:xfrm>
          <a:prstGeom prst="rect">
            <a:avLst/>
          </a:prstGeom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152400" y="1295400"/>
            <a:ext cx="8382000" cy="546024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defRPr/>
            </a:pPr>
            <a:endParaRPr lang="en-US" dirty="0"/>
          </a:p>
          <a:p>
            <a:pPr hangingPunct="0"/>
            <a:r>
              <a:rPr lang="en-US" dirty="0"/>
              <a:t>Explain the differences in the three </a:t>
            </a:r>
            <a:r>
              <a:rPr lang="en-US"/>
              <a:t>types of</a:t>
            </a:r>
          </a:p>
          <a:p>
            <a:pPr marL="0" indent="0" hangingPunct="0">
              <a:buNone/>
            </a:pPr>
            <a:r>
              <a:rPr lang="en-US"/>
              <a:t> </a:t>
            </a:r>
            <a:r>
              <a:rPr lang="en-US" dirty="0"/>
              <a:t>capital small businesses require: fixed, working, and growth.</a:t>
            </a:r>
          </a:p>
          <a:p>
            <a:pPr hangingPunct="0"/>
            <a:r>
              <a:rPr lang="en-US" dirty="0"/>
              <a:t>Describe the differences in equity capital and debt capital and the advantages and disadvantages of each.</a:t>
            </a:r>
          </a:p>
          <a:p>
            <a:pPr hangingPunct="0"/>
            <a:r>
              <a:rPr lang="en-US" dirty="0"/>
              <a:t>Describe the various sources of equity capital available to entrepreneurs, including personal savings, friends and relatives, angels, partners, corporations, venture capital, and public stock offerings.</a:t>
            </a:r>
          </a:p>
          <a:p>
            <a:pPr hangingPunct="0"/>
            <a:r>
              <a:rPr lang="en-US" dirty="0"/>
              <a:t>Describe the various sources of debt capital and the advantages and disadvantages of each.</a:t>
            </a:r>
          </a:p>
        </p:txBody>
      </p:sp>
    </p:spTree>
    <p:extLst>
      <p:ext uri="{BB962C8B-B14F-4D97-AF65-F5344CB8AC3E}">
        <p14:creationId xmlns:p14="http://schemas.microsoft.com/office/powerpoint/2010/main" val="3511206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dirty="0"/>
              <a:t>Raising Capital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5334000" cy="32766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Raising capital to launch or expand a business is a challenge.</a:t>
            </a:r>
          </a:p>
          <a:p>
            <a:pPr>
              <a:lnSpc>
                <a:spcPct val="90000"/>
              </a:lnSpc>
            </a:pPr>
            <a:r>
              <a:rPr lang="en-US" dirty="0"/>
              <a:t>Many entrepreneurs are caught in the “credit crunch.”</a:t>
            </a:r>
          </a:p>
        </p:txBody>
      </p:sp>
      <p:pic>
        <p:nvPicPr>
          <p:cNvPr id="6150" name="Picture 6" descr="j039879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362200"/>
            <a:ext cx="2449513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534637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uiExpand="1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Rot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dirty="0"/>
              <a:t>The “Secrets” to Successful Financing</a:t>
            </a:r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8229600" cy="4144963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800" dirty="0"/>
              <a:t>1. Choosing the right sources of capital is a decision that will influence a company for a lifetime.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800" dirty="0"/>
              <a:t>2. The money is out there; the key is knowing where to look.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800" dirty="0"/>
              <a:t>3.  Raising money takes time and effort. 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800" dirty="0"/>
              <a:t>4. Creativity counts.  Entrepreneurs have to be as creative in their searches for capital as they are in developing their business ideas.</a:t>
            </a:r>
          </a:p>
        </p:txBody>
      </p:sp>
    </p:spTree>
    <p:extLst>
      <p:ext uri="{BB962C8B-B14F-4D97-AF65-F5344CB8AC3E}">
        <p14:creationId xmlns:p14="http://schemas.microsoft.com/office/powerpoint/2010/main" val="212501573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8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8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8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8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7" grpId="0" uiExpand="1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Rot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dirty="0"/>
              <a:t>The “Secrets” to Successful Financing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057400"/>
            <a:ext cx="8229600" cy="4068763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800" dirty="0"/>
              <a:t>5. The World Wide Web puts at entrepreneur’s fingertips vast resources of information that can lead to financing.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800" dirty="0"/>
              <a:t>6. Be thoroughly prepared before approaching lenders and investors. 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800" dirty="0"/>
              <a:t>7. Entrepreneurs should not underestimate the importance of making sure that the “chemistry” among themselves, their companies, and their funding sources is a good one.  </a:t>
            </a:r>
          </a:p>
        </p:txBody>
      </p:sp>
    </p:spTree>
    <p:extLst>
      <p:ext uri="{BB962C8B-B14F-4D97-AF65-F5344CB8AC3E}">
        <p14:creationId xmlns:p14="http://schemas.microsoft.com/office/powerpoint/2010/main" val="2168566632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uiExpand="1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Rot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dirty="0"/>
              <a:t>Layered Financing</a:t>
            </a:r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981200"/>
            <a:ext cx="5486400" cy="32766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pPr>
              <a:lnSpc>
                <a:spcPct val="90000"/>
              </a:lnSpc>
            </a:pPr>
            <a:r>
              <a:rPr lang="en-US" dirty="0"/>
              <a:t>Layering – piecing together capital from multiple sources.  </a:t>
            </a:r>
          </a:p>
          <a:p>
            <a:pPr>
              <a:lnSpc>
                <a:spcPct val="90000"/>
              </a:lnSpc>
            </a:pPr>
            <a:r>
              <a:rPr lang="en-US" dirty="0"/>
              <a:t>Entrepreneurs must cast a wide net to capture the financing they need to launch their businesses.</a:t>
            </a:r>
          </a:p>
        </p:txBody>
      </p:sp>
      <p:pic>
        <p:nvPicPr>
          <p:cNvPr id="100357" name="Picture 5" descr="j039876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2057400"/>
            <a:ext cx="2395538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1787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5" grpId="0" uiExpand="1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506538" y="411163"/>
            <a:ext cx="5808662" cy="5588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dirty="0"/>
              <a:t>Three Types of Capital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2286000"/>
            <a:ext cx="7772400" cy="38862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pPr>
              <a:lnSpc>
                <a:spcPct val="90000"/>
              </a:lnSpc>
            </a:pPr>
            <a:r>
              <a:rPr lang="en-US" sz="2800" u="sng" dirty="0"/>
              <a:t>Fixed</a:t>
            </a:r>
            <a:r>
              <a:rPr lang="en-US" sz="2800" dirty="0"/>
              <a:t> - used to purchase the permanent or fixed assets of the business (e.g., buildings, land, equipment, and others).</a:t>
            </a:r>
          </a:p>
          <a:p>
            <a:pPr>
              <a:lnSpc>
                <a:spcPct val="90000"/>
              </a:lnSpc>
            </a:pPr>
            <a:r>
              <a:rPr lang="en-US" sz="2800" u="sng" dirty="0"/>
              <a:t>Working</a:t>
            </a:r>
            <a:r>
              <a:rPr lang="en-US" sz="2800" dirty="0"/>
              <a:t> - used to support the small company's normal short-term operations (e.g., buy inventory, pay bills, wages, or salaries, and others).</a:t>
            </a:r>
          </a:p>
          <a:p>
            <a:pPr>
              <a:lnSpc>
                <a:spcPct val="90000"/>
              </a:lnSpc>
            </a:pPr>
            <a:r>
              <a:rPr lang="en-US" sz="2800" u="sng" dirty="0"/>
              <a:t>Growth</a:t>
            </a:r>
            <a:r>
              <a:rPr lang="en-US" sz="2800" dirty="0"/>
              <a:t> - used to help the small business expand or change its primary direction.</a:t>
            </a:r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801688" y="1371600"/>
            <a:ext cx="7539037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4450" tIns="17463" rIns="44450" bIns="17463">
            <a:spAutoFit/>
          </a:bodyPr>
          <a:lstStyle/>
          <a:p>
            <a:pPr marL="315913" indent="-315913" defTabSz="841375">
              <a:lnSpc>
                <a:spcPct val="114000"/>
              </a:lnSpc>
              <a:spcAft>
                <a:spcPct val="57000"/>
              </a:spcAft>
            </a:pPr>
            <a:r>
              <a:rPr lang="en-US" sz="2800" b="1" i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Capital</a:t>
            </a:r>
            <a:r>
              <a:rPr lang="en-US" sz="28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is any form of wealth employed to produce more wealth for a firm.</a:t>
            </a:r>
          </a:p>
        </p:txBody>
      </p:sp>
    </p:spTree>
    <p:extLst>
      <p:ext uri="{BB962C8B-B14F-4D97-AF65-F5344CB8AC3E}">
        <p14:creationId xmlns:p14="http://schemas.microsoft.com/office/powerpoint/2010/main" val="208662918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uiExpand="1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419350" y="411163"/>
            <a:ext cx="4814888" cy="5588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dirty="0"/>
              <a:t>Equity Capital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6925" y="1524000"/>
            <a:ext cx="7343775" cy="44196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pPr>
              <a:lnSpc>
                <a:spcPct val="90000"/>
              </a:lnSpc>
            </a:pPr>
            <a:r>
              <a:rPr lang="en-US" sz="2800" dirty="0"/>
              <a:t>Represents the personal investment of the owner(s) in the business.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Is called </a:t>
            </a:r>
            <a:r>
              <a:rPr lang="en-US" sz="2800" i="1" dirty="0"/>
              <a:t>risk capital </a:t>
            </a:r>
            <a:r>
              <a:rPr lang="en-US" sz="2800" dirty="0"/>
              <a:t>because investors assume the risk of losing their money if the business fails.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Does </a:t>
            </a:r>
            <a:r>
              <a:rPr lang="en-US" sz="2800" i="1" dirty="0"/>
              <a:t>not</a:t>
            </a:r>
            <a:r>
              <a:rPr lang="en-US" sz="2800" dirty="0"/>
              <a:t> have to be repaid with interest like a loan does.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Means that an entrepreneur must give up some ownership in the company to outside investors.</a:t>
            </a:r>
          </a:p>
        </p:txBody>
      </p:sp>
    </p:spTree>
    <p:extLst>
      <p:ext uri="{BB962C8B-B14F-4D97-AF65-F5344CB8AC3E}">
        <p14:creationId xmlns:p14="http://schemas.microsoft.com/office/powerpoint/2010/main" val="4232041032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uiExpand="1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070100" y="487363"/>
            <a:ext cx="4598988" cy="5588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dirty="0"/>
              <a:t>Debt Capital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9163" y="1577975"/>
            <a:ext cx="6243637" cy="4365625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sz="2800" dirty="0"/>
              <a:t>Must be repaid with interest.</a:t>
            </a:r>
          </a:p>
          <a:p>
            <a:r>
              <a:rPr lang="en-US" sz="2800" dirty="0"/>
              <a:t>Is carried as a liability on the company’s balance sheet.</a:t>
            </a:r>
          </a:p>
          <a:p>
            <a:r>
              <a:rPr lang="en-US" sz="2800" dirty="0"/>
              <a:t>Can be just as difficult to secure as equity financing, even though sources of debt financing are more numerous.</a:t>
            </a:r>
          </a:p>
          <a:p>
            <a:r>
              <a:rPr lang="en-US" sz="2800" dirty="0"/>
              <a:t>Can be expensive, especially for small companies, because of the risk/return tradeoff.</a:t>
            </a:r>
          </a:p>
        </p:txBody>
      </p:sp>
      <p:pic>
        <p:nvPicPr>
          <p:cNvPr id="30725" name="Picture 5" descr="CG1B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381230"/>
            <a:ext cx="2286000" cy="1523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9975638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uiExpand="1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914400" y="533400"/>
            <a:ext cx="7162800" cy="7620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dirty="0"/>
              <a:t>Sources of Equity Financing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pPr>
              <a:lnSpc>
                <a:spcPct val="90000"/>
              </a:lnSpc>
            </a:pPr>
            <a:r>
              <a:rPr lang="en-US" dirty="0"/>
              <a:t>Personal savings</a:t>
            </a:r>
          </a:p>
          <a:p>
            <a:pPr>
              <a:lnSpc>
                <a:spcPct val="90000"/>
              </a:lnSpc>
            </a:pPr>
            <a:r>
              <a:rPr lang="en-US" dirty="0"/>
              <a:t>Friends and family members</a:t>
            </a:r>
          </a:p>
          <a:p>
            <a:pPr>
              <a:lnSpc>
                <a:spcPct val="90000"/>
              </a:lnSpc>
            </a:pPr>
            <a:r>
              <a:rPr lang="en-US" dirty="0"/>
              <a:t>Angels</a:t>
            </a:r>
          </a:p>
          <a:p>
            <a:pPr>
              <a:lnSpc>
                <a:spcPct val="90000"/>
              </a:lnSpc>
            </a:pPr>
            <a:r>
              <a:rPr lang="en-US" dirty="0"/>
              <a:t>Partners</a:t>
            </a:r>
          </a:p>
          <a:p>
            <a:pPr>
              <a:lnSpc>
                <a:spcPct val="90000"/>
              </a:lnSpc>
            </a:pPr>
            <a:r>
              <a:rPr lang="en-US" dirty="0"/>
              <a:t>Corporations</a:t>
            </a:r>
          </a:p>
          <a:p>
            <a:pPr>
              <a:lnSpc>
                <a:spcPct val="90000"/>
              </a:lnSpc>
            </a:pPr>
            <a:r>
              <a:rPr lang="en-US" dirty="0"/>
              <a:t>Venture capital companies</a:t>
            </a:r>
          </a:p>
          <a:p>
            <a:pPr>
              <a:lnSpc>
                <a:spcPct val="90000"/>
              </a:lnSpc>
            </a:pPr>
            <a:r>
              <a:rPr lang="en-US" dirty="0"/>
              <a:t>Public stock sale</a:t>
            </a:r>
          </a:p>
        </p:txBody>
      </p:sp>
      <p:pic>
        <p:nvPicPr>
          <p:cNvPr id="11270" name="Picture 6" descr="BS01910_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2819400"/>
            <a:ext cx="2514600" cy="2486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0797512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uiExpand="1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627313" y="554038"/>
            <a:ext cx="4284662" cy="5588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dirty="0"/>
              <a:t>Personal Savings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96925" y="1636713"/>
            <a:ext cx="5832475" cy="4002087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pPr>
              <a:lnSpc>
                <a:spcPct val="90000"/>
              </a:lnSpc>
            </a:pPr>
            <a:r>
              <a:rPr lang="en-US" sz="2800" dirty="0"/>
              <a:t>The </a:t>
            </a:r>
            <a:r>
              <a:rPr lang="en-US" sz="2800" i="1" dirty="0"/>
              <a:t>first</a:t>
            </a:r>
            <a:r>
              <a:rPr lang="en-US" sz="2800" dirty="0"/>
              <a:t> place an entrepreneur should look for money. 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The most common source of equity capital for starting a business.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Outside investors and lenders expect entrepreneurs to put some of their own capital into the business </a:t>
            </a:r>
            <a:r>
              <a:rPr lang="en-US" sz="2800" i="1" dirty="0"/>
              <a:t>before</a:t>
            </a:r>
            <a:r>
              <a:rPr lang="en-US" sz="2800" dirty="0"/>
              <a:t> investing theirs.</a:t>
            </a:r>
          </a:p>
        </p:txBody>
      </p:sp>
      <p:pic>
        <p:nvPicPr>
          <p:cNvPr id="13317" name="Picture 5" descr="j030891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4800600"/>
            <a:ext cx="2286000" cy="1516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9794763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uiExpand="1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022350" y="411163"/>
            <a:ext cx="7180263" cy="5588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dirty="0"/>
              <a:t>Friends and Family Members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8363" y="1420813"/>
            <a:ext cx="6446837" cy="4827587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dirty="0"/>
              <a:t>After emptying their own pockets, entrepreneurs should turn to those most likely to invest in the business: friends and family members.</a:t>
            </a:r>
          </a:p>
          <a:p>
            <a:r>
              <a:rPr lang="en-US" dirty="0"/>
              <a:t>Careful!!!  Inherent dangers lurk in family/friendly business deals, </a:t>
            </a:r>
            <a:r>
              <a:rPr lang="en-US" i="1" dirty="0"/>
              <a:t>especially</a:t>
            </a:r>
            <a:r>
              <a:rPr lang="en-US" dirty="0"/>
              <a:t> those that flop.</a:t>
            </a:r>
          </a:p>
        </p:txBody>
      </p:sp>
      <p:pic>
        <p:nvPicPr>
          <p:cNvPr id="15365" name="Picture 5" descr="j0213519"/>
          <p:cNvPicPr>
            <a:picLocks noChangeAspect="1" noChangeArrowheads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4411663"/>
            <a:ext cx="2263775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9756332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uiExpand="1" build="p" bldLvl="5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022350" y="411163"/>
            <a:ext cx="7180263" cy="5588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dirty="0"/>
              <a:t>Friends and Family Members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447800"/>
            <a:ext cx="7848600" cy="4827588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sz="2800" dirty="0"/>
              <a:t>Guidelines for family and friendship financing: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/>
              <a:t>Consider the impact of the investment on everyone involved.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/>
              <a:t>Keep the arrangement “strictly business.”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/>
              <a:t>Settle the details up front.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/>
              <a:t>Never accept more than investors can afford to lose. 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/>
              <a:t>Create a written contract.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/>
              <a:t>Develop a payment schedule that suits both parties.  </a:t>
            </a:r>
          </a:p>
          <a:p>
            <a:pPr lvl="1">
              <a:buFont typeface="Arial" pitchFamily="34" charset="0"/>
              <a:buChar char="•"/>
            </a:pPr>
            <a:r>
              <a:rPr lang="en-US" sz="2400" dirty="0"/>
              <a:t>Have an exit plan.  </a:t>
            </a:r>
          </a:p>
        </p:txBody>
      </p:sp>
      <p:pic>
        <p:nvPicPr>
          <p:cNvPr id="53253" name="Picture 5" descr="j0213519"/>
          <p:cNvPicPr>
            <a:picLocks noChangeAspect="1" noChangeArrowheads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0" y="5494338"/>
            <a:ext cx="1349375" cy="1363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6544597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3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3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3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1" grpId="0" uiExpand="1" build="p" bldLvl="5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209925" y="346075"/>
            <a:ext cx="2724150" cy="5588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dirty="0"/>
              <a:t>Angels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7772400" cy="42672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dirty="0"/>
              <a:t>Private investors who invest in emerging  entrepreneurial companies.</a:t>
            </a:r>
          </a:p>
          <a:p>
            <a:r>
              <a:rPr lang="en-US" dirty="0"/>
              <a:t>Fastest growing segment of the small business capital market. </a:t>
            </a:r>
          </a:p>
          <a:p>
            <a:r>
              <a:rPr lang="en-US" dirty="0"/>
              <a:t>An excellent source of “patient money”</a:t>
            </a:r>
          </a:p>
        </p:txBody>
      </p:sp>
      <p:pic>
        <p:nvPicPr>
          <p:cNvPr id="17414" name="Picture 6" descr="CG13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9813" y="0"/>
            <a:ext cx="1754187" cy="1824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8572028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uiExpand="1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209925" y="346075"/>
            <a:ext cx="2724150" cy="5588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dirty="0"/>
              <a:t>Angels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524000"/>
            <a:ext cx="7772400" cy="46482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pPr>
              <a:lnSpc>
                <a:spcPct val="80000"/>
              </a:lnSpc>
            </a:pPr>
            <a:r>
              <a:rPr lang="en-US" sz="2800" dirty="0"/>
              <a:t>The typical angel:</a:t>
            </a:r>
          </a:p>
          <a:p>
            <a:pPr lvl="1">
              <a:lnSpc>
                <a:spcPct val="80000"/>
              </a:lnSpc>
              <a:buFont typeface="Arial" pitchFamily="34" charset="0"/>
              <a:buChar char="•"/>
            </a:pPr>
            <a:r>
              <a:rPr lang="en-US" sz="2400" dirty="0"/>
              <a:t>Invests in companies at the seed or startup stages.</a:t>
            </a:r>
          </a:p>
          <a:p>
            <a:pPr lvl="1">
              <a:lnSpc>
                <a:spcPct val="80000"/>
              </a:lnSpc>
              <a:buFont typeface="Arial" pitchFamily="34" charset="0"/>
              <a:buChar char="•"/>
            </a:pPr>
            <a:r>
              <a:rPr lang="en-US" sz="2400" dirty="0"/>
              <a:t>Accepts 10 percent of the proposals presented to him.</a:t>
            </a:r>
          </a:p>
          <a:p>
            <a:pPr lvl="1">
              <a:lnSpc>
                <a:spcPct val="80000"/>
              </a:lnSpc>
              <a:buFont typeface="Arial" pitchFamily="34" charset="0"/>
              <a:buChar char="•"/>
            </a:pPr>
            <a:r>
              <a:rPr lang="en-US" sz="2400" dirty="0"/>
              <a:t>Makes an average of two investments every three years.</a:t>
            </a:r>
          </a:p>
          <a:p>
            <a:pPr lvl="1">
              <a:lnSpc>
                <a:spcPct val="80000"/>
              </a:lnSpc>
              <a:buFont typeface="Arial" pitchFamily="34" charset="0"/>
              <a:buChar char="•"/>
            </a:pPr>
            <a:r>
              <a:rPr lang="en-US" sz="2400" dirty="0"/>
              <a:t>Has invested an average of $80,000 in 3.5 businesses. </a:t>
            </a:r>
          </a:p>
          <a:p>
            <a:pPr lvl="1">
              <a:lnSpc>
                <a:spcPct val="80000"/>
              </a:lnSpc>
              <a:buFont typeface="Arial" pitchFamily="34" charset="0"/>
              <a:buChar char="•"/>
            </a:pPr>
            <a:r>
              <a:rPr lang="en-US" sz="2400" dirty="0"/>
              <a:t>90 percent are satisfied with their investments.  </a:t>
            </a:r>
          </a:p>
          <a:p>
            <a:pPr>
              <a:lnSpc>
                <a:spcPct val="80000"/>
              </a:lnSpc>
            </a:pPr>
            <a:r>
              <a:rPr lang="en-US" sz="2800" dirty="0"/>
              <a:t>Key: finding them! </a:t>
            </a:r>
          </a:p>
          <a:p>
            <a:pPr lvl="1">
              <a:lnSpc>
                <a:spcPct val="80000"/>
              </a:lnSpc>
              <a:buFont typeface="Arial" pitchFamily="34" charset="0"/>
              <a:buChar char="•"/>
            </a:pPr>
            <a:r>
              <a:rPr lang="en-US" sz="2400" dirty="0"/>
              <a:t>Network!</a:t>
            </a:r>
          </a:p>
          <a:p>
            <a:pPr lvl="1">
              <a:lnSpc>
                <a:spcPct val="80000"/>
              </a:lnSpc>
              <a:buFont typeface="Arial" pitchFamily="34" charset="0"/>
              <a:buChar char="•"/>
            </a:pPr>
            <a:r>
              <a:rPr lang="en-US" sz="2400" dirty="0"/>
              <a:t>Look nearby, a 50- to 100-mile radius.</a:t>
            </a:r>
          </a:p>
          <a:p>
            <a:pPr lvl="1">
              <a:lnSpc>
                <a:spcPct val="80000"/>
              </a:lnSpc>
              <a:buFont typeface="Arial" pitchFamily="34" charset="0"/>
              <a:buChar char="•"/>
            </a:pPr>
            <a:r>
              <a:rPr lang="en-US" sz="2400" dirty="0"/>
              <a:t>Informal angel “clusters” and networks</a:t>
            </a:r>
          </a:p>
          <a:p>
            <a:pPr lvl="1">
              <a:lnSpc>
                <a:spcPct val="80000"/>
              </a:lnSpc>
              <a:buFont typeface="Arial" pitchFamily="34" charset="0"/>
              <a:buChar char="•"/>
            </a:pPr>
            <a:endParaRPr lang="en-US" sz="2400" dirty="0"/>
          </a:p>
        </p:txBody>
      </p:sp>
      <p:pic>
        <p:nvPicPr>
          <p:cNvPr id="55301" name="Picture 5" descr="bd05248_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3463" y="0"/>
            <a:ext cx="1760537" cy="214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1639440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52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5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52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5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52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9" grpId="0" uiExpand="1" build="p" bldLvl="2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209925" y="346075"/>
            <a:ext cx="2724150" cy="5588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dirty="0"/>
              <a:t>Partners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772400" cy="46482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800" dirty="0"/>
              <a:t>Partner may Brings in: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2800" dirty="0"/>
          </a:p>
          <a:p>
            <a:pPr>
              <a:lnSpc>
                <a:spcPct val="80000"/>
              </a:lnSpc>
            </a:pPr>
            <a:r>
              <a:rPr lang="en-US" sz="2800" dirty="0"/>
              <a:t>Capital</a:t>
            </a:r>
          </a:p>
          <a:p>
            <a:pPr>
              <a:lnSpc>
                <a:spcPct val="80000"/>
              </a:lnSpc>
            </a:pPr>
            <a:endParaRPr lang="en-US" sz="2800" dirty="0"/>
          </a:p>
          <a:p>
            <a:pPr>
              <a:lnSpc>
                <a:spcPct val="80000"/>
              </a:lnSpc>
            </a:pPr>
            <a:r>
              <a:rPr lang="en-US" sz="2800" dirty="0"/>
              <a:t>Expertise</a:t>
            </a:r>
          </a:p>
          <a:p>
            <a:pPr>
              <a:lnSpc>
                <a:spcPct val="80000"/>
              </a:lnSpc>
            </a:pPr>
            <a:endParaRPr lang="en-US" sz="2800" dirty="0"/>
          </a:p>
          <a:p>
            <a:pPr>
              <a:lnSpc>
                <a:spcPct val="80000"/>
              </a:lnSpc>
            </a:pPr>
            <a:r>
              <a:rPr lang="en-US" sz="2800" dirty="0"/>
              <a:t>Complimentary Skills</a:t>
            </a:r>
          </a:p>
          <a:p>
            <a:pPr>
              <a:lnSpc>
                <a:spcPct val="80000"/>
              </a:lnSpc>
            </a:pPr>
            <a:endParaRPr lang="en-US" sz="2800" dirty="0"/>
          </a:p>
          <a:p>
            <a:pPr>
              <a:lnSpc>
                <a:spcPct val="80000"/>
              </a:lnSpc>
            </a:pPr>
            <a:r>
              <a:rPr lang="en-US" sz="2800" dirty="0"/>
              <a:t>General/Sleeping</a:t>
            </a:r>
          </a:p>
          <a:p>
            <a:pPr lvl="1">
              <a:lnSpc>
                <a:spcPct val="80000"/>
              </a:lnSpc>
              <a:buFont typeface="Arial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95398497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52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52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5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9" grpId="0" uiExpand="1" build="p" bldLvl="2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Corporate Venture Capital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percent of all venture capital investments come from corporations.</a:t>
            </a:r>
          </a:p>
          <a:p>
            <a:r>
              <a:rPr lang="en-US" dirty="0"/>
              <a:t>About 300 large corporations across the globe invest in start-up companies.</a:t>
            </a:r>
          </a:p>
          <a:p>
            <a:r>
              <a:rPr lang="en-US" dirty="0"/>
              <a:t>Capital infusions are just one benefit; corporate partners may share marketing and technical expertise.  </a:t>
            </a:r>
          </a:p>
        </p:txBody>
      </p:sp>
    </p:spTree>
    <p:extLst>
      <p:ext uri="{BB962C8B-B14F-4D97-AF65-F5344CB8AC3E}">
        <p14:creationId xmlns:p14="http://schemas.microsoft.com/office/powerpoint/2010/main" val="170027466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47" grpId="0" uiExpand="1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928687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dirty="0"/>
              <a:t>Venture Capital Companies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371600"/>
            <a:ext cx="7696200" cy="48768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dirty="0"/>
              <a:t>Private for Profit Organizations.</a:t>
            </a:r>
          </a:p>
          <a:p>
            <a:endParaRPr lang="en-US" dirty="0"/>
          </a:p>
          <a:p>
            <a:r>
              <a:rPr lang="en-US" dirty="0"/>
              <a:t>Business plans are subjected to an </a:t>
            </a:r>
            <a:r>
              <a:rPr lang="en-US" i="1" dirty="0"/>
              <a:t>extremely</a:t>
            </a:r>
            <a:r>
              <a:rPr lang="en-US" dirty="0"/>
              <a:t> rigorous review - less than 1 percent accepted.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0" y="4038600"/>
            <a:ext cx="2143125" cy="21431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4343400"/>
            <a:ext cx="2200275" cy="207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135038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uiExpand="1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928687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dirty="0"/>
              <a:t>Venture Capital Companies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295400"/>
            <a:ext cx="7772400" cy="49530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pPr>
              <a:lnSpc>
                <a:spcPct val="90000"/>
              </a:lnSpc>
            </a:pPr>
            <a:r>
              <a:rPr lang="en-US" dirty="0"/>
              <a:t>Most venture capitalists take an active role in managing the companies in which they invest.</a:t>
            </a:r>
          </a:p>
          <a:p>
            <a:pPr>
              <a:lnSpc>
                <a:spcPct val="90000"/>
              </a:lnSpc>
            </a:pPr>
            <a:r>
              <a:rPr lang="en-US" dirty="0"/>
              <a:t>Many venture capitalists focus their investments in specific industries with which they are familiar.</a:t>
            </a:r>
          </a:p>
          <a:p>
            <a:pPr>
              <a:lnSpc>
                <a:spcPct val="90000"/>
              </a:lnSpc>
            </a:pPr>
            <a:r>
              <a:rPr lang="en-US" dirty="0"/>
              <a:t>Venture capitalists typically purchase between 20 percent and 40 percent of a company but in some cases will buy 70 percent or more. 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3048000"/>
            <a:ext cx="1071563" cy="1071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967968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6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uiExpand="1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928687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dirty="0"/>
              <a:t>Venture Capital Companies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295400"/>
            <a:ext cx="7772400" cy="49530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pPr>
              <a:lnSpc>
                <a:spcPct val="90000"/>
              </a:lnSpc>
            </a:pPr>
            <a:r>
              <a:rPr lang="en-US" dirty="0"/>
              <a:t>Most often, venture capitalists invest in a company across several stages.</a:t>
            </a:r>
          </a:p>
          <a:p>
            <a:pPr>
              <a:lnSpc>
                <a:spcPct val="90000"/>
              </a:lnSpc>
            </a:pPr>
            <a:r>
              <a:rPr lang="en-US" dirty="0"/>
              <a:t>On average, 98 percent of venture capital goes to: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Early stage investments (companies in the early stages of development).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Expansion stage investments (companies in the rapid growth phase).</a:t>
            </a:r>
          </a:p>
          <a:p>
            <a:pPr>
              <a:lnSpc>
                <a:spcPct val="90000"/>
              </a:lnSpc>
            </a:pPr>
            <a:r>
              <a:rPr lang="en-US" dirty="0"/>
              <a:t>Only 2 percent of venture capital goes to businesses in the startup or seed phase. 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8600" y="5638800"/>
            <a:ext cx="1071563" cy="1071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040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7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9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9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5" grpId="0" uiExpand="1" build="p" bldLvl="2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143000" y="762000"/>
            <a:ext cx="6553200" cy="1209675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sz="4100" dirty="0"/>
              <a:t>What Do Venture Capital</a:t>
            </a:r>
            <a:br>
              <a:rPr lang="en-US" sz="4100" dirty="0"/>
            </a:br>
            <a:r>
              <a:rPr lang="en-US" sz="4100" dirty="0"/>
              <a:t>Companies Look For?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2438400"/>
            <a:ext cx="5646738" cy="3228975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dirty="0"/>
              <a:t>Competent management</a:t>
            </a:r>
          </a:p>
          <a:p>
            <a:r>
              <a:rPr lang="en-US" dirty="0"/>
              <a:t>Competitive edge</a:t>
            </a:r>
          </a:p>
          <a:p>
            <a:r>
              <a:rPr lang="en-US" dirty="0"/>
              <a:t>Growth industry</a:t>
            </a:r>
          </a:p>
          <a:p>
            <a:r>
              <a:rPr lang="en-US" dirty="0"/>
              <a:t>Viable exit strategy</a:t>
            </a:r>
          </a:p>
          <a:p>
            <a:r>
              <a:rPr lang="en-US" dirty="0"/>
              <a:t>Intangibles factors</a:t>
            </a:r>
          </a:p>
        </p:txBody>
      </p:sp>
      <p:pic>
        <p:nvPicPr>
          <p:cNvPr id="20485" name="Picture 5" descr="j014023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733800"/>
            <a:ext cx="2212975" cy="219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8942249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uiExpand="1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Going Public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Initial public offering (IPO) - when a company raises capital by selling shares of its stock to the public for the first time.  </a:t>
            </a:r>
          </a:p>
        </p:txBody>
      </p:sp>
      <p:pic>
        <p:nvPicPr>
          <p:cNvPr id="63492" name="Picture 4" descr="j039929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5053013"/>
            <a:ext cx="2255838" cy="1804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7742356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Successful IPO Candidates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7848600" cy="4114800"/>
          </a:xfrm>
        </p:spPr>
        <p:txBody>
          <a:bodyPr/>
          <a:lstStyle/>
          <a:p>
            <a:r>
              <a:rPr lang="en-US" sz="3000" dirty="0"/>
              <a:t>Consistently high growth rates</a:t>
            </a:r>
          </a:p>
          <a:p>
            <a:r>
              <a:rPr lang="en-US" sz="3000" dirty="0"/>
              <a:t>Strong record of earnings</a:t>
            </a:r>
          </a:p>
          <a:p>
            <a:r>
              <a:rPr lang="en-US" sz="3000" dirty="0"/>
              <a:t>3 to 5 years of audited financial statements that meet or exceed SEC standards</a:t>
            </a:r>
          </a:p>
          <a:p>
            <a:r>
              <a:rPr lang="en-US" sz="3000" dirty="0"/>
              <a:t>Solid position in a rapidly growing industry</a:t>
            </a:r>
          </a:p>
          <a:p>
            <a:r>
              <a:rPr lang="en-US" sz="3000" dirty="0"/>
              <a:t>Sound management team with experience and a strong board of directors</a:t>
            </a:r>
          </a:p>
        </p:txBody>
      </p:sp>
    </p:spTree>
    <p:extLst>
      <p:ext uri="{BB962C8B-B14F-4D97-AF65-F5344CB8AC3E}">
        <p14:creationId xmlns:p14="http://schemas.microsoft.com/office/powerpoint/2010/main" val="4061075655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2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29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29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7" grpId="0" uiExpand="1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28600" y="615950"/>
            <a:ext cx="8382000" cy="555625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dirty="0"/>
              <a:t>Advantages of “Going Public”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6363" y="1643063"/>
            <a:ext cx="6408737" cy="4148137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sz="2800" dirty="0"/>
              <a:t>Ability to raise large amounts of capital</a:t>
            </a:r>
          </a:p>
          <a:p>
            <a:r>
              <a:rPr lang="en-US" sz="2800" dirty="0"/>
              <a:t>Improved corporate image</a:t>
            </a:r>
          </a:p>
          <a:p>
            <a:r>
              <a:rPr lang="en-US" sz="2800" dirty="0"/>
              <a:t>Improved access to future financing</a:t>
            </a:r>
          </a:p>
          <a:p>
            <a:r>
              <a:rPr lang="en-US" sz="2800" dirty="0"/>
              <a:t>Attracting and retaining key employees</a:t>
            </a:r>
          </a:p>
          <a:p>
            <a:r>
              <a:rPr lang="en-US" sz="2800" dirty="0"/>
              <a:t>Using stock for acquisitions</a:t>
            </a:r>
            <a:endParaRPr lang="en-US" sz="2800" dirty="0">
              <a:latin typeface="Monotype Sorts" pitchFamily="2" charset="2"/>
            </a:endParaRPr>
          </a:p>
          <a:p>
            <a:r>
              <a:rPr lang="en-US" sz="2800" dirty="0"/>
              <a:t>Listing on a stock exchange</a:t>
            </a:r>
          </a:p>
        </p:txBody>
      </p:sp>
      <p:pic>
        <p:nvPicPr>
          <p:cNvPr id="22532" name="Picture 4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03" t="20070" r="39325" b="32951"/>
          <a:stretch>
            <a:fillRect/>
          </a:stretch>
        </p:blipFill>
        <p:spPr bwMode="auto">
          <a:xfrm>
            <a:off x="6986588" y="4265613"/>
            <a:ext cx="1395412" cy="1887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0884887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28600" y="615950"/>
            <a:ext cx="8296275" cy="555625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dirty="0"/>
              <a:t>Disadvantages of “Going Public”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58938" y="1801813"/>
            <a:ext cx="5961062" cy="4217987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pPr>
              <a:lnSpc>
                <a:spcPct val="90000"/>
              </a:lnSpc>
            </a:pPr>
            <a:r>
              <a:rPr lang="en-US" sz="2800" dirty="0"/>
              <a:t>Dilution of founder’s ownership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Loss of control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Loss of privacy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Reporting to the SEC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Filing expenses</a:t>
            </a:r>
            <a:endParaRPr lang="en-US" sz="2800" dirty="0">
              <a:latin typeface="Monotype Sorts" pitchFamily="2" charset="2"/>
            </a:endParaRPr>
          </a:p>
          <a:p>
            <a:pPr>
              <a:lnSpc>
                <a:spcPct val="90000"/>
              </a:lnSpc>
            </a:pPr>
            <a:r>
              <a:rPr lang="en-US" sz="2800" dirty="0"/>
              <a:t>Accountability to shareholders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Pressure for short-term performance</a:t>
            </a:r>
          </a:p>
        </p:txBody>
      </p:sp>
      <p:pic>
        <p:nvPicPr>
          <p:cNvPr id="24580" name="Picture 4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21" t="21228" r="40883" b="28886"/>
          <a:stretch>
            <a:fillRect/>
          </a:stretch>
        </p:blipFill>
        <p:spPr bwMode="auto">
          <a:xfrm>
            <a:off x="7310438" y="4424363"/>
            <a:ext cx="1300162" cy="204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71149725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151063" y="493713"/>
            <a:ext cx="5002212" cy="557212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dirty="0"/>
              <a:t>Sources of Debt Capital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2797" y="2743200"/>
            <a:ext cx="6248400" cy="41148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dirty="0"/>
              <a:t>Short-term loans</a:t>
            </a:r>
          </a:p>
          <a:p>
            <a:pPr lvl="1"/>
            <a:r>
              <a:rPr lang="en-US" dirty="0"/>
              <a:t>Commercial loans</a:t>
            </a:r>
          </a:p>
          <a:p>
            <a:pPr lvl="1"/>
            <a:r>
              <a:rPr lang="en-US" dirty="0"/>
              <a:t>Lines of credit</a:t>
            </a:r>
          </a:p>
          <a:p>
            <a:r>
              <a:rPr lang="en-US" dirty="0"/>
              <a:t>Intermediate and long-term loans</a:t>
            </a:r>
          </a:p>
          <a:p>
            <a:pPr lvl="1"/>
            <a:r>
              <a:rPr lang="en-US" dirty="0"/>
              <a:t>Installment loans</a:t>
            </a:r>
          </a:p>
        </p:txBody>
      </p:sp>
      <p:sp>
        <p:nvSpPr>
          <p:cNvPr id="38916" name="Rectangle 4"/>
          <p:cNvSpPr>
            <a:spLocks noChangeArrowheads="1"/>
          </p:cNvSpPr>
          <p:nvPr/>
        </p:nvSpPr>
        <p:spPr bwMode="auto">
          <a:xfrm>
            <a:off x="915988" y="1419225"/>
            <a:ext cx="7618412" cy="125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4450" tIns="17463" rIns="44450" bIns="17463">
            <a:spAutoFit/>
          </a:bodyPr>
          <a:lstStyle/>
          <a:p>
            <a:pPr marL="315913" indent="-315913" defTabSz="841375">
              <a:lnSpc>
                <a:spcPct val="128000"/>
              </a:lnSpc>
              <a:spcAft>
                <a:spcPct val="64000"/>
              </a:spcAft>
            </a:pPr>
            <a:r>
              <a:rPr lang="en-US" sz="2800" dirty="0"/>
              <a:t>Commercial Banks:</a:t>
            </a:r>
            <a:endParaRPr lang="en-US" sz="2800" dirty="0">
              <a:latin typeface="Tms Rmn" charset="0"/>
            </a:endParaRPr>
          </a:p>
          <a:p>
            <a:pPr marL="315913" indent="-315913" defTabSz="841375">
              <a:lnSpc>
                <a:spcPct val="128000"/>
              </a:lnSpc>
              <a:spcAft>
                <a:spcPct val="64000"/>
              </a:spcAft>
            </a:pPr>
            <a:r>
              <a:rPr lang="en-US" sz="2000" dirty="0">
                <a:latin typeface="Tms Rmn" charset="0"/>
              </a:rPr>
              <a:t>...the heart of the financial market for small businesses!</a:t>
            </a:r>
          </a:p>
        </p:txBody>
      </p:sp>
      <p:pic>
        <p:nvPicPr>
          <p:cNvPr id="38920" name="Picture 8" descr="j028101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2514600"/>
            <a:ext cx="1706563" cy="2836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1860674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build="p" bldLvl="5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Six Most Common Reasons Bankers Reject Small Business Loans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057400"/>
            <a:ext cx="8229600" cy="4068763"/>
          </a:xfrm>
        </p:spPr>
        <p:txBody>
          <a:bodyPr/>
          <a:lstStyle/>
          <a:p>
            <a:pPr marL="609600" indent="-609600">
              <a:buFont typeface="Wingdings" pitchFamily="2" charset="2"/>
              <a:buAutoNum type="arabicPeriod"/>
            </a:pPr>
            <a:r>
              <a:rPr lang="en-US" sz="2800" dirty="0"/>
              <a:t>“Our bank doesn’t make small business loans.”  </a:t>
            </a:r>
            <a:br>
              <a:rPr lang="en-US" sz="2800" dirty="0"/>
            </a:br>
            <a:r>
              <a:rPr lang="en-US" sz="2800" u="sng" dirty="0"/>
              <a:t>Cure</a:t>
            </a:r>
            <a:r>
              <a:rPr lang="en-US" sz="2800" dirty="0"/>
              <a:t>: Before applying for a loan, research banks to find out which ones seek the type of loan you need. </a:t>
            </a:r>
          </a:p>
          <a:p>
            <a:pPr marL="609600" indent="-609600">
              <a:buFont typeface="Wingdings" pitchFamily="2" charset="2"/>
              <a:buAutoNum type="arabicPeriod"/>
            </a:pPr>
            <a:r>
              <a:rPr lang="en-US" sz="2800" dirty="0"/>
              <a:t>“I don’t know enough about you or your business.”</a:t>
            </a:r>
            <a:br>
              <a:rPr lang="en-US" sz="2800" dirty="0"/>
            </a:br>
            <a:r>
              <a:rPr lang="en-US" sz="2800" u="sng" dirty="0"/>
              <a:t>Cure</a:t>
            </a:r>
            <a:r>
              <a:rPr lang="en-US" sz="2800" dirty="0"/>
              <a:t>: Develop a detailed business plan to present to the banker. 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5010150"/>
            <a:ext cx="2466975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25843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6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9" grpId="0" uiExpand="1" build="p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Six Most Common Reasons Bankers Reject Small Business Loans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286000"/>
            <a:ext cx="8229600" cy="3840163"/>
          </a:xfrm>
        </p:spPr>
        <p:txBody>
          <a:bodyPr/>
          <a:lstStyle/>
          <a:p>
            <a:pPr marL="609600" indent="-609600">
              <a:buFont typeface="Wingdings" pitchFamily="2" charset="2"/>
              <a:buNone/>
            </a:pPr>
            <a:r>
              <a:rPr lang="en-US" sz="2000" dirty="0">
                <a:solidFill>
                  <a:schemeClr val="hlink"/>
                </a:solidFill>
              </a:rPr>
              <a:t>3.</a:t>
            </a:r>
            <a:r>
              <a:rPr lang="en-US" sz="2800" dirty="0"/>
              <a:t>  “You haven’t told me why you need the money.”  </a:t>
            </a:r>
            <a:br>
              <a:rPr lang="en-US" sz="2800" dirty="0"/>
            </a:br>
            <a:r>
              <a:rPr lang="en-US" sz="2800" u="sng" dirty="0"/>
              <a:t>Cure</a:t>
            </a:r>
            <a:r>
              <a:rPr lang="en-US" sz="2800" dirty="0"/>
              <a:t>: Your business plan should explain how much money you need and how you plan to use it. 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sz="2000" dirty="0">
                <a:solidFill>
                  <a:schemeClr val="hlink"/>
                </a:solidFill>
              </a:rPr>
              <a:t>4.</a:t>
            </a:r>
            <a:r>
              <a:rPr lang="en-US" sz="2000" dirty="0">
                <a:solidFill>
                  <a:schemeClr val="tx2"/>
                </a:solidFill>
              </a:rPr>
              <a:t>	</a:t>
            </a:r>
            <a:r>
              <a:rPr lang="en-US" sz="2800" dirty="0"/>
              <a:t>“Your numbers don’t support your loan request.”</a:t>
            </a:r>
            <a:br>
              <a:rPr lang="en-US" sz="2800" dirty="0"/>
            </a:br>
            <a:r>
              <a:rPr lang="en-US" sz="2800" u="sng" dirty="0"/>
              <a:t>Cure</a:t>
            </a:r>
            <a:r>
              <a:rPr lang="en-US" sz="2800" dirty="0"/>
              <a:t>: Include a financial forecast in your business plan.  </a:t>
            </a:r>
          </a:p>
        </p:txBody>
      </p:sp>
      <p:sp>
        <p:nvSpPr>
          <p:cNvPr id="87044" name="Text Box 4"/>
          <p:cNvSpPr txBox="1">
            <a:spLocks noChangeArrowheads="1"/>
          </p:cNvSpPr>
          <p:nvPr/>
        </p:nvSpPr>
        <p:spPr bwMode="auto">
          <a:xfrm>
            <a:off x="4046538" y="1447800"/>
            <a:ext cx="10509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(continued)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572000"/>
            <a:ext cx="2466975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375345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70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70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3" grpId="0" uiExpand="1" build="p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Six Most Common Reasons Bankers Reject Small Business Loans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209800"/>
            <a:ext cx="8229600" cy="3916363"/>
          </a:xfrm>
        </p:spPr>
        <p:txBody>
          <a:bodyPr/>
          <a:lstStyle/>
          <a:p>
            <a:pPr marL="609600" indent="-609600">
              <a:buFont typeface="Wingdings" pitchFamily="2" charset="2"/>
              <a:buNone/>
            </a:pPr>
            <a:r>
              <a:rPr lang="en-US" sz="2000" dirty="0">
                <a:solidFill>
                  <a:schemeClr val="hlink"/>
                </a:solidFill>
              </a:rPr>
              <a:t>5.</a:t>
            </a:r>
            <a:r>
              <a:rPr lang="en-US" sz="2800" dirty="0"/>
              <a:t>  “You don’t have enough collateral.”  </a:t>
            </a:r>
            <a:br>
              <a:rPr lang="en-US" sz="2800" dirty="0"/>
            </a:br>
            <a:r>
              <a:rPr lang="en-US" sz="2800" u="sng" dirty="0"/>
              <a:t>Cure</a:t>
            </a:r>
            <a:r>
              <a:rPr lang="en-US" sz="2800" dirty="0"/>
              <a:t>: Be prepared to pledge your company’s assets – and perhaps your personal assets – as collateral for the loan. </a:t>
            </a:r>
          </a:p>
          <a:p>
            <a:pPr marL="609600" indent="-609600">
              <a:buFont typeface="Wingdings" pitchFamily="2" charset="2"/>
              <a:buNone/>
            </a:pPr>
            <a:r>
              <a:rPr lang="en-US" sz="2000" dirty="0">
                <a:solidFill>
                  <a:schemeClr val="hlink"/>
                </a:solidFill>
              </a:rPr>
              <a:t>6.</a:t>
            </a:r>
            <a:r>
              <a:rPr lang="en-US" sz="2000" dirty="0">
                <a:solidFill>
                  <a:schemeClr val="tx2"/>
                </a:solidFill>
              </a:rPr>
              <a:t>	</a:t>
            </a:r>
            <a:r>
              <a:rPr lang="en-US" sz="2800" dirty="0"/>
              <a:t>“Your business does not support the loan on its own.”</a:t>
            </a:r>
            <a:br>
              <a:rPr lang="en-US" sz="2800" dirty="0"/>
            </a:br>
            <a:r>
              <a:rPr lang="en-US" sz="2800" u="sng" dirty="0"/>
              <a:t>Cure</a:t>
            </a:r>
            <a:r>
              <a:rPr lang="en-US" sz="2800" dirty="0"/>
              <a:t>: Be prepared to provide a personal guarantee on the loan.    </a:t>
            </a:r>
          </a:p>
        </p:txBody>
      </p:sp>
      <p:sp>
        <p:nvSpPr>
          <p:cNvPr id="88068" name="Text Box 4"/>
          <p:cNvSpPr txBox="1">
            <a:spLocks noChangeArrowheads="1"/>
          </p:cNvSpPr>
          <p:nvPr/>
        </p:nvSpPr>
        <p:spPr bwMode="auto">
          <a:xfrm>
            <a:off x="4046538" y="1447800"/>
            <a:ext cx="10509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400" b="1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(continued)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7025" y="828675"/>
            <a:ext cx="2466975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166217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7" grpId="0" uiExpand="1" build="p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506538" y="542925"/>
            <a:ext cx="6049962" cy="555625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dirty="0"/>
              <a:t>Sources of Debt Capital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229600" cy="1006475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pPr>
              <a:buSzPct val="75000"/>
            </a:pPr>
            <a:r>
              <a:rPr lang="en-US" dirty="0"/>
              <a:t>Commercial banks</a:t>
            </a:r>
          </a:p>
        </p:txBody>
      </p:sp>
      <p:sp>
        <p:nvSpPr>
          <p:cNvPr id="73733" name="Rectangle 5"/>
          <p:cNvSpPr>
            <a:spLocks noChangeArrowheads="1"/>
          </p:cNvSpPr>
          <p:nvPr/>
        </p:nvSpPr>
        <p:spPr bwMode="auto">
          <a:xfrm>
            <a:off x="584200" y="2533650"/>
            <a:ext cx="7772400" cy="2719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8900" tIns="46038" rIns="88900" bIns="46038"/>
          <a:lstStyle/>
          <a:p>
            <a:pPr marL="457200" indent="-457200" defTabSz="892175">
              <a:spcBef>
                <a:spcPct val="20000"/>
              </a:spcBef>
              <a:buClr>
                <a:schemeClr val="hlink"/>
              </a:buClr>
              <a:buSzPct val="75000"/>
              <a:buFont typeface="Arial" pitchFamily="34" charset="0"/>
              <a:buChar char="•"/>
            </a:pPr>
            <a:r>
              <a:rPr lang="en-US" sz="3200" dirty="0"/>
              <a:t>Vendor financing (trade credit)</a:t>
            </a:r>
          </a:p>
          <a:p>
            <a:pPr marL="457200" indent="-457200" defTabSz="892175">
              <a:spcBef>
                <a:spcPct val="20000"/>
              </a:spcBef>
              <a:buClr>
                <a:schemeClr val="hlink"/>
              </a:buClr>
              <a:buSzPct val="75000"/>
              <a:buFont typeface="Arial" pitchFamily="34" charset="0"/>
              <a:buChar char="•"/>
            </a:pPr>
            <a:r>
              <a:rPr lang="en-US" sz="3200" dirty="0"/>
              <a:t>Equipment suppliers</a:t>
            </a:r>
          </a:p>
        </p:txBody>
      </p:sp>
      <p:sp>
        <p:nvSpPr>
          <p:cNvPr id="73734" name="Rectangle 6"/>
          <p:cNvSpPr>
            <a:spLocks noChangeArrowheads="1"/>
          </p:cNvSpPr>
          <p:nvPr/>
        </p:nvSpPr>
        <p:spPr bwMode="auto">
          <a:xfrm>
            <a:off x="579438" y="1981200"/>
            <a:ext cx="7772400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8900" tIns="46038" rIns="88900" bIns="46038"/>
          <a:lstStyle/>
          <a:p>
            <a:pPr marL="457200" indent="-457200" defTabSz="892175">
              <a:spcBef>
                <a:spcPct val="20000"/>
              </a:spcBef>
              <a:buClr>
                <a:schemeClr val="hlink"/>
              </a:buClr>
              <a:buSzPct val="75000"/>
              <a:buFont typeface="Arial" pitchFamily="34" charset="0"/>
              <a:buChar char="•"/>
            </a:pPr>
            <a:r>
              <a:rPr lang="en-US" sz="3200" dirty="0"/>
              <a:t>Asset-based lenders</a:t>
            </a:r>
          </a:p>
        </p:txBody>
      </p:sp>
      <p:grpSp>
        <p:nvGrpSpPr>
          <p:cNvPr id="73737" name="Group 9"/>
          <p:cNvGrpSpPr>
            <a:grpSpLocks/>
          </p:cNvGrpSpPr>
          <p:nvPr/>
        </p:nvGrpSpPr>
        <p:grpSpPr bwMode="auto">
          <a:xfrm>
            <a:off x="6858000" y="4267200"/>
            <a:ext cx="1711325" cy="2343150"/>
            <a:chOff x="3792" y="1056"/>
            <a:chExt cx="1078" cy="1476"/>
          </a:xfrm>
        </p:grpSpPr>
        <p:pic>
          <p:nvPicPr>
            <p:cNvPr id="73735" name="Picture 7" descr="PE03848_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92" y="1056"/>
              <a:ext cx="1078" cy="14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3736" name="Text Box 8"/>
            <p:cNvSpPr txBox="1">
              <a:spLocks noChangeArrowheads="1"/>
            </p:cNvSpPr>
            <p:nvPr/>
          </p:nvSpPr>
          <p:spPr bwMode="auto">
            <a:xfrm>
              <a:off x="4272" y="148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b="1">
                  <a:solidFill>
                    <a:srgbClr val="000000"/>
                  </a:solidFill>
                  <a:latin typeface="Times New Roman" pitchFamily="18" charset="0"/>
                </a:rPr>
                <a:t>$$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05525834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737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" dur="500"/>
                                        <p:tgtEl>
                                          <p:spTgt spid="737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3" grpId="0" uiExpand="1" build="p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021" y="328282"/>
            <a:ext cx="7772400" cy="1470025"/>
          </a:xfrm>
        </p:spPr>
        <p:txBody>
          <a:bodyPr/>
          <a:lstStyle/>
          <a:p>
            <a:r>
              <a:rPr lang="en-US" dirty="0"/>
              <a:t>Lecture Review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767" y="152400"/>
            <a:ext cx="2209800" cy="16859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5621867"/>
            <a:ext cx="754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Reference: Essentials of Entrepreneurship &amp; Small Business Management, Zimmer, Scarborough &amp;Wilson, 5</a:t>
            </a:r>
            <a:r>
              <a:rPr lang="en-US" baseline="30000" dirty="0"/>
              <a:t>th</a:t>
            </a:r>
            <a:r>
              <a:rPr lang="en-US" dirty="0"/>
              <a:t> Edition</a:t>
            </a: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381000" y="1157288"/>
            <a:ext cx="8382000" cy="446458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defRPr/>
            </a:pPr>
            <a:endParaRPr lang="en-US" dirty="0"/>
          </a:p>
          <a:p>
            <a:pPr hangingPunct="0"/>
            <a:r>
              <a:rPr lang="en-US" dirty="0"/>
              <a:t>Explain the differences in the three types of capital small businesses require: fixed, working, and growth.</a:t>
            </a:r>
          </a:p>
          <a:p>
            <a:pPr hangingPunct="0"/>
            <a:r>
              <a:rPr lang="en-US" dirty="0"/>
              <a:t>Describe the differences in equity capital and debt capital and the advantages and disadvantages of each.</a:t>
            </a:r>
          </a:p>
          <a:p>
            <a:pPr hangingPunct="0"/>
            <a:r>
              <a:rPr lang="en-US" dirty="0"/>
              <a:t>Describe the various sources of equity capital available to entrepreneurs, including personal savings, friends and relatives, angels, partners, corporations, venture capital, and public stock offerings.</a:t>
            </a:r>
          </a:p>
          <a:p>
            <a:pPr hangingPunct="0"/>
            <a:r>
              <a:rPr lang="en-US" dirty="0"/>
              <a:t>Describe the various sources of debt capital and the advantages and disadvantages of each.</a:t>
            </a:r>
          </a:p>
        </p:txBody>
      </p:sp>
    </p:spTree>
    <p:extLst>
      <p:ext uri="{BB962C8B-B14F-4D97-AF65-F5344CB8AC3E}">
        <p14:creationId xmlns:p14="http://schemas.microsoft.com/office/powerpoint/2010/main" val="581369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1289</TotalTime>
  <Words>1392</Words>
  <Application>Microsoft Office PowerPoint</Application>
  <PresentationFormat>On-screen Show (4:3)</PresentationFormat>
  <Paragraphs>180</Paragraphs>
  <Slides>32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Arial</vt:lpstr>
      <vt:lpstr>Calibri</vt:lpstr>
      <vt:lpstr>Monotype Sorts</vt:lpstr>
      <vt:lpstr>Times New Roman</vt:lpstr>
      <vt:lpstr>Tms Rmn</vt:lpstr>
      <vt:lpstr>Wingdings</vt:lpstr>
      <vt:lpstr>Office Theme</vt:lpstr>
      <vt:lpstr>ENTREPRENEURSHIP </vt:lpstr>
      <vt:lpstr> Previous Lecture Review</vt:lpstr>
      <vt:lpstr>OBJECTIVES</vt:lpstr>
      <vt:lpstr>Raising Capital</vt:lpstr>
      <vt:lpstr>The “Secrets” to Successful Financing</vt:lpstr>
      <vt:lpstr>The “Secrets” to Successful Financing</vt:lpstr>
      <vt:lpstr>Layered Financing</vt:lpstr>
      <vt:lpstr>Three Types of Capital</vt:lpstr>
      <vt:lpstr>Equity Capital</vt:lpstr>
      <vt:lpstr>Debt Capital</vt:lpstr>
      <vt:lpstr>Sources of Equity Financing</vt:lpstr>
      <vt:lpstr>Personal Savings</vt:lpstr>
      <vt:lpstr>Friends and Family Members</vt:lpstr>
      <vt:lpstr>Friends and Family Members</vt:lpstr>
      <vt:lpstr>Angels</vt:lpstr>
      <vt:lpstr>Angels</vt:lpstr>
      <vt:lpstr>Partners</vt:lpstr>
      <vt:lpstr>Corporate Venture Capital</vt:lpstr>
      <vt:lpstr>Venture Capital Companies</vt:lpstr>
      <vt:lpstr>Venture Capital Companies</vt:lpstr>
      <vt:lpstr>Venture Capital Companies</vt:lpstr>
      <vt:lpstr>What Do Venture Capital Companies Look For?</vt:lpstr>
      <vt:lpstr>Going Public</vt:lpstr>
      <vt:lpstr>Successful IPO Candidates</vt:lpstr>
      <vt:lpstr>Advantages of “Going Public”</vt:lpstr>
      <vt:lpstr>Disadvantages of “Going Public”</vt:lpstr>
      <vt:lpstr>Sources of Debt Capital</vt:lpstr>
      <vt:lpstr>Six Most Common Reasons Bankers Reject Small Business Loans</vt:lpstr>
      <vt:lpstr>Six Most Common Reasons Bankers Reject Small Business Loans</vt:lpstr>
      <vt:lpstr>Six Most Common Reasons Bankers Reject Small Business Loans</vt:lpstr>
      <vt:lpstr>Sources of Debt Capital</vt:lpstr>
      <vt:lpstr>Lecture Review</vt:lpstr>
    </vt:vector>
  </TitlesOfParts>
  <Company>MyCompanyName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Inside the Entrepreneurial Mind: From Ideas to Reality</dc:title>
  <dc:creator>MyUserName</dc:creator>
  <cp:lastModifiedBy>Rabia Shafaat</cp:lastModifiedBy>
  <cp:revision>168</cp:revision>
  <dcterms:created xsi:type="dcterms:W3CDTF">2013-10-03T09:43:12Z</dcterms:created>
  <dcterms:modified xsi:type="dcterms:W3CDTF">2019-08-28T05:49:25Z</dcterms:modified>
</cp:coreProperties>
</file>