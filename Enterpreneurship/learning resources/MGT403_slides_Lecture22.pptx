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96" r:id="rId2"/>
    <p:sldId id="387" r:id="rId3"/>
    <p:sldId id="386" r:id="rId4"/>
    <p:sldId id="512" r:id="rId5"/>
    <p:sldId id="426" r:id="rId6"/>
    <p:sldId id="502" r:id="rId7"/>
    <p:sldId id="503" r:id="rId8"/>
    <p:sldId id="508" r:id="rId9"/>
    <p:sldId id="505" r:id="rId10"/>
    <p:sldId id="511" r:id="rId11"/>
    <p:sldId id="479" r:id="rId12"/>
    <p:sldId id="480" r:id="rId13"/>
    <p:sldId id="481" r:id="rId14"/>
    <p:sldId id="482" r:id="rId15"/>
    <p:sldId id="483" r:id="rId16"/>
    <p:sldId id="48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1" autoAdjust="0"/>
  </p:normalViewPr>
  <p:slideViewPr>
    <p:cSldViewPr>
      <p:cViewPr varScale="1">
        <p:scale>
          <a:sx n="61" d="100"/>
          <a:sy n="61" d="100"/>
        </p:scale>
        <p:origin x="14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26376"/>
    </p:cViewPr>
    <p:sldLst>
      <p:sld r:id="rId1" collapse="1"/>
      <p:sld r:id="rId2" collapse="1"/>
      <p:sld r:id="rId3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3.xml"/><Relationship Id="rId2" Type="http://schemas.openxmlformats.org/officeDocument/2006/relationships/slide" Target="slides/slide11.xml"/><Relationship Id="rId1" Type="http://schemas.openxmlformats.org/officeDocument/2006/relationships/slide" Target="slides/slide1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9-05-13T08:05:16.7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</inkml:trace>
  <inkml:trace contextRef="#ctx0" brushRef="#br0" timeOffset="330">0 0</inkml:trace>
  <inkml:trace contextRef="#ctx0" brushRef="#br0" timeOffset="563">0 0</inkml:trace>
  <inkml:trace contextRef="#ctx0" brushRef="#br0" timeOffset="747">0 0</inkml:trace>
  <inkml:trace contextRef="#ctx0" brushRef="#br0" timeOffset="1311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8/31/2020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0A9A-5EC9-4CF9-9C60-C50A968AE0DC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60C6-7AF8-4C17-BE86-81D02A3D0727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7834E-3CFD-45E8-A470-AC9AFDD2E7B6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2C67-D830-4A97-8265-F0A5DEE1CB03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D249-BDBF-4640-978C-0A62B46CEDB9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564-CF69-4B41-BD21-6754948B7A39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0578-4C37-4510-ADE3-38414748932C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4C85-8B8D-483E-B358-866606915666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0EDBA-85EE-49F6-A97C-535866CAE11E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8F60-F20E-48C7-8047-7BB052619D07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D66-62C7-4439-B574-16DFE6A8C11E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6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5612B-7475-4D0A-9A68-10454DB4555D}" type="datetime1">
              <a:rPr lang="en-US" smtClean="0"/>
              <a:pPr/>
              <a:t>8/31/2020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Lecture No: 22</a:t>
            </a: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Institute of Information Technology</a:t>
            </a:r>
          </a:p>
          <a:p>
            <a:pPr marL="0" indent="0" algn="ctr">
              <a:buNone/>
            </a:pPr>
            <a:r>
              <a:rPr lang="en-US" sz="2000" dirty="0"/>
              <a:t>Islamabad.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169" name="Ink 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68725" y="5072063"/>
              <a:ext cx="1588" cy="1587"/>
            </p14:xfrm>
          </p:contentPart>
        </mc:Choice>
        <mc:Fallback xmlns="">
          <p:pic>
            <p:nvPicPr>
              <p:cNvPr id="7169" name="Ink 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7437" y="5030801"/>
                <a:ext cx="84164" cy="8411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1980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6800" y="228600"/>
            <a:ext cx="8229600" cy="1143000"/>
          </a:xfrm>
        </p:spPr>
        <p:txBody>
          <a:bodyPr/>
          <a:lstStyle/>
          <a:p>
            <a:r>
              <a:rPr lang="en-US" dirty="0"/>
              <a:t> Previous Lecture Review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85299"/>
            <a:ext cx="1981104" cy="19270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1997839"/>
            <a:ext cx="769615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hangingPunct="0">
              <a:buFont typeface="Arial" pitchFamily="34" charset="0"/>
              <a:buChar char="•"/>
            </a:pPr>
            <a:r>
              <a:rPr lang="en-US" sz="2800" dirty="0"/>
              <a:t>Discuss the “four Ps” of marketing—product, place, price, and promotion—and their role in building a successful marketing strategy.</a:t>
            </a:r>
          </a:p>
          <a:p>
            <a:pPr marL="342900" indent="-342900" hangingPunct="0">
              <a:buFont typeface="Arial" pitchFamily="34" charset="0"/>
              <a:buChar char="•"/>
            </a:pPr>
            <a:r>
              <a:rPr lang="en-US" sz="2800" dirty="0"/>
              <a:t>Marketing Wheel of Fortune</a:t>
            </a:r>
          </a:p>
        </p:txBody>
      </p:sp>
    </p:spTree>
    <p:extLst>
      <p:ext uri="{BB962C8B-B14F-4D97-AF65-F5344CB8AC3E}">
        <p14:creationId xmlns:p14="http://schemas.microsoft.com/office/powerpoint/2010/main" val="2645734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748726"/>
            <a:ext cx="8686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hangingPunct="0">
              <a:buFont typeface="Arial" pitchFamily="34" charset="0"/>
              <a:buChar char="•"/>
            </a:pPr>
            <a:r>
              <a:rPr lang="en-US" sz="2000" dirty="0"/>
              <a:t>How Small Business Marketing differs from Corporations</a:t>
            </a:r>
          </a:p>
          <a:p>
            <a:pPr marL="342900" indent="-342900" hangingPunct="0">
              <a:buFont typeface="Arial" pitchFamily="34" charset="0"/>
              <a:buChar char="•"/>
            </a:pPr>
            <a:r>
              <a:rPr lang="en-US" sz="2000" dirty="0"/>
              <a:t>Small Business Marketing Advantage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dirty="0"/>
              <a:t>One-to-One Marketing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dirty="0"/>
              <a:t>Customer Sensitivity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dirty="0"/>
              <a:t>Guerilla Marketing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/>
              <a:t>Competitive </a:t>
            </a:r>
            <a:r>
              <a:rPr lang="en-US" sz="2000" dirty="0"/>
              <a:t>Advantage Development through Customer Focus, Quality, Convenience, Innovation, Service &amp; Speed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/>
              <a:t>Benefits </a:t>
            </a:r>
            <a:r>
              <a:rPr lang="en-US" sz="2000" dirty="0"/>
              <a:t>of Selling on Web</a:t>
            </a:r>
          </a:p>
        </p:txBody>
      </p:sp>
    </p:spTree>
    <p:extLst>
      <p:ext uri="{BB962C8B-B14F-4D97-AF65-F5344CB8AC3E}">
        <p14:creationId xmlns:p14="http://schemas.microsoft.com/office/powerpoint/2010/main" val="3511206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Small Business Marketing Advantage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267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Small Business do not have to </a:t>
            </a:r>
          </a:p>
          <a:p>
            <a:endParaRPr lang="en-US" dirty="0"/>
          </a:p>
          <a:p>
            <a:r>
              <a:rPr lang="en-US" dirty="0"/>
              <a:t>Spend Million trying to Understand Customers</a:t>
            </a:r>
          </a:p>
          <a:p>
            <a:endParaRPr lang="en-US" dirty="0"/>
          </a:p>
          <a:p>
            <a:r>
              <a:rPr lang="en-US" dirty="0"/>
              <a:t>Better Customer Relationship Possibilities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676400"/>
            <a:ext cx="184785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654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uiExpand="1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152400"/>
            <a:ext cx="7543800" cy="122237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Be a Trend-Tracker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3375"/>
            <a:ext cx="6019800" cy="4648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Read many diverse current publications</a:t>
            </a:r>
          </a:p>
          <a:p>
            <a:r>
              <a:rPr lang="en-US" sz="2800" dirty="0"/>
              <a:t>Watch top 10 TV shows</a:t>
            </a:r>
          </a:p>
          <a:p>
            <a:r>
              <a:rPr lang="en-US" sz="2800" dirty="0"/>
              <a:t>See the top 10 movies</a:t>
            </a:r>
          </a:p>
          <a:p>
            <a:r>
              <a:rPr lang="en-US" sz="2800" dirty="0"/>
              <a:t>Talk to at least 150 customers a year</a:t>
            </a:r>
          </a:p>
          <a:p>
            <a:r>
              <a:rPr lang="en-US" sz="2800" dirty="0"/>
              <a:t>Talk with the 10 smartest people you know</a:t>
            </a:r>
          </a:p>
          <a:p>
            <a:r>
              <a:rPr lang="en-US" sz="2800" dirty="0"/>
              <a:t>Listen to your children and their friends</a:t>
            </a:r>
          </a:p>
        </p:txBody>
      </p:sp>
      <p:pic>
        <p:nvPicPr>
          <p:cNvPr id="89093" name="Picture 5" descr="j038775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441575"/>
            <a:ext cx="2011363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8918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" y="76200"/>
            <a:ext cx="7086600" cy="685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algn="l"/>
            <a:r>
              <a:rPr lang="en-US" sz="2400" dirty="0"/>
              <a:t>How  to Become an Effective One-to-One Marketer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1377950" y="920750"/>
            <a:ext cx="2501900" cy="9017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Identify your best customers, 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never passing up the 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opportunity to get their names.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463550" y="2444750"/>
            <a:ext cx="2501900" cy="9017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Collect information on these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customers, linking their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 identities to their transactions.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463550" y="4654550"/>
            <a:ext cx="2578100" cy="9017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Calculate the long-term value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of customers so you know 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which ones are most desirable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(and most profitable).  </a:t>
            </a:r>
          </a:p>
        </p:txBody>
      </p:sp>
      <p:graphicFrame>
        <p:nvGraphicFramePr>
          <p:cNvPr id="10246" name="Object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2844800" y="1752600"/>
          <a:ext cx="4098925" cy="395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Microsoft ClipArt Gallery" r:id="rId4" imgW="4168103" imgH="4023306" progId="">
                  <p:embed/>
                </p:oleObj>
              </mc:Choice>
              <mc:Fallback>
                <p:oleObj name="Microsoft ClipArt Gallery" r:id="rId4" imgW="4168103" imgH="4023306" progId="">
                  <p:embed/>
                  <p:pic>
                    <p:nvPicPr>
                      <p:cNvPr id="0" name="Picture 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1752600"/>
                        <a:ext cx="4098925" cy="395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4100513" y="3109913"/>
            <a:ext cx="1720850" cy="118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1">
                <a:solidFill>
                  <a:schemeClr val="bg2"/>
                </a:solidFill>
                <a:latin typeface="Times New Roman" pitchFamily="18" charset="0"/>
              </a:rPr>
              <a:t>Successful</a:t>
            </a:r>
          </a:p>
          <a:p>
            <a:r>
              <a:rPr lang="en-US" sz="2400" b="1">
                <a:solidFill>
                  <a:schemeClr val="bg2"/>
                </a:solidFill>
                <a:latin typeface="Times New Roman" pitchFamily="18" charset="0"/>
              </a:rPr>
              <a:t>One-to-One</a:t>
            </a:r>
          </a:p>
          <a:p>
            <a:r>
              <a:rPr lang="en-US" sz="2400" b="1">
                <a:solidFill>
                  <a:schemeClr val="bg2"/>
                </a:solidFill>
                <a:latin typeface="Times New Roman" pitchFamily="18" charset="0"/>
              </a:rPr>
              <a:t>Marketing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3435350" y="5797550"/>
            <a:ext cx="2806700" cy="9017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Know what your customers’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buying cycle is and time your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marketing efforts to coincide 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with it - “just-in-time marketing.”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6635750" y="4578350"/>
            <a:ext cx="2349500" cy="9017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Make sure your company’s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product and service quality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will astonish your customers.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7016750" y="2292350"/>
            <a:ext cx="2044700" cy="15113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See customer complaints 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for what they are - a 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chance to improve 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your service and 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quality. Encourage 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complaints and then 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fix them!</a:t>
            </a: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5416550" y="920750"/>
            <a:ext cx="2654300" cy="9017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Enhance your products and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services by giving customers 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information about them and how</a:t>
            </a:r>
          </a:p>
          <a:p>
            <a:pPr algn="ctr"/>
            <a:r>
              <a:rPr lang="en-US" sz="1400" b="1">
                <a:solidFill>
                  <a:schemeClr val="bg2"/>
                </a:solidFill>
                <a:latin typeface="Times New Roman" pitchFamily="18" charset="0"/>
              </a:rPr>
              <a:t>to use them.</a:t>
            </a: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61913" y="6326188"/>
            <a:ext cx="3136900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900">
                <a:latin typeface="Times New Roman" pitchFamily="18" charset="0"/>
              </a:rPr>
              <a:t>Source: Adapted from Susan Greco, “The Road to One-</a:t>
            </a:r>
          </a:p>
          <a:p>
            <a:r>
              <a:rPr lang="en-US" sz="900">
                <a:latin typeface="Times New Roman" pitchFamily="18" charset="0"/>
              </a:rPr>
              <a:t>to-One Marketing,”  </a:t>
            </a:r>
            <a:r>
              <a:rPr lang="en-US" sz="900" i="1">
                <a:latin typeface="Times New Roman" pitchFamily="18" charset="0"/>
              </a:rPr>
              <a:t>Inc.</a:t>
            </a:r>
            <a:r>
              <a:rPr lang="en-US" sz="900">
                <a:latin typeface="Times New Roman" pitchFamily="18" charset="0"/>
              </a:rPr>
              <a:t>, October 1995, pp. 56-66.</a:t>
            </a:r>
          </a:p>
        </p:txBody>
      </p:sp>
    </p:spTree>
    <p:extLst>
      <p:ext uri="{BB962C8B-B14F-4D97-AF65-F5344CB8AC3E}">
        <p14:creationId xmlns:p14="http://schemas.microsoft.com/office/powerpoint/2010/main" val="3254326814"/>
      </p:ext>
    </p:extLst>
  </p:cSld>
  <p:clrMapOvr>
    <a:masterClrMapping/>
  </p:clrMapOvr>
  <p:transition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86000" y="0"/>
            <a:ext cx="5105400" cy="609600"/>
          </a:xfrm>
        </p:spPr>
        <p:txBody>
          <a:bodyPr/>
          <a:lstStyle/>
          <a:p>
            <a:pPr algn="l"/>
            <a:r>
              <a:rPr lang="en-US" sz="2400" dirty="0"/>
              <a:t>Four Levels of Customer Sensitivity</a:t>
            </a:r>
          </a:p>
        </p:txBody>
      </p:sp>
      <p:sp>
        <p:nvSpPr>
          <p:cNvPr id="61443" name="AutoShape 3"/>
          <p:cNvSpPr>
            <a:spLocks noChangeArrowheads="1"/>
          </p:cNvSpPr>
          <p:nvPr/>
        </p:nvSpPr>
        <p:spPr bwMode="auto">
          <a:xfrm>
            <a:off x="76200" y="5138738"/>
            <a:ext cx="8153400" cy="1506537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sz="1600" b="1" u="sng">
                <a:solidFill>
                  <a:srgbClr val="000000"/>
                </a:solidFill>
                <a:latin typeface="Times New Roman" pitchFamily="18" charset="0"/>
              </a:rPr>
              <a:t>Level 1:</a:t>
            </a: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sz="1600" b="1" i="1">
                <a:solidFill>
                  <a:srgbClr val="000000"/>
                </a:solidFill>
                <a:latin typeface="Times New Roman" pitchFamily="18" charset="0"/>
              </a:rPr>
              <a:t>Customer Awareness.</a:t>
            </a: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 Prevailing attitude: “There’s a customer out there.”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Managers and employees know little about their customers and view them only in the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most general terms.  No one really understands the benefit of close customer 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relationships.</a:t>
            </a:r>
          </a:p>
        </p:txBody>
      </p:sp>
      <p:sp>
        <p:nvSpPr>
          <p:cNvPr id="61444" name="AutoShape 4"/>
          <p:cNvSpPr>
            <a:spLocks noChangeArrowheads="1"/>
          </p:cNvSpPr>
          <p:nvPr/>
        </p:nvSpPr>
        <p:spPr bwMode="auto">
          <a:xfrm>
            <a:off x="457200" y="3581400"/>
            <a:ext cx="8116888" cy="1598613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sz="1600" b="1" u="sng">
                <a:solidFill>
                  <a:srgbClr val="000000"/>
                </a:solidFill>
                <a:latin typeface="Times New Roman" pitchFamily="18" charset="0"/>
              </a:rPr>
              <a:t>Level 2:</a:t>
            </a: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sz="1600" b="1" i="1">
                <a:solidFill>
                  <a:srgbClr val="000000"/>
                </a:solidFill>
                <a:latin typeface="Times New Roman" pitchFamily="18" charset="0"/>
              </a:rPr>
              <a:t>Customer Sensitivity.</a:t>
            </a: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 A wall stands between the company and its customers.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Employees know a little about their customers but don’t share this information with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others in the company.  The company does not solicit feedback from customers.</a:t>
            </a:r>
          </a:p>
        </p:txBody>
      </p:sp>
      <p:sp>
        <p:nvSpPr>
          <p:cNvPr id="61445" name="AutoShape 5"/>
          <p:cNvSpPr>
            <a:spLocks noChangeArrowheads="1"/>
          </p:cNvSpPr>
          <p:nvPr/>
        </p:nvSpPr>
        <p:spPr bwMode="auto">
          <a:xfrm>
            <a:off x="690563" y="2154238"/>
            <a:ext cx="8153400" cy="1524000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sz="1600" b="1" u="sng">
                <a:solidFill>
                  <a:srgbClr val="000000"/>
                </a:solidFill>
                <a:latin typeface="Times New Roman" pitchFamily="18" charset="0"/>
              </a:rPr>
              <a:t>Level 3:</a:t>
            </a: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sz="1600" b="1" i="1">
                <a:solidFill>
                  <a:srgbClr val="000000"/>
                </a:solidFill>
                <a:latin typeface="Times New Roman" pitchFamily="18" charset="0"/>
              </a:rPr>
              <a:t>Customer Alignment.</a:t>
            </a: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 Managers and employees understand the customer’s 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central role in the business.  They spend considerable time talking about and with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customers, and they seek feedback through surveys, focus groups, customer visits, and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other techniques. </a:t>
            </a:r>
          </a:p>
        </p:txBody>
      </p:sp>
      <p:sp>
        <p:nvSpPr>
          <p:cNvPr id="61446" name="AutoShape 6"/>
          <p:cNvSpPr>
            <a:spLocks noChangeArrowheads="1"/>
          </p:cNvSpPr>
          <p:nvPr/>
        </p:nvSpPr>
        <p:spPr bwMode="auto">
          <a:xfrm>
            <a:off x="912813" y="685800"/>
            <a:ext cx="8153400" cy="1638300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sz="1600" b="1" u="sng">
                <a:solidFill>
                  <a:srgbClr val="000000"/>
                </a:solidFill>
                <a:latin typeface="Times New Roman" pitchFamily="18" charset="0"/>
              </a:rPr>
              <a:t>Level 4:</a:t>
            </a: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sz="1600" b="1" i="1">
                <a:solidFill>
                  <a:srgbClr val="000000"/>
                </a:solidFill>
                <a:latin typeface="Times New Roman" pitchFamily="18" charset="0"/>
              </a:rPr>
              <a:t>Customer Partnership.</a:t>
            </a: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 The company has embraced a customer service attitude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as an all-encompassing part of its culture. Customers are part of all major decisions. 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Employees throughout the company routinely use data mining reports to identify the 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best customers and to serve them better.  The focus is on building lasting relationships</a:t>
            </a:r>
            <a:br>
              <a:rPr lang="en-US" sz="1600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1600" b="1">
                <a:solidFill>
                  <a:srgbClr val="000000"/>
                </a:solidFill>
                <a:latin typeface="Times New Roman" pitchFamily="18" charset="0"/>
              </a:rPr>
              <a:t>with the company’s best customers.   </a:t>
            </a:r>
          </a:p>
        </p:txBody>
      </p:sp>
    </p:spTree>
    <p:extLst>
      <p:ext uri="{BB962C8B-B14F-4D97-AF65-F5344CB8AC3E}">
        <p14:creationId xmlns:p14="http://schemas.microsoft.com/office/powerpoint/2010/main" val="1487027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animBg="1" autoUpdateAnimBg="0"/>
      <p:bldP spid="61444" grpId="0" animBg="1" autoUpdateAnimBg="0"/>
      <p:bldP spid="61445" grpId="0" animBg="1" autoUpdateAnimBg="0"/>
      <p:bldP spid="61446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171700" y="533400"/>
            <a:ext cx="4800600" cy="9779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sz="4800" dirty="0"/>
              <a:t>A Guerrilla Marketing Plan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9125" y="2030413"/>
            <a:ext cx="7986713" cy="405765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533400" indent="-5334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800" dirty="0"/>
              <a:t>Pinpoints the specific target markets the company will serve.</a:t>
            </a:r>
          </a:p>
          <a:p>
            <a:pPr marL="533400" indent="-5334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800" dirty="0"/>
              <a:t>Determines customer needs and wants through market research.</a:t>
            </a:r>
          </a:p>
          <a:p>
            <a:pPr marL="533400" indent="-5334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800" dirty="0"/>
              <a:t>Analyzes a firm’s competitive advantages and builds a marketing strategy around them.</a:t>
            </a:r>
          </a:p>
          <a:p>
            <a:pPr marL="533400" indent="-5334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800" dirty="0"/>
              <a:t>Creates a marketing mix that meets customer needs and wants.</a:t>
            </a:r>
          </a:p>
        </p:txBody>
      </p:sp>
    </p:spTree>
    <p:extLst>
      <p:ext uri="{BB962C8B-B14F-4D97-AF65-F5344CB8AC3E}">
        <p14:creationId xmlns:p14="http://schemas.microsoft.com/office/powerpoint/2010/main" val="2011891217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Entrepreneurial Marketing Strategies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6454775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Find a niche and fill it.</a:t>
            </a:r>
          </a:p>
          <a:p>
            <a:pPr>
              <a:lnSpc>
                <a:spcPct val="90000"/>
              </a:lnSpc>
            </a:pPr>
            <a:r>
              <a:rPr lang="en-US" dirty="0"/>
              <a:t>Don’t just sell; entertain.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“</a:t>
            </a:r>
            <a:r>
              <a:rPr lang="en-US" dirty="0" err="1"/>
              <a:t>Entertailing</a:t>
            </a:r>
            <a:r>
              <a:rPr lang="en-US" dirty="0"/>
              <a:t>”</a:t>
            </a:r>
          </a:p>
          <a:p>
            <a:pPr>
              <a:lnSpc>
                <a:spcPct val="90000"/>
              </a:lnSpc>
            </a:pPr>
            <a:r>
              <a:rPr lang="en-US" dirty="0"/>
              <a:t>Strive to be unique.</a:t>
            </a:r>
          </a:p>
          <a:p>
            <a:pPr>
              <a:lnSpc>
                <a:spcPct val="90000"/>
              </a:lnSpc>
            </a:pPr>
            <a:r>
              <a:rPr lang="en-US" dirty="0"/>
              <a:t>Connect with customers on an emotional level.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Build trust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Define a unique selling proposition (USP) </a:t>
            </a:r>
          </a:p>
        </p:txBody>
      </p:sp>
      <p:pic>
        <p:nvPicPr>
          <p:cNvPr id="39940" name="Picture 4" descr="sy0120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514600"/>
            <a:ext cx="2166938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265995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9475" y="1684338"/>
            <a:ext cx="5789613" cy="42291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2500" lnSpcReduction="20000"/>
          </a:bodyPr>
          <a:lstStyle/>
          <a:p>
            <a:r>
              <a:rPr lang="en-US" dirty="0"/>
              <a:t>Create an identity for your business through branding.</a:t>
            </a:r>
          </a:p>
          <a:p>
            <a:endParaRPr lang="en-US" dirty="0"/>
          </a:p>
          <a:p>
            <a:r>
              <a:rPr lang="en-US" dirty="0"/>
              <a:t>Makes it easy for Customers to relate</a:t>
            </a:r>
          </a:p>
          <a:p>
            <a:r>
              <a:rPr lang="en-US" dirty="0"/>
              <a:t>Ease in Expansion</a:t>
            </a:r>
          </a:p>
          <a:p>
            <a:r>
              <a:rPr lang="en-US" dirty="0"/>
              <a:t>Communicate USP</a:t>
            </a:r>
          </a:p>
          <a:p>
            <a:r>
              <a:rPr lang="en-US" dirty="0"/>
              <a:t>Can help charge higher prices</a:t>
            </a:r>
          </a:p>
          <a:p>
            <a:r>
              <a:rPr lang="en-US" dirty="0"/>
              <a:t>Help greater visibility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Guerrilla Marketing Strategies</a:t>
            </a:r>
          </a:p>
        </p:txBody>
      </p:sp>
      <p:pic>
        <p:nvPicPr>
          <p:cNvPr id="14343" name="Picture 7" descr="sy0120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514600"/>
            <a:ext cx="2166938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60695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79475" y="2590800"/>
            <a:ext cx="5789613" cy="332263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Start a blog/ newsletter. 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Guerrilla Marketing Strategies</a:t>
            </a:r>
          </a:p>
        </p:txBody>
      </p:sp>
      <p:pic>
        <p:nvPicPr>
          <p:cNvPr id="97284" name="Picture 4" descr="sy0120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514600"/>
            <a:ext cx="2166938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45372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uiExpand="1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75" y="1419225"/>
            <a:ext cx="3895725" cy="4948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3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1938338" y="373063"/>
            <a:ext cx="5780087" cy="609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Focus on the Customer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277938"/>
            <a:ext cx="8077200" cy="449738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buFont typeface="Wingdings" pitchFamily="2" charset="2"/>
              <a:buNone/>
            </a:pPr>
            <a:r>
              <a:rPr lang="en-US" dirty="0"/>
              <a:t>	Companies that are successful at retaining their customers constantly ask themselves (and their customers) four questions: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1. What are we doing right?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2. How can we do that even better?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3. What have we done wrong?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4. What can we do in the future?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097630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7387" y="1524000"/>
            <a:ext cx="5789613" cy="157003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Be devoted to quality.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Guerrilla Marketing Strategies</a:t>
            </a:r>
          </a:p>
        </p:txBody>
      </p:sp>
      <p:pic>
        <p:nvPicPr>
          <p:cNvPr id="101380" name="Picture 4" descr="sy0120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514600"/>
            <a:ext cx="2166938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54323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49450" y="444500"/>
            <a:ext cx="5246688" cy="609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Devotion to Quality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8363" y="1524000"/>
            <a:ext cx="7818437" cy="4876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sz="2800" dirty="0"/>
              <a:t>Study: 60 percent of customers who change suppliers do so because of problems with a company’s products or services.  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World-class companies treat quality as a strategic objective, an integral part of the company culture.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The philosophy of Total Quality Management (TQM):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Quality in the product or service itself.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Quality in every aspect of the business and its relationship with the customer.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Continuous improvement in quality.</a:t>
            </a:r>
          </a:p>
        </p:txBody>
      </p:sp>
    </p:spTree>
    <p:extLst>
      <p:ext uri="{BB962C8B-B14F-4D97-AF65-F5344CB8AC3E}">
        <p14:creationId xmlns:p14="http://schemas.microsoft.com/office/powerpoint/2010/main" val="294944973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bldLvl="5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457200"/>
            <a:ext cx="7772400" cy="1219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Definition of Quality in a </a:t>
            </a:r>
            <a:r>
              <a:rPr lang="en-US" i="1" dirty="0"/>
              <a:t>Product</a:t>
            </a:r>
            <a:r>
              <a:rPr lang="en-US" dirty="0"/>
              <a:t>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2971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Reliability (average time between breakdowns)</a:t>
            </a:r>
          </a:p>
          <a:p>
            <a:r>
              <a:rPr lang="en-US" sz="2800" dirty="0"/>
              <a:t>Durability (how long an item lasts)</a:t>
            </a:r>
          </a:p>
          <a:p>
            <a:r>
              <a:rPr lang="en-US" sz="2800" dirty="0"/>
              <a:t>Ease of use</a:t>
            </a:r>
          </a:p>
          <a:p>
            <a:r>
              <a:rPr lang="en-US" sz="2800" dirty="0"/>
              <a:t>Known or trusted brand name</a:t>
            </a:r>
          </a:p>
          <a:p>
            <a:r>
              <a:rPr lang="en-US" sz="2800" dirty="0"/>
              <a:t>Low price</a:t>
            </a:r>
          </a:p>
        </p:txBody>
      </p:sp>
      <p:pic>
        <p:nvPicPr>
          <p:cNvPr id="24580" name="Picture 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333750"/>
            <a:ext cx="1514475" cy="288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6919913" y="3338513"/>
            <a:ext cx="11620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1">
                <a:solidFill>
                  <a:schemeClr val="bg2"/>
                </a:solidFill>
                <a:latin typeface="Times New Roman" pitchFamily="18" charset="0"/>
              </a:rPr>
              <a:t>Quality</a:t>
            </a:r>
          </a:p>
        </p:txBody>
      </p:sp>
    </p:spTree>
    <p:extLst>
      <p:ext uri="{BB962C8B-B14F-4D97-AF65-F5344CB8AC3E}">
        <p14:creationId xmlns:p14="http://schemas.microsoft.com/office/powerpoint/2010/main" val="1726985517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457200"/>
            <a:ext cx="7772400" cy="1219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/>
          </a:bodyPr>
          <a:lstStyle/>
          <a:p>
            <a:r>
              <a:rPr lang="en-US" dirty="0"/>
              <a:t>Definition of Quality in a </a:t>
            </a:r>
            <a:r>
              <a:rPr lang="en-US" i="1" dirty="0"/>
              <a:t>Service</a:t>
            </a:r>
            <a:endParaRPr lang="en-US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6019800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Tangibles (equipment, facilities, people)</a:t>
            </a:r>
          </a:p>
          <a:p>
            <a:r>
              <a:rPr lang="en-US" sz="2800" dirty="0"/>
              <a:t>Reliability (doing what you say you will do)</a:t>
            </a:r>
          </a:p>
          <a:p>
            <a:r>
              <a:rPr lang="en-US" sz="2800" dirty="0"/>
              <a:t>Responsiveness (promptness in helping customers)</a:t>
            </a:r>
          </a:p>
          <a:p>
            <a:r>
              <a:rPr lang="en-US" sz="2800" dirty="0"/>
              <a:t>Assurance and empathy (conveying a caring attitude)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</p:txBody>
      </p:sp>
      <p:grpSp>
        <p:nvGrpSpPr>
          <p:cNvPr id="46086" name="Group 6"/>
          <p:cNvGrpSpPr>
            <a:grpSpLocks/>
          </p:cNvGrpSpPr>
          <p:nvPr/>
        </p:nvGrpSpPr>
        <p:grpSpPr bwMode="auto">
          <a:xfrm>
            <a:off x="6705600" y="3333750"/>
            <a:ext cx="1514475" cy="2889250"/>
            <a:chOff x="4224" y="2100"/>
            <a:chExt cx="954" cy="1820"/>
          </a:xfrm>
        </p:grpSpPr>
        <p:pic>
          <p:nvPicPr>
            <p:cNvPr id="46084" name="Picture 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4" y="2100"/>
              <a:ext cx="954" cy="1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6085" name="Rectangle 5"/>
            <p:cNvSpPr>
              <a:spLocks noChangeArrowheads="1"/>
            </p:cNvSpPr>
            <p:nvPr/>
          </p:nvSpPr>
          <p:spPr bwMode="auto">
            <a:xfrm>
              <a:off x="4359" y="2103"/>
              <a:ext cx="73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1">
                  <a:solidFill>
                    <a:schemeClr val="bg2"/>
                  </a:solidFill>
                  <a:latin typeface="Times New Roman" pitchFamily="18" charset="0"/>
                </a:rPr>
                <a:t>Quality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914722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</TotalTime>
  <Words>888</Words>
  <Application>Microsoft Office PowerPoint</Application>
  <PresentationFormat>On-screen Show (4:3)</PresentationFormat>
  <Paragraphs>123</Paragraphs>
  <Slides>16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Office Theme</vt:lpstr>
      <vt:lpstr>Microsoft ClipArt Gallery</vt:lpstr>
      <vt:lpstr>ENTREPRENEURSHIP </vt:lpstr>
      <vt:lpstr> Previous Lecture Review</vt:lpstr>
      <vt:lpstr>OBJECTIVES</vt:lpstr>
      <vt:lpstr>Small Business Marketing Advantage</vt:lpstr>
      <vt:lpstr>Be a Trend-Tracker</vt:lpstr>
      <vt:lpstr>How  to Become an Effective One-to-One Marketer</vt:lpstr>
      <vt:lpstr>Four Levels of Customer Sensitivity</vt:lpstr>
      <vt:lpstr>A Guerrilla Marketing Plan</vt:lpstr>
      <vt:lpstr>Entrepreneurial Marketing Strategies</vt:lpstr>
      <vt:lpstr>Guerrilla Marketing Strategies</vt:lpstr>
      <vt:lpstr>Guerrilla Marketing Strategies</vt:lpstr>
      <vt:lpstr>Focus on the Customer</vt:lpstr>
      <vt:lpstr>Guerrilla Marketing Strategies</vt:lpstr>
      <vt:lpstr>Devotion to Quality</vt:lpstr>
      <vt:lpstr>Definition of Quality in a Product?</vt:lpstr>
      <vt:lpstr>Definition of Quality in a Service</vt:lpstr>
    </vt:vector>
  </TitlesOfParts>
  <Company>MyCompanyName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Muhammad Salar Mehmood</cp:lastModifiedBy>
  <cp:revision>214</cp:revision>
  <dcterms:created xsi:type="dcterms:W3CDTF">2013-10-03T09:43:12Z</dcterms:created>
  <dcterms:modified xsi:type="dcterms:W3CDTF">2020-08-31T06:52:36Z</dcterms:modified>
</cp:coreProperties>
</file>