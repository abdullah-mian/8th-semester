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Default Extension="wav" ContentType="audio/wav"/>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96" r:id="rId2"/>
    <p:sldId id="387" r:id="rId3"/>
    <p:sldId id="433" r:id="rId4"/>
    <p:sldId id="434" r:id="rId5"/>
    <p:sldId id="435" r:id="rId6"/>
    <p:sldId id="436" r:id="rId7"/>
    <p:sldId id="386" r:id="rId8"/>
    <p:sldId id="412" r:id="rId9"/>
    <p:sldId id="437" r:id="rId10"/>
    <p:sldId id="438" r:id="rId11"/>
    <p:sldId id="413" r:id="rId12"/>
    <p:sldId id="414" r:id="rId13"/>
    <p:sldId id="415" r:id="rId14"/>
    <p:sldId id="416" r:id="rId15"/>
    <p:sldId id="417" r:id="rId16"/>
    <p:sldId id="418"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000000"/>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588" autoAdjust="0"/>
    <p:restoredTop sz="94671" autoAdjust="0"/>
  </p:normalViewPr>
  <p:slideViewPr>
    <p:cSldViewPr>
      <p:cViewPr varScale="1">
        <p:scale>
          <a:sx n="103" d="100"/>
          <a:sy n="103" d="100"/>
        </p:scale>
        <p:origin x="-204" y="-84"/>
      </p:cViewPr>
      <p:guideLst>
        <p:guide orient="horz" pos="2160"/>
        <p:guide pos="2880"/>
      </p:guideLst>
    </p:cSldViewPr>
  </p:slideViewPr>
  <p:outlineViewPr>
    <p:cViewPr>
      <p:scale>
        <a:sx n="33" d="100"/>
        <a:sy n="33" d="100"/>
      </p:scale>
      <p:origin x="0" y="9372"/>
    </p:cViewPr>
  </p:outlin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85B88A-C841-402B-B2F9-EDF798484FBC}" type="datetimeFigureOut">
              <a:rPr lang="en-US" smtClean="0"/>
              <a:pPr/>
              <a:t>9/1/2020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0E3A5EB-6F79-4447-ABC5-06DD99348053}" type="slidenum">
              <a:rPr lang="en-US" smtClean="0"/>
              <a:pPr/>
              <a:t>‹#›</a:t>
            </a:fld>
            <a:endParaRPr lang="en-US"/>
          </a:p>
        </p:txBody>
      </p:sp>
    </p:spTree>
    <p:extLst>
      <p:ext uri="{BB962C8B-B14F-4D97-AF65-F5344CB8AC3E}">
        <p14:creationId xmlns="" xmlns:p14="http://schemas.microsoft.com/office/powerpoint/2010/main" val="22778252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4501" eaLnBrk="0" hangingPunct="0">
              <a:defRPr sz="2400">
                <a:solidFill>
                  <a:schemeClr val="tx1"/>
                </a:solidFill>
                <a:latin typeface="Times New Roman" pitchFamily="18" charset="0"/>
              </a:defRPr>
            </a:lvl1pPr>
            <a:lvl2pPr marL="727868" indent="-279949" defTabSz="914501" eaLnBrk="0" hangingPunct="0">
              <a:defRPr sz="2400">
                <a:solidFill>
                  <a:schemeClr val="tx1"/>
                </a:solidFill>
                <a:latin typeface="Times New Roman" pitchFamily="18" charset="0"/>
              </a:defRPr>
            </a:lvl2pPr>
            <a:lvl3pPr marL="1119797" indent="-223959" defTabSz="914501" eaLnBrk="0" hangingPunct="0">
              <a:defRPr sz="2400">
                <a:solidFill>
                  <a:schemeClr val="tx1"/>
                </a:solidFill>
                <a:latin typeface="Times New Roman" pitchFamily="18" charset="0"/>
              </a:defRPr>
            </a:lvl3pPr>
            <a:lvl4pPr marL="1567716" indent="-223959" defTabSz="914501" eaLnBrk="0" hangingPunct="0">
              <a:defRPr sz="2400">
                <a:solidFill>
                  <a:schemeClr val="tx1"/>
                </a:solidFill>
                <a:latin typeface="Times New Roman" pitchFamily="18" charset="0"/>
              </a:defRPr>
            </a:lvl4pPr>
            <a:lvl5pPr marL="2015635" indent="-223959" defTabSz="914501" eaLnBrk="0" hangingPunct="0">
              <a:defRPr sz="2400">
                <a:solidFill>
                  <a:schemeClr val="tx1"/>
                </a:solidFill>
                <a:latin typeface="Times New Roman" pitchFamily="18" charset="0"/>
              </a:defRPr>
            </a:lvl5pPr>
            <a:lvl6pPr marL="2463554" indent="-223959" defTabSz="914501" eaLnBrk="0" fontAlgn="base" hangingPunct="0">
              <a:spcBef>
                <a:spcPct val="0"/>
              </a:spcBef>
              <a:spcAft>
                <a:spcPct val="0"/>
              </a:spcAft>
              <a:defRPr sz="2400">
                <a:solidFill>
                  <a:schemeClr val="tx1"/>
                </a:solidFill>
                <a:latin typeface="Times New Roman" pitchFamily="18" charset="0"/>
              </a:defRPr>
            </a:lvl6pPr>
            <a:lvl7pPr marL="2911472" indent="-223959" defTabSz="914501" eaLnBrk="0" fontAlgn="base" hangingPunct="0">
              <a:spcBef>
                <a:spcPct val="0"/>
              </a:spcBef>
              <a:spcAft>
                <a:spcPct val="0"/>
              </a:spcAft>
              <a:defRPr sz="2400">
                <a:solidFill>
                  <a:schemeClr val="tx1"/>
                </a:solidFill>
                <a:latin typeface="Times New Roman" pitchFamily="18" charset="0"/>
              </a:defRPr>
            </a:lvl7pPr>
            <a:lvl8pPr marL="3359391" indent="-223959" defTabSz="914501" eaLnBrk="0" fontAlgn="base" hangingPunct="0">
              <a:spcBef>
                <a:spcPct val="0"/>
              </a:spcBef>
              <a:spcAft>
                <a:spcPct val="0"/>
              </a:spcAft>
              <a:defRPr sz="2400">
                <a:solidFill>
                  <a:schemeClr val="tx1"/>
                </a:solidFill>
                <a:latin typeface="Times New Roman" pitchFamily="18" charset="0"/>
              </a:defRPr>
            </a:lvl8pPr>
            <a:lvl9pPr marL="3807310" indent="-223959" defTabSz="914501" eaLnBrk="0" fontAlgn="base" hangingPunct="0">
              <a:spcBef>
                <a:spcPct val="0"/>
              </a:spcBef>
              <a:spcAft>
                <a:spcPct val="0"/>
              </a:spcAft>
              <a:defRPr sz="2400">
                <a:solidFill>
                  <a:schemeClr val="tx1"/>
                </a:solidFill>
                <a:latin typeface="Times New Roman" pitchFamily="18" charset="0"/>
              </a:defRPr>
            </a:lvl9pPr>
          </a:lstStyle>
          <a:p>
            <a:fld id="{201D38FF-7897-4B2C-BF53-047740897FCF}" type="slidenum">
              <a:rPr lang="en-GB" sz="1200">
                <a:latin typeface="Tahoma" pitchFamily="34" charset="0"/>
              </a:rPr>
              <a:pPr/>
              <a:t>15</a:t>
            </a:fld>
            <a:endParaRPr lang="en-GB" sz="1200">
              <a:latin typeface="Tahoma" pitchFamily="34" charset="0"/>
            </a:endParaRPr>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GB"/>
              <a:t>If you are doing this as part of a strategy implementation, then first should show where people are at the moment relative to the firm and then show how this would be expected to change as a result of the change.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4501" eaLnBrk="0" hangingPunct="0">
              <a:defRPr sz="2400">
                <a:solidFill>
                  <a:schemeClr val="tx1"/>
                </a:solidFill>
                <a:latin typeface="Times New Roman" pitchFamily="18" charset="0"/>
              </a:defRPr>
            </a:lvl1pPr>
            <a:lvl2pPr marL="727868" indent="-279949" defTabSz="914501" eaLnBrk="0" hangingPunct="0">
              <a:defRPr sz="2400">
                <a:solidFill>
                  <a:schemeClr val="tx1"/>
                </a:solidFill>
                <a:latin typeface="Times New Roman" pitchFamily="18" charset="0"/>
              </a:defRPr>
            </a:lvl2pPr>
            <a:lvl3pPr marL="1119797" indent="-223959" defTabSz="914501" eaLnBrk="0" hangingPunct="0">
              <a:defRPr sz="2400">
                <a:solidFill>
                  <a:schemeClr val="tx1"/>
                </a:solidFill>
                <a:latin typeface="Times New Roman" pitchFamily="18" charset="0"/>
              </a:defRPr>
            </a:lvl3pPr>
            <a:lvl4pPr marL="1567716" indent="-223959" defTabSz="914501" eaLnBrk="0" hangingPunct="0">
              <a:defRPr sz="2400">
                <a:solidFill>
                  <a:schemeClr val="tx1"/>
                </a:solidFill>
                <a:latin typeface="Times New Roman" pitchFamily="18" charset="0"/>
              </a:defRPr>
            </a:lvl4pPr>
            <a:lvl5pPr marL="2015635" indent="-223959" defTabSz="914501" eaLnBrk="0" hangingPunct="0">
              <a:defRPr sz="2400">
                <a:solidFill>
                  <a:schemeClr val="tx1"/>
                </a:solidFill>
                <a:latin typeface="Times New Roman" pitchFamily="18" charset="0"/>
              </a:defRPr>
            </a:lvl5pPr>
            <a:lvl6pPr marL="2463554" indent="-223959" defTabSz="914501" eaLnBrk="0" fontAlgn="base" hangingPunct="0">
              <a:spcBef>
                <a:spcPct val="0"/>
              </a:spcBef>
              <a:spcAft>
                <a:spcPct val="0"/>
              </a:spcAft>
              <a:defRPr sz="2400">
                <a:solidFill>
                  <a:schemeClr val="tx1"/>
                </a:solidFill>
                <a:latin typeface="Times New Roman" pitchFamily="18" charset="0"/>
              </a:defRPr>
            </a:lvl6pPr>
            <a:lvl7pPr marL="2911472" indent="-223959" defTabSz="914501" eaLnBrk="0" fontAlgn="base" hangingPunct="0">
              <a:spcBef>
                <a:spcPct val="0"/>
              </a:spcBef>
              <a:spcAft>
                <a:spcPct val="0"/>
              </a:spcAft>
              <a:defRPr sz="2400">
                <a:solidFill>
                  <a:schemeClr val="tx1"/>
                </a:solidFill>
                <a:latin typeface="Times New Roman" pitchFamily="18" charset="0"/>
              </a:defRPr>
            </a:lvl7pPr>
            <a:lvl8pPr marL="3359391" indent="-223959" defTabSz="914501" eaLnBrk="0" fontAlgn="base" hangingPunct="0">
              <a:spcBef>
                <a:spcPct val="0"/>
              </a:spcBef>
              <a:spcAft>
                <a:spcPct val="0"/>
              </a:spcAft>
              <a:defRPr sz="2400">
                <a:solidFill>
                  <a:schemeClr val="tx1"/>
                </a:solidFill>
                <a:latin typeface="Times New Roman" pitchFamily="18" charset="0"/>
              </a:defRPr>
            </a:lvl8pPr>
            <a:lvl9pPr marL="3807310" indent="-223959" defTabSz="914501" eaLnBrk="0" fontAlgn="base" hangingPunct="0">
              <a:spcBef>
                <a:spcPct val="0"/>
              </a:spcBef>
              <a:spcAft>
                <a:spcPct val="0"/>
              </a:spcAft>
              <a:defRPr sz="2400">
                <a:solidFill>
                  <a:schemeClr val="tx1"/>
                </a:solidFill>
                <a:latin typeface="Times New Roman" pitchFamily="18" charset="0"/>
              </a:defRPr>
            </a:lvl9pPr>
          </a:lstStyle>
          <a:p>
            <a:fld id="{D213B52C-BB5D-4C18-82B7-67C128CD89AE}" type="slidenum">
              <a:rPr lang="en-GB" sz="1200">
                <a:latin typeface="Tahoma" pitchFamily="34" charset="0"/>
              </a:rPr>
              <a:pPr/>
              <a:t>16</a:t>
            </a:fld>
            <a:endParaRPr lang="en-GB" sz="1200">
              <a:latin typeface="Tahoma" pitchFamily="34" charset="0"/>
            </a:endParaRPr>
          </a:p>
        </p:txBody>
      </p:sp>
      <p:sp>
        <p:nvSpPr>
          <p:cNvPr id="24579" name="Rectangle 2"/>
          <p:cNvSpPr>
            <a:spLocks noGrp="1" noRot="1" noChangeAspect="1" noChangeArrowheads="1" noTextEdit="1"/>
          </p:cNvSpPr>
          <p:nvPr>
            <p:ph type="sldImg"/>
          </p:nvPr>
        </p:nvSpPr>
        <p:spPr>
          <a:solidFill>
            <a:srgbClr val="FFFFFF"/>
          </a:solidFill>
          <a:ln/>
        </p:spPr>
      </p:sp>
      <p:sp>
        <p:nvSpPr>
          <p:cNvPr id="24580" name="Rectangle 3"/>
          <p:cNvSpPr>
            <a:spLocks noGrp="1" noChangeArrowheads="1"/>
          </p:cNvSpPr>
          <p:nvPr>
            <p:ph type="body" idx="1"/>
          </p:nvPr>
        </p:nvSpPr>
        <p:spPr>
          <a:solidFill>
            <a:srgbClr val="FFFFFF"/>
          </a:solidFill>
          <a:ln>
            <a:solidFill>
              <a:srgbClr val="000000"/>
            </a:solidFill>
          </a:ln>
        </p:spPr>
        <p:txBody>
          <a:bodyPr/>
          <a:lstStyle/>
          <a:p>
            <a:pPr eaLnBrk="1" hangingPunct="1"/>
            <a:r>
              <a:rPr lang="en-GB"/>
              <a:t>If you are doing this as part of a strategy implementation, then first should show where people are at the moment relative to the firm and then show how this would be expected to change as a result of the change. </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4ABC51B-B2A6-4737-9967-05F848A1C1B3}" type="datetime1">
              <a:rPr lang="en-US" smtClean="0"/>
              <a:pPr/>
              <a:t>9/1/2020</a:t>
            </a:fld>
            <a:endParaRPr lang="en-US"/>
          </a:p>
        </p:txBody>
      </p:sp>
      <p:sp>
        <p:nvSpPr>
          <p:cNvPr id="5" name="Footer Placeholder 4"/>
          <p:cNvSpPr>
            <a:spLocks noGrp="1"/>
          </p:cNvSpPr>
          <p:nvPr>
            <p:ph type="ftr" sz="quarter" idx="11"/>
          </p:nvPr>
        </p:nvSpPr>
        <p:spPr/>
        <p:txBody>
          <a:bodyPr/>
          <a:lstStyle/>
          <a:p>
            <a:r>
              <a:rPr lang="en-US"/>
              <a:t>Chapter 10: Pricing</a:t>
            </a:r>
          </a:p>
        </p:txBody>
      </p:sp>
      <p:sp>
        <p:nvSpPr>
          <p:cNvPr id="6" name="Slide Number Placeholder 5"/>
          <p:cNvSpPr>
            <a:spLocks noGrp="1"/>
          </p:cNvSpPr>
          <p:nvPr>
            <p:ph type="sldNum" sz="quarter" idx="12"/>
          </p:nvPr>
        </p:nvSpPr>
        <p:spPr/>
        <p:txBody>
          <a:bodyPr/>
          <a:lstStyle/>
          <a:p>
            <a:fld id="{E2E19BCC-EB6D-4706-855E-B16354E90296}" type="slidenum">
              <a:rPr lang="en-US" smtClean="0"/>
              <a:pPr/>
              <a:t>‹#›</a:t>
            </a:fld>
            <a:endParaRPr lang="en-US"/>
          </a:p>
        </p:txBody>
      </p:sp>
    </p:spTree>
    <p:extLst>
      <p:ext uri="{BB962C8B-B14F-4D97-AF65-F5344CB8AC3E}">
        <p14:creationId xmlns="" xmlns:p14="http://schemas.microsoft.com/office/powerpoint/2010/main" val="2594157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732CC4C-FE0B-4905-B831-B88F898EDF8B}" type="datetime1">
              <a:rPr lang="en-US" smtClean="0"/>
              <a:pPr/>
              <a:t>9/1/2020</a:t>
            </a:fld>
            <a:endParaRPr lang="en-US"/>
          </a:p>
        </p:txBody>
      </p:sp>
      <p:sp>
        <p:nvSpPr>
          <p:cNvPr id="5" name="Footer Placeholder 4"/>
          <p:cNvSpPr>
            <a:spLocks noGrp="1"/>
          </p:cNvSpPr>
          <p:nvPr>
            <p:ph type="ftr" sz="quarter" idx="11"/>
          </p:nvPr>
        </p:nvSpPr>
        <p:spPr/>
        <p:txBody>
          <a:bodyPr/>
          <a:lstStyle/>
          <a:p>
            <a:r>
              <a:rPr lang="en-US"/>
              <a:t>Chapter 10: Pricing</a:t>
            </a:r>
          </a:p>
        </p:txBody>
      </p:sp>
      <p:sp>
        <p:nvSpPr>
          <p:cNvPr id="6" name="Slide Number Placeholder 5"/>
          <p:cNvSpPr>
            <a:spLocks noGrp="1"/>
          </p:cNvSpPr>
          <p:nvPr>
            <p:ph type="sldNum" sz="quarter" idx="12"/>
          </p:nvPr>
        </p:nvSpPr>
        <p:spPr/>
        <p:txBody>
          <a:bodyPr/>
          <a:lstStyle/>
          <a:p>
            <a:fld id="{E2E19BCC-EB6D-4706-855E-B16354E90296}" type="slidenum">
              <a:rPr lang="en-US" smtClean="0"/>
              <a:pPr/>
              <a:t>‹#›</a:t>
            </a:fld>
            <a:endParaRPr lang="en-US"/>
          </a:p>
        </p:txBody>
      </p:sp>
    </p:spTree>
    <p:extLst>
      <p:ext uri="{BB962C8B-B14F-4D97-AF65-F5344CB8AC3E}">
        <p14:creationId xmlns="" xmlns:p14="http://schemas.microsoft.com/office/powerpoint/2010/main" val="9530927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4920C5-8172-46A5-96FD-A3949B89C1EA}" type="datetime1">
              <a:rPr lang="en-US" smtClean="0"/>
              <a:pPr/>
              <a:t>9/1/2020</a:t>
            </a:fld>
            <a:endParaRPr lang="en-US"/>
          </a:p>
        </p:txBody>
      </p:sp>
      <p:sp>
        <p:nvSpPr>
          <p:cNvPr id="5" name="Footer Placeholder 4"/>
          <p:cNvSpPr>
            <a:spLocks noGrp="1"/>
          </p:cNvSpPr>
          <p:nvPr>
            <p:ph type="ftr" sz="quarter" idx="11"/>
          </p:nvPr>
        </p:nvSpPr>
        <p:spPr/>
        <p:txBody>
          <a:bodyPr/>
          <a:lstStyle/>
          <a:p>
            <a:r>
              <a:rPr lang="en-US"/>
              <a:t>Chapter 10: Pricing</a:t>
            </a:r>
          </a:p>
        </p:txBody>
      </p:sp>
      <p:sp>
        <p:nvSpPr>
          <p:cNvPr id="6" name="Slide Number Placeholder 5"/>
          <p:cNvSpPr>
            <a:spLocks noGrp="1"/>
          </p:cNvSpPr>
          <p:nvPr>
            <p:ph type="sldNum" sz="quarter" idx="12"/>
          </p:nvPr>
        </p:nvSpPr>
        <p:spPr/>
        <p:txBody>
          <a:bodyPr/>
          <a:lstStyle/>
          <a:p>
            <a:fld id="{E2E19BCC-EB6D-4706-855E-B16354E90296}" type="slidenum">
              <a:rPr lang="en-US" smtClean="0"/>
              <a:pPr/>
              <a:t>‹#›</a:t>
            </a:fld>
            <a:endParaRPr lang="en-US"/>
          </a:p>
        </p:txBody>
      </p:sp>
    </p:spTree>
    <p:extLst>
      <p:ext uri="{BB962C8B-B14F-4D97-AF65-F5344CB8AC3E}">
        <p14:creationId xmlns="" xmlns:p14="http://schemas.microsoft.com/office/powerpoint/2010/main" val="36724624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9BBD298-5200-4467-9555-DC2F3D776B5B}" type="datetime1">
              <a:rPr lang="en-US" smtClean="0"/>
              <a:pPr/>
              <a:t>9/1/2020</a:t>
            </a:fld>
            <a:endParaRPr lang="en-US"/>
          </a:p>
        </p:txBody>
      </p:sp>
      <p:sp>
        <p:nvSpPr>
          <p:cNvPr id="6" name="Footer Placeholder 5"/>
          <p:cNvSpPr>
            <a:spLocks noGrp="1"/>
          </p:cNvSpPr>
          <p:nvPr>
            <p:ph type="ftr" sz="quarter" idx="11"/>
          </p:nvPr>
        </p:nvSpPr>
        <p:spPr/>
        <p:txBody>
          <a:bodyPr/>
          <a:lstStyle/>
          <a:p>
            <a:r>
              <a:rPr lang="en-US"/>
              <a:t>Chapter 10: Pricing</a:t>
            </a:r>
          </a:p>
        </p:txBody>
      </p:sp>
      <p:sp>
        <p:nvSpPr>
          <p:cNvPr id="7" name="Slide Number Placeholder 6"/>
          <p:cNvSpPr>
            <a:spLocks noGrp="1"/>
          </p:cNvSpPr>
          <p:nvPr>
            <p:ph type="sldNum" sz="quarter" idx="12"/>
          </p:nvPr>
        </p:nvSpPr>
        <p:spPr/>
        <p:txBody>
          <a:bodyPr/>
          <a:lstStyle/>
          <a:p>
            <a:fld id="{E2E19BCC-EB6D-4706-855E-B16354E90296}" type="slidenum">
              <a:rPr lang="en-US" smtClean="0"/>
              <a:pPr/>
              <a:t>‹#›</a:t>
            </a:fld>
            <a:endParaRPr lang="en-US"/>
          </a:p>
        </p:txBody>
      </p:sp>
    </p:spTree>
    <p:extLst>
      <p:ext uri="{BB962C8B-B14F-4D97-AF65-F5344CB8AC3E}">
        <p14:creationId xmlns="" xmlns:p14="http://schemas.microsoft.com/office/powerpoint/2010/main" val="29021168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120AB6-6275-476F-A307-1032FB66E2BD}" type="datetime1">
              <a:rPr lang="en-US" smtClean="0"/>
              <a:pPr/>
              <a:t>9/1/2020</a:t>
            </a:fld>
            <a:endParaRPr lang="en-US"/>
          </a:p>
        </p:txBody>
      </p:sp>
      <p:sp>
        <p:nvSpPr>
          <p:cNvPr id="8" name="Footer Placeholder 7"/>
          <p:cNvSpPr>
            <a:spLocks noGrp="1"/>
          </p:cNvSpPr>
          <p:nvPr>
            <p:ph type="ftr" sz="quarter" idx="11"/>
          </p:nvPr>
        </p:nvSpPr>
        <p:spPr/>
        <p:txBody>
          <a:bodyPr/>
          <a:lstStyle/>
          <a:p>
            <a:r>
              <a:rPr lang="en-US"/>
              <a:t>Chapter 10: Pricing</a:t>
            </a:r>
          </a:p>
        </p:txBody>
      </p:sp>
      <p:sp>
        <p:nvSpPr>
          <p:cNvPr id="9" name="Slide Number Placeholder 8"/>
          <p:cNvSpPr>
            <a:spLocks noGrp="1"/>
          </p:cNvSpPr>
          <p:nvPr>
            <p:ph type="sldNum" sz="quarter" idx="12"/>
          </p:nvPr>
        </p:nvSpPr>
        <p:spPr/>
        <p:txBody>
          <a:bodyPr/>
          <a:lstStyle/>
          <a:p>
            <a:fld id="{E2E19BCC-EB6D-4706-855E-B16354E90296}" type="slidenum">
              <a:rPr lang="en-US" smtClean="0"/>
              <a:pPr/>
              <a:t>‹#›</a:t>
            </a:fld>
            <a:endParaRPr lang="en-US"/>
          </a:p>
        </p:txBody>
      </p:sp>
    </p:spTree>
    <p:extLst>
      <p:ext uri="{BB962C8B-B14F-4D97-AF65-F5344CB8AC3E}">
        <p14:creationId xmlns="" xmlns:p14="http://schemas.microsoft.com/office/powerpoint/2010/main" val="1873893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9889F66-0B92-488F-867A-4AC3B1B37692}" type="datetime1">
              <a:rPr lang="en-US" smtClean="0"/>
              <a:pPr/>
              <a:t>9/1/2020</a:t>
            </a:fld>
            <a:endParaRPr lang="en-US"/>
          </a:p>
        </p:txBody>
      </p:sp>
      <p:sp>
        <p:nvSpPr>
          <p:cNvPr id="4" name="Footer Placeholder 3"/>
          <p:cNvSpPr>
            <a:spLocks noGrp="1"/>
          </p:cNvSpPr>
          <p:nvPr>
            <p:ph type="ftr" sz="quarter" idx="11"/>
          </p:nvPr>
        </p:nvSpPr>
        <p:spPr/>
        <p:txBody>
          <a:bodyPr/>
          <a:lstStyle/>
          <a:p>
            <a:r>
              <a:rPr lang="en-US"/>
              <a:t>Chapter 10: Pricing</a:t>
            </a:r>
          </a:p>
        </p:txBody>
      </p:sp>
      <p:sp>
        <p:nvSpPr>
          <p:cNvPr id="5" name="Slide Number Placeholder 4"/>
          <p:cNvSpPr>
            <a:spLocks noGrp="1"/>
          </p:cNvSpPr>
          <p:nvPr>
            <p:ph type="sldNum" sz="quarter" idx="12"/>
          </p:nvPr>
        </p:nvSpPr>
        <p:spPr/>
        <p:txBody>
          <a:bodyPr/>
          <a:lstStyle/>
          <a:p>
            <a:fld id="{E2E19BCC-EB6D-4706-855E-B16354E90296}" type="slidenum">
              <a:rPr lang="en-US" smtClean="0"/>
              <a:pPr/>
              <a:t>‹#›</a:t>
            </a:fld>
            <a:endParaRPr lang="en-US"/>
          </a:p>
        </p:txBody>
      </p:sp>
    </p:spTree>
    <p:extLst>
      <p:ext uri="{BB962C8B-B14F-4D97-AF65-F5344CB8AC3E}">
        <p14:creationId xmlns="" xmlns:p14="http://schemas.microsoft.com/office/powerpoint/2010/main" val="37631496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8DFD81-CC09-4EA1-A70F-A60D2DD5D5BE}" type="datetime1">
              <a:rPr lang="en-US" smtClean="0"/>
              <a:pPr/>
              <a:t>9/1/2020</a:t>
            </a:fld>
            <a:endParaRPr lang="en-US"/>
          </a:p>
        </p:txBody>
      </p:sp>
      <p:sp>
        <p:nvSpPr>
          <p:cNvPr id="3" name="Footer Placeholder 2"/>
          <p:cNvSpPr>
            <a:spLocks noGrp="1"/>
          </p:cNvSpPr>
          <p:nvPr>
            <p:ph type="ftr" sz="quarter" idx="11"/>
          </p:nvPr>
        </p:nvSpPr>
        <p:spPr/>
        <p:txBody>
          <a:bodyPr/>
          <a:lstStyle/>
          <a:p>
            <a:r>
              <a:rPr lang="en-US"/>
              <a:t>Chapter 10: Pricing</a:t>
            </a:r>
          </a:p>
        </p:txBody>
      </p:sp>
      <p:sp>
        <p:nvSpPr>
          <p:cNvPr id="4" name="Slide Number Placeholder 3"/>
          <p:cNvSpPr>
            <a:spLocks noGrp="1"/>
          </p:cNvSpPr>
          <p:nvPr>
            <p:ph type="sldNum" sz="quarter" idx="12"/>
          </p:nvPr>
        </p:nvSpPr>
        <p:spPr/>
        <p:txBody>
          <a:bodyPr/>
          <a:lstStyle/>
          <a:p>
            <a:fld id="{E2E19BCC-EB6D-4706-855E-B16354E90296}" type="slidenum">
              <a:rPr lang="en-US" smtClean="0"/>
              <a:pPr/>
              <a:t>‹#›</a:t>
            </a:fld>
            <a:endParaRPr lang="en-US"/>
          </a:p>
        </p:txBody>
      </p:sp>
    </p:spTree>
    <p:extLst>
      <p:ext uri="{BB962C8B-B14F-4D97-AF65-F5344CB8AC3E}">
        <p14:creationId xmlns="" xmlns:p14="http://schemas.microsoft.com/office/powerpoint/2010/main" val="11268827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7403200-B094-4008-AE9D-28829170BA21}" type="datetime1">
              <a:rPr lang="en-US" smtClean="0"/>
              <a:pPr/>
              <a:t>9/1/2020</a:t>
            </a:fld>
            <a:endParaRPr lang="en-US"/>
          </a:p>
        </p:txBody>
      </p:sp>
      <p:sp>
        <p:nvSpPr>
          <p:cNvPr id="6" name="Footer Placeholder 5"/>
          <p:cNvSpPr>
            <a:spLocks noGrp="1"/>
          </p:cNvSpPr>
          <p:nvPr>
            <p:ph type="ftr" sz="quarter" idx="11"/>
          </p:nvPr>
        </p:nvSpPr>
        <p:spPr/>
        <p:txBody>
          <a:bodyPr/>
          <a:lstStyle/>
          <a:p>
            <a:r>
              <a:rPr lang="en-US"/>
              <a:t>Chapter 10: Pricing</a:t>
            </a:r>
          </a:p>
        </p:txBody>
      </p:sp>
      <p:sp>
        <p:nvSpPr>
          <p:cNvPr id="7" name="Slide Number Placeholder 6"/>
          <p:cNvSpPr>
            <a:spLocks noGrp="1"/>
          </p:cNvSpPr>
          <p:nvPr>
            <p:ph type="sldNum" sz="quarter" idx="12"/>
          </p:nvPr>
        </p:nvSpPr>
        <p:spPr/>
        <p:txBody>
          <a:bodyPr/>
          <a:lstStyle/>
          <a:p>
            <a:fld id="{E2E19BCC-EB6D-4706-855E-B16354E90296}" type="slidenum">
              <a:rPr lang="en-US" smtClean="0"/>
              <a:pPr/>
              <a:t>‹#›</a:t>
            </a:fld>
            <a:endParaRPr lang="en-US"/>
          </a:p>
        </p:txBody>
      </p:sp>
    </p:spTree>
    <p:extLst>
      <p:ext uri="{BB962C8B-B14F-4D97-AF65-F5344CB8AC3E}">
        <p14:creationId xmlns="" xmlns:p14="http://schemas.microsoft.com/office/powerpoint/2010/main" val="37416525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DF5D203-9D9C-440F-ADB6-BCFA2244B54B}" type="datetime1">
              <a:rPr lang="en-US" smtClean="0"/>
              <a:pPr/>
              <a:t>9/1/2020</a:t>
            </a:fld>
            <a:endParaRPr lang="en-US"/>
          </a:p>
        </p:txBody>
      </p:sp>
      <p:sp>
        <p:nvSpPr>
          <p:cNvPr id="6" name="Footer Placeholder 5"/>
          <p:cNvSpPr>
            <a:spLocks noGrp="1"/>
          </p:cNvSpPr>
          <p:nvPr>
            <p:ph type="ftr" sz="quarter" idx="11"/>
          </p:nvPr>
        </p:nvSpPr>
        <p:spPr/>
        <p:txBody>
          <a:bodyPr/>
          <a:lstStyle/>
          <a:p>
            <a:r>
              <a:rPr lang="en-US"/>
              <a:t>Chapter 10: Pricing</a:t>
            </a:r>
          </a:p>
        </p:txBody>
      </p:sp>
      <p:sp>
        <p:nvSpPr>
          <p:cNvPr id="7" name="Slide Number Placeholder 6"/>
          <p:cNvSpPr>
            <a:spLocks noGrp="1"/>
          </p:cNvSpPr>
          <p:nvPr>
            <p:ph type="sldNum" sz="quarter" idx="12"/>
          </p:nvPr>
        </p:nvSpPr>
        <p:spPr/>
        <p:txBody>
          <a:bodyPr/>
          <a:lstStyle/>
          <a:p>
            <a:fld id="{E2E19BCC-EB6D-4706-855E-B16354E90296}" type="slidenum">
              <a:rPr lang="en-US" smtClean="0"/>
              <a:pPr/>
              <a:t>‹#›</a:t>
            </a:fld>
            <a:endParaRPr lang="en-US"/>
          </a:p>
        </p:txBody>
      </p:sp>
    </p:spTree>
    <p:extLst>
      <p:ext uri="{BB962C8B-B14F-4D97-AF65-F5344CB8AC3E}">
        <p14:creationId xmlns="" xmlns:p14="http://schemas.microsoft.com/office/powerpoint/2010/main" val="835080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B21C047-6BA1-480C-B052-2EBB7BDA9BCA}" type="datetime1">
              <a:rPr lang="en-US" smtClean="0"/>
              <a:pPr/>
              <a:t>9/1/2020</a:t>
            </a:fld>
            <a:endParaRPr lang="en-US"/>
          </a:p>
        </p:txBody>
      </p:sp>
      <p:sp>
        <p:nvSpPr>
          <p:cNvPr id="5" name="Footer Placeholder 4"/>
          <p:cNvSpPr>
            <a:spLocks noGrp="1"/>
          </p:cNvSpPr>
          <p:nvPr>
            <p:ph type="ftr" sz="quarter" idx="11"/>
          </p:nvPr>
        </p:nvSpPr>
        <p:spPr/>
        <p:txBody>
          <a:bodyPr/>
          <a:lstStyle/>
          <a:p>
            <a:r>
              <a:rPr lang="en-US"/>
              <a:t>Chapter 10: Pricing</a:t>
            </a:r>
          </a:p>
        </p:txBody>
      </p:sp>
      <p:sp>
        <p:nvSpPr>
          <p:cNvPr id="6" name="Slide Number Placeholder 5"/>
          <p:cNvSpPr>
            <a:spLocks noGrp="1"/>
          </p:cNvSpPr>
          <p:nvPr>
            <p:ph type="sldNum" sz="quarter" idx="12"/>
          </p:nvPr>
        </p:nvSpPr>
        <p:spPr/>
        <p:txBody>
          <a:bodyPr/>
          <a:lstStyle/>
          <a:p>
            <a:fld id="{E2E19BCC-EB6D-4706-855E-B16354E90296}" type="slidenum">
              <a:rPr lang="en-US" smtClean="0"/>
              <a:pPr/>
              <a:t>‹#›</a:t>
            </a:fld>
            <a:endParaRPr lang="en-US"/>
          </a:p>
        </p:txBody>
      </p:sp>
    </p:spTree>
    <p:extLst>
      <p:ext uri="{BB962C8B-B14F-4D97-AF65-F5344CB8AC3E}">
        <p14:creationId xmlns="" xmlns:p14="http://schemas.microsoft.com/office/powerpoint/2010/main" val="7707034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8638D00-457A-4865-B64C-A057883009E0}" type="datetime1">
              <a:rPr lang="en-US" smtClean="0"/>
              <a:pPr/>
              <a:t>9/1/2020</a:t>
            </a:fld>
            <a:endParaRPr lang="en-US"/>
          </a:p>
        </p:txBody>
      </p:sp>
      <p:sp>
        <p:nvSpPr>
          <p:cNvPr id="5" name="Footer Placeholder 4"/>
          <p:cNvSpPr>
            <a:spLocks noGrp="1"/>
          </p:cNvSpPr>
          <p:nvPr>
            <p:ph type="ftr" sz="quarter" idx="11"/>
          </p:nvPr>
        </p:nvSpPr>
        <p:spPr/>
        <p:txBody>
          <a:bodyPr/>
          <a:lstStyle/>
          <a:p>
            <a:r>
              <a:rPr lang="en-US"/>
              <a:t>Chapter 10: Pricing</a:t>
            </a:r>
          </a:p>
        </p:txBody>
      </p:sp>
      <p:sp>
        <p:nvSpPr>
          <p:cNvPr id="6" name="Slide Number Placeholder 5"/>
          <p:cNvSpPr>
            <a:spLocks noGrp="1"/>
          </p:cNvSpPr>
          <p:nvPr>
            <p:ph type="sldNum" sz="quarter" idx="12"/>
          </p:nvPr>
        </p:nvSpPr>
        <p:spPr/>
        <p:txBody>
          <a:bodyPr/>
          <a:lstStyle/>
          <a:p>
            <a:fld id="{E2E19BCC-EB6D-4706-855E-B16354E90296}" type="slidenum">
              <a:rPr lang="en-US" smtClean="0"/>
              <a:pPr/>
              <a:t>‹#›</a:t>
            </a:fld>
            <a:endParaRPr lang="en-US"/>
          </a:p>
        </p:txBody>
      </p:sp>
    </p:spTree>
    <p:extLst>
      <p:ext uri="{BB962C8B-B14F-4D97-AF65-F5344CB8AC3E}">
        <p14:creationId xmlns="" xmlns:p14="http://schemas.microsoft.com/office/powerpoint/2010/main" val="28410677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lipArtAndTx">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1173163" y="457200"/>
            <a:ext cx="7772400" cy="1143000"/>
          </a:xfrm>
        </p:spPr>
        <p:txBody>
          <a:bodyPr/>
          <a:lstStyle/>
          <a:p>
            <a:r>
              <a:rPr lang="en-US"/>
              <a:t>Click to edit Master title style</a:t>
            </a:r>
          </a:p>
        </p:txBody>
      </p:sp>
      <p:sp>
        <p:nvSpPr>
          <p:cNvPr id="3" name="ClipArt Placeholder 2"/>
          <p:cNvSpPr>
            <a:spLocks noGrp="1"/>
          </p:cNvSpPr>
          <p:nvPr>
            <p:ph type="clipArt" sz="half" idx="1"/>
          </p:nvPr>
        </p:nvSpPr>
        <p:spPr>
          <a:xfrm>
            <a:off x="1173163" y="1981200"/>
            <a:ext cx="3810000" cy="4114800"/>
          </a:xfrm>
        </p:spPr>
        <p:txBody>
          <a:bodyPr/>
          <a:lstStyle/>
          <a:p>
            <a:pPr lvl="0"/>
            <a:endParaRPr lang="en-US" noProof="0"/>
          </a:p>
        </p:txBody>
      </p:sp>
      <p:sp>
        <p:nvSpPr>
          <p:cNvPr id="4" name="Text Placeholder 3"/>
          <p:cNvSpPr>
            <a:spLocks noGrp="1"/>
          </p:cNvSpPr>
          <p:nvPr>
            <p:ph type="body" sz="half" idx="2"/>
          </p:nvPr>
        </p:nvSpPr>
        <p:spPr>
          <a:xfrm>
            <a:off x="51355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7"/>
          <p:cNvSpPr>
            <a:spLocks noGrp="1" noChangeArrowheads="1"/>
          </p:cNvSpPr>
          <p:nvPr>
            <p:ph type="dt" sz="half" idx="10"/>
          </p:nvPr>
        </p:nvSpPr>
        <p:spPr>
          <a:ln/>
        </p:spPr>
        <p:txBody>
          <a:bodyPr/>
          <a:lstStyle>
            <a:lvl1pPr>
              <a:defRPr/>
            </a:lvl1pPr>
          </a:lstStyle>
          <a:p>
            <a:pPr>
              <a:defRPr/>
            </a:pPr>
            <a:endParaRPr lang="en-US"/>
          </a:p>
        </p:txBody>
      </p:sp>
      <p:sp>
        <p:nvSpPr>
          <p:cNvPr id="6" name="Rectangle 28"/>
          <p:cNvSpPr>
            <a:spLocks noGrp="1" noChangeArrowheads="1"/>
          </p:cNvSpPr>
          <p:nvPr>
            <p:ph type="ftr" sz="quarter" idx="11"/>
          </p:nvPr>
        </p:nvSpPr>
        <p:spPr>
          <a:ln/>
        </p:spPr>
        <p:txBody>
          <a:bodyPr/>
          <a:lstStyle>
            <a:lvl1pPr>
              <a:defRPr/>
            </a:lvl1pPr>
          </a:lstStyle>
          <a:p>
            <a:pPr>
              <a:defRPr/>
            </a:pPr>
            <a:endParaRPr lang="en-US"/>
          </a:p>
        </p:txBody>
      </p:sp>
      <p:sp>
        <p:nvSpPr>
          <p:cNvPr id="7" name="Rectangle 29"/>
          <p:cNvSpPr>
            <a:spLocks noGrp="1" noChangeArrowheads="1"/>
          </p:cNvSpPr>
          <p:nvPr>
            <p:ph type="sldNum" sz="quarter" idx="12"/>
          </p:nvPr>
        </p:nvSpPr>
        <p:spPr>
          <a:ln/>
        </p:spPr>
        <p:txBody>
          <a:bodyPr/>
          <a:lstStyle>
            <a:lvl1pPr>
              <a:defRPr/>
            </a:lvl1pPr>
          </a:lstStyle>
          <a:p>
            <a:pPr>
              <a:defRPr/>
            </a:pPr>
            <a:fld id="{AAA53254-595D-4104-AA6C-DD49A60D5568}" type="slidenum">
              <a:rPr lang="en-US"/>
              <a:pPr>
                <a:defRPr/>
              </a:pPr>
              <a:t>‹#›</a:t>
            </a:fld>
            <a:endParaRPr lang="en-US"/>
          </a:p>
        </p:txBody>
      </p:sp>
    </p:spTree>
    <p:extLst>
      <p:ext uri="{BB962C8B-B14F-4D97-AF65-F5344CB8AC3E}">
        <p14:creationId xmlns="" xmlns:p14="http://schemas.microsoft.com/office/powerpoint/2010/main" val="30405065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57BD9E-11AD-4918-BAB9-6ECC9D896167}" type="datetime1">
              <a:rPr lang="en-US" smtClean="0"/>
              <a:pPr/>
              <a:t>9/1/2020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10: Pricing</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E19BCC-EB6D-4706-855E-B16354E90296}" type="slidenum">
              <a:rPr lang="en-US" smtClean="0"/>
              <a:pPr/>
              <a:t>‹#›</a:t>
            </a:fld>
            <a:endParaRPr lang="en-US"/>
          </a:p>
        </p:txBody>
      </p:sp>
    </p:spTree>
    <p:extLst>
      <p:ext uri="{BB962C8B-B14F-4D97-AF65-F5344CB8AC3E}">
        <p14:creationId xmlns="" xmlns:p14="http://schemas.microsoft.com/office/powerpoint/2010/main" val="40309053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audio" Target="../media/audio1.wav"/><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ENTREPRENEURSHIP </a:t>
            </a:r>
          </a:p>
        </p:txBody>
      </p:sp>
      <p:sp>
        <p:nvSpPr>
          <p:cNvPr id="3" name="Content Placeholder 2"/>
          <p:cNvSpPr>
            <a:spLocks noGrp="1"/>
          </p:cNvSpPr>
          <p:nvPr>
            <p:ph idx="1"/>
          </p:nvPr>
        </p:nvSpPr>
        <p:spPr/>
        <p:txBody>
          <a:bodyPr>
            <a:normAutofit/>
          </a:bodyPr>
          <a:lstStyle/>
          <a:p>
            <a:pPr marL="0" indent="0" algn="ctr">
              <a:buNone/>
            </a:pPr>
            <a:r>
              <a:rPr lang="en-US" sz="6000" dirty="0"/>
              <a:t>Lecture No: 26</a:t>
            </a:r>
            <a:endParaRPr lang="en-US" sz="2000" dirty="0"/>
          </a:p>
          <a:p>
            <a:pPr marL="0" indent="0" algn="ctr">
              <a:buNone/>
            </a:pPr>
            <a:endParaRPr lang="en-US" sz="2800" dirty="0"/>
          </a:p>
          <a:p>
            <a:pPr marL="0" indent="0" algn="ctr">
              <a:buNone/>
            </a:pPr>
            <a:r>
              <a:rPr lang="en-US" sz="2800" dirty="0"/>
              <a:t>Resource Person:</a:t>
            </a:r>
          </a:p>
          <a:p>
            <a:pPr marL="0" indent="0" algn="ctr">
              <a:buNone/>
            </a:pPr>
            <a:r>
              <a:rPr lang="en-US" sz="3600" dirty="0"/>
              <a:t>Malik </a:t>
            </a:r>
            <a:r>
              <a:rPr lang="en-US" sz="3600" dirty="0" err="1"/>
              <a:t>Jawad</a:t>
            </a:r>
            <a:r>
              <a:rPr lang="en-US" sz="3600" dirty="0"/>
              <a:t> </a:t>
            </a:r>
            <a:r>
              <a:rPr lang="en-US" sz="3600" dirty="0" err="1"/>
              <a:t>Saboor</a:t>
            </a:r>
            <a:endParaRPr lang="en-US" sz="3600" dirty="0"/>
          </a:p>
          <a:p>
            <a:pPr marL="0" indent="0" algn="ctr">
              <a:buNone/>
            </a:pPr>
            <a:r>
              <a:rPr lang="en-US" sz="2000" dirty="0"/>
              <a:t>Assistant Professor</a:t>
            </a:r>
          </a:p>
          <a:p>
            <a:pPr marL="0" indent="0" algn="ctr">
              <a:buNone/>
            </a:pPr>
            <a:r>
              <a:rPr lang="en-US" sz="2000" dirty="0"/>
              <a:t>Department of Management Sciences</a:t>
            </a:r>
          </a:p>
          <a:p>
            <a:pPr marL="0" indent="0" algn="ctr">
              <a:buNone/>
            </a:pPr>
            <a:r>
              <a:rPr lang="en-US" sz="2000" dirty="0"/>
              <a:t>COMSATS Institute of Information Technology</a:t>
            </a:r>
          </a:p>
          <a:p>
            <a:pPr marL="0" indent="0" algn="ctr">
              <a:buNone/>
            </a:pPr>
            <a:r>
              <a:rPr lang="en-US" sz="2000" dirty="0"/>
              <a:t>Islamabad.</a:t>
            </a:r>
          </a:p>
          <a:p>
            <a:pPr marL="0" indent="0">
              <a:buNone/>
            </a:pPr>
            <a:endParaRPr lang="en-US" dirty="0"/>
          </a:p>
        </p:txBody>
      </p:sp>
    </p:spTree>
    <p:extLst>
      <p:ext uri="{BB962C8B-B14F-4D97-AF65-F5344CB8AC3E}">
        <p14:creationId xmlns="" xmlns:p14="http://schemas.microsoft.com/office/powerpoint/2010/main" val="8419805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228600"/>
            <a:ext cx="8229600" cy="1143000"/>
          </a:xfrm>
        </p:spPr>
        <p:txBody>
          <a:bodyPr/>
          <a:lstStyle/>
          <a:p>
            <a:r>
              <a:rPr lang="en-US" dirty="0"/>
              <a:t> Previous Lecture Review</a:t>
            </a:r>
          </a:p>
        </p:txBody>
      </p:sp>
      <p:pic>
        <p:nvPicPr>
          <p:cNvPr id="7" name="Picture 6"/>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7086600" y="85299"/>
            <a:ext cx="1981104" cy="1927074"/>
          </a:xfrm>
          <a:prstGeom prst="rect">
            <a:avLst/>
          </a:prstGeom>
        </p:spPr>
      </p:pic>
      <p:sp>
        <p:nvSpPr>
          <p:cNvPr id="5" name="TextBox 4"/>
          <p:cNvSpPr txBox="1"/>
          <p:nvPr/>
        </p:nvSpPr>
        <p:spPr>
          <a:xfrm>
            <a:off x="548640" y="2077438"/>
            <a:ext cx="7909560" cy="3108543"/>
          </a:xfrm>
          <a:prstGeom prst="rect">
            <a:avLst/>
          </a:prstGeom>
          <a:noFill/>
        </p:spPr>
        <p:txBody>
          <a:bodyPr wrap="square" rtlCol="0">
            <a:spAutoFit/>
          </a:bodyPr>
          <a:lstStyle/>
          <a:p>
            <a:pPr marL="457200" lvl="0" indent="-457200">
              <a:buFont typeface="Arial" pitchFamily="34" charset="0"/>
              <a:buChar char="•"/>
            </a:pPr>
            <a:r>
              <a:rPr lang="en-US" sz="2800" dirty="0"/>
              <a:t>One-to-One Marketing</a:t>
            </a:r>
          </a:p>
          <a:p>
            <a:pPr marL="457200" lvl="0" indent="-457200">
              <a:buFont typeface="Arial" pitchFamily="34" charset="0"/>
              <a:buChar char="•"/>
            </a:pPr>
            <a:r>
              <a:rPr lang="en-US" sz="2800" dirty="0"/>
              <a:t>Customer Sensitivity</a:t>
            </a:r>
          </a:p>
          <a:p>
            <a:pPr marL="457200" lvl="0" indent="-457200">
              <a:buFont typeface="Arial" pitchFamily="34" charset="0"/>
              <a:buChar char="•"/>
            </a:pPr>
            <a:r>
              <a:rPr lang="en-US" sz="2800" dirty="0"/>
              <a:t>Guerilla Marketing </a:t>
            </a:r>
          </a:p>
          <a:p>
            <a:pPr marL="457200" lvl="0" indent="-457200">
              <a:buFont typeface="Arial" pitchFamily="34" charset="0"/>
              <a:buChar char="•"/>
            </a:pPr>
            <a:r>
              <a:rPr lang="en-US" sz="2800" dirty="0"/>
              <a:t>Competitive Advantage Development through Customer Focus, Quality, Convenience, Innovation, Service &amp; Speed</a:t>
            </a:r>
          </a:p>
          <a:p>
            <a:pPr marL="457200" lvl="0" indent="-457200">
              <a:buFont typeface="Arial" pitchFamily="34" charset="0"/>
              <a:buChar char="•"/>
            </a:pPr>
            <a:r>
              <a:rPr lang="en-US" sz="2800" dirty="0"/>
              <a:t>Benefits of Selling on Web</a:t>
            </a:r>
          </a:p>
        </p:txBody>
      </p:sp>
    </p:spTree>
    <p:extLst>
      <p:ext uri="{BB962C8B-B14F-4D97-AF65-F5344CB8AC3E}">
        <p14:creationId xmlns="" xmlns:p14="http://schemas.microsoft.com/office/powerpoint/2010/main" val="26457340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E" dirty="0"/>
              <a:t>Advantages of </a:t>
            </a:r>
            <a:r>
              <a:rPr lang="en-IE" dirty="0" err="1"/>
              <a:t>Intrapreneuring</a:t>
            </a:r>
            <a:r>
              <a:rPr lang="en-IE" dirty="0"/>
              <a:t> over </a:t>
            </a:r>
            <a:r>
              <a:rPr lang="en-IE" dirty="0" err="1"/>
              <a:t>Entrepreneuring</a:t>
            </a:r>
            <a:endParaRPr lang="en-IE" dirty="0"/>
          </a:p>
        </p:txBody>
      </p:sp>
      <p:sp>
        <p:nvSpPr>
          <p:cNvPr id="3" name="Content Placeholder 2"/>
          <p:cNvSpPr>
            <a:spLocks noGrp="1"/>
          </p:cNvSpPr>
          <p:nvPr>
            <p:ph idx="1"/>
          </p:nvPr>
        </p:nvSpPr>
        <p:spPr/>
        <p:txBody>
          <a:bodyPr/>
          <a:lstStyle/>
          <a:p>
            <a:r>
              <a:rPr lang="en-IE" dirty="0"/>
              <a:t>Capital Sources</a:t>
            </a:r>
          </a:p>
          <a:p>
            <a:r>
              <a:rPr lang="en-IE" dirty="0"/>
              <a:t>Access to customers</a:t>
            </a:r>
          </a:p>
          <a:p>
            <a:r>
              <a:rPr lang="en-IE" dirty="0"/>
              <a:t>Infrastructure</a:t>
            </a:r>
          </a:p>
          <a:p>
            <a:r>
              <a:rPr lang="en-IE" dirty="0"/>
              <a:t>Management Pools</a:t>
            </a:r>
          </a:p>
          <a:p>
            <a:r>
              <a:rPr lang="en-IE" dirty="0"/>
              <a:t>Leverage on an existing business</a:t>
            </a:r>
          </a:p>
          <a:p>
            <a:endParaRPr lang="en-IE" dirty="0"/>
          </a:p>
        </p:txBody>
      </p:sp>
      <p:pic>
        <p:nvPicPr>
          <p:cNvPr id="4" name="Picture 3"/>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6172200" y="4572000"/>
            <a:ext cx="2295525" cy="1990725"/>
          </a:xfrm>
          <a:prstGeom prst="rect">
            <a:avLst/>
          </a:prstGeom>
        </p:spPr>
      </p:pic>
    </p:spTree>
    <p:extLst>
      <p:ext uri="{BB962C8B-B14F-4D97-AF65-F5344CB8AC3E}">
        <p14:creationId xmlns="" xmlns:p14="http://schemas.microsoft.com/office/powerpoint/2010/main" val="20626094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960438"/>
          </a:xfrm>
        </p:spPr>
        <p:txBody>
          <a:bodyPr>
            <a:normAutofit fontScale="90000"/>
          </a:bodyPr>
          <a:lstStyle/>
          <a:p>
            <a:r>
              <a:rPr lang="en-IE" dirty="0"/>
              <a:t>Disadvantages of </a:t>
            </a:r>
            <a:r>
              <a:rPr lang="en-IE" dirty="0" err="1"/>
              <a:t>Intrapreneuring</a:t>
            </a:r>
            <a:r>
              <a:rPr lang="en-IE" dirty="0"/>
              <a:t> over </a:t>
            </a:r>
            <a:r>
              <a:rPr lang="en-IE" dirty="0" err="1"/>
              <a:t>Entrepreneuring</a:t>
            </a:r>
            <a:r>
              <a:rPr lang="en-IE" dirty="0"/>
              <a:t/>
            </a:r>
            <a:br>
              <a:rPr lang="en-IE" dirty="0"/>
            </a:br>
            <a:endParaRPr lang="en-IE" dirty="0"/>
          </a:p>
        </p:txBody>
      </p:sp>
      <p:sp>
        <p:nvSpPr>
          <p:cNvPr id="3" name="Content Placeholder 2"/>
          <p:cNvSpPr>
            <a:spLocks noGrp="1"/>
          </p:cNvSpPr>
          <p:nvPr>
            <p:ph idx="1"/>
          </p:nvPr>
        </p:nvSpPr>
        <p:spPr/>
        <p:txBody>
          <a:bodyPr>
            <a:normAutofit lnSpcReduction="10000"/>
          </a:bodyPr>
          <a:lstStyle/>
          <a:p>
            <a:r>
              <a:rPr lang="en-IE" dirty="0"/>
              <a:t>Continuity of Sponsorship</a:t>
            </a:r>
          </a:p>
          <a:p>
            <a:r>
              <a:rPr lang="en-IE" dirty="0"/>
              <a:t>P &amp; L Focus</a:t>
            </a:r>
          </a:p>
          <a:p>
            <a:r>
              <a:rPr lang="en-IE" dirty="0"/>
              <a:t>Short Term Mentality</a:t>
            </a:r>
          </a:p>
          <a:p>
            <a:r>
              <a:rPr lang="en-IE" dirty="0"/>
              <a:t>Corporate Meddling, Bureaucracy, Decision by committee</a:t>
            </a:r>
          </a:p>
          <a:p>
            <a:r>
              <a:rPr lang="en-IE" dirty="0"/>
              <a:t>Lack of Passion</a:t>
            </a:r>
          </a:p>
          <a:p>
            <a:r>
              <a:rPr lang="en-IE" dirty="0"/>
              <a:t>Have to be big to be material</a:t>
            </a:r>
          </a:p>
          <a:p>
            <a:r>
              <a:rPr lang="en-IE" dirty="0"/>
              <a:t>Aversion to risk</a:t>
            </a:r>
          </a:p>
        </p:txBody>
      </p:sp>
      <p:pic>
        <p:nvPicPr>
          <p:cNvPr id="4" name="Picture 3"/>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6172200" y="3962400"/>
            <a:ext cx="2692400" cy="2692400"/>
          </a:xfrm>
          <a:prstGeom prst="rect">
            <a:avLst/>
          </a:prstGeom>
        </p:spPr>
      </p:pic>
    </p:spTree>
    <p:extLst>
      <p:ext uri="{BB962C8B-B14F-4D97-AF65-F5344CB8AC3E}">
        <p14:creationId xmlns="" xmlns:p14="http://schemas.microsoft.com/office/powerpoint/2010/main" val="31467362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E" dirty="0"/>
              <a:t>How companies can support the process</a:t>
            </a:r>
          </a:p>
        </p:txBody>
      </p:sp>
      <p:sp>
        <p:nvSpPr>
          <p:cNvPr id="3" name="Content Placeholder 2"/>
          <p:cNvSpPr>
            <a:spLocks noGrp="1"/>
          </p:cNvSpPr>
          <p:nvPr>
            <p:ph idx="1"/>
          </p:nvPr>
        </p:nvSpPr>
        <p:spPr/>
        <p:txBody>
          <a:bodyPr>
            <a:normAutofit fontScale="77500" lnSpcReduction="20000"/>
          </a:bodyPr>
          <a:lstStyle/>
          <a:p>
            <a:r>
              <a:rPr lang="en-IE" dirty="0"/>
              <a:t>Shorten the search for funding</a:t>
            </a:r>
          </a:p>
          <a:p>
            <a:r>
              <a:rPr lang="en-IE" dirty="0"/>
              <a:t>Offer a stable pay check as an idea germinates</a:t>
            </a:r>
          </a:p>
          <a:p>
            <a:r>
              <a:rPr lang="en-IE" dirty="0"/>
              <a:t>Find creative ways to reward employees and let them get rich from their creations</a:t>
            </a:r>
          </a:p>
          <a:p>
            <a:r>
              <a:rPr lang="en-IE" dirty="0"/>
              <a:t>Can have longer time horizons than venture capitalists have</a:t>
            </a:r>
          </a:p>
          <a:p>
            <a:r>
              <a:rPr lang="en-IE" dirty="0"/>
              <a:t>Allow people to speak their minds and proceed with their plans if they have sufficient evidence and arguments</a:t>
            </a:r>
          </a:p>
          <a:p>
            <a:r>
              <a:rPr lang="en-IE" dirty="0"/>
              <a:t>Allow employees to take risks without fear of reprisals</a:t>
            </a:r>
          </a:p>
          <a:p>
            <a:r>
              <a:rPr lang="en-IE" dirty="0"/>
              <a:t>Have a formal process for moving an idea from research to product to market.</a:t>
            </a:r>
          </a:p>
          <a:p>
            <a:r>
              <a:rPr lang="en-IE" dirty="0"/>
              <a:t>Understand the right balance between structure and spontaneity</a:t>
            </a:r>
          </a:p>
          <a:p>
            <a:endParaRPr lang="en-IE" dirty="0"/>
          </a:p>
        </p:txBody>
      </p:sp>
      <p:pic>
        <p:nvPicPr>
          <p:cNvPr id="4" name="Picture 3"/>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7777162" y="4953001"/>
            <a:ext cx="1071563" cy="1905000"/>
          </a:xfrm>
          <a:prstGeom prst="rect">
            <a:avLst/>
          </a:prstGeom>
        </p:spPr>
      </p:pic>
    </p:spTree>
    <p:extLst>
      <p:ext uri="{BB962C8B-B14F-4D97-AF65-F5344CB8AC3E}">
        <p14:creationId xmlns="" xmlns:p14="http://schemas.microsoft.com/office/powerpoint/2010/main" val="4391952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E" dirty="0"/>
              <a:t>How companies can support </a:t>
            </a:r>
            <a:r>
              <a:rPr lang="en-IE" dirty="0" err="1"/>
              <a:t>Intrapreneurs</a:t>
            </a:r>
            <a:endParaRPr lang="en-IE" dirty="0"/>
          </a:p>
        </p:txBody>
      </p:sp>
      <p:sp>
        <p:nvSpPr>
          <p:cNvPr id="3" name="Content Placeholder 2"/>
          <p:cNvSpPr>
            <a:spLocks noGrp="1"/>
          </p:cNvSpPr>
          <p:nvPr>
            <p:ph idx="1"/>
          </p:nvPr>
        </p:nvSpPr>
        <p:spPr/>
        <p:txBody>
          <a:bodyPr>
            <a:normAutofit lnSpcReduction="10000"/>
          </a:bodyPr>
          <a:lstStyle/>
          <a:p>
            <a:endParaRPr lang="en-IE" dirty="0"/>
          </a:p>
          <a:p>
            <a:r>
              <a:rPr lang="en-IE" dirty="0"/>
              <a:t>Formation of </a:t>
            </a:r>
            <a:r>
              <a:rPr lang="en-IE" dirty="0" err="1"/>
              <a:t>intrapreneurial</a:t>
            </a:r>
            <a:r>
              <a:rPr lang="en-IE" dirty="0"/>
              <a:t> teams and task forces; </a:t>
            </a:r>
          </a:p>
          <a:p>
            <a:r>
              <a:rPr lang="en-IE" dirty="0"/>
              <a:t> Recruitment of new staff with new ideas;</a:t>
            </a:r>
          </a:p>
          <a:p>
            <a:r>
              <a:rPr lang="en-IE" dirty="0"/>
              <a:t>Application of strategic plans that focus on achieving innovation; and </a:t>
            </a:r>
          </a:p>
          <a:p>
            <a:r>
              <a:rPr lang="en-IE" dirty="0"/>
              <a:t>Establishment of internal research and development programs are likely to see tangible results</a:t>
            </a:r>
          </a:p>
        </p:txBody>
      </p:sp>
      <p:pic>
        <p:nvPicPr>
          <p:cNvPr id="4" name="Picture 3"/>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7467600" y="4572000"/>
            <a:ext cx="1524000" cy="2143125"/>
          </a:xfrm>
          <a:prstGeom prst="rect">
            <a:avLst/>
          </a:prstGeom>
        </p:spPr>
      </p:pic>
    </p:spTree>
    <p:extLst>
      <p:ext uri="{BB962C8B-B14F-4D97-AF65-F5344CB8AC3E}">
        <p14:creationId xmlns="" xmlns:p14="http://schemas.microsoft.com/office/powerpoint/2010/main" val="18268113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49021" y="328282"/>
            <a:ext cx="7772400" cy="1470025"/>
          </a:xfrm>
        </p:spPr>
        <p:txBody>
          <a:bodyPr/>
          <a:lstStyle/>
          <a:p>
            <a:r>
              <a:rPr lang="en-US" dirty="0"/>
              <a:t>OBJECTIVES</a:t>
            </a:r>
          </a:p>
        </p:txBody>
      </p:sp>
      <p:pic>
        <p:nvPicPr>
          <p:cNvPr id="5" name="Picture 4"/>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6813644" y="31845"/>
            <a:ext cx="2330355" cy="2330355"/>
          </a:xfrm>
          <a:prstGeom prst="rect">
            <a:avLst/>
          </a:prstGeom>
        </p:spPr>
      </p:pic>
      <p:sp>
        <p:nvSpPr>
          <p:cNvPr id="6" name="Subtitle 2"/>
          <p:cNvSpPr txBox="1">
            <a:spLocks/>
          </p:cNvSpPr>
          <p:nvPr/>
        </p:nvSpPr>
        <p:spPr>
          <a:xfrm>
            <a:off x="152400" y="1295400"/>
            <a:ext cx="8382000" cy="546024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defRPr/>
            </a:pPr>
            <a:endParaRPr lang="en-US" dirty="0"/>
          </a:p>
        </p:txBody>
      </p:sp>
      <p:sp>
        <p:nvSpPr>
          <p:cNvPr id="3" name="TextBox 2"/>
          <p:cNvSpPr txBox="1"/>
          <p:nvPr/>
        </p:nvSpPr>
        <p:spPr>
          <a:xfrm>
            <a:off x="304800" y="2057399"/>
            <a:ext cx="8686800" cy="1323439"/>
          </a:xfrm>
          <a:prstGeom prst="rect">
            <a:avLst/>
          </a:prstGeom>
          <a:noFill/>
        </p:spPr>
        <p:txBody>
          <a:bodyPr wrap="square" rtlCol="0">
            <a:spAutoFit/>
          </a:bodyPr>
          <a:lstStyle/>
          <a:p>
            <a:pPr marL="342900" indent="-342900">
              <a:buFont typeface="Arial" pitchFamily="34" charset="0"/>
              <a:buChar char="•"/>
            </a:pPr>
            <a:r>
              <a:rPr lang="en-US" sz="4000" dirty="0"/>
              <a:t>Stakeholder’s Management</a:t>
            </a:r>
          </a:p>
          <a:p>
            <a:pPr marL="342900" indent="-342900">
              <a:buFont typeface="Arial" pitchFamily="34" charset="0"/>
              <a:buChar char="•"/>
            </a:pPr>
            <a:endParaRPr lang="en-US" sz="4000" dirty="0"/>
          </a:p>
        </p:txBody>
      </p:sp>
    </p:spTree>
    <p:extLst>
      <p:ext uri="{BB962C8B-B14F-4D97-AF65-F5344CB8AC3E}">
        <p14:creationId xmlns="" xmlns:p14="http://schemas.microsoft.com/office/powerpoint/2010/main" val="35112062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dirty="0"/>
              <a:t>Stakeholder in Lexical Terms</a:t>
            </a:r>
          </a:p>
        </p:txBody>
      </p:sp>
      <p:pic>
        <p:nvPicPr>
          <p:cNvPr id="157701" name="Picture 5"/>
          <p:cNvPicPr>
            <a:picLocks noGrp="1" noChangeAspect="1" noChangeArrowheads="1"/>
          </p:cNvPicPr>
          <p:nvPr>
            <p:ph type="clipArt" sz="half" idx="1"/>
          </p:nvPr>
        </p:nvPicPr>
        <p:blipFill>
          <a:blip r:embed="rId2" cstate="print">
            <a:extLst>
              <a:ext uri="{28A0092B-C50C-407E-A947-70E740481C1C}">
                <a14:useLocalDpi xmlns="" xmlns:a14="http://schemas.microsoft.com/office/drawing/2010/main" val="0"/>
              </a:ext>
            </a:extLst>
          </a:blip>
          <a:srcRect/>
          <a:stretch>
            <a:fillRect/>
          </a:stretch>
        </p:blipFill>
        <p:spPr>
          <a:xfrm>
            <a:off x="1524000" y="2057400"/>
            <a:ext cx="6781800" cy="4103688"/>
          </a:xfrm>
          <a:noFill/>
        </p:spPr>
      </p:pic>
    </p:spTree>
    <p:extLst>
      <p:ext uri="{BB962C8B-B14F-4D97-AF65-F5344CB8AC3E}">
        <p14:creationId xmlns="" xmlns:p14="http://schemas.microsoft.com/office/powerpoint/2010/main" val="27200963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withEffect">
                                  <p:stCondLst>
                                    <p:cond delay="0"/>
                                  </p:stCondLst>
                                  <p:childTnLst>
                                    <p:set>
                                      <p:cBhvr>
                                        <p:cTn id="6" dur="1" fill="hold">
                                          <p:stCondLst>
                                            <p:cond delay="0"/>
                                          </p:stCondLst>
                                        </p:cTn>
                                        <p:tgtEl>
                                          <p:spTgt spid="157701"/>
                                        </p:tgtEl>
                                        <p:attrNameLst>
                                          <p:attrName>style.visibility</p:attrName>
                                        </p:attrNameLst>
                                      </p:cBhvr>
                                      <p:to>
                                        <p:strVal val="visible"/>
                                      </p:to>
                                    </p:set>
                                    <p:anim calcmode="lin" valueType="num">
                                      <p:cBhvr additive="base">
                                        <p:cTn id="7" dur="500" fill="hold"/>
                                        <p:tgtEl>
                                          <p:spTgt spid="157701"/>
                                        </p:tgtEl>
                                        <p:attrNameLst>
                                          <p:attrName>ppt_x</p:attrName>
                                        </p:attrNameLst>
                                      </p:cBhvr>
                                      <p:tavLst>
                                        <p:tav tm="0">
                                          <p:val>
                                            <p:strVal val="0-#ppt_w/2"/>
                                          </p:val>
                                        </p:tav>
                                        <p:tav tm="100000">
                                          <p:val>
                                            <p:strVal val="#ppt_x"/>
                                          </p:val>
                                        </p:tav>
                                      </p:tavLst>
                                    </p:anim>
                                    <p:anim calcmode="lin" valueType="num">
                                      <p:cBhvr additive="base">
                                        <p:cTn id="8" dur="500" fill="hold"/>
                                        <p:tgtEl>
                                          <p:spTgt spid="15770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E" dirty="0"/>
              <a:t>How companies can support </a:t>
            </a:r>
            <a:r>
              <a:rPr lang="en-IE" dirty="0" err="1"/>
              <a:t>Intrapreneurs</a:t>
            </a:r>
            <a:endParaRPr lang="en-IE" dirty="0"/>
          </a:p>
        </p:txBody>
      </p:sp>
      <p:sp>
        <p:nvSpPr>
          <p:cNvPr id="3" name="Content Placeholder 2"/>
          <p:cNvSpPr>
            <a:spLocks noGrp="1"/>
          </p:cNvSpPr>
          <p:nvPr>
            <p:ph idx="1"/>
          </p:nvPr>
        </p:nvSpPr>
        <p:spPr/>
        <p:txBody>
          <a:bodyPr>
            <a:normAutofit fontScale="85000" lnSpcReduction="20000"/>
          </a:bodyPr>
          <a:lstStyle/>
          <a:p>
            <a:r>
              <a:rPr lang="en-IE" dirty="0"/>
              <a:t>Support from top level management –</a:t>
            </a:r>
          </a:p>
          <a:p>
            <a:pPr lvl="1"/>
            <a:r>
              <a:rPr lang="en-IE" dirty="0"/>
              <a:t>This support should not simply consist of passive approval of innovative ways of thinking. Ideally, it should also take the form of active support, such as can be seen in mentoring relationships. </a:t>
            </a:r>
          </a:p>
          <a:p>
            <a:pPr lvl="1"/>
            <a:r>
              <a:rPr lang="en-IE" dirty="0"/>
              <a:t>Recognition that the style of </a:t>
            </a:r>
            <a:r>
              <a:rPr lang="en-IE" dirty="0" err="1"/>
              <a:t>intrapreneurialism</a:t>
            </a:r>
            <a:r>
              <a:rPr lang="en-IE" dirty="0"/>
              <a:t> that is encouraged needs to be compatible with business operations and the organization's overall culture.</a:t>
            </a:r>
          </a:p>
          <a:p>
            <a:pPr lvl="1"/>
            <a:r>
              <a:rPr lang="en-IE" dirty="0"/>
              <a:t>Ensure that communication systems within the company are strong so that </a:t>
            </a:r>
            <a:r>
              <a:rPr lang="en-IE" dirty="0" err="1"/>
              <a:t>intrapreneurs</a:t>
            </a:r>
            <a:r>
              <a:rPr lang="en-IE" dirty="0"/>
              <a:t> who have new ideas for products or processes can be heard.</a:t>
            </a:r>
          </a:p>
          <a:p>
            <a:pPr lvl="1"/>
            <a:r>
              <a:rPr lang="en-IE" dirty="0"/>
              <a:t>Intelligent allocation of resources to pursue </a:t>
            </a:r>
            <a:r>
              <a:rPr lang="en-IE" dirty="0" err="1"/>
              <a:t>intrapreneurial</a:t>
            </a:r>
            <a:r>
              <a:rPr lang="en-IE" dirty="0"/>
              <a:t> ideas</a:t>
            </a:r>
          </a:p>
        </p:txBody>
      </p:sp>
      <p:pic>
        <p:nvPicPr>
          <p:cNvPr id="4" name="Picture 3"/>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7848600" y="-24599"/>
            <a:ext cx="1152525" cy="1788401"/>
          </a:xfrm>
          <a:prstGeom prst="rect">
            <a:avLst/>
          </a:prstGeom>
        </p:spPr>
      </p:pic>
    </p:spTree>
    <p:extLst>
      <p:ext uri="{BB962C8B-B14F-4D97-AF65-F5344CB8AC3E}">
        <p14:creationId xmlns="" xmlns:p14="http://schemas.microsoft.com/office/powerpoint/2010/main" val="32802757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Corbel" pitchFamily="34" charset="0"/>
              </a:defRPr>
            </a:lvl1pPr>
            <a:lvl2pPr marL="742950" indent="-285750">
              <a:defRPr>
                <a:solidFill>
                  <a:schemeClr val="tx1"/>
                </a:solidFill>
                <a:latin typeface="Corbel" pitchFamily="34" charset="0"/>
              </a:defRPr>
            </a:lvl2pPr>
            <a:lvl3pPr marL="1143000" indent="-228600">
              <a:defRPr>
                <a:solidFill>
                  <a:schemeClr val="tx1"/>
                </a:solidFill>
                <a:latin typeface="Corbel" pitchFamily="34" charset="0"/>
              </a:defRPr>
            </a:lvl3pPr>
            <a:lvl4pPr marL="1600200" indent="-228600">
              <a:defRPr>
                <a:solidFill>
                  <a:schemeClr val="tx1"/>
                </a:solidFill>
                <a:latin typeface="Corbel" pitchFamily="34" charset="0"/>
              </a:defRPr>
            </a:lvl4pPr>
            <a:lvl5pPr marL="2057400" indent="-228600">
              <a:defRPr>
                <a:solidFill>
                  <a:schemeClr val="tx1"/>
                </a:solidFill>
                <a:latin typeface="Corbel" pitchFamily="34" charset="0"/>
              </a:defRPr>
            </a:lvl5pPr>
            <a:lvl6pPr marL="2514600" indent="-228600" fontAlgn="base">
              <a:spcBef>
                <a:spcPct val="0"/>
              </a:spcBef>
              <a:spcAft>
                <a:spcPct val="0"/>
              </a:spcAft>
              <a:defRPr>
                <a:solidFill>
                  <a:schemeClr val="tx1"/>
                </a:solidFill>
                <a:latin typeface="Corbel" pitchFamily="34" charset="0"/>
              </a:defRPr>
            </a:lvl6pPr>
            <a:lvl7pPr marL="2971800" indent="-228600" fontAlgn="base">
              <a:spcBef>
                <a:spcPct val="0"/>
              </a:spcBef>
              <a:spcAft>
                <a:spcPct val="0"/>
              </a:spcAft>
              <a:defRPr>
                <a:solidFill>
                  <a:schemeClr val="tx1"/>
                </a:solidFill>
                <a:latin typeface="Corbel" pitchFamily="34" charset="0"/>
              </a:defRPr>
            </a:lvl7pPr>
            <a:lvl8pPr marL="3429000" indent="-228600" fontAlgn="base">
              <a:spcBef>
                <a:spcPct val="0"/>
              </a:spcBef>
              <a:spcAft>
                <a:spcPct val="0"/>
              </a:spcAft>
              <a:defRPr>
                <a:solidFill>
                  <a:schemeClr val="tx1"/>
                </a:solidFill>
                <a:latin typeface="Corbel" pitchFamily="34" charset="0"/>
              </a:defRPr>
            </a:lvl8pPr>
            <a:lvl9pPr marL="3886200" indent="-228600" fontAlgn="base">
              <a:spcBef>
                <a:spcPct val="0"/>
              </a:spcBef>
              <a:spcAft>
                <a:spcPct val="0"/>
              </a:spcAft>
              <a:defRPr>
                <a:solidFill>
                  <a:schemeClr val="tx1"/>
                </a:solidFill>
                <a:latin typeface="Corbel" pitchFamily="34" charset="0"/>
              </a:defRPr>
            </a:lvl9pPr>
          </a:lstStyle>
          <a:p>
            <a:pPr fontAlgn="base">
              <a:spcBef>
                <a:spcPct val="0"/>
              </a:spcBef>
              <a:spcAft>
                <a:spcPct val="0"/>
              </a:spcAft>
            </a:pPr>
            <a:fld id="{78C477FE-4946-46CE-AB78-1FD539B1B120}" type="slidenum">
              <a:rPr lang="en-GB" altLang="en-US">
                <a:solidFill>
                  <a:schemeClr val="tx2"/>
                </a:solidFill>
              </a:rPr>
              <a:pPr fontAlgn="base">
                <a:spcBef>
                  <a:spcPct val="0"/>
                </a:spcBef>
                <a:spcAft>
                  <a:spcPct val="0"/>
                </a:spcAft>
              </a:pPr>
              <a:t>10</a:t>
            </a:fld>
            <a:endParaRPr lang="en-GB" altLang="en-US">
              <a:solidFill>
                <a:schemeClr val="tx2"/>
              </a:solidFill>
            </a:endParaRPr>
          </a:p>
        </p:txBody>
      </p:sp>
      <p:sp>
        <p:nvSpPr>
          <p:cNvPr id="21506" name="Rectangle 2"/>
          <p:cNvSpPr>
            <a:spLocks noGrp="1" noChangeArrowheads="1"/>
          </p:cNvSpPr>
          <p:nvPr>
            <p:ph type="title"/>
          </p:nvPr>
        </p:nvSpPr>
        <p:spPr/>
        <p:txBody>
          <a:bodyPr>
            <a:normAutofit fontScale="90000"/>
          </a:bodyPr>
          <a:lstStyle/>
          <a:p>
            <a:pPr fontAlgn="auto">
              <a:spcAft>
                <a:spcPts val="0"/>
              </a:spcAft>
              <a:defRPr/>
            </a:pPr>
            <a:r>
              <a:rPr lang="en-GB" dirty="0">
                <a:solidFill>
                  <a:schemeClr val="tx2">
                    <a:satMod val="200000"/>
                  </a:schemeClr>
                </a:solidFill>
              </a:rPr>
              <a:t>10 Commandments of Intrapreneurs</a:t>
            </a:r>
          </a:p>
        </p:txBody>
      </p:sp>
      <p:sp>
        <p:nvSpPr>
          <p:cNvPr id="21507" name="Rectangle 3"/>
          <p:cNvSpPr>
            <a:spLocks noGrp="1" noChangeArrowheads="1"/>
          </p:cNvSpPr>
          <p:nvPr>
            <p:ph type="body" idx="1"/>
          </p:nvPr>
        </p:nvSpPr>
        <p:spPr/>
        <p:txBody>
          <a:bodyPr>
            <a:normAutofit/>
          </a:bodyPr>
          <a:lstStyle/>
          <a:p>
            <a:pPr marL="411480" fontAlgn="auto">
              <a:lnSpc>
                <a:spcPct val="90000"/>
              </a:lnSpc>
              <a:spcAft>
                <a:spcPts val="0"/>
              </a:spcAft>
              <a:buFont typeface="Wingdings"/>
              <a:buChar char=""/>
              <a:defRPr/>
            </a:pPr>
            <a:r>
              <a:rPr lang="en-GB" sz="2100" dirty="0"/>
              <a:t>Do any job to make your project work, regardless of your job description</a:t>
            </a:r>
          </a:p>
          <a:p>
            <a:pPr marL="411480" fontAlgn="auto">
              <a:lnSpc>
                <a:spcPct val="90000"/>
              </a:lnSpc>
              <a:spcAft>
                <a:spcPts val="0"/>
              </a:spcAft>
              <a:buFont typeface="Wingdings"/>
              <a:buChar char=""/>
              <a:defRPr/>
            </a:pPr>
            <a:r>
              <a:rPr lang="en-GB" sz="2100" dirty="0"/>
              <a:t>Share credit </a:t>
            </a:r>
            <a:r>
              <a:rPr lang="en-GB" sz="2100" dirty="0">
                <a:solidFill>
                  <a:srgbClr val="FFFF00"/>
                </a:solidFill>
                <a:effectLst>
                  <a:outerShdw blurRad="38100" dist="38100" dir="2700000" algn="tl">
                    <a:srgbClr val="000000">
                      <a:alpha val="43137"/>
                    </a:srgbClr>
                  </a:outerShdw>
                </a:effectLst>
              </a:rPr>
              <a:t>(for success) </a:t>
            </a:r>
            <a:r>
              <a:rPr lang="en-GB" sz="2100" dirty="0"/>
              <a:t>wisely</a:t>
            </a:r>
          </a:p>
          <a:p>
            <a:pPr marL="411480" fontAlgn="auto">
              <a:lnSpc>
                <a:spcPct val="90000"/>
              </a:lnSpc>
              <a:spcAft>
                <a:spcPts val="0"/>
              </a:spcAft>
              <a:buFont typeface="Wingdings"/>
              <a:buChar char=""/>
              <a:defRPr/>
            </a:pPr>
            <a:r>
              <a:rPr lang="en-GB" sz="2100" dirty="0"/>
              <a:t>It is easier to ask for forgiveness than permission</a:t>
            </a:r>
          </a:p>
          <a:p>
            <a:pPr marL="411480" fontAlgn="auto">
              <a:lnSpc>
                <a:spcPct val="90000"/>
              </a:lnSpc>
              <a:spcAft>
                <a:spcPts val="0"/>
              </a:spcAft>
              <a:buFont typeface="Wingdings"/>
              <a:buChar char=""/>
              <a:defRPr/>
            </a:pPr>
            <a:r>
              <a:rPr lang="en-GB" sz="2100" dirty="0"/>
              <a:t>Come to work each day willing to be fired</a:t>
            </a:r>
          </a:p>
          <a:p>
            <a:pPr marL="411480" fontAlgn="auto">
              <a:lnSpc>
                <a:spcPct val="90000"/>
              </a:lnSpc>
              <a:spcAft>
                <a:spcPts val="0"/>
              </a:spcAft>
              <a:buFont typeface="Wingdings"/>
              <a:buChar char=""/>
              <a:defRPr/>
            </a:pPr>
            <a:r>
              <a:rPr lang="en-GB" sz="2100" dirty="0"/>
              <a:t>Ask for advice before asking for resources</a:t>
            </a:r>
          </a:p>
          <a:p>
            <a:pPr marL="411480" fontAlgn="auto">
              <a:lnSpc>
                <a:spcPct val="90000"/>
              </a:lnSpc>
              <a:spcAft>
                <a:spcPts val="0"/>
              </a:spcAft>
              <a:buFont typeface="Wingdings"/>
              <a:buChar char=""/>
              <a:defRPr/>
            </a:pPr>
            <a:r>
              <a:rPr lang="en-GB" sz="2100" dirty="0"/>
              <a:t>Follow your intuition about people, build a team of the best</a:t>
            </a:r>
          </a:p>
          <a:p>
            <a:pPr marL="411480" fontAlgn="auto">
              <a:lnSpc>
                <a:spcPct val="90000"/>
              </a:lnSpc>
              <a:spcAft>
                <a:spcPts val="0"/>
              </a:spcAft>
              <a:buFont typeface="Wingdings"/>
              <a:buChar char=""/>
              <a:defRPr/>
            </a:pPr>
            <a:r>
              <a:rPr lang="en-GB" sz="2100" dirty="0"/>
              <a:t>Build a quiet coalition for your idea; Never bet on a race unless your are running in it</a:t>
            </a:r>
          </a:p>
          <a:p>
            <a:pPr marL="411480" fontAlgn="auto">
              <a:lnSpc>
                <a:spcPct val="90000"/>
              </a:lnSpc>
              <a:spcAft>
                <a:spcPts val="0"/>
              </a:spcAft>
              <a:buFont typeface="Wingdings"/>
              <a:buChar char=""/>
              <a:defRPr/>
            </a:pPr>
            <a:r>
              <a:rPr lang="en-GB" sz="2100" dirty="0"/>
              <a:t>Be true to your goals, but realistic about ways to achieve them</a:t>
            </a:r>
          </a:p>
          <a:p>
            <a:pPr marL="411480" fontAlgn="auto">
              <a:lnSpc>
                <a:spcPct val="90000"/>
              </a:lnSpc>
              <a:spcAft>
                <a:spcPts val="0"/>
              </a:spcAft>
              <a:buFont typeface="Wingdings"/>
              <a:buChar char=""/>
              <a:defRPr/>
            </a:pPr>
            <a:r>
              <a:rPr lang="en-GB" sz="2100" dirty="0"/>
              <a:t>Honour your sponsors</a:t>
            </a:r>
          </a:p>
        </p:txBody>
      </p:sp>
      <p:pic>
        <p:nvPicPr>
          <p:cNvPr id="2" name="Picture 1"/>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7620000" y="1524000"/>
            <a:ext cx="1524000" cy="2590800"/>
          </a:xfrm>
          <a:prstGeom prst="rect">
            <a:avLst/>
          </a:prstGeom>
        </p:spPr>
      </p:pic>
    </p:spTree>
    <p:extLst>
      <p:ext uri="{BB962C8B-B14F-4D97-AF65-F5344CB8AC3E}">
        <p14:creationId xmlns="" xmlns:p14="http://schemas.microsoft.com/office/powerpoint/2010/main" val="323358899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1506"/>
                                        </p:tgtEl>
                                        <p:attrNameLst>
                                          <p:attrName>style.visibility</p:attrName>
                                        </p:attrNameLst>
                                      </p:cBhvr>
                                      <p:to>
                                        <p:strVal val="visible"/>
                                      </p:to>
                                    </p:set>
                                    <p:animEffect transition="in" filter="fade">
                                      <p:cBhvr>
                                        <p:cTn id="10" dur="2000"/>
                                        <p:tgtEl>
                                          <p:spTgt spid="2150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1507">
                                            <p:txEl>
                                              <p:pRg st="0" end="0"/>
                                            </p:txEl>
                                          </p:spTgt>
                                        </p:tgtEl>
                                        <p:attrNameLst>
                                          <p:attrName>style.visibility</p:attrName>
                                        </p:attrNameLst>
                                      </p:cBhvr>
                                      <p:to>
                                        <p:strVal val="visible"/>
                                      </p:to>
                                    </p:set>
                                    <p:animEffect transition="in" filter="fade">
                                      <p:cBhvr>
                                        <p:cTn id="13" dur="2000"/>
                                        <p:tgtEl>
                                          <p:spTgt spid="21507">
                                            <p:txEl>
                                              <p:pRg st="0" end="0"/>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1507">
                                            <p:txEl>
                                              <p:pRg st="1" end="1"/>
                                            </p:txEl>
                                          </p:spTgt>
                                        </p:tgtEl>
                                        <p:attrNameLst>
                                          <p:attrName>style.visibility</p:attrName>
                                        </p:attrNameLst>
                                      </p:cBhvr>
                                      <p:to>
                                        <p:strVal val="visible"/>
                                      </p:to>
                                    </p:set>
                                    <p:animEffect transition="in" filter="fade">
                                      <p:cBhvr>
                                        <p:cTn id="16" dur="2000"/>
                                        <p:tgtEl>
                                          <p:spTgt spid="21507">
                                            <p:txEl>
                                              <p:pRg st="1" end="1"/>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1507">
                                            <p:txEl>
                                              <p:pRg st="2" end="2"/>
                                            </p:txEl>
                                          </p:spTgt>
                                        </p:tgtEl>
                                        <p:attrNameLst>
                                          <p:attrName>style.visibility</p:attrName>
                                        </p:attrNameLst>
                                      </p:cBhvr>
                                      <p:to>
                                        <p:strVal val="visible"/>
                                      </p:to>
                                    </p:set>
                                    <p:animEffect transition="in" filter="fade">
                                      <p:cBhvr>
                                        <p:cTn id="19" dur="2000"/>
                                        <p:tgtEl>
                                          <p:spTgt spid="21507">
                                            <p:txEl>
                                              <p:pRg st="2" end="2"/>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507">
                                            <p:txEl>
                                              <p:pRg st="3" end="3"/>
                                            </p:txEl>
                                          </p:spTgt>
                                        </p:tgtEl>
                                        <p:attrNameLst>
                                          <p:attrName>style.visibility</p:attrName>
                                        </p:attrNameLst>
                                      </p:cBhvr>
                                      <p:to>
                                        <p:strVal val="visible"/>
                                      </p:to>
                                    </p:set>
                                    <p:animEffect transition="in" filter="fade">
                                      <p:cBhvr>
                                        <p:cTn id="22" dur="2000"/>
                                        <p:tgtEl>
                                          <p:spTgt spid="21507">
                                            <p:txEl>
                                              <p:pRg st="3" end="3"/>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507">
                                            <p:txEl>
                                              <p:pRg st="4" end="4"/>
                                            </p:txEl>
                                          </p:spTgt>
                                        </p:tgtEl>
                                        <p:attrNameLst>
                                          <p:attrName>style.visibility</p:attrName>
                                        </p:attrNameLst>
                                      </p:cBhvr>
                                      <p:to>
                                        <p:strVal val="visible"/>
                                      </p:to>
                                    </p:set>
                                    <p:animEffect transition="in" filter="fade">
                                      <p:cBhvr>
                                        <p:cTn id="25" dur="2000"/>
                                        <p:tgtEl>
                                          <p:spTgt spid="21507">
                                            <p:txEl>
                                              <p:pRg st="4" end="4"/>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1507">
                                            <p:txEl>
                                              <p:pRg st="5" end="5"/>
                                            </p:txEl>
                                          </p:spTgt>
                                        </p:tgtEl>
                                        <p:attrNameLst>
                                          <p:attrName>style.visibility</p:attrName>
                                        </p:attrNameLst>
                                      </p:cBhvr>
                                      <p:to>
                                        <p:strVal val="visible"/>
                                      </p:to>
                                    </p:set>
                                    <p:animEffect transition="in" filter="fade">
                                      <p:cBhvr>
                                        <p:cTn id="28" dur="2000"/>
                                        <p:tgtEl>
                                          <p:spTgt spid="21507">
                                            <p:txEl>
                                              <p:pRg st="5" end="5"/>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507">
                                            <p:txEl>
                                              <p:pRg st="6" end="6"/>
                                            </p:txEl>
                                          </p:spTgt>
                                        </p:tgtEl>
                                        <p:attrNameLst>
                                          <p:attrName>style.visibility</p:attrName>
                                        </p:attrNameLst>
                                      </p:cBhvr>
                                      <p:to>
                                        <p:strVal val="visible"/>
                                      </p:to>
                                    </p:set>
                                    <p:animEffect transition="in" filter="fade">
                                      <p:cBhvr>
                                        <p:cTn id="31" dur="2000"/>
                                        <p:tgtEl>
                                          <p:spTgt spid="21507">
                                            <p:txEl>
                                              <p:pRg st="6" end="6"/>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1507">
                                            <p:txEl>
                                              <p:pRg st="7" end="7"/>
                                            </p:txEl>
                                          </p:spTgt>
                                        </p:tgtEl>
                                        <p:attrNameLst>
                                          <p:attrName>style.visibility</p:attrName>
                                        </p:attrNameLst>
                                      </p:cBhvr>
                                      <p:to>
                                        <p:strVal val="visible"/>
                                      </p:to>
                                    </p:set>
                                    <p:animEffect transition="in" filter="fade">
                                      <p:cBhvr>
                                        <p:cTn id="34" dur="2000"/>
                                        <p:tgtEl>
                                          <p:spTgt spid="21507">
                                            <p:txEl>
                                              <p:pRg st="7" end="7"/>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1507">
                                            <p:txEl>
                                              <p:pRg st="8" end="8"/>
                                            </p:txEl>
                                          </p:spTgt>
                                        </p:tgtEl>
                                        <p:attrNameLst>
                                          <p:attrName>style.visibility</p:attrName>
                                        </p:attrNameLst>
                                      </p:cBhvr>
                                      <p:to>
                                        <p:strVal val="visible"/>
                                      </p:to>
                                    </p:set>
                                    <p:animEffect transition="in" filter="fade">
                                      <p:cBhvr>
                                        <p:cTn id="37" dur="2000"/>
                                        <p:tgtEl>
                                          <p:spTgt spid="2150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1506" grpId="0"/>
      <p:bldP spid="21507"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1066800" y="152400"/>
            <a:ext cx="7391400" cy="1143000"/>
          </a:xfrm>
        </p:spPr>
        <p:txBody>
          <a:bodyPr/>
          <a:lstStyle/>
          <a:p>
            <a:pPr eaLnBrk="1" hangingPunct="1"/>
            <a:r>
              <a:rPr lang="en-US" dirty="0"/>
              <a:t>What are Stakeholders?</a:t>
            </a:r>
          </a:p>
        </p:txBody>
      </p:sp>
      <p:sp>
        <p:nvSpPr>
          <p:cNvPr id="6147" name="Rectangle 3"/>
          <p:cNvSpPr>
            <a:spLocks noGrp="1" noChangeArrowheads="1"/>
          </p:cNvSpPr>
          <p:nvPr>
            <p:ph type="body" idx="1"/>
          </p:nvPr>
        </p:nvSpPr>
        <p:spPr/>
        <p:txBody>
          <a:bodyPr/>
          <a:lstStyle/>
          <a:p>
            <a:pPr eaLnBrk="1" hangingPunct="1">
              <a:buFont typeface="Wingdings" pitchFamily="2" charset="2"/>
              <a:buNone/>
            </a:pPr>
            <a:r>
              <a:rPr lang="en-US" dirty="0"/>
              <a:t>	Individuals and groups with a multitude of interests, expectations, and demands as to what business </a:t>
            </a:r>
            <a:r>
              <a:rPr lang="en-US" i="1" dirty="0"/>
              <a:t>should</a:t>
            </a:r>
            <a:r>
              <a:rPr lang="en-US" dirty="0"/>
              <a:t> provide to society</a:t>
            </a:r>
          </a:p>
        </p:txBody>
      </p:sp>
      <p:pic>
        <p:nvPicPr>
          <p:cNvPr id="4" name="Picture 5"/>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a:xfrm>
            <a:off x="4648200" y="3733800"/>
            <a:ext cx="4343400" cy="2628205"/>
          </a:xfrm>
          <a:prstGeom prst="rect">
            <a:avLst/>
          </a:prstGeom>
          <a:noFill/>
        </p:spPr>
      </p:pic>
    </p:spTree>
    <p:extLst>
      <p:ext uri="{BB962C8B-B14F-4D97-AF65-F5344CB8AC3E}">
        <p14:creationId xmlns="" xmlns:p14="http://schemas.microsoft.com/office/powerpoint/2010/main" val="2376693074"/>
      </p:ext>
    </p:extLst>
  </p:cSld>
  <p:clrMapOvr>
    <a:masterClrMapping/>
  </p:clrMapOvr>
  <p:transition spd="slow">
    <p:wipe dir="r"/>
    <p:sndAc>
      <p:stSnd>
        <p:snd r:embed="rId2" name="CHIMES.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4"/>
          <p:cNvSpPr>
            <a:spLocks noGrp="1" noChangeArrowheads="1"/>
          </p:cNvSpPr>
          <p:nvPr>
            <p:ph type="title"/>
          </p:nvPr>
        </p:nvSpPr>
        <p:spPr>
          <a:xfrm>
            <a:off x="1752600" y="0"/>
            <a:ext cx="7391400" cy="1143000"/>
          </a:xfrm>
        </p:spPr>
        <p:txBody>
          <a:bodyPr>
            <a:normAutofit fontScale="90000"/>
          </a:bodyPr>
          <a:lstStyle/>
          <a:p>
            <a:pPr eaLnBrk="1" hangingPunct="1"/>
            <a:r>
              <a:rPr lang="en-US" dirty="0"/>
              <a:t>Who Are Business Stakeholders?</a:t>
            </a:r>
          </a:p>
        </p:txBody>
      </p:sp>
      <p:pic>
        <p:nvPicPr>
          <p:cNvPr id="92163" name="Picture 3"/>
          <p:cNvPicPr>
            <a:picLocks noChangeAspect="1" noChangeArrowheads="1"/>
          </p:cNvPicPr>
          <p:nvPr/>
        </p:nvPicPr>
        <p:blipFill>
          <a:blip r:embed="rId3">
            <a:extLst>
              <a:ext uri="{28A0092B-C50C-407E-A947-70E740481C1C}">
                <a14:useLocalDpi xmlns="" xmlns:a14="http://schemas.microsoft.com/office/drawing/2010/main" val="0"/>
              </a:ext>
            </a:extLst>
          </a:blip>
          <a:srcRect l="1869" r="1869" b="5661"/>
          <a:stretch>
            <a:fillRect/>
          </a:stretch>
        </p:blipFill>
        <p:spPr bwMode="auto">
          <a:xfrm>
            <a:off x="533400" y="1371600"/>
            <a:ext cx="8001000" cy="51260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 xmlns:p14="http://schemas.microsoft.com/office/powerpoint/2010/main" val="1875631928"/>
      </p:ext>
    </p:extLst>
  </p:cSld>
  <p:clrMapOvr>
    <a:masterClrMapping/>
  </p:clrMapOvr>
  <p:transition spd="slow">
    <p:wipe dir="r"/>
    <p:sndAc>
      <p:stSnd>
        <p:snd r:embed="rId2" name="CHIMES.WAV"/>
      </p:stSnd>
    </p:sndAc>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92163"/>
                                        </p:tgtEl>
                                        <p:attrNameLst>
                                          <p:attrName>style.visibility</p:attrName>
                                        </p:attrNameLst>
                                      </p:cBhvr>
                                      <p:to>
                                        <p:strVal val="visible"/>
                                      </p:to>
                                    </p:set>
                                    <p:anim calcmode="lin" valueType="num">
                                      <p:cBhvr additive="base">
                                        <p:cTn id="7" dur="500" fill="hold"/>
                                        <p:tgtEl>
                                          <p:spTgt spid="92163"/>
                                        </p:tgtEl>
                                        <p:attrNameLst>
                                          <p:attrName>ppt_x</p:attrName>
                                        </p:attrNameLst>
                                      </p:cBhvr>
                                      <p:tavLst>
                                        <p:tav tm="0">
                                          <p:val>
                                            <p:strVal val="0-#ppt_w/2"/>
                                          </p:val>
                                        </p:tav>
                                        <p:tav tm="100000">
                                          <p:val>
                                            <p:strVal val="#ppt_x"/>
                                          </p:val>
                                        </p:tav>
                                      </p:tavLst>
                                    </p:anim>
                                    <p:anim calcmode="lin" valueType="num">
                                      <p:cBhvr additive="base">
                                        <p:cTn id="8" dur="500" fill="hold"/>
                                        <p:tgtEl>
                                          <p:spTgt spid="9216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524000" y="188913"/>
            <a:ext cx="7440613" cy="573087"/>
          </a:xfrm>
        </p:spPr>
        <p:txBody>
          <a:bodyPr>
            <a:normAutofit fontScale="90000"/>
          </a:bodyPr>
          <a:lstStyle/>
          <a:p>
            <a:pPr eaLnBrk="1" hangingPunct="1"/>
            <a:r>
              <a:rPr lang="en-US" dirty="0"/>
              <a:t>Types of Stake</a:t>
            </a:r>
          </a:p>
        </p:txBody>
      </p:sp>
      <p:graphicFrame>
        <p:nvGraphicFramePr>
          <p:cNvPr id="106567" name="Group 71"/>
          <p:cNvGraphicFramePr>
            <a:graphicFrameLocks noGrp="1"/>
          </p:cNvGraphicFramePr>
          <p:nvPr/>
        </p:nvGraphicFramePr>
        <p:xfrm>
          <a:off x="1219200" y="1627188"/>
          <a:ext cx="7543800" cy="4440239"/>
        </p:xfrm>
        <a:graphic>
          <a:graphicData uri="http://schemas.openxmlformats.org/drawingml/2006/table">
            <a:tbl>
              <a:tblPr/>
              <a:tblGrid>
                <a:gridCol w="2057400">
                  <a:extLst>
                    <a:ext uri="{9D8B030D-6E8A-4147-A177-3AD203B41FA5}">
                      <a16:colId xmlns="" xmlns:a16="http://schemas.microsoft.com/office/drawing/2014/main" val="20000"/>
                    </a:ext>
                  </a:extLst>
                </a:gridCol>
                <a:gridCol w="1371600">
                  <a:extLst>
                    <a:ext uri="{9D8B030D-6E8A-4147-A177-3AD203B41FA5}">
                      <a16:colId xmlns="" xmlns:a16="http://schemas.microsoft.com/office/drawing/2014/main" val="20001"/>
                    </a:ext>
                  </a:extLst>
                </a:gridCol>
                <a:gridCol w="1143000">
                  <a:extLst>
                    <a:ext uri="{9D8B030D-6E8A-4147-A177-3AD203B41FA5}">
                      <a16:colId xmlns="" xmlns:a16="http://schemas.microsoft.com/office/drawing/2014/main" val="20002"/>
                    </a:ext>
                  </a:extLst>
                </a:gridCol>
                <a:gridCol w="1219200">
                  <a:extLst>
                    <a:ext uri="{9D8B030D-6E8A-4147-A177-3AD203B41FA5}">
                      <a16:colId xmlns="" xmlns:a16="http://schemas.microsoft.com/office/drawing/2014/main" val="20003"/>
                    </a:ext>
                  </a:extLst>
                </a:gridCol>
                <a:gridCol w="1752600">
                  <a:extLst>
                    <a:ext uri="{9D8B030D-6E8A-4147-A177-3AD203B41FA5}">
                      <a16:colId xmlns="" xmlns:a16="http://schemas.microsoft.com/office/drawing/2014/main" val="20004"/>
                    </a:ext>
                  </a:extLst>
                </a:gridCol>
              </a:tblGrid>
              <a:tr h="573088">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80000"/>
                        <a:buFont typeface="Wingdings" pitchFamily="2" charset="2"/>
                        <a:buNone/>
                        <a:tabLst/>
                      </a:pPr>
                      <a:r>
                        <a:rPr kumimoji="0" lang="en-US" sz="2000" b="1" i="0" u="none" strike="noStrike" cap="none" normalizeH="0" baseline="0">
                          <a:ln>
                            <a:noFill/>
                          </a:ln>
                          <a:solidFill>
                            <a:schemeClr val="tx1"/>
                          </a:solidFill>
                          <a:effectLst/>
                          <a:latin typeface="Arial" charset="0"/>
                        </a:rPr>
                        <a:t>Stakeholders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itchFamily="2" charset="2"/>
                        <a:buNone/>
                        <a:tabLst/>
                      </a:pPr>
                      <a:r>
                        <a:rPr kumimoji="0" lang="en-US" sz="2000" b="0" i="0" u="none" strike="noStrike" cap="none" normalizeH="0" baseline="0">
                          <a:ln>
                            <a:noFill/>
                          </a:ln>
                          <a:solidFill>
                            <a:schemeClr val="tx1"/>
                          </a:solidFill>
                          <a:effectLst/>
                          <a:latin typeface="Arial" charset="0"/>
                        </a:rPr>
                        <a:t>Economic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itchFamily="2" charset="2"/>
                        <a:buNone/>
                        <a:tabLst/>
                      </a:pPr>
                      <a:r>
                        <a:rPr kumimoji="0" lang="en-US" sz="2000" b="0" i="0" u="none" strike="noStrike" cap="none" normalizeH="0" baseline="0">
                          <a:ln>
                            <a:noFill/>
                          </a:ln>
                          <a:solidFill>
                            <a:schemeClr val="tx1"/>
                          </a:solidFill>
                          <a:effectLst/>
                          <a:latin typeface="Arial" charset="0"/>
                        </a:rPr>
                        <a:t>Legal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itchFamily="2" charset="2"/>
                        <a:buNone/>
                        <a:tabLst/>
                      </a:pPr>
                      <a:r>
                        <a:rPr kumimoji="0" lang="en-US" sz="2000" b="0" i="0" u="none" strike="noStrike" cap="none" normalizeH="0" baseline="0">
                          <a:ln>
                            <a:noFill/>
                          </a:ln>
                          <a:solidFill>
                            <a:schemeClr val="tx1"/>
                          </a:solidFill>
                          <a:effectLst/>
                          <a:latin typeface="Arial" charset="0"/>
                        </a:rPr>
                        <a:t>Ethical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itchFamily="2" charset="2"/>
                        <a:buNone/>
                        <a:tabLst/>
                      </a:pPr>
                      <a:r>
                        <a:rPr kumimoji="0" lang="en-US" sz="2000" b="0" i="0" u="none" strike="noStrike" cap="none" normalizeH="0" baseline="0">
                          <a:ln>
                            <a:noFill/>
                          </a:ln>
                          <a:solidFill>
                            <a:schemeClr val="tx1"/>
                          </a:solidFill>
                          <a:effectLst/>
                          <a:latin typeface="Arial" charset="0"/>
                        </a:rPr>
                        <a:t>Philanthropic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569913">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80000"/>
                        <a:buFont typeface="Wingdings" pitchFamily="2" charset="2"/>
                        <a:buNone/>
                        <a:tabLst/>
                      </a:pPr>
                      <a:r>
                        <a:rPr kumimoji="0" lang="en-US" sz="2000" b="0" i="0" u="none" strike="noStrike" cap="none" normalizeH="0" baseline="0">
                          <a:ln>
                            <a:noFill/>
                          </a:ln>
                          <a:solidFill>
                            <a:schemeClr val="tx1"/>
                          </a:solidFill>
                          <a:effectLst/>
                          <a:latin typeface="Arial" charset="0"/>
                        </a:rPr>
                        <a:t>Owners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80000"/>
                        <a:buFont typeface="Wingdings" pitchFamily="2" charset="2"/>
                        <a:buNone/>
                        <a:tabLst/>
                      </a:pPr>
                      <a:endParaRPr kumimoji="0" lang="en-US" sz="20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80000"/>
                        <a:buFont typeface="Wingdings" pitchFamily="2" charset="2"/>
                        <a:buNone/>
                        <a:tabLst/>
                      </a:pPr>
                      <a:endParaRPr kumimoji="0" lang="en-US" sz="20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80000"/>
                        <a:buFont typeface="Wingdings" pitchFamily="2" charset="2"/>
                        <a:buNone/>
                        <a:tabLst/>
                      </a:pPr>
                      <a:endParaRPr kumimoji="0" lang="en-US" sz="20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80000"/>
                        <a:buFont typeface="Wingdings" pitchFamily="2" charset="2"/>
                        <a:buNone/>
                        <a:tabLst/>
                      </a:pPr>
                      <a:endParaRPr kumimoji="0" lang="en-US" sz="20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549275">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80000"/>
                        <a:buFont typeface="Wingdings" pitchFamily="2" charset="2"/>
                        <a:buNone/>
                        <a:tabLst/>
                      </a:pPr>
                      <a:r>
                        <a:rPr kumimoji="0" lang="en-US" sz="2000" b="0" i="0" u="none" strike="noStrike" cap="none" normalizeH="0" baseline="0" dirty="0">
                          <a:ln>
                            <a:noFill/>
                          </a:ln>
                          <a:solidFill>
                            <a:schemeClr val="tx1"/>
                          </a:solidFill>
                          <a:effectLst/>
                          <a:latin typeface="Arial" charset="0"/>
                        </a:rPr>
                        <a:t>Customers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80000"/>
                        <a:buFont typeface="Wingdings" pitchFamily="2" charset="2"/>
                        <a:buNone/>
                        <a:tabLst/>
                      </a:pPr>
                      <a:endParaRPr kumimoji="0" lang="en-US" sz="20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80000"/>
                        <a:buFont typeface="Wingdings" pitchFamily="2" charset="2"/>
                        <a:buNone/>
                        <a:tabLst/>
                      </a:pPr>
                      <a:endParaRPr kumimoji="0" lang="en-US" sz="20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80000"/>
                        <a:buFont typeface="Wingdings" pitchFamily="2" charset="2"/>
                        <a:buNone/>
                        <a:tabLst/>
                      </a:pPr>
                      <a:endParaRPr kumimoji="0" lang="en-US" sz="20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80000"/>
                        <a:buFont typeface="Wingdings" pitchFamily="2" charset="2"/>
                        <a:buNone/>
                        <a:tabLst/>
                      </a:pPr>
                      <a:endParaRPr kumimoji="0" lang="en-US" sz="20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550863">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80000"/>
                        <a:buFont typeface="Wingdings" pitchFamily="2" charset="2"/>
                        <a:buNone/>
                        <a:tabLst/>
                      </a:pPr>
                      <a:r>
                        <a:rPr kumimoji="0" lang="en-US" sz="2000" b="0" i="0" u="none" strike="noStrike" cap="none" normalizeH="0" baseline="0" dirty="0">
                          <a:ln>
                            <a:noFill/>
                          </a:ln>
                          <a:solidFill>
                            <a:schemeClr val="tx1"/>
                          </a:solidFill>
                          <a:effectLst/>
                          <a:latin typeface="Arial" charset="0"/>
                        </a:rPr>
                        <a:t>Employees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80000"/>
                        <a:buFont typeface="Wingdings" pitchFamily="2" charset="2"/>
                        <a:buNone/>
                        <a:tabLst/>
                      </a:pPr>
                      <a:endParaRPr kumimoji="0" lang="en-US" sz="20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80000"/>
                        <a:buFont typeface="Wingdings" pitchFamily="2" charset="2"/>
                        <a:buNone/>
                        <a:tabLst/>
                      </a:pPr>
                      <a:endParaRPr kumimoji="0" lang="en-US" sz="20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80000"/>
                        <a:buFont typeface="Wingdings" pitchFamily="2" charset="2"/>
                        <a:buNone/>
                        <a:tabLst/>
                      </a:pPr>
                      <a:endParaRPr kumimoji="0" lang="en-US" sz="20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80000"/>
                        <a:buFont typeface="Wingdings" pitchFamily="2" charset="2"/>
                        <a:buNone/>
                        <a:tabLst/>
                      </a:pPr>
                      <a:endParaRPr kumimoji="0" lang="en-US" sz="20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r h="549275">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80000"/>
                        <a:buFont typeface="Wingdings" pitchFamily="2" charset="2"/>
                        <a:buNone/>
                        <a:tabLst/>
                      </a:pPr>
                      <a:r>
                        <a:rPr kumimoji="0" lang="en-US" sz="2000" b="0" i="0" u="none" strike="noStrike" cap="none" normalizeH="0" baseline="0">
                          <a:ln>
                            <a:noFill/>
                          </a:ln>
                          <a:solidFill>
                            <a:schemeClr val="tx1"/>
                          </a:solidFill>
                          <a:effectLst/>
                          <a:latin typeface="Arial" charset="0"/>
                        </a:rPr>
                        <a:t>Community</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80000"/>
                        <a:buFont typeface="Wingdings" pitchFamily="2" charset="2"/>
                        <a:buNone/>
                        <a:tabLst/>
                      </a:pPr>
                      <a:endParaRPr kumimoji="0" lang="en-US" sz="20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80000"/>
                        <a:buFont typeface="Wingdings" pitchFamily="2" charset="2"/>
                        <a:buNone/>
                        <a:tabLst/>
                      </a:pPr>
                      <a:endParaRPr kumimoji="0" lang="en-US" sz="20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80000"/>
                        <a:buFont typeface="Wingdings" pitchFamily="2" charset="2"/>
                        <a:buNone/>
                        <a:tabLst/>
                      </a:pPr>
                      <a:endParaRPr kumimoji="0" lang="en-US" sz="20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80000"/>
                        <a:buFont typeface="Wingdings" pitchFamily="2" charset="2"/>
                        <a:buNone/>
                        <a:tabLst/>
                      </a:pPr>
                      <a:endParaRPr kumimoji="0" lang="en-US" sz="20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4"/>
                  </a:ext>
                </a:extLst>
              </a:tr>
              <a:tr h="549275">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80000"/>
                        <a:buFont typeface="Wingdings" pitchFamily="2" charset="2"/>
                        <a:buNone/>
                        <a:tabLst/>
                      </a:pPr>
                      <a:r>
                        <a:rPr kumimoji="0" lang="en-US" sz="2000" b="0" i="0" u="none" strike="noStrike" cap="none" normalizeH="0" baseline="0">
                          <a:ln>
                            <a:noFill/>
                          </a:ln>
                          <a:solidFill>
                            <a:schemeClr val="tx1"/>
                          </a:solidFill>
                          <a:effectLst/>
                          <a:latin typeface="Arial" charset="0"/>
                        </a:rPr>
                        <a:t>Public at large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80000"/>
                        <a:buFont typeface="Wingdings" pitchFamily="2" charset="2"/>
                        <a:buNone/>
                        <a:tabLst/>
                      </a:pPr>
                      <a:endParaRPr kumimoji="0" lang="en-US" sz="20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80000"/>
                        <a:buFont typeface="Wingdings" pitchFamily="2" charset="2"/>
                        <a:buNone/>
                        <a:tabLst/>
                      </a:pPr>
                      <a:endParaRPr kumimoji="0" lang="en-US" sz="20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80000"/>
                        <a:buFont typeface="Wingdings" pitchFamily="2" charset="2"/>
                        <a:buNone/>
                        <a:tabLst/>
                      </a:pPr>
                      <a:endParaRPr kumimoji="0" lang="en-US" sz="20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80000"/>
                        <a:buFont typeface="Wingdings" pitchFamily="2" charset="2"/>
                        <a:buNone/>
                        <a:tabLst/>
                      </a:pPr>
                      <a:endParaRPr kumimoji="0" lang="en-US" sz="20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5"/>
                  </a:ext>
                </a:extLst>
              </a:tr>
              <a:tr h="549275">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80000"/>
                        <a:buFont typeface="Wingdings" pitchFamily="2" charset="2"/>
                        <a:buNone/>
                        <a:tabLst/>
                      </a:pPr>
                      <a:r>
                        <a:rPr kumimoji="0" lang="en-US" sz="2000" b="0" i="0" u="none" strike="noStrike" cap="none" normalizeH="0" baseline="0">
                          <a:ln>
                            <a:noFill/>
                          </a:ln>
                          <a:solidFill>
                            <a:schemeClr val="tx1"/>
                          </a:solidFill>
                          <a:effectLst/>
                          <a:latin typeface="Arial" charset="0"/>
                        </a:rPr>
                        <a:t>Social Activists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80000"/>
                        <a:buFont typeface="Wingdings" pitchFamily="2" charset="2"/>
                        <a:buNone/>
                        <a:tabLst/>
                      </a:pPr>
                      <a:endParaRPr kumimoji="0" lang="en-US" sz="20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80000"/>
                        <a:buFont typeface="Wingdings" pitchFamily="2" charset="2"/>
                        <a:buNone/>
                        <a:tabLst/>
                      </a:pPr>
                      <a:endParaRPr kumimoji="0" lang="en-US" sz="20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80000"/>
                        <a:buFont typeface="Wingdings" pitchFamily="2" charset="2"/>
                        <a:buNone/>
                        <a:tabLst/>
                      </a:pPr>
                      <a:endParaRPr kumimoji="0" lang="en-US" sz="20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80000"/>
                        <a:buFont typeface="Wingdings" pitchFamily="2" charset="2"/>
                        <a:buNone/>
                        <a:tabLst/>
                      </a:pPr>
                      <a:endParaRPr kumimoji="0" lang="en-US" sz="20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6"/>
                  </a:ext>
                </a:extLst>
              </a:tr>
              <a:tr h="549275">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80000"/>
                        <a:buFont typeface="Wingdings" pitchFamily="2" charset="2"/>
                        <a:buNone/>
                        <a:tabLst/>
                      </a:pPr>
                      <a:r>
                        <a:rPr kumimoji="0" lang="en-US" sz="2000" b="0" i="0" u="none" strike="noStrike" cap="none" normalizeH="0" baseline="0">
                          <a:ln>
                            <a:noFill/>
                          </a:ln>
                          <a:solidFill>
                            <a:schemeClr val="tx1"/>
                          </a:solidFill>
                          <a:effectLst/>
                          <a:latin typeface="Arial" charset="0"/>
                        </a:rPr>
                        <a:t>Other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80000"/>
                        <a:buFont typeface="Wingdings" pitchFamily="2" charset="2"/>
                        <a:buNone/>
                        <a:tabLst/>
                      </a:pPr>
                      <a:endParaRPr kumimoji="0" lang="en-US" sz="20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80000"/>
                        <a:buFont typeface="Wingdings" pitchFamily="2" charset="2"/>
                        <a:buNone/>
                        <a:tabLst/>
                      </a:pPr>
                      <a:endParaRPr kumimoji="0" lang="en-US" sz="20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80000"/>
                        <a:buFont typeface="Wingdings" pitchFamily="2" charset="2"/>
                        <a:buNone/>
                        <a:tabLst/>
                      </a:pPr>
                      <a:endParaRPr kumimoji="0" lang="en-US" sz="20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80000"/>
                        <a:buFont typeface="Wingdings" pitchFamily="2" charset="2"/>
                        <a:buNone/>
                        <a:tabLst/>
                      </a:pPr>
                      <a:endParaRPr kumimoji="0" lang="en-US" sz="20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7"/>
                  </a:ext>
                </a:extLst>
              </a:tr>
            </a:tbl>
          </a:graphicData>
        </a:graphic>
      </p:graphicFrame>
      <p:sp>
        <p:nvSpPr>
          <p:cNvPr id="106557" name="Text Box 61"/>
          <p:cNvSpPr txBox="1">
            <a:spLocks noChangeArrowheads="1"/>
          </p:cNvSpPr>
          <p:nvPr/>
        </p:nvSpPr>
        <p:spPr bwMode="auto">
          <a:xfrm>
            <a:off x="1371600" y="1066800"/>
            <a:ext cx="5386388" cy="5191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2800" dirty="0">
                <a:latin typeface="Tahoma" pitchFamily="34" charset="0"/>
              </a:rPr>
              <a:t>Stakeholder/Responsibility Matrix</a:t>
            </a:r>
          </a:p>
        </p:txBody>
      </p:sp>
    </p:spTree>
    <p:extLst>
      <p:ext uri="{BB962C8B-B14F-4D97-AF65-F5344CB8AC3E}">
        <p14:creationId xmlns="" xmlns:p14="http://schemas.microsoft.com/office/powerpoint/2010/main" val="4055084494"/>
      </p:ext>
    </p:extLst>
  </p:cSld>
  <p:clrMapOvr>
    <a:masterClrMapping/>
  </p:clrMapOvr>
  <p:transition spd="slow">
    <p:wipe dir="r"/>
    <p:sndAc>
      <p:stSnd>
        <p:snd r:embed="rId2" name="CHIMES.WAV"/>
      </p:stSnd>
    </p:sndAc>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06557"/>
                                        </p:tgtEl>
                                        <p:attrNameLst>
                                          <p:attrName>style.visibility</p:attrName>
                                        </p:attrNameLst>
                                      </p:cBhvr>
                                      <p:to>
                                        <p:strVal val="visible"/>
                                      </p:to>
                                    </p:set>
                                    <p:anim calcmode="lin" valueType="num">
                                      <p:cBhvr additive="base">
                                        <p:cTn id="7" dur="500" fill="hold"/>
                                        <p:tgtEl>
                                          <p:spTgt spid="106557"/>
                                        </p:tgtEl>
                                        <p:attrNameLst>
                                          <p:attrName>ppt_x</p:attrName>
                                        </p:attrNameLst>
                                      </p:cBhvr>
                                      <p:tavLst>
                                        <p:tav tm="0">
                                          <p:val>
                                            <p:strVal val="0-#ppt_w/2"/>
                                          </p:val>
                                        </p:tav>
                                        <p:tav tm="100000">
                                          <p:val>
                                            <p:strVal val="#ppt_x"/>
                                          </p:val>
                                        </p:tav>
                                      </p:tavLst>
                                    </p:anim>
                                    <p:anim calcmode="lin" valueType="num">
                                      <p:cBhvr additive="base">
                                        <p:cTn id="8" dur="500" fill="hold"/>
                                        <p:tgtEl>
                                          <p:spTgt spid="106557"/>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nodeType="afterEffect">
                                  <p:stCondLst>
                                    <p:cond delay="0"/>
                                  </p:stCondLst>
                                  <p:childTnLst>
                                    <p:set>
                                      <p:cBhvr>
                                        <p:cTn id="11" dur="1" fill="hold">
                                          <p:stCondLst>
                                            <p:cond delay="0"/>
                                          </p:stCondLst>
                                        </p:cTn>
                                        <p:tgtEl>
                                          <p:spTgt spid="106567"/>
                                        </p:tgtEl>
                                        <p:attrNameLst>
                                          <p:attrName>style.visibility</p:attrName>
                                        </p:attrNameLst>
                                      </p:cBhvr>
                                      <p:to>
                                        <p:strVal val="visible"/>
                                      </p:to>
                                    </p:set>
                                    <p:anim calcmode="lin" valueType="num">
                                      <p:cBhvr additive="base">
                                        <p:cTn id="12" dur="500" fill="hold"/>
                                        <p:tgtEl>
                                          <p:spTgt spid="106567"/>
                                        </p:tgtEl>
                                        <p:attrNameLst>
                                          <p:attrName>ppt_x</p:attrName>
                                        </p:attrNameLst>
                                      </p:cBhvr>
                                      <p:tavLst>
                                        <p:tav tm="0">
                                          <p:val>
                                            <p:strVal val="0-#ppt_w/2"/>
                                          </p:val>
                                        </p:tav>
                                        <p:tav tm="100000">
                                          <p:val>
                                            <p:strVal val="#ppt_x"/>
                                          </p:val>
                                        </p:tav>
                                      </p:tavLst>
                                    </p:anim>
                                    <p:anim calcmode="lin" valueType="num">
                                      <p:cBhvr additive="base">
                                        <p:cTn id="13" dur="500" fill="hold"/>
                                        <p:tgtEl>
                                          <p:spTgt spid="10656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557"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533400" y="152400"/>
            <a:ext cx="7391400" cy="1143000"/>
          </a:xfrm>
        </p:spPr>
        <p:txBody>
          <a:bodyPr/>
          <a:lstStyle/>
          <a:p>
            <a:pPr eaLnBrk="1" hangingPunct="1"/>
            <a:r>
              <a:rPr lang="en-GB" dirty="0"/>
              <a:t>Power/Interest Grid</a:t>
            </a:r>
          </a:p>
        </p:txBody>
      </p:sp>
      <p:sp>
        <p:nvSpPr>
          <p:cNvPr id="9219" name="Rectangle 3"/>
          <p:cNvSpPr>
            <a:spLocks noGrp="1" noChangeArrowheads="1"/>
          </p:cNvSpPr>
          <p:nvPr>
            <p:ph type="body" idx="1"/>
          </p:nvPr>
        </p:nvSpPr>
        <p:spPr>
          <a:xfrm>
            <a:off x="152400" y="1600200"/>
            <a:ext cx="7924800" cy="4038600"/>
          </a:xfrm>
        </p:spPr>
        <p:txBody>
          <a:bodyPr/>
          <a:lstStyle/>
          <a:p>
            <a:pPr eaLnBrk="1" hangingPunct="1"/>
            <a:r>
              <a:rPr lang="en-GB" dirty="0"/>
              <a:t>Two-by-two matrix with power on one axis and interest on the other</a:t>
            </a:r>
          </a:p>
          <a:p>
            <a:pPr eaLnBrk="1" hangingPunct="1"/>
            <a:r>
              <a:rPr lang="en-GB" dirty="0"/>
              <a:t>Each stakeholder is placed on the Grid based on its power and interest</a:t>
            </a:r>
          </a:p>
        </p:txBody>
      </p:sp>
      <p:pic>
        <p:nvPicPr>
          <p:cNvPr id="2" name="Picture 1"/>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5743575" y="3276600"/>
            <a:ext cx="2343150" cy="3295650"/>
          </a:xfrm>
          <a:prstGeom prst="rect">
            <a:avLst/>
          </a:prstGeom>
        </p:spPr>
      </p:pic>
    </p:spTree>
    <p:extLst>
      <p:ext uri="{BB962C8B-B14F-4D97-AF65-F5344CB8AC3E}">
        <p14:creationId xmlns="" xmlns:p14="http://schemas.microsoft.com/office/powerpoint/2010/main" val="489147449"/>
      </p:ext>
    </p:extLst>
  </p:cSld>
  <p:clrMapOvr>
    <a:masterClrMapping/>
  </p:clrMapOvr>
  <p:transition>
    <p:pull dir="r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3"/>
          <p:cNvSpPr>
            <a:spLocks noChangeArrowheads="1"/>
          </p:cNvSpPr>
          <p:nvPr/>
        </p:nvSpPr>
        <p:spPr bwMode="auto">
          <a:xfrm>
            <a:off x="609600" y="228600"/>
            <a:ext cx="4800600" cy="3016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spcBef>
                <a:spcPct val="50000"/>
              </a:spcBef>
            </a:pPr>
            <a:endParaRPr lang="en-US" sz="1400" b="1">
              <a:latin typeface="Arial" pitchFamily="34" charset="0"/>
            </a:endParaRPr>
          </a:p>
        </p:txBody>
      </p:sp>
      <p:sp>
        <p:nvSpPr>
          <p:cNvPr id="108571" name="Line 27"/>
          <p:cNvSpPr>
            <a:spLocks noChangeShapeType="1"/>
          </p:cNvSpPr>
          <p:nvPr/>
        </p:nvSpPr>
        <p:spPr bwMode="auto">
          <a:xfrm flipH="1">
            <a:off x="6096000" y="2286000"/>
            <a:ext cx="0" cy="3240088"/>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lIns="90000" tIns="46800" rIns="90000" bIns="46800">
            <a:spAutoFit/>
          </a:bodyPr>
          <a:lstStyle/>
          <a:p>
            <a:endParaRPr lang="en-US"/>
          </a:p>
        </p:txBody>
      </p:sp>
      <p:sp>
        <p:nvSpPr>
          <p:cNvPr id="108572" name="Line 28"/>
          <p:cNvSpPr>
            <a:spLocks noChangeShapeType="1"/>
          </p:cNvSpPr>
          <p:nvPr/>
        </p:nvSpPr>
        <p:spPr bwMode="auto">
          <a:xfrm>
            <a:off x="3352800" y="3962400"/>
            <a:ext cx="5256213" cy="0"/>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lIns="90000" tIns="46800" rIns="90000" bIns="46800">
            <a:spAutoFit/>
          </a:bodyPr>
          <a:lstStyle/>
          <a:p>
            <a:endParaRPr lang="en-US"/>
          </a:p>
        </p:txBody>
      </p:sp>
      <p:sp>
        <p:nvSpPr>
          <p:cNvPr id="108573" name="Rectangle 29"/>
          <p:cNvSpPr>
            <a:spLocks noChangeArrowheads="1"/>
          </p:cNvSpPr>
          <p:nvPr/>
        </p:nvSpPr>
        <p:spPr bwMode="auto">
          <a:xfrm>
            <a:off x="3352800" y="2286000"/>
            <a:ext cx="5256213" cy="3240088"/>
          </a:xfrm>
          <a:prstGeom prst="rect">
            <a:avLst/>
          </a:prstGeom>
          <a:noFill/>
          <a:ln w="381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lIns="90000" tIns="46800" rIns="90000" bIns="46800" anchor="ctr">
            <a:spAutoFit/>
          </a:bodyPr>
          <a:lstStyle/>
          <a:p>
            <a:endParaRPr lang="en-US"/>
          </a:p>
        </p:txBody>
      </p:sp>
      <p:sp>
        <p:nvSpPr>
          <p:cNvPr id="108574" name="Text Box 30"/>
          <p:cNvSpPr txBox="1">
            <a:spLocks noChangeArrowheads="1"/>
          </p:cNvSpPr>
          <p:nvPr/>
        </p:nvSpPr>
        <p:spPr bwMode="auto">
          <a:xfrm>
            <a:off x="2555875" y="1628775"/>
            <a:ext cx="5164138"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a:tailEnd/>
              </a14:hiddenLine>
            </a:ext>
          </a:extLst>
        </p:spPr>
        <p:txBody>
          <a:bodyPr wrap="none" lIns="90000" tIns="46800" rIns="90000" bIns="46800">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GB" sz="1800" dirty="0">
                <a:latin typeface="Tahoma" pitchFamily="34" charset="0"/>
              </a:rPr>
              <a:t>Stakeholders Potential Threat to the Organisation</a:t>
            </a:r>
            <a:endParaRPr lang="en-US" sz="1800" dirty="0">
              <a:latin typeface="Tahoma" pitchFamily="34" charset="0"/>
            </a:endParaRPr>
          </a:p>
        </p:txBody>
      </p:sp>
      <p:sp>
        <p:nvSpPr>
          <p:cNvPr id="108575" name="Text Box 31"/>
          <p:cNvSpPr txBox="1">
            <a:spLocks noChangeArrowheads="1"/>
          </p:cNvSpPr>
          <p:nvPr/>
        </p:nvSpPr>
        <p:spPr bwMode="auto">
          <a:xfrm>
            <a:off x="1371600" y="3352800"/>
            <a:ext cx="1816100" cy="9159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a:tailEnd/>
              </a14:hiddenLine>
            </a:ext>
          </a:extLst>
        </p:spPr>
        <p:txBody>
          <a:bodyPr wrap="none" lIns="90000" tIns="46800" rIns="90000" bIns="46800">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GB" sz="1800" dirty="0">
                <a:latin typeface="Tahoma" pitchFamily="34" charset="0"/>
              </a:rPr>
              <a:t>Interest in the </a:t>
            </a:r>
          </a:p>
          <a:p>
            <a:r>
              <a:rPr lang="en-GB" sz="1800" dirty="0">
                <a:latin typeface="Tahoma" pitchFamily="34" charset="0"/>
              </a:rPr>
              <a:t>Organisation </a:t>
            </a:r>
          </a:p>
          <a:p>
            <a:r>
              <a:rPr lang="en-GB" sz="1800" dirty="0">
                <a:latin typeface="Tahoma" pitchFamily="34" charset="0"/>
              </a:rPr>
              <a:t>and its Activities</a:t>
            </a:r>
            <a:endParaRPr lang="en-US" sz="1800" dirty="0">
              <a:latin typeface="Tahoma" pitchFamily="34" charset="0"/>
            </a:endParaRPr>
          </a:p>
        </p:txBody>
      </p:sp>
      <p:sp>
        <p:nvSpPr>
          <p:cNvPr id="108576" name="Text Box 32"/>
          <p:cNvSpPr txBox="1">
            <a:spLocks noChangeArrowheads="1"/>
          </p:cNvSpPr>
          <p:nvPr/>
        </p:nvSpPr>
        <p:spPr bwMode="auto">
          <a:xfrm>
            <a:off x="2286000" y="4495800"/>
            <a:ext cx="722313"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a:tailEnd/>
              </a14:hiddenLine>
            </a:ext>
          </a:extLst>
        </p:spPr>
        <p:txBody>
          <a:bodyPr wrap="none" lIns="90000" tIns="46800" rIns="90000" bIns="46800">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GB" sz="1800" b="1" dirty="0">
                <a:latin typeface="Tahoma" pitchFamily="34" charset="0"/>
              </a:rPr>
              <a:t>LOW</a:t>
            </a:r>
            <a:endParaRPr lang="en-US" sz="1800" b="1" dirty="0">
              <a:latin typeface="Tahoma" pitchFamily="34" charset="0"/>
            </a:endParaRPr>
          </a:p>
        </p:txBody>
      </p:sp>
      <p:sp>
        <p:nvSpPr>
          <p:cNvPr id="108577" name="Text Box 33"/>
          <p:cNvSpPr txBox="1">
            <a:spLocks noChangeArrowheads="1"/>
          </p:cNvSpPr>
          <p:nvPr/>
        </p:nvSpPr>
        <p:spPr bwMode="auto">
          <a:xfrm>
            <a:off x="3492500" y="1990725"/>
            <a:ext cx="722313"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a:tailEnd/>
              </a14:hiddenLine>
            </a:ext>
          </a:extLst>
        </p:spPr>
        <p:txBody>
          <a:bodyPr wrap="none" lIns="90000" tIns="46800" rIns="90000" bIns="46800">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GB" sz="1800" b="1" dirty="0">
                <a:latin typeface="Tahoma" pitchFamily="34" charset="0"/>
              </a:rPr>
              <a:t>LOW</a:t>
            </a:r>
            <a:endParaRPr lang="en-US" sz="1800" b="1" dirty="0">
              <a:latin typeface="Tahoma" pitchFamily="34" charset="0"/>
            </a:endParaRPr>
          </a:p>
        </p:txBody>
      </p:sp>
      <p:sp>
        <p:nvSpPr>
          <p:cNvPr id="108578" name="Text Box 34"/>
          <p:cNvSpPr txBox="1">
            <a:spLocks noChangeArrowheads="1"/>
          </p:cNvSpPr>
          <p:nvPr/>
        </p:nvSpPr>
        <p:spPr bwMode="auto">
          <a:xfrm>
            <a:off x="2362200" y="2895600"/>
            <a:ext cx="811213"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a:tailEnd/>
              </a14:hiddenLine>
            </a:ext>
          </a:extLst>
        </p:spPr>
        <p:txBody>
          <a:bodyPr wrap="none" lIns="90000" tIns="46800" rIns="90000" bIns="46800">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GB" sz="1800" b="1">
                <a:latin typeface="Tahoma" pitchFamily="34" charset="0"/>
              </a:rPr>
              <a:t>HIGH</a:t>
            </a:r>
            <a:endParaRPr lang="en-US" sz="1800" b="1">
              <a:latin typeface="Tahoma" pitchFamily="34" charset="0"/>
            </a:endParaRPr>
          </a:p>
        </p:txBody>
      </p:sp>
      <p:sp>
        <p:nvSpPr>
          <p:cNvPr id="108579" name="Text Box 35"/>
          <p:cNvSpPr txBox="1">
            <a:spLocks noChangeArrowheads="1"/>
          </p:cNvSpPr>
          <p:nvPr/>
        </p:nvSpPr>
        <p:spPr bwMode="auto">
          <a:xfrm>
            <a:off x="6013450" y="1990725"/>
            <a:ext cx="811213"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a:tailEnd/>
              </a14:hiddenLine>
            </a:ext>
          </a:extLst>
        </p:spPr>
        <p:txBody>
          <a:bodyPr wrap="none" lIns="90000" tIns="46800" rIns="90000" bIns="46800">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GB" sz="1800" b="1">
                <a:latin typeface="Tahoma" pitchFamily="34" charset="0"/>
              </a:rPr>
              <a:t>HIGH</a:t>
            </a:r>
            <a:endParaRPr lang="en-US" sz="1800" b="1">
              <a:latin typeface="Tahoma" pitchFamily="34" charset="0"/>
            </a:endParaRPr>
          </a:p>
        </p:txBody>
      </p:sp>
      <p:sp>
        <p:nvSpPr>
          <p:cNvPr id="108580" name="Text Box 36"/>
          <p:cNvSpPr txBox="1">
            <a:spLocks noChangeArrowheads="1"/>
          </p:cNvSpPr>
          <p:nvPr/>
        </p:nvSpPr>
        <p:spPr bwMode="auto">
          <a:xfrm>
            <a:off x="4716463" y="5662613"/>
            <a:ext cx="4191000" cy="366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a:tailEnd/>
              </a14:hiddenLine>
            </a:ext>
          </a:extLst>
        </p:spPr>
        <p:txBody>
          <a:bodyPr lIns="90000" tIns="46800" rIns="90000" bIns="46800">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r">
              <a:spcBef>
                <a:spcPct val="50000"/>
              </a:spcBef>
            </a:pPr>
            <a:r>
              <a:rPr lang="en-GB" sz="1800">
                <a:latin typeface="Tahoma" pitchFamily="34" charset="0"/>
              </a:rPr>
              <a:t>Adapted from Eden &amp; Ackerman, 1998</a:t>
            </a:r>
          </a:p>
        </p:txBody>
      </p:sp>
      <p:sp>
        <p:nvSpPr>
          <p:cNvPr id="108581" name="Text Box 37"/>
          <p:cNvSpPr txBox="1">
            <a:spLocks noChangeArrowheads="1"/>
          </p:cNvSpPr>
          <p:nvPr/>
        </p:nvSpPr>
        <p:spPr bwMode="auto">
          <a:xfrm>
            <a:off x="6629400" y="2895600"/>
            <a:ext cx="108585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a:tailEnd/>
              </a14:hiddenLine>
            </a:ext>
          </a:extLst>
        </p:spPr>
        <p:txBody>
          <a:bodyPr wrap="none" lIns="90000" tIns="46800" rIns="90000" bIns="46800">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GB" sz="1800">
                <a:latin typeface="Tahoma" pitchFamily="34" charset="0"/>
              </a:rPr>
              <a:t>PLAYERS</a:t>
            </a:r>
            <a:endParaRPr lang="en-US" sz="1800">
              <a:latin typeface="Tahoma" pitchFamily="34" charset="0"/>
            </a:endParaRPr>
          </a:p>
        </p:txBody>
      </p:sp>
      <p:sp>
        <p:nvSpPr>
          <p:cNvPr id="108582" name="Text Box 38"/>
          <p:cNvSpPr txBox="1">
            <a:spLocks noChangeArrowheads="1"/>
          </p:cNvSpPr>
          <p:nvPr/>
        </p:nvSpPr>
        <p:spPr bwMode="auto">
          <a:xfrm>
            <a:off x="3886200" y="2895600"/>
            <a:ext cx="121285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a:tailEnd/>
              </a14:hiddenLine>
            </a:ext>
          </a:extLst>
        </p:spPr>
        <p:txBody>
          <a:bodyPr wrap="none" lIns="90000" tIns="46800" rIns="90000" bIns="46800">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GB" sz="1800" dirty="0">
                <a:latin typeface="Tahoma" pitchFamily="34" charset="0"/>
              </a:rPr>
              <a:t>SUBJECTS</a:t>
            </a:r>
            <a:endParaRPr lang="en-US" sz="1800" dirty="0">
              <a:latin typeface="Tahoma" pitchFamily="34" charset="0"/>
            </a:endParaRPr>
          </a:p>
        </p:txBody>
      </p:sp>
      <p:sp>
        <p:nvSpPr>
          <p:cNvPr id="108583" name="Text Box 39"/>
          <p:cNvSpPr txBox="1">
            <a:spLocks noChangeArrowheads="1"/>
          </p:cNvSpPr>
          <p:nvPr/>
        </p:nvSpPr>
        <p:spPr bwMode="auto">
          <a:xfrm>
            <a:off x="6096000" y="4572000"/>
            <a:ext cx="2151063"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a:tailEnd/>
              </a14:hiddenLine>
            </a:ext>
          </a:extLst>
        </p:spPr>
        <p:txBody>
          <a:bodyPr wrap="none" lIns="90000" tIns="46800" rIns="90000" bIns="46800">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GB" sz="1800">
                <a:latin typeface="Tahoma" pitchFamily="34" charset="0"/>
              </a:rPr>
              <a:t>CONTEXT SETTERS</a:t>
            </a:r>
            <a:endParaRPr lang="en-US" sz="1800">
              <a:latin typeface="Tahoma" pitchFamily="34" charset="0"/>
            </a:endParaRPr>
          </a:p>
        </p:txBody>
      </p:sp>
      <p:sp>
        <p:nvSpPr>
          <p:cNvPr id="108584" name="Text Box 40"/>
          <p:cNvSpPr txBox="1">
            <a:spLocks noChangeArrowheads="1"/>
          </p:cNvSpPr>
          <p:nvPr/>
        </p:nvSpPr>
        <p:spPr bwMode="auto">
          <a:xfrm>
            <a:off x="3886200" y="4419600"/>
            <a:ext cx="982663"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a:tailEnd/>
              </a14:hiddenLine>
            </a:ext>
          </a:extLst>
        </p:spPr>
        <p:txBody>
          <a:bodyPr wrap="none" lIns="90000" tIns="46800" rIns="90000" bIns="46800">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GB" sz="1800">
                <a:latin typeface="Tahoma" pitchFamily="34" charset="0"/>
              </a:rPr>
              <a:t>CROWD</a:t>
            </a:r>
            <a:endParaRPr lang="en-US" sz="1800">
              <a:latin typeface="Tahoma" pitchFamily="34" charset="0"/>
            </a:endParaRPr>
          </a:p>
        </p:txBody>
      </p:sp>
      <p:sp>
        <p:nvSpPr>
          <p:cNvPr id="10257" name="Rectangle 45"/>
          <p:cNvSpPr>
            <a:spLocks noChangeArrowheads="1"/>
          </p:cNvSpPr>
          <p:nvPr/>
        </p:nvSpPr>
        <p:spPr bwMode="auto">
          <a:xfrm>
            <a:off x="681831" y="0"/>
            <a:ext cx="7391400" cy="1143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lstStyle/>
          <a:p>
            <a:pPr algn="ctr"/>
            <a:r>
              <a:rPr lang="en-GB" sz="4000" dirty="0"/>
              <a:t>Power/Interest Grid</a:t>
            </a:r>
          </a:p>
        </p:txBody>
      </p:sp>
    </p:spTree>
    <p:extLst>
      <p:ext uri="{BB962C8B-B14F-4D97-AF65-F5344CB8AC3E}">
        <p14:creationId xmlns="" xmlns:p14="http://schemas.microsoft.com/office/powerpoint/2010/main" val="318700794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08571"/>
                                        </p:tgtEl>
                                        <p:attrNameLst>
                                          <p:attrName>style.visibility</p:attrName>
                                        </p:attrNameLst>
                                      </p:cBhvr>
                                      <p:to>
                                        <p:strVal val="visible"/>
                                      </p:to>
                                    </p:set>
                                    <p:anim calcmode="lin" valueType="num">
                                      <p:cBhvr additive="base">
                                        <p:cTn id="7" dur="500" fill="hold"/>
                                        <p:tgtEl>
                                          <p:spTgt spid="108571"/>
                                        </p:tgtEl>
                                        <p:attrNameLst>
                                          <p:attrName>ppt_x</p:attrName>
                                        </p:attrNameLst>
                                      </p:cBhvr>
                                      <p:tavLst>
                                        <p:tav tm="0">
                                          <p:val>
                                            <p:strVal val="0-#ppt_w/2"/>
                                          </p:val>
                                        </p:tav>
                                        <p:tav tm="100000">
                                          <p:val>
                                            <p:strVal val="#ppt_x"/>
                                          </p:val>
                                        </p:tav>
                                      </p:tavLst>
                                    </p:anim>
                                    <p:anim calcmode="lin" valueType="num">
                                      <p:cBhvr additive="base">
                                        <p:cTn id="8" dur="500" fill="hold"/>
                                        <p:tgtEl>
                                          <p:spTgt spid="108571"/>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108572"/>
                                        </p:tgtEl>
                                        <p:attrNameLst>
                                          <p:attrName>style.visibility</p:attrName>
                                        </p:attrNameLst>
                                      </p:cBhvr>
                                      <p:to>
                                        <p:strVal val="visible"/>
                                      </p:to>
                                    </p:set>
                                    <p:anim calcmode="lin" valueType="num">
                                      <p:cBhvr additive="base">
                                        <p:cTn id="12" dur="500" fill="hold"/>
                                        <p:tgtEl>
                                          <p:spTgt spid="108572"/>
                                        </p:tgtEl>
                                        <p:attrNameLst>
                                          <p:attrName>ppt_x</p:attrName>
                                        </p:attrNameLst>
                                      </p:cBhvr>
                                      <p:tavLst>
                                        <p:tav tm="0">
                                          <p:val>
                                            <p:strVal val="0-#ppt_w/2"/>
                                          </p:val>
                                        </p:tav>
                                        <p:tav tm="100000">
                                          <p:val>
                                            <p:strVal val="#ppt_x"/>
                                          </p:val>
                                        </p:tav>
                                      </p:tavLst>
                                    </p:anim>
                                    <p:anim calcmode="lin" valueType="num">
                                      <p:cBhvr additive="base">
                                        <p:cTn id="13" dur="500" fill="hold"/>
                                        <p:tgtEl>
                                          <p:spTgt spid="108572"/>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108573"/>
                                        </p:tgtEl>
                                        <p:attrNameLst>
                                          <p:attrName>style.visibility</p:attrName>
                                        </p:attrNameLst>
                                      </p:cBhvr>
                                      <p:to>
                                        <p:strVal val="visible"/>
                                      </p:to>
                                    </p:set>
                                    <p:anim calcmode="lin" valueType="num">
                                      <p:cBhvr additive="base">
                                        <p:cTn id="17" dur="500" fill="hold"/>
                                        <p:tgtEl>
                                          <p:spTgt spid="108573"/>
                                        </p:tgtEl>
                                        <p:attrNameLst>
                                          <p:attrName>ppt_x</p:attrName>
                                        </p:attrNameLst>
                                      </p:cBhvr>
                                      <p:tavLst>
                                        <p:tav tm="0">
                                          <p:val>
                                            <p:strVal val="0-#ppt_w/2"/>
                                          </p:val>
                                        </p:tav>
                                        <p:tav tm="100000">
                                          <p:val>
                                            <p:strVal val="#ppt_x"/>
                                          </p:val>
                                        </p:tav>
                                      </p:tavLst>
                                    </p:anim>
                                    <p:anim calcmode="lin" valueType="num">
                                      <p:cBhvr additive="base">
                                        <p:cTn id="18" dur="500" fill="hold"/>
                                        <p:tgtEl>
                                          <p:spTgt spid="108573"/>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1500"/>
                            </p:stCondLst>
                            <p:childTnLst>
                              <p:par>
                                <p:cTn id="20" presetID="2" presetClass="entr" presetSubtype="8" fill="hold" grpId="0" nodeType="afterEffect">
                                  <p:stCondLst>
                                    <p:cond delay="0"/>
                                  </p:stCondLst>
                                  <p:childTnLst>
                                    <p:set>
                                      <p:cBhvr>
                                        <p:cTn id="21" dur="1" fill="hold">
                                          <p:stCondLst>
                                            <p:cond delay="0"/>
                                          </p:stCondLst>
                                        </p:cTn>
                                        <p:tgtEl>
                                          <p:spTgt spid="108574"/>
                                        </p:tgtEl>
                                        <p:attrNameLst>
                                          <p:attrName>style.visibility</p:attrName>
                                        </p:attrNameLst>
                                      </p:cBhvr>
                                      <p:to>
                                        <p:strVal val="visible"/>
                                      </p:to>
                                    </p:set>
                                    <p:anim calcmode="lin" valueType="num">
                                      <p:cBhvr additive="base">
                                        <p:cTn id="22" dur="500" fill="hold"/>
                                        <p:tgtEl>
                                          <p:spTgt spid="108574"/>
                                        </p:tgtEl>
                                        <p:attrNameLst>
                                          <p:attrName>ppt_x</p:attrName>
                                        </p:attrNameLst>
                                      </p:cBhvr>
                                      <p:tavLst>
                                        <p:tav tm="0">
                                          <p:val>
                                            <p:strVal val="0-#ppt_w/2"/>
                                          </p:val>
                                        </p:tav>
                                        <p:tav tm="100000">
                                          <p:val>
                                            <p:strVal val="#ppt_x"/>
                                          </p:val>
                                        </p:tav>
                                      </p:tavLst>
                                    </p:anim>
                                    <p:anim calcmode="lin" valueType="num">
                                      <p:cBhvr additive="base">
                                        <p:cTn id="23" dur="500" fill="hold"/>
                                        <p:tgtEl>
                                          <p:spTgt spid="108574"/>
                                        </p:tgtEl>
                                        <p:attrNameLst>
                                          <p:attrName>ppt_y</p:attrName>
                                        </p:attrNameLst>
                                      </p:cBhvr>
                                      <p:tavLst>
                                        <p:tav tm="0">
                                          <p:val>
                                            <p:strVal val="#ppt_y"/>
                                          </p:val>
                                        </p:tav>
                                        <p:tav tm="100000">
                                          <p:val>
                                            <p:strVal val="#ppt_y"/>
                                          </p:val>
                                        </p:tav>
                                      </p:tavLst>
                                    </p:anim>
                                  </p:childTnLst>
                                </p:cTn>
                              </p:par>
                            </p:childTnLst>
                          </p:cTn>
                        </p:par>
                        <p:par>
                          <p:cTn id="24" fill="hold" nodeType="afterGroup">
                            <p:stCondLst>
                              <p:cond delay="2000"/>
                            </p:stCondLst>
                            <p:childTnLst>
                              <p:par>
                                <p:cTn id="25" presetID="2" presetClass="entr" presetSubtype="8" fill="hold" grpId="0" nodeType="afterEffect">
                                  <p:stCondLst>
                                    <p:cond delay="0"/>
                                  </p:stCondLst>
                                  <p:childTnLst>
                                    <p:set>
                                      <p:cBhvr>
                                        <p:cTn id="26" dur="1" fill="hold">
                                          <p:stCondLst>
                                            <p:cond delay="0"/>
                                          </p:stCondLst>
                                        </p:cTn>
                                        <p:tgtEl>
                                          <p:spTgt spid="108575"/>
                                        </p:tgtEl>
                                        <p:attrNameLst>
                                          <p:attrName>style.visibility</p:attrName>
                                        </p:attrNameLst>
                                      </p:cBhvr>
                                      <p:to>
                                        <p:strVal val="visible"/>
                                      </p:to>
                                    </p:set>
                                    <p:anim calcmode="lin" valueType="num">
                                      <p:cBhvr additive="base">
                                        <p:cTn id="27" dur="500" fill="hold"/>
                                        <p:tgtEl>
                                          <p:spTgt spid="108575"/>
                                        </p:tgtEl>
                                        <p:attrNameLst>
                                          <p:attrName>ppt_x</p:attrName>
                                        </p:attrNameLst>
                                      </p:cBhvr>
                                      <p:tavLst>
                                        <p:tav tm="0">
                                          <p:val>
                                            <p:strVal val="0-#ppt_w/2"/>
                                          </p:val>
                                        </p:tav>
                                        <p:tav tm="100000">
                                          <p:val>
                                            <p:strVal val="#ppt_x"/>
                                          </p:val>
                                        </p:tav>
                                      </p:tavLst>
                                    </p:anim>
                                    <p:anim calcmode="lin" valueType="num">
                                      <p:cBhvr additive="base">
                                        <p:cTn id="28" dur="500" fill="hold"/>
                                        <p:tgtEl>
                                          <p:spTgt spid="108575"/>
                                        </p:tgtEl>
                                        <p:attrNameLst>
                                          <p:attrName>ppt_y</p:attrName>
                                        </p:attrNameLst>
                                      </p:cBhvr>
                                      <p:tavLst>
                                        <p:tav tm="0">
                                          <p:val>
                                            <p:strVal val="#ppt_y"/>
                                          </p:val>
                                        </p:tav>
                                        <p:tav tm="100000">
                                          <p:val>
                                            <p:strVal val="#ppt_y"/>
                                          </p:val>
                                        </p:tav>
                                      </p:tavLst>
                                    </p:anim>
                                  </p:childTnLst>
                                </p:cTn>
                              </p:par>
                            </p:childTnLst>
                          </p:cTn>
                        </p:par>
                        <p:par>
                          <p:cTn id="29" fill="hold" nodeType="afterGroup">
                            <p:stCondLst>
                              <p:cond delay="2500"/>
                            </p:stCondLst>
                            <p:childTnLst>
                              <p:par>
                                <p:cTn id="30" presetID="2" presetClass="entr" presetSubtype="8" fill="hold" grpId="0" nodeType="afterEffect">
                                  <p:stCondLst>
                                    <p:cond delay="0"/>
                                  </p:stCondLst>
                                  <p:childTnLst>
                                    <p:set>
                                      <p:cBhvr>
                                        <p:cTn id="31" dur="1" fill="hold">
                                          <p:stCondLst>
                                            <p:cond delay="0"/>
                                          </p:stCondLst>
                                        </p:cTn>
                                        <p:tgtEl>
                                          <p:spTgt spid="108576"/>
                                        </p:tgtEl>
                                        <p:attrNameLst>
                                          <p:attrName>style.visibility</p:attrName>
                                        </p:attrNameLst>
                                      </p:cBhvr>
                                      <p:to>
                                        <p:strVal val="visible"/>
                                      </p:to>
                                    </p:set>
                                    <p:anim calcmode="lin" valueType="num">
                                      <p:cBhvr additive="base">
                                        <p:cTn id="32" dur="500" fill="hold"/>
                                        <p:tgtEl>
                                          <p:spTgt spid="108576"/>
                                        </p:tgtEl>
                                        <p:attrNameLst>
                                          <p:attrName>ppt_x</p:attrName>
                                        </p:attrNameLst>
                                      </p:cBhvr>
                                      <p:tavLst>
                                        <p:tav tm="0">
                                          <p:val>
                                            <p:strVal val="0-#ppt_w/2"/>
                                          </p:val>
                                        </p:tav>
                                        <p:tav tm="100000">
                                          <p:val>
                                            <p:strVal val="#ppt_x"/>
                                          </p:val>
                                        </p:tav>
                                      </p:tavLst>
                                    </p:anim>
                                    <p:anim calcmode="lin" valueType="num">
                                      <p:cBhvr additive="base">
                                        <p:cTn id="33" dur="500" fill="hold"/>
                                        <p:tgtEl>
                                          <p:spTgt spid="108576"/>
                                        </p:tgtEl>
                                        <p:attrNameLst>
                                          <p:attrName>ppt_y</p:attrName>
                                        </p:attrNameLst>
                                      </p:cBhvr>
                                      <p:tavLst>
                                        <p:tav tm="0">
                                          <p:val>
                                            <p:strVal val="#ppt_y"/>
                                          </p:val>
                                        </p:tav>
                                        <p:tav tm="100000">
                                          <p:val>
                                            <p:strVal val="#ppt_y"/>
                                          </p:val>
                                        </p:tav>
                                      </p:tavLst>
                                    </p:anim>
                                  </p:childTnLst>
                                </p:cTn>
                              </p:par>
                            </p:childTnLst>
                          </p:cTn>
                        </p:par>
                        <p:par>
                          <p:cTn id="34" fill="hold" nodeType="afterGroup">
                            <p:stCondLst>
                              <p:cond delay="3000"/>
                            </p:stCondLst>
                            <p:childTnLst>
                              <p:par>
                                <p:cTn id="35" presetID="2" presetClass="entr" presetSubtype="8" fill="hold" grpId="0" nodeType="afterEffect">
                                  <p:stCondLst>
                                    <p:cond delay="0"/>
                                  </p:stCondLst>
                                  <p:childTnLst>
                                    <p:set>
                                      <p:cBhvr>
                                        <p:cTn id="36" dur="1" fill="hold">
                                          <p:stCondLst>
                                            <p:cond delay="0"/>
                                          </p:stCondLst>
                                        </p:cTn>
                                        <p:tgtEl>
                                          <p:spTgt spid="108577"/>
                                        </p:tgtEl>
                                        <p:attrNameLst>
                                          <p:attrName>style.visibility</p:attrName>
                                        </p:attrNameLst>
                                      </p:cBhvr>
                                      <p:to>
                                        <p:strVal val="visible"/>
                                      </p:to>
                                    </p:set>
                                    <p:anim calcmode="lin" valueType="num">
                                      <p:cBhvr additive="base">
                                        <p:cTn id="37" dur="500" fill="hold"/>
                                        <p:tgtEl>
                                          <p:spTgt spid="108577"/>
                                        </p:tgtEl>
                                        <p:attrNameLst>
                                          <p:attrName>ppt_x</p:attrName>
                                        </p:attrNameLst>
                                      </p:cBhvr>
                                      <p:tavLst>
                                        <p:tav tm="0">
                                          <p:val>
                                            <p:strVal val="0-#ppt_w/2"/>
                                          </p:val>
                                        </p:tav>
                                        <p:tav tm="100000">
                                          <p:val>
                                            <p:strVal val="#ppt_x"/>
                                          </p:val>
                                        </p:tav>
                                      </p:tavLst>
                                    </p:anim>
                                    <p:anim calcmode="lin" valueType="num">
                                      <p:cBhvr additive="base">
                                        <p:cTn id="38" dur="500" fill="hold"/>
                                        <p:tgtEl>
                                          <p:spTgt spid="108577"/>
                                        </p:tgtEl>
                                        <p:attrNameLst>
                                          <p:attrName>ppt_y</p:attrName>
                                        </p:attrNameLst>
                                      </p:cBhvr>
                                      <p:tavLst>
                                        <p:tav tm="0">
                                          <p:val>
                                            <p:strVal val="#ppt_y"/>
                                          </p:val>
                                        </p:tav>
                                        <p:tav tm="100000">
                                          <p:val>
                                            <p:strVal val="#ppt_y"/>
                                          </p:val>
                                        </p:tav>
                                      </p:tavLst>
                                    </p:anim>
                                  </p:childTnLst>
                                </p:cTn>
                              </p:par>
                            </p:childTnLst>
                          </p:cTn>
                        </p:par>
                        <p:par>
                          <p:cTn id="39" fill="hold" nodeType="afterGroup">
                            <p:stCondLst>
                              <p:cond delay="3500"/>
                            </p:stCondLst>
                            <p:childTnLst>
                              <p:par>
                                <p:cTn id="40" presetID="2" presetClass="entr" presetSubtype="8" fill="hold" grpId="0" nodeType="afterEffect">
                                  <p:stCondLst>
                                    <p:cond delay="0"/>
                                  </p:stCondLst>
                                  <p:childTnLst>
                                    <p:set>
                                      <p:cBhvr>
                                        <p:cTn id="41" dur="1" fill="hold">
                                          <p:stCondLst>
                                            <p:cond delay="0"/>
                                          </p:stCondLst>
                                        </p:cTn>
                                        <p:tgtEl>
                                          <p:spTgt spid="108578"/>
                                        </p:tgtEl>
                                        <p:attrNameLst>
                                          <p:attrName>style.visibility</p:attrName>
                                        </p:attrNameLst>
                                      </p:cBhvr>
                                      <p:to>
                                        <p:strVal val="visible"/>
                                      </p:to>
                                    </p:set>
                                    <p:anim calcmode="lin" valueType="num">
                                      <p:cBhvr additive="base">
                                        <p:cTn id="42" dur="500" fill="hold"/>
                                        <p:tgtEl>
                                          <p:spTgt spid="108578"/>
                                        </p:tgtEl>
                                        <p:attrNameLst>
                                          <p:attrName>ppt_x</p:attrName>
                                        </p:attrNameLst>
                                      </p:cBhvr>
                                      <p:tavLst>
                                        <p:tav tm="0">
                                          <p:val>
                                            <p:strVal val="0-#ppt_w/2"/>
                                          </p:val>
                                        </p:tav>
                                        <p:tav tm="100000">
                                          <p:val>
                                            <p:strVal val="#ppt_x"/>
                                          </p:val>
                                        </p:tav>
                                      </p:tavLst>
                                    </p:anim>
                                    <p:anim calcmode="lin" valueType="num">
                                      <p:cBhvr additive="base">
                                        <p:cTn id="43" dur="500" fill="hold"/>
                                        <p:tgtEl>
                                          <p:spTgt spid="108578"/>
                                        </p:tgtEl>
                                        <p:attrNameLst>
                                          <p:attrName>ppt_y</p:attrName>
                                        </p:attrNameLst>
                                      </p:cBhvr>
                                      <p:tavLst>
                                        <p:tav tm="0">
                                          <p:val>
                                            <p:strVal val="#ppt_y"/>
                                          </p:val>
                                        </p:tav>
                                        <p:tav tm="100000">
                                          <p:val>
                                            <p:strVal val="#ppt_y"/>
                                          </p:val>
                                        </p:tav>
                                      </p:tavLst>
                                    </p:anim>
                                  </p:childTnLst>
                                </p:cTn>
                              </p:par>
                            </p:childTnLst>
                          </p:cTn>
                        </p:par>
                        <p:par>
                          <p:cTn id="44" fill="hold" nodeType="afterGroup">
                            <p:stCondLst>
                              <p:cond delay="4000"/>
                            </p:stCondLst>
                            <p:childTnLst>
                              <p:par>
                                <p:cTn id="45" presetID="2" presetClass="entr" presetSubtype="8" fill="hold" grpId="0" nodeType="afterEffect">
                                  <p:stCondLst>
                                    <p:cond delay="0"/>
                                  </p:stCondLst>
                                  <p:childTnLst>
                                    <p:set>
                                      <p:cBhvr>
                                        <p:cTn id="46" dur="1" fill="hold">
                                          <p:stCondLst>
                                            <p:cond delay="0"/>
                                          </p:stCondLst>
                                        </p:cTn>
                                        <p:tgtEl>
                                          <p:spTgt spid="108579"/>
                                        </p:tgtEl>
                                        <p:attrNameLst>
                                          <p:attrName>style.visibility</p:attrName>
                                        </p:attrNameLst>
                                      </p:cBhvr>
                                      <p:to>
                                        <p:strVal val="visible"/>
                                      </p:to>
                                    </p:set>
                                    <p:anim calcmode="lin" valueType="num">
                                      <p:cBhvr additive="base">
                                        <p:cTn id="47" dur="500" fill="hold"/>
                                        <p:tgtEl>
                                          <p:spTgt spid="108579"/>
                                        </p:tgtEl>
                                        <p:attrNameLst>
                                          <p:attrName>ppt_x</p:attrName>
                                        </p:attrNameLst>
                                      </p:cBhvr>
                                      <p:tavLst>
                                        <p:tav tm="0">
                                          <p:val>
                                            <p:strVal val="0-#ppt_w/2"/>
                                          </p:val>
                                        </p:tav>
                                        <p:tav tm="100000">
                                          <p:val>
                                            <p:strVal val="#ppt_x"/>
                                          </p:val>
                                        </p:tav>
                                      </p:tavLst>
                                    </p:anim>
                                    <p:anim calcmode="lin" valueType="num">
                                      <p:cBhvr additive="base">
                                        <p:cTn id="48" dur="500" fill="hold"/>
                                        <p:tgtEl>
                                          <p:spTgt spid="108579"/>
                                        </p:tgtEl>
                                        <p:attrNameLst>
                                          <p:attrName>ppt_y</p:attrName>
                                        </p:attrNameLst>
                                      </p:cBhvr>
                                      <p:tavLst>
                                        <p:tav tm="0">
                                          <p:val>
                                            <p:strVal val="#ppt_y"/>
                                          </p:val>
                                        </p:tav>
                                        <p:tav tm="100000">
                                          <p:val>
                                            <p:strVal val="#ppt_y"/>
                                          </p:val>
                                        </p:tav>
                                      </p:tavLst>
                                    </p:anim>
                                  </p:childTnLst>
                                </p:cTn>
                              </p:par>
                            </p:childTnLst>
                          </p:cTn>
                        </p:par>
                        <p:par>
                          <p:cTn id="49" fill="hold" nodeType="afterGroup">
                            <p:stCondLst>
                              <p:cond delay="4500"/>
                            </p:stCondLst>
                            <p:childTnLst>
                              <p:par>
                                <p:cTn id="50" presetID="2" presetClass="entr" presetSubtype="8" fill="hold" grpId="0" nodeType="afterEffect">
                                  <p:stCondLst>
                                    <p:cond delay="0"/>
                                  </p:stCondLst>
                                  <p:childTnLst>
                                    <p:set>
                                      <p:cBhvr>
                                        <p:cTn id="51" dur="1" fill="hold">
                                          <p:stCondLst>
                                            <p:cond delay="0"/>
                                          </p:stCondLst>
                                        </p:cTn>
                                        <p:tgtEl>
                                          <p:spTgt spid="108580"/>
                                        </p:tgtEl>
                                        <p:attrNameLst>
                                          <p:attrName>style.visibility</p:attrName>
                                        </p:attrNameLst>
                                      </p:cBhvr>
                                      <p:to>
                                        <p:strVal val="visible"/>
                                      </p:to>
                                    </p:set>
                                    <p:anim calcmode="lin" valueType="num">
                                      <p:cBhvr additive="base">
                                        <p:cTn id="52" dur="500" fill="hold"/>
                                        <p:tgtEl>
                                          <p:spTgt spid="108580"/>
                                        </p:tgtEl>
                                        <p:attrNameLst>
                                          <p:attrName>ppt_x</p:attrName>
                                        </p:attrNameLst>
                                      </p:cBhvr>
                                      <p:tavLst>
                                        <p:tav tm="0">
                                          <p:val>
                                            <p:strVal val="0-#ppt_w/2"/>
                                          </p:val>
                                        </p:tav>
                                        <p:tav tm="100000">
                                          <p:val>
                                            <p:strVal val="#ppt_x"/>
                                          </p:val>
                                        </p:tav>
                                      </p:tavLst>
                                    </p:anim>
                                    <p:anim calcmode="lin" valueType="num">
                                      <p:cBhvr additive="base">
                                        <p:cTn id="53" dur="500" fill="hold"/>
                                        <p:tgtEl>
                                          <p:spTgt spid="108580"/>
                                        </p:tgtEl>
                                        <p:attrNameLst>
                                          <p:attrName>ppt_y</p:attrName>
                                        </p:attrNameLst>
                                      </p:cBhvr>
                                      <p:tavLst>
                                        <p:tav tm="0">
                                          <p:val>
                                            <p:strVal val="#ppt_y"/>
                                          </p:val>
                                        </p:tav>
                                        <p:tav tm="100000">
                                          <p:val>
                                            <p:strVal val="#ppt_y"/>
                                          </p:val>
                                        </p:tav>
                                      </p:tavLst>
                                    </p:anim>
                                  </p:childTnLst>
                                </p:cTn>
                              </p:par>
                            </p:childTnLst>
                          </p:cTn>
                        </p:par>
                        <p:par>
                          <p:cTn id="54" fill="hold" nodeType="afterGroup">
                            <p:stCondLst>
                              <p:cond delay="5000"/>
                            </p:stCondLst>
                            <p:childTnLst>
                              <p:par>
                                <p:cTn id="55" presetID="2" presetClass="entr" presetSubtype="8" fill="hold" grpId="0" nodeType="afterEffect">
                                  <p:stCondLst>
                                    <p:cond delay="0"/>
                                  </p:stCondLst>
                                  <p:childTnLst>
                                    <p:set>
                                      <p:cBhvr>
                                        <p:cTn id="56" dur="1" fill="hold">
                                          <p:stCondLst>
                                            <p:cond delay="0"/>
                                          </p:stCondLst>
                                        </p:cTn>
                                        <p:tgtEl>
                                          <p:spTgt spid="108581"/>
                                        </p:tgtEl>
                                        <p:attrNameLst>
                                          <p:attrName>style.visibility</p:attrName>
                                        </p:attrNameLst>
                                      </p:cBhvr>
                                      <p:to>
                                        <p:strVal val="visible"/>
                                      </p:to>
                                    </p:set>
                                    <p:anim calcmode="lin" valueType="num">
                                      <p:cBhvr additive="base">
                                        <p:cTn id="57" dur="500" fill="hold"/>
                                        <p:tgtEl>
                                          <p:spTgt spid="108581"/>
                                        </p:tgtEl>
                                        <p:attrNameLst>
                                          <p:attrName>ppt_x</p:attrName>
                                        </p:attrNameLst>
                                      </p:cBhvr>
                                      <p:tavLst>
                                        <p:tav tm="0">
                                          <p:val>
                                            <p:strVal val="0-#ppt_w/2"/>
                                          </p:val>
                                        </p:tav>
                                        <p:tav tm="100000">
                                          <p:val>
                                            <p:strVal val="#ppt_x"/>
                                          </p:val>
                                        </p:tav>
                                      </p:tavLst>
                                    </p:anim>
                                    <p:anim calcmode="lin" valueType="num">
                                      <p:cBhvr additive="base">
                                        <p:cTn id="58" dur="500" fill="hold"/>
                                        <p:tgtEl>
                                          <p:spTgt spid="108581"/>
                                        </p:tgtEl>
                                        <p:attrNameLst>
                                          <p:attrName>ppt_y</p:attrName>
                                        </p:attrNameLst>
                                      </p:cBhvr>
                                      <p:tavLst>
                                        <p:tav tm="0">
                                          <p:val>
                                            <p:strVal val="#ppt_y"/>
                                          </p:val>
                                        </p:tav>
                                        <p:tav tm="100000">
                                          <p:val>
                                            <p:strVal val="#ppt_y"/>
                                          </p:val>
                                        </p:tav>
                                      </p:tavLst>
                                    </p:anim>
                                  </p:childTnLst>
                                </p:cTn>
                              </p:par>
                            </p:childTnLst>
                          </p:cTn>
                        </p:par>
                        <p:par>
                          <p:cTn id="59" fill="hold" nodeType="afterGroup">
                            <p:stCondLst>
                              <p:cond delay="5500"/>
                            </p:stCondLst>
                            <p:childTnLst>
                              <p:par>
                                <p:cTn id="60" presetID="2" presetClass="entr" presetSubtype="8" fill="hold" grpId="0" nodeType="afterEffect">
                                  <p:stCondLst>
                                    <p:cond delay="0"/>
                                  </p:stCondLst>
                                  <p:childTnLst>
                                    <p:set>
                                      <p:cBhvr>
                                        <p:cTn id="61" dur="1" fill="hold">
                                          <p:stCondLst>
                                            <p:cond delay="0"/>
                                          </p:stCondLst>
                                        </p:cTn>
                                        <p:tgtEl>
                                          <p:spTgt spid="108582"/>
                                        </p:tgtEl>
                                        <p:attrNameLst>
                                          <p:attrName>style.visibility</p:attrName>
                                        </p:attrNameLst>
                                      </p:cBhvr>
                                      <p:to>
                                        <p:strVal val="visible"/>
                                      </p:to>
                                    </p:set>
                                    <p:anim calcmode="lin" valueType="num">
                                      <p:cBhvr additive="base">
                                        <p:cTn id="62" dur="500" fill="hold"/>
                                        <p:tgtEl>
                                          <p:spTgt spid="108582"/>
                                        </p:tgtEl>
                                        <p:attrNameLst>
                                          <p:attrName>ppt_x</p:attrName>
                                        </p:attrNameLst>
                                      </p:cBhvr>
                                      <p:tavLst>
                                        <p:tav tm="0">
                                          <p:val>
                                            <p:strVal val="0-#ppt_w/2"/>
                                          </p:val>
                                        </p:tav>
                                        <p:tav tm="100000">
                                          <p:val>
                                            <p:strVal val="#ppt_x"/>
                                          </p:val>
                                        </p:tav>
                                      </p:tavLst>
                                    </p:anim>
                                    <p:anim calcmode="lin" valueType="num">
                                      <p:cBhvr additive="base">
                                        <p:cTn id="63" dur="500" fill="hold"/>
                                        <p:tgtEl>
                                          <p:spTgt spid="108582"/>
                                        </p:tgtEl>
                                        <p:attrNameLst>
                                          <p:attrName>ppt_y</p:attrName>
                                        </p:attrNameLst>
                                      </p:cBhvr>
                                      <p:tavLst>
                                        <p:tav tm="0">
                                          <p:val>
                                            <p:strVal val="#ppt_y"/>
                                          </p:val>
                                        </p:tav>
                                        <p:tav tm="100000">
                                          <p:val>
                                            <p:strVal val="#ppt_y"/>
                                          </p:val>
                                        </p:tav>
                                      </p:tavLst>
                                    </p:anim>
                                  </p:childTnLst>
                                </p:cTn>
                              </p:par>
                            </p:childTnLst>
                          </p:cTn>
                        </p:par>
                        <p:par>
                          <p:cTn id="64" fill="hold" nodeType="afterGroup">
                            <p:stCondLst>
                              <p:cond delay="6000"/>
                            </p:stCondLst>
                            <p:childTnLst>
                              <p:par>
                                <p:cTn id="65" presetID="2" presetClass="entr" presetSubtype="8" fill="hold" grpId="0" nodeType="afterEffect">
                                  <p:stCondLst>
                                    <p:cond delay="0"/>
                                  </p:stCondLst>
                                  <p:childTnLst>
                                    <p:set>
                                      <p:cBhvr>
                                        <p:cTn id="66" dur="1" fill="hold">
                                          <p:stCondLst>
                                            <p:cond delay="0"/>
                                          </p:stCondLst>
                                        </p:cTn>
                                        <p:tgtEl>
                                          <p:spTgt spid="108583"/>
                                        </p:tgtEl>
                                        <p:attrNameLst>
                                          <p:attrName>style.visibility</p:attrName>
                                        </p:attrNameLst>
                                      </p:cBhvr>
                                      <p:to>
                                        <p:strVal val="visible"/>
                                      </p:to>
                                    </p:set>
                                    <p:anim calcmode="lin" valueType="num">
                                      <p:cBhvr additive="base">
                                        <p:cTn id="67" dur="500" fill="hold"/>
                                        <p:tgtEl>
                                          <p:spTgt spid="108583"/>
                                        </p:tgtEl>
                                        <p:attrNameLst>
                                          <p:attrName>ppt_x</p:attrName>
                                        </p:attrNameLst>
                                      </p:cBhvr>
                                      <p:tavLst>
                                        <p:tav tm="0">
                                          <p:val>
                                            <p:strVal val="0-#ppt_w/2"/>
                                          </p:val>
                                        </p:tav>
                                        <p:tav tm="100000">
                                          <p:val>
                                            <p:strVal val="#ppt_x"/>
                                          </p:val>
                                        </p:tav>
                                      </p:tavLst>
                                    </p:anim>
                                    <p:anim calcmode="lin" valueType="num">
                                      <p:cBhvr additive="base">
                                        <p:cTn id="68" dur="500" fill="hold"/>
                                        <p:tgtEl>
                                          <p:spTgt spid="108583"/>
                                        </p:tgtEl>
                                        <p:attrNameLst>
                                          <p:attrName>ppt_y</p:attrName>
                                        </p:attrNameLst>
                                      </p:cBhvr>
                                      <p:tavLst>
                                        <p:tav tm="0">
                                          <p:val>
                                            <p:strVal val="#ppt_y"/>
                                          </p:val>
                                        </p:tav>
                                        <p:tav tm="100000">
                                          <p:val>
                                            <p:strVal val="#ppt_y"/>
                                          </p:val>
                                        </p:tav>
                                      </p:tavLst>
                                    </p:anim>
                                  </p:childTnLst>
                                </p:cTn>
                              </p:par>
                            </p:childTnLst>
                          </p:cTn>
                        </p:par>
                        <p:par>
                          <p:cTn id="69" fill="hold" nodeType="afterGroup">
                            <p:stCondLst>
                              <p:cond delay="6500"/>
                            </p:stCondLst>
                            <p:childTnLst>
                              <p:par>
                                <p:cTn id="70" presetID="2" presetClass="entr" presetSubtype="8" fill="hold" grpId="0" nodeType="afterEffect">
                                  <p:stCondLst>
                                    <p:cond delay="0"/>
                                  </p:stCondLst>
                                  <p:childTnLst>
                                    <p:set>
                                      <p:cBhvr>
                                        <p:cTn id="71" dur="1" fill="hold">
                                          <p:stCondLst>
                                            <p:cond delay="0"/>
                                          </p:stCondLst>
                                        </p:cTn>
                                        <p:tgtEl>
                                          <p:spTgt spid="108584"/>
                                        </p:tgtEl>
                                        <p:attrNameLst>
                                          <p:attrName>style.visibility</p:attrName>
                                        </p:attrNameLst>
                                      </p:cBhvr>
                                      <p:to>
                                        <p:strVal val="visible"/>
                                      </p:to>
                                    </p:set>
                                    <p:anim calcmode="lin" valueType="num">
                                      <p:cBhvr additive="base">
                                        <p:cTn id="72" dur="500" fill="hold"/>
                                        <p:tgtEl>
                                          <p:spTgt spid="108584"/>
                                        </p:tgtEl>
                                        <p:attrNameLst>
                                          <p:attrName>ppt_x</p:attrName>
                                        </p:attrNameLst>
                                      </p:cBhvr>
                                      <p:tavLst>
                                        <p:tav tm="0">
                                          <p:val>
                                            <p:strVal val="0-#ppt_w/2"/>
                                          </p:val>
                                        </p:tav>
                                        <p:tav tm="100000">
                                          <p:val>
                                            <p:strVal val="#ppt_x"/>
                                          </p:val>
                                        </p:tav>
                                      </p:tavLst>
                                    </p:anim>
                                    <p:anim calcmode="lin" valueType="num">
                                      <p:cBhvr additive="base">
                                        <p:cTn id="73" dur="500" fill="hold"/>
                                        <p:tgtEl>
                                          <p:spTgt spid="10858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71" grpId="0" animBg="1"/>
      <p:bldP spid="108572" grpId="0" animBg="1"/>
      <p:bldP spid="108573" grpId="0" animBg="1"/>
      <p:bldP spid="108574" grpId="0" autoUpdateAnimBg="0"/>
      <p:bldP spid="108575" grpId="0" autoUpdateAnimBg="0"/>
      <p:bldP spid="108576" grpId="0" autoUpdateAnimBg="0"/>
      <p:bldP spid="108577" grpId="0" autoUpdateAnimBg="0"/>
      <p:bldP spid="108578" grpId="0" autoUpdateAnimBg="0"/>
      <p:bldP spid="108579" grpId="0" autoUpdateAnimBg="0"/>
      <p:bldP spid="108580" grpId="0" autoUpdateAnimBg="0"/>
      <p:bldP spid="108581" grpId="0" autoUpdateAnimBg="0"/>
      <p:bldP spid="108582" grpId="0" autoUpdateAnimBg="0"/>
      <p:bldP spid="108583" grpId="0" autoUpdateAnimBg="0"/>
      <p:bldP spid="108584"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ChangeArrowheads="1"/>
          </p:cNvSpPr>
          <p:nvPr/>
        </p:nvSpPr>
        <p:spPr bwMode="auto">
          <a:xfrm>
            <a:off x="609600" y="228600"/>
            <a:ext cx="4800600" cy="3016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spcBef>
                <a:spcPct val="50000"/>
              </a:spcBef>
            </a:pPr>
            <a:endParaRPr lang="en-US" sz="1400" b="1">
              <a:latin typeface="Arial" pitchFamily="34" charset="0"/>
            </a:endParaRPr>
          </a:p>
        </p:txBody>
      </p:sp>
      <p:sp>
        <p:nvSpPr>
          <p:cNvPr id="158723" name="Line 3"/>
          <p:cNvSpPr>
            <a:spLocks noChangeShapeType="1"/>
          </p:cNvSpPr>
          <p:nvPr/>
        </p:nvSpPr>
        <p:spPr bwMode="auto">
          <a:xfrm flipH="1">
            <a:off x="6096000" y="2286000"/>
            <a:ext cx="0" cy="3240088"/>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lIns="90000" tIns="46800" rIns="90000" bIns="46800">
            <a:spAutoFit/>
          </a:bodyPr>
          <a:lstStyle/>
          <a:p>
            <a:endParaRPr lang="en-US"/>
          </a:p>
        </p:txBody>
      </p:sp>
      <p:sp>
        <p:nvSpPr>
          <p:cNvPr id="158724" name="Line 4"/>
          <p:cNvSpPr>
            <a:spLocks noChangeShapeType="1"/>
          </p:cNvSpPr>
          <p:nvPr/>
        </p:nvSpPr>
        <p:spPr bwMode="auto">
          <a:xfrm>
            <a:off x="3352800" y="3962400"/>
            <a:ext cx="5256213" cy="0"/>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lIns="90000" tIns="46800" rIns="90000" bIns="46800">
            <a:spAutoFit/>
          </a:bodyPr>
          <a:lstStyle/>
          <a:p>
            <a:endParaRPr lang="en-US"/>
          </a:p>
        </p:txBody>
      </p:sp>
      <p:sp>
        <p:nvSpPr>
          <p:cNvPr id="158725" name="Rectangle 5"/>
          <p:cNvSpPr>
            <a:spLocks noChangeArrowheads="1"/>
          </p:cNvSpPr>
          <p:nvPr/>
        </p:nvSpPr>
        <p:spPr bwMode="auto">
          <a:xfrm>
            <a:off x="3352800" y="2286000"/>
            <a:ext cx="5256213" cy="3240088"/>
          </a:xfrm>
          <a:prstGeom prst="rect">
            <a:avLst/>
          </a:prstGeom>
          <a:noFill/>
          <a:ln w="381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lIns="90000" tIns="46800" rIns="90000" bIns="46800" anchor="ctr">
            <a:spAutoFit/>
          </a:bodyPr>
          <a:lstStyle/>
          <a:p>
            <a:endParaRPr lang="en-US"/>
          </a:p>
        </p:txBody>
      </p:sp>
      <p:sp>
        <p:nvSpPr>
          <p:cNvPr id="158726" name="Text Box 6"/>
          <p:cNvSpPr txBox="1">
            <a:spLocks noChangeArrowheads="1"/>
          </p:cNvSpPr>
          <p:nvPr/>
        </p:nvSpPr>
        <p:spPr bwMode="auto">
          <a:xfrm>
            <a:off x="2555875" y="1628775"/>
            <a:ext cx="5164138"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a:tailEnd/>
              </a14:hiddenLine>
            </a:ext>
          </a:extLst>
        </p:spPr>
        <p:txBody>
          <a:bodyPr wrap="none" lIns="90000" tIns="46800" rIns="90000" bIns="46800">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GB" sz="1800">
                <a:latin typeface="Tahoma" pitchFamily="34" charset="0"/>
              </a:rPr>
              <a:t>Stakeholders Potential Threat to the Organisation</a:t>
            </a:r>
            <a:endParaRPr lang="en-US" sz="1800">
              <a:latin typeface="Tahoma" pitchFamily="34" charset="0"/>
            </a:endParaRPr>
          </a:p>
        </p:txBody>
      </p:sp>
      <p:sp>
        <p:nvSpPr>
          <p:cNvPr id="158727" name="Text Box 7"/>
          <p:cNvSpPr txBox="1">
            <a:spLocks noChangeArrowheads="1"/>
          </p:cNvSpPr>
          <p:nvPr/>
        </p:nvSpPr>
        <p:spPr bwMode="auto">
          <a:xfrm>
            <a:off x="1371600" y="3352800"/>
            <a:ext cx="1816100" cy="9159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a:tailEnd/>
              </a14:hiddenLine>
            </a:ext>
          </a:extLst>
        </p:spPr>
        <p:txBody>
          <a:bodyPr wrap="none" lIns="90000" tIns="46800" rIns="90000" bIns="46800">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GB" sz="1800">
                <a:latin typeface="Tahoma" pitchFamily="34" charset="0"/>
              </a:rPr>
              <a:t>Interest in the </a:t>
            </a:r>
          </a:p>
          <a:p>
            <a:r>
              <a:rPr lang="en-GB" sz="1800">
                <a:latin typeface="Tahoma" pitchFamily="34" charset="0"/>
              </a:rPr>
              <a:t>Organisation </a:t>
            </a:r>
          </a:p>
          <a:p>
            <a:r>
              <a:rPr lang="en-GB" sz="1800">
                <a:latin typeface="Tahoma" pitchFamily="34" charset="0"/>
              </a:rPr>
              <a:t>and its Activities</a:t>
            </a:r>
            <a:endParaRPr lang="en-US" sz="1800">
              <a:latin typeface="Tahoma" pitchFamily="34" charset="0"/>
            </a:endParaRPr>
          </a:p>
        </p:txBody>
      </p:sp>
      <p:sp>
        <p:nvSpPr>
          <p:cNvPr id="158728" name="Text Box 8"/>
          <p:cNvSpPr txBox="1">
            <a:spLocks noChangeArrowheads="1"/>
          </p:cNvSpPr>
          <p:nvPr/>
        </p:nvSpPr>
        <p:spPr bwMode="auto">
          <a:xfrm>
            <a:off x="2286000" y="4495800"/>
            <a:ext cx="722313"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a:tailEnd/>
              </a14:hiddenLine>
            </a:ext>
          </a:extLst>
        </p:spPr>
        <p:txBody>
          <a:bodyPr wrap="none" lIns="90000" tIns="46800" rIns="90000" bIns="46800">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GB" sz="1800" b="1">
                <a:latin typeface="Tahoma" pitchFamily="34" charset="0"/>
              </a:rPr>
              <a:t>LOW</a:t>
            </a:r>
            <a:endParaRPr lang="en-US" sz="1800" b="1">
              <a:latin typeface="Tahoma" pitchFamily="34" charset="0"/>
            </a:endParaRPr>
          </a:p>
        </p:txBody>
      </p:sp>
      <p:sp>
        <p:nvSpPr>
          <p:cNvPr id="158729" name="Text Box 9"/>
          <p:cNvSpPr txBox="1">
            <a:spLocks noChangeArrowheads="1"/>
          </p:cNvSpPr>
          <p:nvPr/>
        </p:nvSpPr>
        <p:spPr bwMode="auto">
          <a:xfrm>
            <a:off x="3492500" y="1990725"/>
            <a:ext cx="722313"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a:tailEnd/>
              </a14:hiddenLine>
            </a:ext>
          </a:extLst>
        </p:spPr>
        <p:txBody>
          <a:bodyPr wrap="none" lIns="90000" tIns="46800" rIns="90000" bIns="46800">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GB" sz="1800" b="1">
                <a:latin typeface="Tahoma" pitchFamily="34" charset="0"/>
              </a:rPr>
              <a:t>LOW</a:t>
            </a:r>
            <a:endParaRPr lang="en-US" sz="1800" b="1">
              <a:latin typeface="Tahoma" pitchFamily="34" charset="0"/>
            </a:endParaRPr>
          </a:p>
        </p:txBody>
      </p:sp>
      <p:sp>
        <p:nvSpPr>
          <p:cNvPr id="158730" name="Text Box 10"/>
          <p:cNvSpPr txBox="1">
            <a:spLocks noChangeArrowheads="1"/>
          </p:cNvSpPr>
          <p:nvPr/>
        </p:nvSpPr>
        <p:spPr bwMode="auto">
          <a:xfrm>
            <a:off x="2362200" y="2895600"/>
            <a:ext cx="811213"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a:tailEnd/>
              </a14:hiddenLine>
            </a:ext>
          </a:extLst>
        </p:spPr>
        <p:txBody>
          <a:bodyPr wrap="none" lIns="90000" tIns="46800" rIns="90000" bIns="46800">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GB" sz="1800" b="1">
                <a:latin typeface="Tahoma" pitchFamily="34" charset="0"/>
              </a:rPr>
              <a:t>HIGH</a:t>
            </a:r>
            <a:endParaRPr lang="en-US" sz="1800" b="1">
              <a:latin typeface="Tahoma" pitchFamily="34" charset="0"/>
            </a:endParaRPr>
          </a:p>
        </p:txBody>
      </p:sp>
      <p:sp>
        <p:nvSpPr>
          <p:cNvPr id="158731" name="Text Box 11"/>
          <p:cNvSpPr txBox="1">
            <a:spLocks noChangeArrowheads="1"/>
          </p:cNvSpPr>
          <p:nvPr/>
        </p:nvSpPr>
        <p:spPr bwMode="auto">
          <a:xfrm>
            <a:off x="6013450" y="1990725"/>
            <a:ext cx="811213"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a:tailEnd/>
              </a14:hiddenLine>
            </a:ext>
          </a:extLst>
        </p:spPr>
        <p:txBody>
          <a:bodyPr wrap="none" lIns="90000" tIns="46800" rIns="90000" bIns="46800">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GB" sz="1800" b="1">
                <a:latin typeface="Tahoma" pitchFamily="34" charset="0"/>
              </a:rPr>
              <a:t>HIGH</a:t>
            </a:r>
            <a:endParaRPr lang="en-US" sz="1800" b="1">
              <a:latin typeface="Tahoma" pitchFamily="34" charset="0"/>
            </a:endParaRPr>
          </a:p>
        </p:txBody>
      </p:sp>
      <p:sp>
        <p:nvSpPr>
          <p:cNvPr id="158732" name="Text Box 12"/>
          <p:cNvSpPr txBox="1">
            <a:spLocks noChangeArrowheads="1"/>
          </p:cNvSpPr>
          <p:nvPr/>
        </p:nvSpPr>
        <p:spPr bwMode="auto">
          <a:xfrm>
            <a:off x="4716463" y="5662613"/>
            <a:ext cx="4191000" cy="366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a:tailEnd/>
              </a14:hiddenLine>
            </a:ext>
          </a:extLst>
        </p:spPr>
        <p:txBody>
          <a:bodyPr lIns="90000" tIns="46800" rIns="90000" bIns="46800">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r">
              <a:spcBef>
                <a:spcPct val="50000"/>
              </a:spcBef>
            </a:pPr>
            <a:r>
              <a:rPr lang="en-GB" sz="1800">
                <a:latin typeface="Tahoma" pitchFamily="34" charset="0"/>
              </a:rPr>
              <a:t>Adapted from Eden &amp; Ackerman, 1998</a:t>
            </a:r>
          </a:p>
        </p:txBody>
      </p:sp>
      <p:sp>
        <p:nvSpPr>
          <p:cNvPr id="158733" name="Text Box 13"/>
          <p:cNvSpPr txBox="1">
            <a:spLocks noChangeArrowheads="1"/>
          </p:cNvSpPr>
          <p:nvPr/>
        </p:nvSpPr>
        <p:spPr bwMode="auto">
          <a:xfrm>
            <a:off x="6172200" y="2362200"/>
            <a:ext cx="2362200" cy="9159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a:tailEnd/>
              </a14:hiddenLine>
            </a:ext>
          </a:extLst>
        </p:spPr>
        <p:txBody>
          <a:bodyPr lIns="90000" tIns="46800" rIns="90000" bIns="46800">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GB" sz="1800">
                <a:latin typeface="Tahoma" pitchFamily="34" charset="0"/>
              </a:rPr>
              <a:t>PLAYERS</a:t>
            </a:r>
          </a:p>
          <a:p>
            <a:pPr algn="ctr"/>
            <a:endParaRPr lang="en-GB" sz="1800">
              <a:latin typeface="Tahoma" pitchFamily="34" charset="0"/>
            </a:endParaRPr>
          </a:p>
          <a:p>
            <a:pPr algn="ctr"/>
            <a:r>
              <a:rPr lang="en-GB" sz="1800">
                <a:latin typeface="Tahoma" pitchFamily="34" charset="0"/>
              </a:rPr>
              <a:t>Manage Closely</a:t>
            </a:r>
          </a:p>
        </p:txBody>
      </p:sp>
      <p:sp>
        <p:nvSpPr>
          <p:cNvPr id="158734" name="Text Box 14"/>
          <p:cNvSpPr txBox="1">
            <a:spLocks noChangeArrowheads="1"/>
          </p:cNvSpPr>
          <p:nvPr/>
        </p:nvSpPr>
        <p:spPr bwMode="auto">
          <a:xfrm>
            <a:off x="3429000" y="2362200"/>
            <a:ext cx="2667000" cy="9159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a:tailEnd/>
              </a14:hiddenLine>
            </a:ext>
          </a:extLst>
        </p:spPr>
        <p:txBody>
          <a:bodyPr lIns="90000" tIns="46800" rIns="90000" bIns="46800">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GB" sz="1800">
                <a:latin typeface="Tahoma" pitchFamily="34" charset="0"/>
              </a:rPr>
              <a:t>SUBJECTS</a:t>
            </a:r>
          </a:p>
          <a:p>
            <a:pPr algn="ctr"/>
            <a:endParaRPr lang="en-GB" sz="1800">
              <a:latin typeface="Tahoma" pitchFamily="34" charset="0"/>
            </a:endParaRPr>
          </a:p>
          <a:p>
            <a:pPr algn="ctr"/>
            <a:r>
              <a:rPr lang="en-GB" sz="1800">
                <a:latin typeface="Tahoma" pitchFamily="34" charset="0"/>
              </a:rPr>
              <a:t>Keep Satisfied</a:t>
            </a:r>
            <a:endParaRPr lang="en-US" sz="1800">
              <a:latin typeface="Tahoma" pitchFamily="34" charset="0"/>
            </a:endParaRPr>
          </a:p>
        </p:txBody>
      </p:sp>
      <p:sp>
        <p:nvSpPr>
          <p:cNvPr id="158735" name="Text Box 15"/>
          <p:cNvSpPr txBox="1">
            <a:spLocks noChangeArrowheads="1"/>
          </p:cNvSpPr>
          <p:nvPr/>
        </p:nvSpPr>
        <p:spPr bwMode="auto">
          <a:xfrm>
            <a:off x="6096000" y="3962400"/>
            <a:ext cx="2151063" cy="11906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a:tailEnd/>
              </a14:hiddenLine>
            </a:ext>
          </a:extLst>
        </p:spPr>
        <p:txBody>
          <a:bodyPr wrap="none" lIns="90000" tIns="46800" rIns="90000" bIns="46800">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GB" sz="1800">
                <a:latin typeface="Tahoma" pitchFamily="34" charset="0"/>
              </a:rPr>
              <a:t>CONTEXT SETTERS</a:t>
            </a:r>
          </a:p>
          <a:p>
            <a:pPr algn="ctr"/>
            <a:endParaRPr lang="en-GB" sz="1800">
              <a:latin typeface="Tahoma" pitchFamily="34" charset="0"/>
            </a:endParaRPr>
          </a:p>
          <a:p>
            <a:pPr algn="ctr"/>
            <a:r>
              <a:rPr lang="en-US" sz="1800">
                <a:latin typeface="Tahoma" pitchFamily="34" charset="0"/>
              </a:rPr>
              <a:t>Keep informed</a:t>
            </a:r>
          </a:p>
          <a:p>
            <a:pPr algn="ctr"/>
            <a:endParaRPr lang="en-US" sz="1800">
              <a:latin typeface="Tahoma" pitchFamily="34" charset="0"/>
            </a:endParaRPr>
          </a:p>
        </p:txBody>
      </p:sp>
      <p:sp>
        <p:nvSpPr>
          <p:cNvPr id="158736" name="Text Box 16"/>
          <p:cNvSpPr txBox="1">
            <a:spLocks noChangeArrowheads="1"/>
          </p:cNvSpPr>
          <p:nvPr/>
        </p:nvSpPr>
        <p:spPr bwMode="auto">
          <a:xfrm>
            <a:off x="3429000" y="4038600"/>
            <a:ext cx="2590800" cy="11906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a:tailEnd/>
              </a14:hiddenLine>
            </a:ext>
          </a:extLst>
        </p:spPr>
        <p:txBody>
          <a:bodyPr lIns="90000" tIns="46800" rIns="90000" bIns="46800">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GB" sz="1800">
                <a:latin typeface="Tahoma" pitchFamily="34" charset="0"/>
              </a:rPr>
              <a:t>CROWD</a:t>
            </a:r>
          </a:p>
          <a:p>
            <a:endParaRPr lang="en-GB" sz="1800">
              <a:latin typeface="Tahoma" pitchFamily="34" charset="0"/>
            </a:endParaRPr>
          </a:p>
          <a:p>
            <a:pPr algn="ctr"/>
            <a:r>
              <a:rPr lang="en-GB" sz="1800">
                <a:latin typeface="Tahoma" pitchFamily="34" charset="0"/>
              </a:rPr>
              <a:t>Monitor (Minimum Effort)</a:t>
            </a:r>
            <a:endParaRPr lang="en-US" sz="1800">
              <a:latin typeface="Tahoma" pitchFamily="34" charset="0"/>
            </a:endParaRPr>
          </a:p>
        </p:txBody>
      </p:sp>
      <p:sp>
        <p:nvSpPr>
          <p:cNvPr id="11281" name="Rectangle 17"/>
          <p:cNvSpPr>
            <a:spLocks noChangeArrowheads="1"/>
          </p:cNvSpPr>
          <p:nvPr/>
        </p:nvSpPr>
        <p:spPr bwMode="auto">
          <a:xfrm>
            <a:off x="519113" y="76200"/>
            <a:ext cx="7391400" cy="1143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lstStyle/>
          <a:p>
            <a:pPr algn="ctr" eaLnBrk="0" hangingPunct="0"/>
            <a:r>
              <a:rPr lang="en-GB" sz="3200" b="1" dirty="0">
                <a:latin typeface="Tahoma" pitchFamily="34" charset="0"/>
              </a:rPr>
              <a:t> Strategies to tackle groups</a:t>
            </a:r>
          </a:p>
        </p:txBody>
      </p:sp>
    </p:spTree>
    <p:extLst>
      <p:ext uri="{BB962C8B-B14F-4D97-AF65-F5344CB8AC3E}">
        <p14:creationId xmlns="" xmlns:p14="http://schemas.microsoft.com/office/powerpoint/2010/main" val="373001962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58723"/>
                                        </p:tgtEl>
                                        <p:attrNameLst>
                                          <p:attrName>style.visibility</p:attrName>
                                        </p:attrNameLst>
                                      </p:cBhvr>
                                      <p:to>
                                        <p:strVal val="visible"/>
                                      </p:to>
                                    </p:set>
                                    <p:anim calcmode="lin" valueType="num">
                                      <p:cBhvr additive="base">
                                        <p:cTn id="7" dur="500" fill="hold"/>
                                        <p:tgtEl>
                                          <p:spTgt spid="158723"/>
                                        </p:tgtEl>
                                        <p:attrNameLst>
                                          <p:attrName>ppt_x</p:attrName>
                                        </p:attrNameLst>
                                      </p:cBhvr>
                                      <p:tavLst>
                                        <p:tav tm="0">
                                          <p:val>
                                            <p:strVal val="0-#ppt_w/2"/>
                                          </p:val>
                                        </p:tav>
                                        <p:tav tm="100000">
                                          <p:val>
                                            <p:strVal val="#ppt_x"/>
                                          </p:val>
                                        </p:tav>
                                      </p:tavLst>
                                    </p:anim>
                                    <p:anim calcmode="lin" valueType="num">
                                      <p:cBhvr additive="base">
                                        <p:cTn id="8" dur="500" fill="hold"/>
                                        <p:tgtEl>
                                          <p:spTgt spid="158723"/>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158724"/>
                                        </p:tgtEl>
                                        <p:attrNameLst>
                                          <p:attrName>style.visibility</p:attrName>
                                        </p:attrNameLst>
                                      </p:cBhvr>
                                      <p:to>
                                        <p:strVal val="visible"/>
                                      </p:to>
                                    </p:set>
                                    <p:anim calcmode="lin" valueType="num">
                                      <p:cBhvr additive="base">
                                        <p:cTn id="12" dur="500" fill="hold"/>
                                        <p:tgtEl>
                                          <p:spTgt spid="158724"/>
                                        </p:tgtEl>
                                        <p:attrNameLst>
                                          <p:attrName>ppt_x</p:attrName>
                                        </p:attrNameLst>
                                      </p:cBhvr>
                                      <p:tavLst>
                                        <p:tav tm="0">
                                          <p:val>
                                            <p:strVal val="0-#ppt_w/2"/>
                                          </p:val>
                                        </p:tav>
                                        <p:tav tm="100000">
                                          <p:val>
                                            <p:strVal val="#ppt_x"/>
                                          </p:val>
                                        </p:tav>
                                      </p:tavLst>
                                    </p:anim>
                                    <p:anim calcmode="lin" valueType="num">
                                      <p:cBhvr additive="base">
                                        <p:cTn id="13" dur="500" fill="hold"/>
                                        <p:tgtEl>
                                          <p:spTgt spid="158724"/>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158725"/>
                                        </p:tgtEl>
                                        <p:attrNameLst>
                                          <p:attrName>style.visibility</p:attrName>
                                        </p:attrNameLst>
                                      </p:cBhvr>
                                      <p:to>
                                        <p:strVal val="visible"/>
                                      </p:to>
                                    </p:set>
                                    <p:anim calcmode="lin" valueType="num">
                                      <p:cBhvr additive="base">
                                        <p:cTn id="17" dur="500" fill="hold"/>
                                        <p:tgtEl>
                                          <p:spTgt spid="158725"/>
                                        </p:tgtEl>
                                        <p:attrNameLst>
                                          <p:attrName>ppt_x</p:attrName>
                                        </p:attrNameLst>
                                      </p:cBhvr>
                                      <p:tavLst>
                                        <p:tav tm="0">
                                          <p:val>
                                            <p:strVal val="0-#ppt_w/2"/>
                                          </p:val>
                                        </p:tav>
                                        <p:tav tm="100000">
                                          <p:val>
                                            <p:strVal val="#ppt_x"/>
                                          </p:val>
                                        </p:tav>
                                      </p:tavLst>
                                    </p:anim>
                                    <p:anim calcmode="lin" valueType="num">
                                      <p:cBhvr additive="base">
                                        <p:cTn id="18" dur="500" fill="hold"/>
                                        <p:tgtEl>
                                          <p:spTgt spid="158725"/>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1500"/>
                            </p:stCondLst>
                            <p:childTnLst>
                              <p:par>
                                <p:cTn id="20" presetID="2" presetClass="entr" presetSubtype="8" fill="hold" grpId="0" nodeType="afterEffect">
                                  <p:stCondLst>
                                    <p:cond delay="0"/>
                                  </p:stCondLst>
                                  <p:childTnLst>
                                    <p:set>
                                      <p:cBhvr>
                                        <p:cTn id="21" dur="1" fill="hold">
                                          <p:stCondLst>
                                            <p:cond delay="0"/>
                                          </p:stCondLst>
                                        </p:cTn>
                                        <p:tgtEl>
                                          <p:spTgt spid="158726"/>
                                        </p:tgtEl>
                                        <p:attrNameLst>
                                          <p:attrName>style.visibility</p:attrName>
                                        </p:attrNameLst>
                                      </p:cBhvr>
                                      <p:to>
                                        <p:strVal val="visible"/>
                                      </p:to>
                                    </p:set>
                                    <p:anim calcmode="lin" valueType="num">
                                      <p:cBhvr additive="base">
                                        <p:cTn id="22" dur="500" fill="hold"/>
                                        <p:tgtEl>
                                          <p:spTgt spid="158726"/>
                                        </p:tgtEl>
                                        <p:attrNameLst>
                                          <p:attrName>ppt_x</p:attrName>
                                        </p:attrNameLst>
                                      </p:cBhvr>
                                      <p:tavLst>
                                        <p:tav tm="0">
                                          <p:val>
                                            <p:strVal val="0-#ppt_w/2"/>
                                          </p:val>
                                        </p:tav>
                                        <p:tav tm="100000">
                                          <p:val>
                                            <p:strVal val="#ppt_x"/>
                                          </p:val>
                                        </p:tav>
                                      </p:tavLst>
                                    </p:anim>
                                    <p:anim calcmode="lin" valueType="num">
                                      <p:cBhvr additive="base">
                                        <p:cTn id="23" dur="500" fill="hold"/>
                                        <p:tgtEl>
                                          <p:spTgt spid="158726"/>
                                        </p:tgtEl>
                                        <p:attrNameLst>
                                          <p:attrName>ppt_y</p:attrName>
                                        </p:attrNameLst>
                                      </p:cBhvr>
                                      <p:tavLst>
                                        <p:tav tm="0">
                                          <p:val>
                                            <p:strVal val="#ppt_y"/>
                                          </p:val>
                                        </p:tav>
                                        <p:tav tm="100000">
                                          <p:val>
                                            <p:strVal val="#ppt_y"/>
                                          </p:val>
                                        </p:tav>
                                      </p:tavLst>
                                    </p:anim>
                                  </p:childTnLst>
                                </p:cTn>
                              </p:par>
                            </p:childTnLst>
                          </p:cTn>
                        </p:par>
                        <p:par>
                          <p:cTn id="24" fill="hold" nodeType="afterGroup">
                            <p:stCondLst>
                              <p:cond delay="2000"/>
                            </p:stCondLst>
                            <p:childTnLst>
                              <p:par>
                                <p:cTn id="25" presetID="2" presetClass="entr" presetSubtype="8" fill="hold" grpId="0" nodeType="afterEffect">
                                  <p:stCondLst>
                                    <p:cond delay="0"/>
                                  </p:stCondLst>
                                  <p:childTnLst>
                                    <p:set>
                                      <p:cBhvr>
                                        <p:cTn id="26" dur="1" fill="hold">
                                          <p:stCondLst>
                                            <p:cond delay="0"/>
                                          </p:stCondLst>
                                        </p:cTn>
                                        <p:tgtEl>
                                          <p:spTgt spid="158727"/>
                                        </p:tgtEl>
                                        <p:attrNameLst>
                                          <p:attrName>style.visibility</p:attrName>
                                        </p:attrNameLst>
                                      </p:cBhvr>
                                      <p:to>
                                        <p:strVal val="visible"/>
                                      </p:to>
                                    </p:set>
                                    <p:anim calcmode="lin" valueType="num">
                                      <p:cBhvr additive="base">
                                        <p:cTn id="27" dur="500" fill="hold"/>
                                        <p:tgtEl>
                                          <p:spTgt spid="158727"/>
                                        </p:tgtEl>
                                        <p:attrNameLst>
                                          <p:attrName>ppt_x</p:attrName>
                                        </p:attrNameLst>
                                      </p:cBhvr>
                                      <p:tavLst>
                                        <p:tav tm="0">
                                          <p:val>
                                            <p:strVal val="0-#ppt_w/2"/>
                                          </p:val>
                                        </p:tav>
                                        <p:tav tm="100000">
                                          <p:val>
                                            <p:strVal val="#ppt_x"/>
                                          </p:val>
                                        </p:tav>
                                      </p:tavLst>
                                    </p:anim>
                                    <p:anim calcmode="lin" valueType="num">
                                      <p:cBhvr additive="base">
                                        <p:cTn id="28" dur="500" fill="hold"/>
                                        <p:tgtEl>
                                          <p:spTgt spid="158727"/>
                                        </p:tgtEl>
                                        <p:attrNameLst>
                                          <p:attrName>ppt_y</p:attrName>
                                        </p:attrNameLst>
                                      </p:cBhvr>
                                      <p:tavLst>
                                        <p:tav tm="0">
                                          <p:val>
                                            <p:strVal val="#ppt_y"/>
                                          </p:val>
                                        </p:tav>
                                        <p:tav tm="100000">
                                          <p:val>
                                            <p:strVal val="#ppt_y"/>
                                          </p:val>
                                        </p:tav>
                                      </p:tavLst>
                                    </p:anim>
                                  </p:childTnLst>
                                </p:cTn>
                              </p:par>
                            </p:childTnLst>
                          </p:cTn>
                        </p:par>
                        <p:par>
                          <p:cTn id="29" fill="hold" nodeType="afterGroup">
                            <p:stCondLst>
                              <p:cond delay="2500"/>
                            </p:stCondLst>
                            <p:childTnLst>
                              <p:par>
                                <p:cTn id="30" presetID="2" presetClass="entr" presetSubtype="8" fill="hold" grpId="0" nodeType="afterEffect">
                                  <p:stCondLst>
                                    <p:cond delay="0"/>
                                  </p:stCondLst>
                                  <p:childTnLst>
                                    <p:set>
                                      <p:cBhvr>
                                        <p:cTn id="31" dur="1" fill="hold">
                                          <p:stCondLst>
                                            <p:cond delay="0"/>
                                          </p:stCondLst>
                                        </p:cTn>
                                        <p:tgtEl>
                                          <p:spTgt spid="158728"/>
                                        </p:tgtEl>
                                        <p:attrNameLst>
                                          <p:attrName>style.visibility</p:attrName>
                                        </p:attrNameLst>
                                      </p:cBhvr>
                                      <p:to>
                                        <p:strVal val="visible"/>
                                      </p:to>
                                    </p:set>
                                    <p:anim calcmode="lin" valueType="num">
                                      <p:cBhvr additive="base">
                                        <p:cTn id="32" dur="500" fill="hold"/>
                                        <p:tgtEl>
                                          <p:spTgt spid="158728"/>
                                        </p:tgtEl>
                                        <p:attrNameLst>
                                          <p:attrName>ppt_x</p:attrName>
                                        </p:attrNameLst>
                                      </p:cBhvr>
                                      <p:tavLst>
                                        <p:tav tm="0">
                                          <p:val>
                                            <p:strVal val="0-#ppt_w/2"/>
                                          </p:val>
                                        </p:tav>
                                        <p:tav tm="100000">
                                          <p:val>
                                            <p:strVal val="#ppt_x"/>
                                          </p:val>
                                        </p:tav>
                                      </p:tavLst>
                                    </p:anim>
                                    <p:anim calcmode="lin" valueType="num">
                                      <p:cBhvr additive="base">
                                        <p:cTn id="33" dur="500" fill="hold"/>
                                        <p:tgtEl>
                                          <p:spTgt spid="158728"/>
                                        </p:tgtEl>
                                        <p:attrNameLst>
                                          <p:attrName>ppt_y</p:attrName>
                                        </p:attrNameLst>
                                      </p:cBhvr>
                                      <p:tavLst>
                                        <p:tav tm="0">
                                          <p:val>
                                            <p:strVal val="#ppt_y"/>
                                          </p:val>
                                        </p:tav>
                                        <p:tav tm="100000">
                                          <p:val>
                                            <p:strVal val="#ppt_y"/>
                                          </p:val>
                                        </p:tav>
                                      </p:tavLst>
                                    </p:anim>
                                  </p:childTnLst>
                                </p:cTn>
                              </p:par>
                            </p:childTnLst>
                          </p:cTn>
                        </p:par>
                        <p:par>
                          <p:cTn id="34" fill="hold" nodeType="afterGroup">
                            <p:stCondLst>
                              <p:cond delay="3000"/>
                            </p:stCondLst>
                            <p:childTnLst>
                              <p:par>
                                <p:cTn id="35" presetID="2" presetClass="entr" presetSubtype="8" fill="hold" grpId="0" nodeType="afterEffect">
                                  <p:stCondLst>
                                    <p:cond delay="0"/>
                                  </p:stCondLst>
                                  <p:childTnLst>
                                    <p:set>
                                      <p:cBhvr>
                                        <p:cTn id="36" dur="1" fill="hold">
                                          <p:stCondLst>
                                            <p:cond delay="0"/>
                                          </p:stCondLst>
                                        </p:cTn>
                                        <p:tgtEl>
                                          <p:spTgt spid="158729"/>
                                        </p:tgtEl>
                                        <p:attrNameLst>
                                          <p:attrName>style.visibility</p:attrName>
                                        </p:attrNameLst>
                                      </p:cBhvr>
                                      <p:to>
                                        <p:strVal val="visible"/>
                                      </p:to>
                                    </p:set>
                                    <p:anim calcmode="lin" valueType="num">
                                      <p:cBhvr additive="base">
                                        <p:cTn id="37" dur="500" fill="hold"/>
                                        <p:tgtEl>
                                          <p:spTgt spid="158729"/>
                                        </p:tgtEl>
                                        <p:attrNameLst>
                                          <p:attrName>ppt_x</p:attrName>
                                        </p:attrNameLst>
                                      </p:cBhvr>
                                      <p:tavLst>
                                        <p:tav tm="0">
                                          <p:val>
                                            <p:strVal val="0-#ppt_w/2"/>
                                          </p:val>
                                        </p:tav>
                                        <p:tav tm="100000">
                                          <p:val>
                                            <p:strVal val="#ppt_x"/>
                                          </p:val>
                                        </p:tav>
                                      </p:tavLst>
                                    </p:anim>
                                    <p:anim calcmode="lin" valueType="num">
                                      <p:cBhvr additive="base">
                                        <p:cTn id="38" dur="500" fill="hold"/>
                                        <p:tgtEl>
                                          <p:spTgt spid="158729"/>
                                        </p:tgtEl>
                                        <p:attrNameLst>
                                          <p:attrName>ppt_y</p:attrName>
                                        </p:attrNameLst>
                                      </p:cBhvr>
                                      <p:tavLst>
                                        <p:tav tm="0">
                                          <p:val>
                                            <p:strVal val="#ppt_y"/>
                                          </p:val>
                                        </p:tav>
                                        <p:tav tm="100000">
                                          <p:val>
                                            <p:strVal val="#ppt_y"/>
                                          </p:val>
                                        </p:tav>
                                      </p:tavLst>
                                    </p:anim>
                                  </p:childTnLst>
                                </p:cTn>
                              </p:par>
                            </p:childTnLst>
                          </p:cTn>
                        </p:par>
                        <p:par>
                          <p:cTn id="39" fill="hold" nodeType="afterGroup">
                            <p:stCondLst>
                              <p:cond delay="3500"/>
                            </p:stCondLst>
                            <p:childTnLst>
                              <p:par>
                                <p:cTn id="40" presetID="2" presetClass="entr" presetSubtype="8" fill="hold" grpId="0" nodeType="afterEffect">
                                  <p:stCondLst>
                                    <p:cond delay="0"/>
                                  </p:stCondLst>
                                  <p:childTnLst>
                                    <p:set>
                                      <p:cBhvr>
                                        <p:cTn id="41" dur="1" fill="hold">
                                          <p:stCondLst>
                                            <p:cond delay="0"/>
                                          </p:stCondLst>
                                        </p:cTn>
                                        <p:tgtEl>
                                          <p:spTgt spid="158730"/>
                                        </p:tgtEl>
                                        <p:attrNameLst>
                                          <p:attrName>style.visibility</p:attrName>
                                        </p:attrNameLst>
                                      </p:cBhvr>
                                      <p:to>
                                        <p:strVal val="visible"/>
                                      </p:to>
                                    </p:set>
                                    <p:anim calcmode="lin" valueType="num">
                                      <p:cBhvr additive="base">
                                        <p:cTn id="42" dur="500" fill="hold"/>
                                        <p:tgtEl>
                                          <p:spTgt spid="158730"/>
                                        </p:tgtEl>
                                        <p:attrNameLst>
                                          <p:attrName>ppt_x</p:attrName>
                                        </p:attrNameLst>
                                      </p:cBhvr>
                                      <p:tavLst>
                                        <p:tav tm="0">
                                          <p:val>
                                            <p:strVal val="0-#ppt_w/2"/>
                                          </p:val>
                                        </p:tav>
                                        <p:tav tm="100000">
                                          <p:val>
                                            <p:strVal val="#ppt_x"/>
                                          </p:val>
                                        </p:tav>
                                      </p:tavLst>
                                    </p:anim>
                                    <p:anim calcmode="lin" valueType="num">
                                      <p:cBhvr additive="base">
                                        <p:cTn id="43" dur="500" fill="hold"/>
                                        <p:tgtEl>
                                          <p:spTgt spid="158730"/>
                                        </p:tgtEl>
                                        <p:attrNameLst>
                                          <p:attrName>ppt_y</p:attrName>
                                        </p:attrNameLst>
                                      </p:cBhvr>
                                      <p:tavLst>
                                        <p:tav tm="0">
                                          <p:val>
                                            <p:strVal val="#ppt_y"/>
                                          </p:val>
                                        </p:tav>
                                        <p:tav tm="100000">
                                          <p:val>
                                            <p:strVal val="#ppt_y"/>
                                          </p:val>
                                        </p:tav>
                                      </p:tavLst>
                                    </p:anim>
                                  </p:childTnLst>
                                </p:cTn>
                              </p:par>
                            </p:childTnLst>
                          </p:cTn>
                        </p:par>
                        <p:par>
                          <p:cTn id="44" fill="hold" nodeType="afterGroup">
                            <p:stCondLst>
                              <p:cond delay="4000"/>
                            </p:stCondLst>
                            <p:childTnLst>
                              <p:par>
                                <p:cTn id="45" presetID="2" presetClass="entr" presetSubtype="8" fill="hold" grpId="0" nodeType="afterEffect">
                                  <p:stCondLst>
                                    <p:cond delay="0"/>
                                  </p:stCondLst>
                                  <p:childTnLst>
                                    <p:set>
                                      <p:cBhvr>
                                        <p:cTn id="46" dur="1" fill="hold">
                                          <p:stCondLst>
                                            <p:cond delay="0"/>
                                          </p:stCondLst>
                                        </p:cTn>
                                        <p:tgtEl>
                                          <p:spTgt spid="158731"/>
                                        </p:tgtEl>
                                        <p:attrNameLst>
                                          <p:attrName>style.visibility</p:attrName>
                                        </p:attrNameLst>
                                      </p:cBhvr>
                                      <p:to>
                                        <p:strVal val="visible"/>
                                      </p:to>
                                    </p:set>
                                    <p:anim calcmode="lin" valueType="num">
                                      <p:cBhvr additive="base">
                                        <p:cTn id="47" dur="500" fill="hold"/>
                                        <p:tgtEl>
                                          <p:spTgt spid="158731"/>
                                        </p:tgtEl>
                                        <p:attrNameLst>
                                          <p:attrName>ppt_x</p:attrName>
                                        </p:attrNameLst>
                                      </p:cBhvr>
                                      <p:tavLst>
                                        <p:tav tm="0">
                                          <p:val>
                                            <p:strVal val="0-#ppt_w/2"/>
                                          </p:val>
                                        </p:tav>
                                        <p:tav tm="100000">
                                          <p:val>
                                            <p:strVal val="#ppt_x"/>
                                          </p:val>
                                        </p:tav>
                                      </p:tavLst>
                                    </p:anim>
                                    <p:anim calcmode="lin" valueType="num">
                                      <p:cBhvr additive="base">
                                        <p:cTn id="48" dur="500" fill="hold"/>
                                        <p:tgtEl>
                                          <p:spTgt spid="158731"/>
                                        </p:tgtEl>
                                        <p:attrNameLst>
                                          <p:attrName>ppt_y</p:attrName>
                                        </p:attrNameLst>
                                      </p:cBhvr>
                                      <p:tavLst>
                                        <p:tav tm="0">
                                          <p:val>
                                            <p:strVal val="#ppt_y"/>
                                          </p:val>
                                        </p:tav>
                                        <p:tav tm="100000">
                                          <p:val>
                                            <p:strVal val="#ppt_y"/>
                                          </p:val>
                                        </p:tav>
                                      </p:tavLst>
                                    </p:anim>
                                  </p:childTnLst>
                                </p:cTn>
                              </p:par>
                            </p:childTnLst>
                          </p:cTn>
                        </p:par>
                        <p:par>
                          <p:cTn id="49" fill="hold" nodeType="afterGroup">
                            <p:stCondLst>
                              <p:cond delay="4500"/>
                            </p:stCondLst>
                            <p:childTnLst>
                              <p:par>
                                <p:cTn id="50" presetID="2" presetClass="entr" presetSubtype="8" fill="hold" grpId="0" nodeType="afterEffect">
                                  <p:stCondLst>
                                    <p:cond delay="0"/>
                                  </p:stCondLst>
                                  <p:childTnLst>
                                    <p:set>
                                      <p:cBhvr>
                                        <p:cTn id="51" dur="1" fill="hold">
                                          <p:stCondLst>
                                            <p:cond delay="0"/>
                                          </p:stCondLst>
                                        </p:cTn>
                                        <p:tgtEl>
                                          <p:spTgt spid="158732"/>
                                        </p:tgtEl>
                                        <p:attrNameLst>
                                          <p:attrName>style.visibility</p:attrName>
                                        </p:attrNameLst>
                                      </p:cBhvr>
                                      <p:to>
                                        <p:strVal val="visible"/>
                                      </p:to>
                                    </p:set>
                                    <p:anim calcmode="lin" valueType="num">
                                      <p:cBhvr additive="base">
                                        <p:cTn id="52" dur="500" fill="hold"/>
                                        <p:tgtEl>
                                          <p:spTgt spid="158732"/>
                                        </p:tgtEl>
                                        <p:attrNameLst>
                                          <p:attrName>ppt_x</p:attrName>
                                        </p:attrNameLst>
                                      </p:cBhvr>
                                      <p:tavLst>
                                        <p:tav tm="0">
                                          <p:val>
                                            <p:strVal val="0-#ppt_w/2"/>
                                          </p:val>
                                        </p:tav>
                                        <p:tav tm="100000">
                                          <p:val>
                                            <p:strVal val="#ppt_x"/>
                                          </p:val>
                                        </p:tav>
                                      </p:tavLst>
                                    </p:anim>
                                    <p:anim calcmode="lin" valueType="num">
                                      <p:cBhvr additive="base">
                                        <p:cTn id="53" dur="500" fill="hold"/>
                                        <p:tgtEl>
                                          <p:spTgt spid="158732"/>
                                        </p:tgtEl>
                                        <p:attrNameLst>
                                          <p:attrName>ppt_y</p:attrName>
                                        </p:attrNameLst>
                                      </p:cBhvr>
                                      <p:tavLst>
                                        <p:tav tm="0">
                                          <p:val>
                                            <p:strVal val="#ppt_y"/>
                                          </p:val>
                                        </p:tav>
                                        <p:tav tm="100000">
                                          <p:val>
                                            <p:strVal val="#ppt_y"/>
                                          </p:val>
                                        </p:tav>
                                      </p:tavLst>
                                    </p:anim>
                                  </p:childTnLst>
                                </p:cTn>
                              </p:par>
                            </p:childTnLst>
                          </p:cTn>
                        </p:par>
                        <p:par>
                          <p:cTn id="54" fill="hold" nodeType="afterGroup">
                            <p:stCondLst>
                              <p:cond delay="5000"/>
                            </p:stCondLst>
                            <p:childTnLst>
                              <p:par>
                                <p:cTn id="55" presetID="2" presetClass="entr" presetSubtype="8" fill="hold" grpId="0" nodeType="afterEffect">
                                  <p:stCondLst>
                                    <p:cond delay="0"/>
                                  </p:stCondLst>
                                  <p:childTnLst>
                                    <p:set>
                                      <p:cBhvr>
                                        <p:cTn id="56" dur="1" fill="hold">
                                          <p:stCondLst>
                                            <p:cond delay="0"/>
                                          </p:stCondLst>
                                        </p:cTn>
                                        <p:tgtEl>
                                          <p:spTgt spid="158733"/>
                                        </p:tgtEl>
                                        <p:attrNameLst>
                                          <p:attrName>style.visibility</p:attrName>
                                        </p:attrNameLst>
                                      </p:cBhvr>
                                      <p:to>
                                        <p:strVal val="visible"/>
                                      </p:to>
                                    </p:set>
                                    <p:anim calcmode="lin" valueType="num">
                                      <p:cBhvr additive="base">
                                        <p:cTn id="57" dur="500" fill="hold"/>
                                        <p:tgtEl>
                                          <p:spTgt spid="158733"/>
                                        </p:tgtEl>
                                        <p:attrNameLst>
                                          <p:attrName>ppt_x</p:attrName>
                                        </p:attrNameLst>
                                      </p:cBhvr>
                                      <p:tavLst>
                                        <p:tav tm="0">
                                          <p:val>
                                            <p:strVal val="0-#ppt_w/2"/>
                                          </p:val>
                                        </p:tav>
                                        <p:tav tm="100000">
                                          <p:val>
                                            <p:strVal val="#ppt_x"/>
                                          </p:val>
                                        </p:tav>
                                      </p:tavLst>
                                    </p:anim>
                                    <p:anim calcmode="lin" valueType="num">
                                      <p:cBhvr additive="base">
                                        <p:cTn id="58" dur="500" fill="hold"/>
                                        <p:tgtEl>
                                          <p:spTgt spid="158733"/>
                                        </p:tgtEl>
                                        <p:attrNameLst>
                                          <p:attrName>ppt_y</p:attrName>
                                        </p:attrNameLst>
                                      </p:cBhvr>
                                      <p:tavLst>
                                        <p:tav tm="0">
                                          <p:val>
                                            <p:strVal val="#ppt_y"/>
                                          </p:val>
                                        </p:tav>
                                        <p:tav tm="100000">
                                          <p:val>
                                            <p:strVal val="#ppt_y"/>
                                          </p:val>
                                        </p:tav>
                                      </p:tavLst>
                                    </p:anim>
                                  </p:childTnLst>
                                </p:cTn>
                              </p:par>
                            </p:childTnLst>
                          </p:cTn>
                        </p:par>
                        <p:par>
                          <p:cTn id="59" fill="hold" nodeType="afterGroup">
                            <p:stCondLst>
                              <p:cond delay="5500"/>
                            </p:stCondLst>
                            <p:childTnLst>
                              <p:par>
                                <p:cTn id="60" presetID="2" presetClass="entr" presetSubtype="8" fill="hold" grpId="0" nodeType="afterEffect">
                                  <p:stCondLst>
                                    <p:cond delay="0"/>
                                  </p:stCondLst>
                                  <p:childTnLst>
                                    <p:set>
                                      <p:cBhvr>
                                        <p:cTn id="61" dur="1" fill="hold">
                                          <p:stCondLst>
                                            <p:cond delay="0"/>
                                          </p:stCondLst>
                                        </p:cTn>
                                        <p:tgtEl>
                                          <p:spTgt spid="158734"/>
                                        </p:tgtEl>
                                        <p:attrNameLst>
                                          <p:attrName>style.visibility</p:attrName>
                                        </p:attrNameLst>
                                      </p:cBhvr>
                                      <p:to>
                                        <p:strVal val="visible"/>
                                      </p:to>
                                    </p:set>
                                    <p:anim calcmode="lin" valueType="num">
                                      <p:cBhvr additive="base">
                                        <p:cTn id="62" dur="500" fill="hold"/>
                                        <p:tgtEl>
                                          <p:spTgt spid="158734"/>
                                        </p:tgtEl>
                                        <p:attrNameLst>
                                          <p:attrName>ppt_x</p:attrName>
                                        </p:attrNameLst>
                                      </p:cBhvr>
                                      <p:tavLst>
                                        <p:tav tm="0">
                                          <p:val>
                                            <p:strVal val="0-#ppt_w/2"/>
                                          </p:val>
                                        </p:tav>
                                        <p:tav tm="100000">
                                          <p:val>
                                            <p:strVal val="#ppt_x"/>
                                          </p:val>
                                        </p:tav>
                                      </p:tavLst>
                                    </p:anim>
                                    <p:anim calcmode="lin" valueType="num">
                                      <p:cBhvr additive="base">
                                        <p:cTn id="63" dur="500" fill="hold"/>
                                        <p:tgtEl>
                                          <p:spTgt spid="158734"/>
                                        </p:tgtEl>
                                        <p:attrNameLst>
                                          <p:attrName>ppt_y</p:attrName>
                                        </p:attrNameLst>
                                      </p:cBhvr>
                                      <p:tavLst>
                                        <p:tav tm="0">
                                          <p:val>
                                            <p:strVal val="#ppt_y"/>
                                          </p:val>
                                        </p:tav>
                                        <p:tav tm="100000">
                                          <p:val>
                                            <p:strVal val="#ppt_y"/>
                                          </p:val>
                                        </p:tav>
                                      </p:tavLst>
                                    </p:anim>
                                  </p:childTnLst>
                                </p:cTn>
                              </p:par>
                            </p:childTnLst>
                          </p:cTn>
                        </p:par>
                        <p:par>
                          <p:cTn id="64" fill="hold" nodeType="afterGroup">
                            <p:stCondLst>
                              <p:cond delay="6000"/>
                            </p:stCondLst>
                            <p:childTnLst>
                              <p:par>
                                <p:cTn id="65" presetID="2" presetClass="entr" presetSubtype="8" fill="hold" grpId="0" nodeType="afterEffect">
                                  <p:stCondLst>
                                    <p:cond delay="0"/>
                                  </p:stCondLst>
                                  <p:childTnLst>
                                    <p:set>
                                      <p:cBhvr>
                                        <p:cTn id="66" dur="1" fill="hold">
                                          <p:stCondLst>
                                            <p:cond delay="0"/>
                                          </p:stCondLst>
                                        </p:cTn>
                                        <p:tgtEl>
                                          <p:spTgt spid="158735"/>
                                        </p:tgtEl>
                                        <p:attrNameLst>
                                          <p:attrName>style.visibility</p:attrName>
                                        </p:attrNameLst>
                                      </p:cBhvr>
                                      <p:to>
                                        <p:strVal val="visible"/>
                                      </p:to>
                                    </p:set>
                                    <p:anim calcmode="lin" valueType="num">
                                      <p:cBhvr additive="base">
                                        <p:cTn id="67" dur="500" fill="hold"/>
                                        <p:tgtEl>
                                          <p:spTgt spid="158735"/>
                                        </p:tgtEl>
                                        <p:attrNameLst>
                                          <p:attrName>ppt_x</p:attrName>
                                        </p:attrNameLst>
                                      </p:cBhvr>
                                      <p:tavLst>
                                        <p:tav tm="0">
                                          <p:val>
                                            <p:strVal val="0-#ppt_w/2"/>
                                          </p:val>
                                        </p:tav>
                                        <p:tav tm="100000">
                                          <p:val>
                                            <p:strVal val="#ppt_x"/>
                                          </p:val>
                                        </p:tav>
                                      </p:tavLst>
                                    </p:anim>
                                    <p:anim calcmode="lin" valueType="num">
                                      <p:cBhvr additive="base">
                                        <p:cTn id="68" dur="500" fill="hold"/>
                                        <p:tgtEl>
                                          <p:spTgt spid="158735"/>
                                        </p:tgtEl>
                                        <p:attrNameLst>
                                          <p:attrName>ppt_y</p:attrName>
                                        </p:attrNameLst>
                                      </p:cBhvr>
                                      <p:tavLst>
                                        <p:tav tm="0">
                                          <p:val>
                                            <p:strVal val="#ppt_y"/>
                                          </p:val>
                                        </p:tav>
                                        <p:tav tm="100000">
                                          <p:val>
                                            <p:strVal val="#ppt_y"/>
                                          </p:val>
                                        </p:tav>
                                      </p:tavLst>
                                    </p:anim>
                                  </p:childTnLst>
                                </p:cTn>
                              </p:par>
                            </p:childTnLst>
                          </p:cTn>
                        </p:par>
                        <p:par>
                          <p:cTn id="69" fill="hold" nodeType="afterGroup">
                            <p:stCondLst>
                              <p:cond delay="6500"/>
                            </p:stCondLst>
                            <p:childTnLst>
                              <p:par>
                                <p:cTn id="70" presetID="2" presetClass="entr" presetSubtype="8" fill="hold" grpId="0" nodeType="afterEffect">
                                  <p:stCondLst>
                                    <p:cond delay="0"/>
                                  </p:stCondLst>
                                  <p:childTnLst>
                                    <p:set>
                                      <p:cBhvr>
                                        <p:cTn id="71" dur="1" fill="hold">
                                          <p:stCondLst>
                                            <p:cond delay="0"/>
                                          </p:stCondLst>
                                        </p:cTn>
                                        <p:tgtEl>
                                          <p:spTgt spid="158736"/>
                                        </p:tgtEl>
                                        <p:attrNameLst>
                                          <p:attrName>style.visibility</p:attrName>
                                        </p:attrNameLst>
                                      </p:cBhvr>
                                      <p:to>
                                        <p:strVal val="visible"/>
                                      </p:to>
                                    </p:set>
                                    <p:anim calcmode="lin" valueType="num">
                                      <p:cBhvr additive="base">
                                        <p:cTn id="72" dur="500" fill="hold"/>
                                        <p:tgtEl>
                                          <p:spTgt spid="158736"/>
                                        </p:tgtEl>
                                        <p:attrNameLst>
                                          <p:attrName>ppt_x</p:attrName>
                                        </p:attrNameLst>
                                      </p:cBhvr>
                                      <p:tavLst>
                                        <p:tav tm="0">
                                          <p:val>
                                            <p:strVal val="0-#ppt_w/2"/>
                                          </p:val>
                                        </p:tav>
                                        <p:tav tm="100000">
                                          <p:val>
                                            <p:strVal val="#ppt_x"/>
                                          </p:val>
                                        </p:tav>
                                      </p:tavLst>
                                    </p:anim>
                                    <p:anim calcmode="lin" valueType="num">
                                      <p:cBhvr additive="base">
                                        <p:cTn id="73" dur="500" fill="hold"/>
                                        <p:tgtEl>
                                          <p:spTgt spid="15873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23" grpId="0" animBg="1"/>
      <p:bldP spid="158724" grpId="0" animBg="1"/>
      <p:bldP spid="158725" grpId="0" animBg="1"/>
      <p:bldP spid="158726" grpId="0" autoUpdateAnimBg="0"/>
      <p:bldP spid="158727" grpId="0" autoUpdateAnimBg="0"/>
      <p:bldP spid="158728" grpId="0" autoUpdateAnimBg="0"/>
      <p:bldP spid="158729" grpId="0" autoUpdateAnimBg="0"/>
      <p:bldP spid="158730" grpId="0" autoUpdateAnimBg="0"/>
      <p:bldP spid="158731" grpId="0" autoUpdateAnimBg="0"/>
      <p:bldP spid="158732" grpId="0" autoUpdateAnimBg="0"/>
      <p:bldP spid="158733" grpId="0" autoUpdateAnimBg="0"/>
      <p:bldP spid="158734" grpId="0" autoUpdateAnimBg="0"/>
      <p:bldP spid="158735" grpId="0" autoUpdateAnimBg="0"/>
      <p:bldP spid="158736" grpId="0" autoUpdateAnimBg="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1442</TotalTime>
  <Words>674</Words>
  <Application>Microsoft Office PowerPoint</Application>
  <PresentationFormat>On-screen Show (4:3)</PresentationFormat>
  <Paragraphs>124</Paragraphs>
  <Slides>16</Slides>
  <Notes>2</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ENTREPRENEURSHIP </vt:lpstr>
      <vt:lpstr> Previous Lecture Review</vt:lpstr>
      <vt:lpstr>Advantages of Intrapreneuring over Entrepreneuring</vt:lpstr>
      <vt:lpstr>Disadvantages of Intrapreneuring over Entrepreneuring </vt:lpstr>
      <vt:lpstr>How companies can support the process</vt:lpstr>
      <vt:lpstr>How companies can support Intrapreneurs</vt:lpstr>
      <vt:lpstr>OBJECTIVES</vt:lpstr>
      <vt:lpstr>Stakeholder in Lexical Terms</vt:lpstr>
      <vt:lpstr>How companies can support Intrapreneurs</vt:lpstr>
      <vt:lpstr>10 Commandments of Intrapreneurs</vt:lpstr>
      <vt:lpstr>What are Stakeholders?</vt:lpstr>
      <vt:lpstr>Who Are Business Stakeholders?</vt:lpstr>
      <vt:lpstr>Types of Stake</vt:lpstr>
      <vt:lpstr>Power/Interest Grid</vt:lpstr>
      <vt:lpstr>Slide 15</vt:lpstr>
      <vt:lpstr>Slide 16</vt:lpstr>
    </vt:vector>
  </TitlesOfParts>
  <Company>MyCompanyName</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Inside the Entrepreneurial Mind: From Ideas to Reality</dc:title>
  <dc:creator>MyUserName</dc:creator>
  <cp:lastModifiedBy>ITLAB2</cp:lastModifiedBy>
  <cp:revision>180</cp:revision>
  <dcterms:created xsi:type="dcterms:W3CDTF">2013-10-03T09:43:12Z</dcterms:created>
  <dcterms:modified xsi:type="dcterms:W3CDTF">2020-09-01T06:38:22Z</dcterms:modified>
</cp:coreProperties>
</file>