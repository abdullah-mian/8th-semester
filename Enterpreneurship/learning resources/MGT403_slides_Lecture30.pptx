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notesSlides/notesSl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379" r:id="rId2"/>
    <p:sldId id="298" r:id="rId3"/>
    <p:sldId id="325" r:id="rId4"/>
    <p:sldId id="327" r:id="rId5"/>
    <p:sldId id="328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2" r:id="rId16"/>
    <p:sldId id="350" r:id="rId17"/>
    <p:sldId id="351" r:id="rId18"/>
    <p:sldId id="372" r:id="rId19"/>
    <p:sldId id="353" r:id="rId20"/>
    <p:sldId id="354" r:id="rId21"/>
    <p:sldId id="355" r:id="rId22"/>
    <p:sldId id="356" r:id="rId23"/>
    <p:sldId id="357" r:id="rId24"/>
    <p:sldId id="358" r:id="rId25"/>
    <p:sldId id="359" r:id="rId26"/>
    <p:sldId id="360" r:id="rId27"/>
    <p:sldId id="361" r:id="rId28"/>
    <p:sldId id="362" r:id="rId29"/>
    <p:sldId id="363" r:id="rId30"/>
    <p:sldId id="364" r:id="rId31"/>
    <p:sldId id="365" r:id="rId32"/>
    <p:sldId id="366" r:id="rId33"/>
    <p:sldId id="367" r:id="rId34"/>
    <p:sldId id="368" r:id="rId35"/>
    <p:sldId id="369" r:id="rId36"/>
    <p:sldId id="370" r:id="rId37"/>
    <p:sldId id="371" r:id="rId38"/>
    <p:sldId id="373" r:id="rId39"/>
    <p:sldId id="374" r:id="rId40"/>
    <p:sldId id="375" r:id="rId41"/>
    <p:sldId id="376" r:id="rId42"/>
    <p:sldId id="377" r:id="rId43"/>
    <p:sldId id="299" r:id="rId4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71" autoAdjust="0"/>
  </p:normalViewPr>
  <p:slideViewPr>
    <p:cSldViewPr>
      <p:cViewPr varScale="1">
        <p:scale>
          <a:sx n="66" d="100"/>
          <a:sy n="66" d="100"/>
        </p:scale>
        <p:origin x="-150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31932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01924C6-EF27-4631-B79B-3464098C17B2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F54DFD0-0B28-4901-A313-7F2335BF79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938528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8500"/>
            <a:ext cx="4645025" cy="3482975"/>
          </a:xfrm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1100" y="698500"/>
            <a:ext cx="4645025" cy="3482975"/>
          </a:xfrm>
          <a:ln cap="flat"/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5425" y="687050"/>
            <a:ext cx="4544046" cy="3425877"/>
          </a:xfrm>
          <a:ln cap="flat"/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6978" y="687050"/>
            <a:ext cx="4544046" cy="342587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0A0CF-A3F5-4F46-BB6A-6A42B1563AD9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75893-E2F4-435B-9708-0C46768E5E54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2EEEB-C9FC-4CF5-AE65-E777673C459A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DE310-4DAB-4C51-ABEC-1F4825ED4ACF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22CD0-53C7-47FD-93D1-2AFBCBC2C016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196F4-16C8-439A-872D-02C18A095A99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2C947-39C0-4440-8306-5BEE9F5995B4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7FD51-9518-4E26-8AB3-51B60691957D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A6EA-399E-4A2E-8557-D4108E89FEF3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58AA7-9473-41B4-AE42-0244D2003EF1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36509-AB23-46E9-B8DC-1D4984026792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D0EC05-3118-4AB3-A013-11CD7F22DD0E}" type="datetime1">
              <a:rPr lang="en-US" smtClean="0"/>
              <a:pPr/>
              <a:t>8/25/2020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4 Business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1440578" y="990600"/>
            <a:ext cx="6270922" cy="18179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Candara" panose="020E0502030303020204" pitchFamily="34" charset="0"/>
              </a:rPr>
              <a:t>MGT403</a:t>
            </a:r>
            <a:br>
              <a:rPr lang="en-US" sz="4000" dirty="0" smtClean="0">
                <a:latin typeface="Candara" panose="020E0502030303020204" pitchFamily="34" charset="0"/>
              </a:rPr>
            </a:br>
            <a:r>
              <a:rPr lang="en-US" sz="3600" dirty="0" smtClean="0"/>
              <a:t> ENTREPRENEURSHIP </a:t>
            </a:r>
            <a:r>
              <a:rPr lang="en-US" sz="4000" dirty="0">
                <a:latin typeface="Candara" panose="020E0502030303020204" pitchFamily="34" charset="0"/>
              </a:rPr>
              <a:t/>
            </a:r>
            <a:br>
              <a:rPr lang="en-US" sz="4000" dirty="0">
                <a:latin typeface="Candara" panose="020E0502030303020204" pitchFamily="34" charset="0"/>
              </a:rPr>
            </a:br>
            <a:endParaRPr lang="en-US" sz="4000" dirty="0">
              <a:latin typeface="Candara" panose="020E0502030303020204" pitchFamily="34" charset="0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838200" y="3210290"/>
            <a:ext cx="7391400" cy="1528035"/>
          </a:xfrm>
        </p:spPr>
        <p:txBody>
          <a:bodyPr>
            <a:noAutofit/>
          </a:bodyPr>
          <a:lstStyle/>
          <a:p>
            <a:r>
              <a:rPr lang="en-US" sz="3200" smtClean="0">
                <a:latin typeface="Candara" panose="020E0502030303020204" pitchFamily="34" charset="0"/>
              </a:rPr>
              <a:t>Lecture Title </a:t>
            </a:r>
            <a:endParaRPr lang="en-US" sz="3200" dirty="0" smtClean="0">
              <a:latin typeface="Candara" panose="020E0502030303020204" pitchFamily="34" charset="0"/>
            </a:endParaRPr>
          </a:p>
          <a:p>
            <a:r>
              <a:rPr lang="en-US" dirty="0" smtClean="0">
                <a:latin typeface="Candara" panose="020E0502030303020204" pitchFamily="34" charset="0"/>
              </a:rPr>
              <a:t>The Business Plan </a:t>
            </a:r>
            <a:r>
              <a:rPr lang="en-US" sz="3200" dirty="0" smtClean="0">
                <a:latin typeface="Candara" panose="020E0502030303020204" pitchFamily="34" charset="0"/>
              </a:rPr>
              <a:t> </a:t>
            </a:r>
            <a:endParaRPr lang="en-US" sz="3200" dirty="0">
              <a:latin typeface="Candara" panose="020E0502030303020204" pitchFamily="34" charset="0"/>
            </a:endParaRPr>
          </a:p>
          <a:p>
            <a:endParaRPr lang="en-US" dirty="0" smtClean="0"/>
          </a:p>
          <a:p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C9425-2EF3-4F8B-B8C0-E4714BE1748E}" type="slidenum">
              <a:rPr lang="en-US" smtClean="0">
                <a:latin typeface="Candara" panose="020E0502030303020204" pitchFamily="34" charset="0"/>
              </a:rPr>
              <a:pPr/>
              <a:t>1</a:t>
            </a:fld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26" name="Subtitle 5"/>
          <p:cNvSpPr txBox="1">
            <a:spLocks/>
          </p:cNvSpPr>
          <p:nvPr/>
        </p:nvSpPr>
        <p:spPr>
          <a:xfrm>
            <a:off x="4092405" y="5181600"/>
            <a:ext cx="5432595" cy="101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5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35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2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 err="1" smtClean="0"/>
              <a:t>Mr</a:t>
            </a:r>
            <a:r>
              <a:rPr lang="en-US" sz="3200" dirty="0" smtClean="0"/>
              <a:t> </a:t>
            </a:r>
            <a:r>
              <a:rPr lang="en-US" sz="3200" dirty="0" err="1" smtClean="0"/>
              <a:t>Malik</a:t>
            </a:r>
            <a:r>
              <a:rPr lang="en-US" sz="3200" dirty="0" smtClean="0"/>
              <a:t> </a:t>
            </a:r>
            <a:r>
              <a:rPr lang="en-US" sz="3200" dirty="0" err="1" smtClean="0"/>
              <a:t>Jawad</a:t>
            </a:r>
            <a:r>
              <a:rPr lang="en-US" sz="3200" dirty="0" smtClean="0"/>
              <a:t> </a:t>
            </a:r>
            <a:r>
              <a:rPr lang="en-US" sz="3200" dirty="0" err="1" smtClean="0"/>
              <a:t>Saboor</a:t>
            </a:r>
            <a:endParaRPr lang="en-US" sz="3200" dirty="0" smtClean="0"/>
          </a:p>
          <a:p>
            <a:endParaRPr lang="en-US" sz="3000" b="1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857777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2330355"/>
            <a:ext cx="8382000" cy="4038600"/>
          </a:xfrm>
        </p:spPr>
        <p:txBody>
          <a:bodyPr>
            <a:normAutofit/>
          </a:bodyPr>
          <a:lstStyle/>
          <a:p>
            <a:pPr marL="457200" indent="-457200" algn="l" hangingPunct="0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Why Develop a Business Plan?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Elements of a Business Plan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Lenders and Investors Look for in a Business Plan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Making the Business Plan Presentation 	      Concluding remarks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Business Plan Format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198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68475" y="631825"/>
            <a:ext cx="5868988" cy="776288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The Business Plan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8458200" cy="4114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A written summary of: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an entrepreneur’s proposed business venture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its operational and financial details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its marketing opportunities and strategy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its managers’ skills and abilities.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1541" y="47148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61417307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uiExpand="1" build="p" bldLvl="5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417513"/>
            <a:ext cx="8229600" cy="785812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 Plan Must Pass Three Tests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4572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The Reality Test  - </a:t>
            </a:r>
            <a:r>
              <a:rPr lang="en-US" sz="2400" dirty="0"/>
              <a:t>proving that :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 market really does exist for your product or service. 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you can actually build or provide it for the cost estimates in the plan.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The Competitive Test </a:t>
            </a:r>
            <a:r>
              <a:rPr lang="en-US" sz="2400" dirty="0"/>
              <a:t>- evaluates: 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 company’s position relative to its customers.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management’s ability to create a company that will gain an edge over its rivals.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i="1" dirty="0"/>
              <a:t>The Value Test </a:t>
            </a:r>
            <a:r>
              <a:rPr lang="en-US" sz="2400" dirty="0"/>
              <a:t>– proving that:</a:t>
            </a:r>
          </a:p>
          <a:p>
            <a:pPr marL="742950" lvl="1" indent="-28575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a venture offers investors or lenders an attractive rate of return or a high probability of repayment.</a:t>
            </a:r>
          </a:p>
        </p:txBody>
      </p:sp>
    </p:spTree>
    <p:extLst>
      <p:ext uri="{BB962C8B-B14F-4D97-AF65-F5344CB8AC3E}">
        <p14:creationId xmlns="" xmlns:p14="http://schemas.microsoft.com/office/powerpoint/2010/main" val="2337071742"/>
      </p:ext>
    </p:extLst>
  </p:cSld>
  <p:clrMapOvr>
    <a:masterClrMapping/>
  </p:clrMapOvr>
  <p:transition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 bldLvl="5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274638"/>
            <a:ext cx="6211887" cy="1071562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Why Take the Time to Build a Business Plan?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6477000" cy="4267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Although building a plan does not guarantee success, it does increase your chances of succeeding in business.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dirty="0"/>
              <a:t>A plan is like a road map that serves as a guide on a journey through unfamiliar, harsh, and dangerous territory.  Don’t attempt the trip without a map!</a:t>
            </a:r>
          </a:p>
        </p:txBody>
      </p:sp>
      <p:pic>
        <p:nvPicPr>
          <p:cNvPr id="14340" name="Picture 4" descr="j01977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664075"/>
            <a:ext cx="2133600" cy="14319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173215413"/>
      </p:ext>
    </p:extLst>
  </p:cSld>
  <p:clrMapOvr>
    <a:masterClrMapping/>
  </p:clrMapOvr>
  <p:transition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Guide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Where Do You Want To Go?</a:t>
            </a:r>
          </a:p>
          <a:p>
            <a:endParaRPr lang="en-US" sz="2800" dirty="0"/>
          </a:p>
          <a:p>
            <a:r>
              <a:rPr lang="en-US" sz="2800" dirty="0"/>
              <a:t>How Are You Going to Get There?</a:t>
            </a:r>
          </a:p>
          <a:p>
            <a:endParaRPr lang="en-US" sz="2800" dirty="0"/>
          </a:p>
          <a:p>
            <a:r>
              <a:rPr lang="en-US" sz="2800" dirty="0"/>
              <a:t>What Market Niches?</a:t>
            </a:r>
          </a:p>
          <a:p>
            <a:endParaRPr lang="en-US" sz="2800" dirty="0"/>
          </a:p>
          <a:p>
            <a:r>
              <a:rPr lang="en-US" sz="2800" dirty="0"/>
              <a:t>How Much is it Going to Cost?</a:t>
            </a:r>
          </a:p>
          <a:p>
            <a:endParaRPr lang="en-US" sz="2800" dirty="0"/>
          </a:p>
          <a:p>
            <a:r>
              <a:rPr lang="en-US" sz="2800" dirty="0"/>
              <a:t>Greatest Profit Opportunity?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8100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292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Lender Expectations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Good Business Track Record</a:t>
            </a:r>
          </a:p>
          <a:p>
            <a:endParaRPr lang="en-US" sz="2800" dirty="0"/>
          </a:p>
          <a:p>
            <a:r>
              <a:rPr lang="en-US" sz="2800" dirty="0"/>
              <a:t>Ability to Repay</a:t>
            </a:r>
          </a:p>
          <a:p>
            <a:endParaRPr lang="en-US" sz="2800" dirty="0"/>
          </a:p>
          <a:p>
            <a:r>
              <a:rPr lang="en-US" sz="2800" dirty="0"/>
              <a:t>Collateral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39624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1539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Investor Expectations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Competitive Advantage</a:t>
            </a:r>
          </a:p>
          <a:p>
            <a:r>
              <a:rPr lang="en-US" sz="2800" dirty="0"/>
              <a:t>Huge Market</a:t>
            </a:r>
          </a:p>
          <a:p>
            <a:r>
              <a:rPr lang="en-US" sz="2800" dirty="0"/>
              <a:t>Strong Management Team</a:t>
            </a:r>
          </a:p>
          <a:p>
            <a:r>
              <a:rPr lang="en-US" sz="2800" dirty="0"/>
              <a:t>Strong Marketing and Sales Plan</a:t>
            </a:r>
          </a:p>
          <a:p>
            <a:r>
              <a:rPr lang="en-US" sz="2800" dirty="0"/>
              <a:t>Obscene Return</a:t>
            </a:r>
          </a:p>
          <a:p>
            <a:r>
              <a:rPr lang="en-US" sz="2800" dirty="0"/>
              <a:t>Exit Strategy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3962400"/>
            <a:ext cx="1765300" cy="2159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415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Entrepreneurs Start Businesses: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To Capitalize on an Invention</a:t>
            </a:r>
          </a:p>
          <a:p>
            <a:endParaRPr lang="en-US" sz="2800" dirty="0"/>
          </a:p>
          <a:p>
            <a:r>
              <a:rPr lang="en-US" sz="2800" dirty="0"/>
              <a:t>To Pursue a Passion</a:t>
            </a:r>
          </a:p>
          <a:p>
            <a:endParaRPr lang="en-US" sz="2800" dirty="0"/>
          </a:p>
          <a:p>
            <a:r>
              <a:rPr lang="en-US" sz="2800" dirty="0"/>
              <a:t>To Be Their Own Boss</a:t>
            </a:r>
          </a:p>
          <a:p>
            <a:endParaRPr lang="en-US" sz="2800" dirty="0"/>
          </a:p>
          <a:p>
            <a:r>
              <a:rPr lang="en-US" sz="2800" dirty="0"/>
              <a:t>To Get Rich</a:t>
            </a:r>
          </a:p>
          <a:p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4262437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3599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Strategies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Selling the Business</a:t>
            </a:r>
          </a:p>
          <a:p>
            <a:r>
              <a:rPr lang="en-US" sz="2800" dirty="0"/>
              <a:t>Transferring the Business to a Family Member</a:t>
            </a:r>
          </a:p>
          <a:p>
            <a:r>
              <a:rPr lang="en-US" sz="2800" dirty="0"/>
              <a:t>Taking the Company Public</a:t>
            </a:r>
          </a:p>
          <a:p>
            <a:r>
              <a:rPr lang="en-US" sz="2800" dirty="0"/>
              <a:t>Being Acquired by a Larger Company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0386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27863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Funding Sources: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Savings</a:t>
            </a:r>
          </a:p>
          <a:p>
            <a:r>
              <a:rPr lang="en-US" sz="2800" dirty="0"/>
              <a:t>Friends and Family</a:t>
            </a:r>
          </a:p>
          <a:p>
            <a:r>
              <a:rPr lang="en-US" sz="2800" dirty="0"/>
              <a:t>Financial Institutions / Banks</a:t>
            </a:r>
          </a:p>
          <a:p>
            <a:r>
              <a:rPr lang="en-US" sz="2800" dirty="0"/>
              <a:t>Angel  Investors</a:t>
            </a:r>
          </a:p>
          <a:p>
            <a:r>
              <a:rPr lang="en-US" sz="2800" dirty="0"/>
              <a:t>Venture Capital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1910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4231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Plan Content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The Cover</a:t>
            </a:r>
          </a:p>
          <a:p>
            <a:r>
              <a:rPr lang="en-US" sz="2800" dirty="0"/>
              <a:t>Executive Summary</a:t>
            </a:r>
          </a:p>
          <a:p>
            <a:r>
              <a:rPr lang="en-US" sz="2800" dirty="0"/>
              <a:t>Company Description</a:t>
            </a:r>
          </a:p>
          <a:p>
            <a:r>
              <a:rPr lang="en-US" sz="2800" dirty="0"/>
              <a:t>Product/Services Description</a:t>
            </a:r>
          </a:p>
          <a:p>
            <a:r>
              <a:rPr lang="en-US" sz="2800" dirty="0"/>
              <a:t>Industry Overview</a:t>
            </a:r>
          </a:p>
          <a:p>
            <a:r>
              <a:rPr lang="en-US" sz="2800" dirty="0"/>
              <a:t>Market Analysis</a:t>
            </a:r>
          </a:p>
          <a:p>
            <a:r>
              <a:rPr lang="en-US" sz="2800" dirty="0"/>
              <a:t>Competitors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495800"/>
            <a:ext cx="2428875" cy="18859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7611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Plan Content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Customers</a:t>
            </a:r>
          </a:p>
          <a:p>
            <a:r>
              <a:rPr lang="en-US" sz="2800" dirty="0"/>
              <a:t>Marketing and Sales Plans</a:t>
            </a:r>
          </a:p>
          <a:p>
            <a:r>
              <a:rPr lang="en-US" sz="2800" dirty="0"/>
              <a:t>Development</a:t>
            </a:r>
          </a:p>
          <a:p>
            <a:r>
              <a:rPr lang="en-US" sz="2800" dirty="0"/>
              <a:t>Operations</a:t>
            </a:r>
          </a:p>
          <a:p>
            <a:r>
              <a:rPr lang="en-US" sz="2800" dirty="0"/>
              <a:t>Management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75" y="4495800"/>
            <a:ext cx="2571750" cy="17811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981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Plan Content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Personnel</a:t>
            </a:r>
          </a:p>
          <a:p>
            <a:r>
              <a:rPr lang="en-US" sz="2800" dirty="0"/>
              <a:t>Financial Summary</a:t>
            </a:r>
          </a:p>
          <a:p>
            <a:r>
              <a:rPr lang="en-US" sz="2800" dirty="0"/>
              <a:t>Financials</a:t>
            </a:r>
          </a:p>
          <a:p>
            <a:r>
              <a:rPr lang="en-US" sz="2800" dirty="0"/>
              <a:t>Offering</a:t>
            </a:r>
          </a:p>
          <a:p>
            <a:r>
              <a:rPr lang="en-US" sz="2800" dirty="0"/>
              <a:t>Appendices</a:t>
            </a:r>
          </a:p>
          <a:p>
            <a:endParaRPr lang="en-US"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27660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573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  Page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Should contain</a:t>
            </a:r>
          </a:p>
          <a:p>
            <a:endParaRPr lang="en-US" sz="2800" dirty="0"/>
          </a:p>
          <a:p>
            <a:r>
              <a:rPr lang="en-US" sz="2800" dirty="0"/>
              <a:t>COMPANY NAME</a:t>
            </a:r>
          </a:p>
          <a:p>
            <a:r>
              <a:rPr lang="en-US" sz="2800" dirty="0"/>
              <a:t>TAG LINE</a:t>
            </a:r>
          </a:p>
          <a:p>
            <a:r>
              <a:rPr lang="en-US" sz="2800" dirty="0"/>
              <a:t>CONTACT PERSON</a:t>
            </a:r>
          </a:p>
          <a:p>
            <a:r>
              <a:rPr lang="en-US" sz="2800" dirty="0"/>
              <a:t>ADDRESS </a:t>
            </a:r>
          </a:p>
          <a:p>
            <a:r>
              <a:rPr lang="en-US" sz="2800" dirty="0"/>
              <a:t>PHONE</a:t>
            </a:r>
          </a:p>
          <a:p>
            <a:r>
              <a:rPr lang="en-US" sz="2800" dirty="0"/>
              <a:t>DISCLAIMER</a:t>
            </a:r>
          </a:p>
          <a:p>
            <a:r>
              <a:rPr lang="en-US" sz="2800" dirty="0"/>
              <a:t>COPY #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8006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7094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7772400" cy="4114800"/>
          </a:xfrm>
        </p:spPr>
        <p:txBody>
          <a:bodyPr/>
          <a:lstStyle/>
          <a:p>
            <a:r>
              <a:rPr lang="en-US" sz="2800" dirty="0"/>
              <a:t>A mini-business plan in one or two pages</a:t>
            </a:r>
          </a:p>
          <a:p>
            <a:r>
              <a:rPr lang="en-US" sz="2800" dirty="0"/>
              <a:t>Highlights the most important points of your business plan</a:t>
            </a:r>
          </a:p>
          <a:p>
            <a:r>
              <a:rPr lang="en-US" sz="2800" dirty="0"/>
              <a:t>It is NOT an introduction to the plan</a:t>
            </a:r>
          </a:p>
          <a:p>
            <a:r>
              <a:rPr lang="en-US" sz="2800" dirty="0"/>
              <a:t>It must grab your reader, and entice him/her to read further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8006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08623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192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Identify the company, its background, structure and location</a:t>
            </a:r>
          </a:p>
          <a:p>
            <a:r>
              <a:rPr lang="en-US" sz="2800" dirty="0"/>
              <a:t>Describe what the company does, and the market it serves</a:t>
            </a:r>
          </a:p>
          <a:p>
            <a:r>
              <a:rPr lang="en-US" sz="2800" dirty="0"/>
              <a:t>Describe the market potential for the company’s products and services, market trends, 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8006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473421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193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r>
              <a:rPr lang="en-US" sz="2800" dirty="0"/>
              <a:t>Outline the backgrounds and experience of the top management team</a:t>
            </a:r>
          </a:p>
          <a:p>
            <a:r>
              <a:rPr lang="en-US" sz="2800" dirty="0"/>
              <a:t>Describe the funding required, the purposes for which it will be used, the collateral available (if for a lender), and the expected outcomes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421" y="48006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17056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4114800"/>
          </a:xfrm>
        </p:spPr>
        <p:txBody>
          <a:bodyPr/>
          <a:lstStyle/>
          <a:p>
            <a:r>
              <a:rPr lang="en-US" sz="2800" dirty="0"/>
              <a:t>Brief Company Introduction</a:t>
            </a:r>
          </a:p>
          <a:p>
            <a:pPr lvl="1"/>
            <a:r>
              <a:rPr lang="en-US" sz="2600" dirty="0"/>
              <a:t>Mission statement</a:t>
            </a:r>
          </a:p>
          <a:p>
            <a:pPr lvl="1"/>
            <a:r>
              <a:rPr lang="en-US" sz="2600" dirty="0"/>
              <a:t>Location, size, history</a:t>
            </a:r>
          </a:p>
          <a:p>
            <a:pPr lvl="1"/>
            <a:r>
              <a:rPr lang="en-US" sz="2600" dirty="0"/>
              <a:t>Market and products</a:t>
            </a:r>
          </a:p>
          <a:p>
            <a:pPr lvl="1"/>
            <a:r>
              <a:rPr lang="en-US" sz="2600" dirty="0"/>
              <a:t>Overview of company capabilities</a:t>
            </a:r>
          </a:p>
          <a:p>
            <a:pPr lvl="1"/>
            <a:r>
              <a:rPr lang="en-US" sz="2600" dirty="0"/>
              <a:t>Objectives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4343400"/>
            <a:ext cx="2200275" cy="20764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4731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Products/Services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Products / Services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What does it do?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Uniqueness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Competitive Advantage</a:t>
            </a:r>
            <a:endParaRPr lang="en-US" sz="2400" dirty="0"/>
          </a:p>
          <a:p>
            <a:pPr>
              <a:lnSpc>
                <a:spcPct val="90000"/>
              </a:lnSpc>
            </a:pPr>
            <a:r>
              <a:rPr lang="en-US" sz="2800" dirty="0"/>
              <a:t>Technology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Brief description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Applications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Commercialization Status</a:t>
            </a:r>
          </a:p>
          <a:p>
            <a:pPr lvl="1">
              <a:lnSpc>
                <a:spcPct val="90000"/>
              </a:lnSpc>
            </a:pPr>
            <a:r>
              <a:rPr lang="en-US" sz="2600" dirty="0"/>
              <a:t>Brief overview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799" y="3657600"/>
            <a:ext cx="2889913" cy="288991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754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Overview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Set The Stage</a:t>
            </a:r>
          </a:p>
          <a:p>
            <a:r>
              <a:rPr lang="en-US" sz="2800" dirty="0"/>
              <a:t>Industry Definition and Description</a:t>
            </a:r>
          </a:p>
          <a:p>
            <a:pPr lvl="1"/>
            <a:r>
              <a:rPr lang="en-US" sz="2600" dirty="0"/>
              <a:t>Major players within the industry</a:t>
            </a:r>
          </a:p>
          <a:p>
            <a:pPr lvl="1"/>
            <a:r>
              <a:rPr lang="en-US" sz="2600" dirty="0"/>
              <a:t>Factors driving dynamics</a:t>
            </a:r>
          </a:p>
          <a:p>
            <a:pPr lvl="1"/>
            <a:r>
              <a:rPr lang="en-US" sz="2600" dirty="0"/>
              <a:t>New products and developments</a:t>
            </a:r>
          </a:p>
          <a:p>
            <a:r>
              <a:rPr lang="en-US" sz="2800" dirty="0"/>
              <a:t>Legislation and Policies Driving the</a:t>
            </a:r>
            <a:r>
              <a:rPr lang="en-US" dirty="0"/>
              <a:t> Industry</a:t>
            </a:r>
          </a:p>
          <a:p>
            <a:r>
              <a:rPr lang="en-US" sz="2800" dirty="0"/>
              <a:t>Historical and Future Trends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5486400"/>
            <a:ext cx="6934200" cy="10763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2969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Analysis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Market Definition</a:t>
            </a:r>
          </a:p>
          <a:p>
            <a:pPr lvl="1"/>
            <a:r>
              <a:rPr lang="en-US" sz="2600" dirty="0"/>
              <a:t>Primary Market</a:t>
            </a:r>
          </a:p>
          <a:p>
            <a:pPr lvl="1"/>
            <a:r>
              <a:rPr lang="en-US" sz="2600" dirty="0"/>
              <a:t>Secondary Markets</a:t>
            </a:r>
          </a:p>
          <a:p>
            <a:pPr lvl="1"/>
            <a:endParaRPr lang="en-US" sz="2600" dirty="0"/>
          </a:p>
          <a:p>
            <a:r>
              <a:rPr lang="en-US" sz="2800" dirty="0"/>
              <a:t>Market Size and Trends</a:t>
            </a:r>
          </a:p>
          <a:p>
            <a:pPr lvl="1"/>
            <a:r>
              <a:rPr lang="en-US" sz="2600" dirty="0"/>
              <a:t>Current total revenues</a:t>
            </a:r>
          </a:p>
          <a:p>
            <a:pPr lvl="1"/>
            <a:r>
              <a:rPr lang="en-US" sz="2600" dirty="0"/>
              <a:t>Predicted annual growth rate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362200"/>
            <a:ext cx="3810000" cy="285382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145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Competitors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Direct Competitors</a:t>
            </a:r>
          </a:p>
          <a:p>
            <a:pPr lvl="1"/>
            <a:r>
              <a:rPr lang="en-US" sz="2600" dirty="0"/>
              <a:t>Who are they?</a:t>
            </a:r>
          </a:p>
          <a:p>
            <a:pPr lvl="1"/>
            <a:r>
              <a:rPr lang="en-US" sz="2600" dirty="0"/>
              <a:t>Size and product breadth</a:t>
            </a:r>
          </a:p>
          <a:p>
            <a:pPr lvl="1"/>
            <a:r>
              <a:rPr lang="en-US" sz="2600" dirty="0"/>
              <a:t>Revenues and profitability</a:t>
            </a:r>
          </a:p>
          <a:p>
            <a:pPr lvl="1"/>
            <a:r>
              <a:rPr lang="en-US" sz="2600" dirty="0"/>
              <a:t>Strengths and weaknesses</a:t>
            </a:r>
          </a:p>
          <a:p>
            <a:pPr lvl="1"/>
            <a:r>
              <a:rPr lang="en-US" sz="2600" dirty="0"/>
              <a:t>Market shares</a:t>
            </a:r>
          </a:p>
          <a:p>
            <a:pPr lvl="1"/>
            <a:endParaRPr lang="en-US" sz="2600" dirty="0"/>
          </a:p>
          <a:p>
            <a:r>
              <a:rPr lang="en-US" sz="2800" dirty="0"/>
              <a:t>Indirect Competitors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133600"/>
            <a:ext cx="3505200" cy="3505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6373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Customer Characteristics</a:t>
            </a:r>
          </a:p>
          <a:p>
            <a:pPr lvl="1"/>
            <a:r>
              <a:rPr lang="en-US" sz="2600" dirty="0"/>
              <a:t>Who are they?</a:t>
            </a:r>
          </a:p>
          <a:p>
            <a:pPr lvl="1"/>
            <a:r>
              <a:rPr lang="en-US" sz="2600" dirty="0"/>
              <a:t>Why do they buy?</a:t>
            </a:r>
          </a:p>
          <a:p>
            <a:pPr lvl="1"/>
            <a:r>
              <a:rPr lang="en-US" sz="2600" dirty="0"/>
              <a:t>Need satisfied by the product/service</a:t>
            </a:r>
          </a:p>
          <a:p>
            <a:pPr lvl="1"/>
            <a:r>
              <a:rPr lang="en-US" sz="2600" dirty="0"/>
              <a:t>How is the need currently filled?</a:t>
            </a:r>
          </a:p>
          <a:p>
            <a:pPr lvl="1"/>
            <a:r>
              <a:rPr lang="en-US" sz="2600" dirty="0"/>
              <a:t>What are the alternatives?</a:t>
            </a:r>
          </a:p>
          <a:p>
            <a:pPr lvl="1"/>
            <a:r>
              <a:rPr lang="en-US" sz="2600" dirty="0"/>
              <a:t>Who makes the decision to buy?</a:t>
            </a:r>
          </a:p>
          <a:p>
            <a:pPr lvl="1"/>
            <a:r>
              <a:rPr lang="en-US" sz="2600" dirty="0"/>
              <a:t>How frequently do they purchase?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38100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57131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Sales Plans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Statement of Opportunity</a:t>
            </a:r>
          </a:p>
          <a:p>
            <a:endParaRPr lang="en-US" sz="2800" dirty="0"/>
          </a:p>
          <a:p>
            <a:r>
              <a:rPr lang="en-US" sz="2800" dirty="0"/>
              <a:t>Marketing and Sales Objectives</a:t>
            </a:r>
          </a:p>
          <a:p>
            <a:endParaRPr lang="en-US" sz="2800" dirty="0"/>
          </a:p>
          <a:p>
            <a:r>
              <a:rPr lang="en-US" sz="2800" dirty="0"/>
              <a:t>Existing Customers</a:t>
            </a:r>
          </a:p>
          <a:p>
            <a:endParaRPr lang="en-US" sz="2800" dirty="0"/>
          </a:p>
          <a:p>
            <a:r>
              <a:rPr lang="en-US" sz="2800" dirty="0"/>
              <a:t>Potential Customers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133600"/>
            <a:ext cx="3657600" cy="213360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08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Strategies</a:t>
            </a:r>
          </a:p>
        </p:txBody>
      </p:sp>
      <p:sp>
        <p:nvSpPr>
          <p:cNvPr id="197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Product/Service Strategy</a:t>
            </a:r>
          </a:p>
          <a:p>
            <a:endParaRPr lang="en-US" sz="2800" dirty="0"/>
          </a:p>
          <a:p>
            <a:r>
              <a:rPr lang="en-US" sz="2800" dirty="0"/>
              <a:t>Pricing Strategy</a:t>
            </a:r>
          </a:p>
          <a:p>
            <a:endParaRPr lang="en-US" sz="2800" dirty="0"/>
          </a:p>
          <a:p>
            <a:r>
              <a:rPr lang="en-US" sz="2800" dirty="0"/>
              <a:t>Distribution Strategy</a:t>
            </a:r>
          </a:p>
          <a:p>
            <a:endParaRPr lang="en-US" sz="2800" dirty="0"/>
          </a:p>
          <a:p>
            <a:r>
              <a:rPr lang="en-US" sz="2800" dirty="0"/>
              <a:t>Advertising and Promotion Strategy</a:t>
            </a:r>
          </a:p>
          <a:p>
            <a:endParaRPr lang="en-US" sz="2800" dirty="0"/>
          </a:p>
          <a:p>
            <a:r>
              <a:rPr lang="en-US" sz="2800" dirty="0"/>
              <a:t>Sales Strategy</a:t>
            </a:r>
          </a:p>
          <a:p>
            <a:endParaRPr lang="en-US" sz="2800" dirty="0"/>
          </a:p>
          <a:p>
            <a:r>
              <a:rPr lang="en-US" sz="2800" dirty="0"/>
              <a:t>Marketing and Sales Forecasts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752600"/>
            <a:ext cx="2819400" cy="2819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74265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Sales Plans</a:t>
            </a:r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/>
              <a:t>Marketing Programs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Direct Mail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Trade Shows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Advertising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Internet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Publicity/Public Relations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Marketing Budget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Pricing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Basis for targeted price point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Margins and profitability by volume levels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600200"/>
            <a:ext cx="3388659" cy="3048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8384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Marketing and Sales Plans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Sales Plan</a:t>
            </a:r>
          </a:p>
          <a:p>
            <a:pPr lvl="1"/>
            <a:r>
              <a:rPr lang="en-US" sz="2600" dirty="0"/>
              <a:t>Sales force structure – (direct or reps)</a:t>
            </a:r>
          </a:p>
          <a:p>
            <a:pPr marL="457200" lvl="1" indent="0">
              <a:buNone/>
            </a:pPr>
            <a:endParaRPr lang="en-US" sz="2600" dirty="0"/>
          </a:p>
          <a:p>
            <a:pPr lvl="1"/>
            <a:r>
              <a:rPr lang="en-US" sz="2600" dirty="0"/>
              <a:t>Sales expectations/quotas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Margins given  to intermediaries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Service and warranties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Sales Budget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Organizational chart indicating planned growth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1219200"/>
            <a:ext cx="2343150" cy="32956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78685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R &amp; D Plan</a:t>
            </a:r>
          </a:p>
          <a:p>
            <a:pPr lvl="1"/>
            <a:r>
              <a:rPr lang="en-US" sz="2600" dirty="0"/>
              <a:t>Objectives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Milestones and current status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Difficulties and risks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Staffing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R &amp; D Budget and assumptions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2000250"/>
            <a:ext cx="3443785" cy="37909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4747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Manufacturing/Production Plan</a:t>
            </a:r>
          </a:p>
          <a:p>
            <a:pPr lvl="1"/>
            <a:r>
              <a:rPr lang="en-US" sz="2600" dirty="0"/>
              <a:t>Objectives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Facilities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Staffing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Subcontractors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Quality Control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Budget / Operating Expenses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76400"/>
            <a:ext cx="2895600" cy="2895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5190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09800"/>
            <a:ext cx="7772400" cy="4114800"/>
          </a:xfrm>
        </p:spPr>
        <p:txBody>
          <a:bodyPr/>
          <a:lstStyle/>
          <a:p>
            <a:r>
              <a:rPr lang="en-US" sz="2800" dirty="0"/>
              <a:t>Company Organization</a:t>
            </a:r>
          </a:p>
          <a:p>
            <a:endParaRPr lang="en-US" sz="2800" dirty="0"/>
          </a:p>
          <a:p>
            <a:r>
              <a:rPr lang="en-US" sz="2800" dirty="0"/>
              <a:t>Management Team</a:t>
            </a:r>
          </a:p>
          <a:p>
            <a:endParaRPr lang="en-US" sz="2800" dirty="0"/>
          </a:p>
          <a:p>
            <a:r>
              <a:rPr lang="en-US" sz="2800" dirty="0"/>
              <a:t>Administrative Expenses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2209800"/>
            <a:ext cx="3772452" cy="3200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202053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Team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President</a:t>
            </a:r>
          </a:p>
          <a:p>
            <a:r>
              <a:rPr lang="en-US" sz="2800" dirty="0"/>
              <a:t>VP Finance</a:t>
            </a:r>
          </a:p>
          <a:p>
            <a:r>
              <a:rPr lang="en-US" sz="2800" dirty="0"/>
              <a:t>VP Sales</a:t>
            </a:r>
          </a:p>
          <a:p>
            <a:r>
              <a:rPr lang="en-US" sz="2800" dirty="0"/>
              <a:t>VP Marketing</a:t>
            </a:r>
          </a:p>
          <a:p>
            <a:r>
              <a:rPr lang="en-US" sz="2800" dirty="0"/>
              <a:t>VP Manufacturing</a:t>
            </a:r>
          </a:p>
          <a:p>
            <a:r>
              <a:rPr lang="en-US" sz="2800" dirty="0"/>
              <a:t>Board of Advisors</a:t>
            </a:r>
          </a:p>
        </p:txBody>
      </p:sp>
    </p:spTree>
    <p:extLst>
      <p:ext uri="{BB962C8B-B14F-4D97-AF65-F5344CB8AC3E}">
        <p14:creationId xmlns="" xmlns:p14="http://schemas.microsoft.com/office/powerpoint/2010/main" val="218021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Personnel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Human Resource Plan</a:t>
            </a:r>
          </a:p>
          <a:p>
            <a:pPr lvl="1"/>
            <a:r>
              <a:rPr lang="en-US" sz="2600" dirty="0"/>
              <a:t>Staffing Objectives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Organizational Structure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3-5 year growth plan</a:t>
            </a:r>
          </a:p>
          <a:p>
            <a:pPr lvl="1"/>
            <a:endParaRPr lang="en-US" sz="2600" dirty="0"/>
          </a:p>
          <a:p>
            <a:pPr lvl="1"/>
            <a:r>
              <a:rPr lang="en-US" sz="2600" dirty="0"/>
              <a:t>Budget</a:t>
            </a:r>
          </a:p>
          <a:p>
            <a:pPr lvl="1"/>
            <a:endParaRPr lang="en-US" sz="26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00" y="2514600"/>
            <a:ext cx="3865775" cy="28956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02057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Financials</a:t>
            </a:r>
          </a:p>
        </p:txBody>
      </p:sp>
      <p:sp>
        <p:nvSpPr>
          <p:cNvPr id="199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Financial Objectives</a:t>
            </a:r>
          </a:p>
          <a:p>
            <a:pPr lvl="1"/>
            <a:r>
              <a:rPr lang="en-US" sz="2600" dirty="0"/>
              <a:t>Time to Cash Flow Positive</a:t>
            </a:r>
          </a:p>
          <a:p>
            <a:pPr lvl="1"/>
            <a:r>
              <a:rPr lang="en-US" sz="2600" dirty="0"/>
              <a:t>Time to profitability</a:t>
            </a:r>
          </a:p>
          <a:p>
            <a:pPr lvl="1"/>
            <a:endParaRPr lang="en-US" sz="2600" dirty="0"/>
          </a:p>
          <a:p>
            <a:r>
              <a:rPr lang="en-US" sz="2800" dirty="0"/>
              <a:t>Financial Assumptions</a:t>
            </a:r>
          </a:p>
          <a:p>
            <a:endParaRPr lang="en-US" sz="2800" dirty="0"/>
          </a:p>
          <a:p>
            <a:r>
              <a:rPr lang="en-US" sz="2800" dirty="0"/>
              <a:t>Capital Requirements</a:t>
            </a:r>
          </a:p>
          <a:p>
            <a:endParaRPr lang="en-US" sz="2800" dirty="0"/>
          </a:p>
          <a:p>
            <a:r>
              <a:rPr lang="en-US" sz="2800" dirty="0"/>
              <a:t>Exit Scenario</a:t>
            </a:r>
          </a:p>
          <a:p>
            <a:pPr lvl="1"/>
            <a:endParaRPr lang="en-US" dirty="0"/>
          </a:p>
          <a:p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830" y="3810000"/>
            <a:ext cx="3687746" cy="2762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3029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Financials</a:t>
            </a:r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2362200"/>
            <a:ext cx="7772400" cy="4114800"/>
          </a:xfrm>
        </p:spPr>
        <p:txBody>
          <a:bodyPr/>
          <a:lstStyle/>
          <a:p>
            <a:r>
              <a:rPr lang="en-US" sz="2800" dirty="0"/>
              <a:t>Pro-forma Cash Flow Projections</a:t>
            </a:r>
          </a:p>
          <a:p>
            <a:endParaRPr lang="en-US" sz="2800" dirty="0"/>
          </a:p>
          <a:p>
            <a:r>
              <a:rPr lang="en-US" sz="2800" dirty="0"/>
              <a:t>Pro-forma Profit &amp; Loss Statements</a:t>
            </a:r>
          </a:p>
          <a:p>
            <a:endParaRPr lang="en-US" sz="2800" dirty="0"/>
          </a:p>
          <a:p>
            <a:r>
              <a:rPr lang="en-US" sz="2800" dirty="0"/>
              <a:t>Pro-forma Balance Sheet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15" y="44196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825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Offering</a:t>
            </a:r>
          </a:p>
        </p:txBody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362200"/>
            <a:ext cx="7772400" cy="4114800"/>
          </a:xfrm>
        </p:spPr>
        <p:txBody>
          <a:bodyPr/>
          <a:lstStyle/>
          <a:p>
            <a:r>
              <a:rPr lang="en-US" sz="2800" dirty="0"/>
              <a:t>Investment Requirements</a:t>
            </a:r>
          </a:p>
          <a:p>
            <a:endParaRPr lang="en-US" sz="2800" dirty="0"/>
          </a:p>
          <a:p>
            <a:r>
              <a:rPr lang="en-US" sz="2800" dirty="0"/>
              <a:t>Pro-forma Valuation of Business</a:t>
            </a:r>
          </a:p>
          <a:p>
            <a:endParaRPr lang="en-US" sz="2800" dirty="0"/>
          </a:p>
          <a:p>
            <a:r>
              <a:rPr lang="en-US" sz="2800" dirty="0"/>
              <a:t>Offer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3810000"/>
            <a:ext cx="3410663" cy="23622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2762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dirty="0"/>
              <a:t>Resumes of Key Management</a:t>
            </a:r>
          </a:p>
          <a:p>
            <a:r>
              <a:rPr lang="en-US" sz="2800" dirty="0"/>
              <a:t>Patent Information</a:t>
            </a:r>
          </a:p>
          <a:p>
            <a:r>
              <a:rPr lang="en-US" sz="2800" dirty="0"/>
              <a:t>Customer List</a:t>
            </a:r>
          </a:p>
          <a:p>
            <a:r>
              <a:rPr lang="en-US" sz="2800" dirty="0"/>
              <a:t>Testimonials</a:t>
            </a:r>
          </a:p>
          <a:p>
            <a:r>
              <a:rPr lang="en-US" sz="2800" dirty="0"/>
              <a:t>Supplemental Financial Spreadsheets</a:t>
            </a:r>
          </a:p>
          <a:p>
            <a:r>
              <a:rPr lang="en-US" sz="2800" dirty="0"/>
              <a:t>References</a:t>
            </a:r>
          </a:p>
        </p:txBody>
      </p:sp>
    </p:spTree>
    <p:extLst>
      <p:ext uri="{BB962C8B-B14F-4D97-AF65-F5344CB8AC3E}">
        <p14:creationId xmlns="" xmlns:p14="http://schemas.microsoft.com/office/powerpoint/2010/main" val="102400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03375" y="350838"/>
            <a:ext cx="6276975" cy="10318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Guidelines for Preparing</a:t>
            </a:r>
            <a:br>
              <a:rPr lang="en-US" dirty="0"/>
            </a:br>
            <a:r>
              <a:rPr lang="en-US" dirty="0"/>
              <a:t>a Business Plan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774825"/>
            <a:ext cx="8001000" cy="40925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Remember: No one can create your plan </a:t>
            </a:r>
            <a:r>
              <a:rPr lang="en-US" sz="2800" i="1" dirty="0"/>
              <a:t>for</a:t>
            </a:r>
            <a:r>
              <a:rPr lang="en-US" sz="2800" dirty="0"/>
              <a:t> you.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Potential lenders want to see financial projections, but they are more interested in the </a:t>
            </a:r>
            <a:r>
              <a:rPr lang="en-US" sz="2800" i="1" dirty="0"/>
              <a:t>strategies</a:t>
            </a:r>
            <a:r>
              <a:rPr lang="en-US" sz="2800" dirty="0"/>
              <a:t> for reaching those projections.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Show how you plan to set your business apart from competitors; don’t fall into the “me too” trap.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Identify your target market and offer evidence that customers for your product or service exist.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1347" y="5257800"/>
            <a:ext cx="2143125" cy="163204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27623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47800" y="385763"/>
            <a:ext cx="6019800" cy="1100137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Tips on Preparing</a:t>
            </a:r>
            <a:br>
              <a:rPr lang="en-US" dirty="0"/>
            </a:br>
            <a:r>
              <a:rPr lang="en-US" dirty="0"/>
              <a:t>a Business Plan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0"/>
            <a:ext cx="7848600" cy="41910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Make sure  your plan has an attractive cover. (First impressions are crucial.)</a:t>
            </a:r>
            <a:endParaRPr lang="en-US" sz="2800" dirty="0">
              <a:latin typeface="Monotype Sort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Rid your plan of all spelling and grammatical errors.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Make your plan visually appealing.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Include a table of contents to allow readers to navigate your plan easily.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Make it interesting.  </a:t>
            </a: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4098925" y="1600200"/>
            <a:ext cx="944563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1300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5181600"/>
            <a:ext cx="1676400" cy="16764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3611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63650" y="279400"/>
            <a:ext cx="6373813" cy="1031875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Tips on Preparing</a:t>
            </a:r>
            <a:br>
              <a:rPr lang="en-US" dirty="0"/>
            </a:br>
            <a:r>
              <a:rPr lang="en-US" dirty="0"/>
              <a:t>a Business Plan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905000"/>
            <a:ext cx="8001000" cy="44196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Your plan must prove that the business will make money (not necessarily immediately, but eventually).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Use spreadsheets to generate financial forecasts.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i="1" dirty="0"/>
              <a:t>Always</a:t>
            </a:r>
            <a:r>
              <a:rPr lang="en-US" sz="2800" dirty="0"/>
              <a:t> include cash flow projections. 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Keep your plan “crisp” – between 25 and 50 pages long.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Tell the truth – </a:t>
            </a:r>
            <a:r>
              <a:rPr lang="en-US" sz="2800" i="1" dirty="0"/>
              <a:t>always</a:t>
            </a:r>
            <a:r>
              <a:rPr lang="en-US" sz="2800" dirty="0"/>
              <a:t>.  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4038600" y="1447800"/>
            <a:ext cx="1020763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1300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334" y="4724400"/>
            <a:ext cx="2295525" cy="19907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8238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Presenting the Plan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924800" cy="4114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Demonstrate enthusiasm, but don’t be overemotional.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Know your audience thoroughly.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“Hook” investors quickly with an up-front explanation of the venture, its opportunities, and its benefits to them.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Hit the highlights; focus on the details later.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Keep your presentation simple – 2 or 3 major points.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800601"/>
            <a:ext cx="2143125" cy="19050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52607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152400"/>
            <a:ext cx="7772400" cy="8382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Presenting the Plan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371600"/>
            <a:ext cx="7924800" cy="4114800"/>
          </a:xfrm>
          <a:noFill/>
          <a:ln/>
          <a:extLs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Avoid overloading your audience with technological jargon.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Use visual aids.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Close by reinforcing the nature of the opportunity. 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Be prepared (with details) for potential investors’ questions.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r>
              <a:rPr lang="en-US" sz="2800" dirty="0"/>
              <a:t>Follow up with every investor to whom you make your presentation.</a:t>
            </a: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4098925" y="990600"/>
            <a:ext cx="944563" cy="233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44450" tIns="17463" rIns="44450" bIns="17463">
            <a:spAutoFit/>
          </a:bodyPr>
          <a:lstStyle/>
          <a:p>
            <a:pPr defTabSz="841375"/>
            <a:r>
              <a:rPr lang="en-US" sz="1300" b="1">
                <a:effectLst>
                  <a:outerShdw blurRad="38100" dist="38100" dir="2700000" algn="tl">
                    <a:srgbClr val="000000"/>
                  </a:outerShdw>
                </a:effectLst>
                <a:latin typeface="Tms Rmn" charset="0"/>
              </a:rPr>
              <a:t>(Continued)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488" y="5029200"/>
            <a:ext cx="2743200" cy="16668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27946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330355"/>
            <a:ext cx="9115567" cy="4070445"/>
          </a:xfrm>
        </p:spPr>
        <p:txBody>
          <a:bodyPr>
            <a:normAutofit/>
          </a:bodyPr>
          <a:lstStyle/>
          <a:p>
            <a:pPr marL="457200" indent="-457200" algn="l" hangingPunct="0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Why Develop a Business Plan?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Elements of a Business Plan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Lenders and Investors Look for in a Business Plan 	</a:t>
            </a:r>
          </a:p>
          <a:p>
            <a:pPr marL="457200" lvl="0" indent="-457200" algn="l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Business Plan Format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0972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1158</Words>
  <Application>Microsoft Office PowerPoint</Application>
  <PresentationFormat>On-screen Show (4:3)</PresentationFormat>
  <Paragraphs>323</Paragraphs>
  <Slides>43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MGT403  ENTREPRENEURSHIP  </vt:lpstr>
      <vt:lpstr>Objectives</vt:lpstr>
      <vt:lpstr>The Business Plan</vt:lpstr>
      <vt:lpstr>A Plan Must Pass Three Tests</vt:lpstr>
      <vt:lpstr>Why Take the Time to Build a Business Plan?</vt:lpstr>
      <vt:lpstr>Strategic Guide</vt:lpstr>
      <vt:lpstr>Lender Expectations</vt:lpstr>
      <vt:lpstr>Investor Expectations</vt:lpstr>
      <vt:lpstr>Entrepreneurs Start Businesses:</vt:lpstr>
      <vt:lpstr>Exit Strategies</vt:lpstr>
      <vt:lpstr>Funding Sources:</vt:lpstr>
      <vt:lpstr>Business Plan Content</vt:lpstr>
      <vt:lpstr>Business Plan Content</vt:lpstr>
      <vt:lpstr>Business Plan Content</vt:lpstr>
      <vt:lpstr>Cover  Page</vt:lpstr>
      <vt:lpstr>Executive Summary</vt:lpstr>
      <vt:lpstr>Executive Summary</vt:lpstr>
      <vt:lpstr>Executive Summary</vt:lpstr>
      <vt:lpstr>Company Overview</vt:lpstr>
      <vt:lpstr>Products/Services</vt:lpstr>
      <vt:lpstr>Industry Overview</vt:lpstr>
      <vt:lpstr>Market Analysis</vt:lpstr>
      <vt:lpstr>Competitors</vt:lpstr>
      <vt:lpstr>Customers</vt:lpstr>
      <vt:lpstr>Marketing and Sales Plans</vt:lpstr>
      <vt:lpstr>Marketing Strategies</vt:lpstr>
      <vt:lpstr>Marketing and Sales Plans</vt:lpstr>
      <vt:lpstr>Marketing and Sales Plans</vt:lpstr>
      <vt:lpstr>Development</vt:lpstr>
      <vt:lpstr>Operations</vt:lpstr>
      <vt:lpstr>Management</vt:lpstr>
      <vt:lpstr>Management Team</vt:lpstr>
      <vt:lpstr>Personnel</vt:lpstr>
      <vt:lpstr>Summary of Financials</vt:lpstr>
      <vt:lpstr>Financials</vt:lpstr>
      <vt:lpstr>Offering</vt:lpstr>
      <vt:lpstr>Appendices</vt:lpstr>
      <vt:lpstr>Guidelines for Preparing a Business Plan</vt:lpstr>
      <vt:lpstr>Tips on Preparing a Business Plan</vt:lpstr>
      <vt:lpstr>Tips on Preparing a Business Plan</vt:lpstr>
      <vt:lpstr>Presenting the Plan</vt:lpstr>
      <vt:lpstr>Presenting the Plan</vt:lpstr>
      <vt:lpstr>Lecture Review</vt:lpstr>
    </vt:vector>
  </TitlesOfParts>
  <Company>MyCompanyName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OMER JUTT</cp:lastModifiedBy>
  <cp:revision>105</cp:revision>
  <cp:lastPrinted>2013-11-02T05:54:40Z</cp:lastPrinted>
  <dcterms:created xsi:type="dcterms:W3CDTF">2013-10-03T09:43:12Z</dcterms:created>
  <dcterms:modified xsi:type="dcterms:W3CDTF">2020-08-25T19:30:44Z</dcterms:modified>
</cp:coreProperties>
</file>