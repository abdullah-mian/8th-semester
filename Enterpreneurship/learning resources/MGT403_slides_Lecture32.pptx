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85" r:id="rId2"/>
    <p:sldId id="320" r:id="rId3"/>
    <p:sldId id="330" r:id="rId4"/>
    <p:sldId id="289" r:id="rId5"/>
    <p:sldId id="290" r:id="rId6"/>
    <p:sldId id="291" r:id="rId7"/>
    <p:sldId id="292" r:id="rId8"/>
    <p:sldId id="293" r:id="rId9"/>
    <p:sldId id="294" r:id="rId10"/>
    <p:sldId id="323" r:id="rId11"/>
    <p:sldId id="296" r:id="rId12"/>
    <p:sldId id="297" r:id="rId13"/>
    <p:sldId id="298" r:id="rId14"/>
    <p:sldId id="328" r:id="rId15"/>
    <p:sldId id="299" r:id="rId16"/>
    <p:sldId id="327" r:id="rId17"/>
    <p:sldId id="329" r:id="rId18"/>
    <p:sldId id="325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7" r:id="rId33"/>
    <p:sldId id="28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82" autoAdjust="0"/>
    <p:restoredTop sz="94671" autoAdjust="0"/>
  </p:normalViewPr>
  <p:slideViewPr>
    <p:cSldViewPr>
      <p:cViewPr varScale="1">
        <p:scale>
          <a:sx n="47" d="100"/>
          <a:sy n="47" d="100"/>
        </p:scale>
        <p:origin x="-600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CD61-2315-4FAF-AEDB-E0BBEC630695}" type="datetimeFigureOut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1F17-F03B-4CE1-A8B4-1ABE48593E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514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BC66-E99E-4901-AC8C-5FA4CB9A4420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53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BF6A-4F45-4E76-9FE5-65ABD4F8DDD6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5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8DA-D8ED-460C-88D7-78C4C28210B4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2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A8CC4-F10C-43A6-94D9-70B89C99C6B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919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7B31-B021-46EA-B517-092F71A6274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84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4B97-D14E-427B-B8AE-DA397ABFA0FB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27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BA28-EA92-4A3F-9A52-6C1B595ACB5C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750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79A5-D640-4D2C-AF79-9CEB0F88A841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8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8727-F892-4A97-99B8-9CA7FE9EDD0B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360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B140-7929-4EA2-A116-A9CD00094022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7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3F0D-3AAD-4C7A-BA60-1655B80804A8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6542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CB7E-3E05-40F2-AEF2-14D04EC666F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909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6000" dirty="0"/>
              <a:t>Lecture No : 32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57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011461"/>
            <a:ext cx="8686800" cy="34290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Course Introduction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66D2596-C744-4D7D-B83A-C0CE2C30BEB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70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/>
              <a:t>Lecture No.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011461"/>
            <a:ext cx="8686800" cy="34290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Define the term entrepreneur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entrepreneurial profile.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66D2596-C744-4D7D-B83A-C0CE2C30BEB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7681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2658637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benefits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drawbacks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forces that are driving the growth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450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0394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cultural diversity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050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416595A-6731-48BD-8E5D-4C6A55910FAD}"/>
              </a:ext>
            </a:extLst>
          </p:cNvPr>
          <p:cNvSpPr txBox="1"/>
          <p:nvPr/>
        </p:nvSpPr>
        <p:spPr>
          <a:xfrm>
            <a:off x="1219201" y="2743200"/>
            <a:ext cx="7002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Motivational Talk- Dr. Aneel Salman</a:t>
            </a:r>
          </a:p>
        </p:txBody>
      </p:sp>
    </p:spTree>
    <p:extLst>
      <p:ext uri="{BB962C8B-B14F-4D97-AF65-F5344CB8AC3E}">
        <p14:creationId xmlns="" xmlns:p14="http://schemas.microsoft.com/office/powerpoint/2010/main" val="372962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880360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Put failure into proper perspective.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Avoiding the Pitfalls of Small Business Failure.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605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435DC43-5E98-4E20-9420-ECD184695BCC}"/>
              </a:ext>
            </a:extLst>
          </p:cNvPr>
          <p:cNvSpPr/>
          <p:nvPr/>
        </p:nvSpPr>
        <p:spPr>
          <a:xfrm>
            <a:off x="228600" y="2819400"/>
            <a:ext cx="8229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Understand Difference between Creativity and Innovation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Understand Paradigms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Barriers to Creativity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How to Spur Imagination</a:t>
            </a:r>
          </a:p>
        </p:txBody>
      </p:sp>
    </p:spTree>
    <p:extLst>
      <p:ext uri="{BB962C8B-B14F-4D97-AF65-F5344CB8AC3E}">
        <p14:creationId xmlns="" xmlns:p14="http://schemas.microsoft.com/office/powerpoint/2010/main" val="295281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Organizational Creativity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257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6867" y="533400"/>
            <a:ext cx="5829300" cy="1102519"/>
          </a:xfrm>
        </p:spPr>
        <p:txBody>
          <a:bodyPr/>
          <a:lstStyle/>
          <a:p>
            <a:r>
              <a:rPr lang="en-US" dirty="0"/>
              <a:t>Lecture No.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24562"/>
            <a:ext cx="1747766" cy="1747766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="" xmlns:a16="http://schemas.microsoft.com/office/drawing/2014/main" id="{B7F7C153-B08E-4394-BA2D-1C55B705367D}"/>
              </a:ext>
            </a:extLst>
          </p:cNvPr>
          <p:cNvSpPr txBox="1">
            <a:spLocks/>
          </p:cNvSpPr>
          <p:nvPr/>
        </p:nvSpPr>
        <p:spPr>
          <a:xfrm>
            <a:off x="228600" y="1705513"/>
            <a:ext cx="8229600" cy="48567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sz="3600" dirty="0"/>
          </a:p>
          <a:p>
            <a:pPr algn="l">
              <a:lnSpc>
                <a:spcPct val="90000"/>
              </a:lnSpc>
              <a:defRPr/>
            </a:pPr>
            <a:r>
              <a:rPr lang="en-US" dirty="0"/>
              <a:t>How to enhance individual’s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Creativity Techniques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Brainstorming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Mind Mapping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Rapid Prototyping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Mix n Match (Thomas Edison Challenge)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Attribute Listing Chart</a:t>
            </a:r>
          </a:p>
        </p:txBody>
      </p:sp>
    </p:spTree>
    <p:extLst>
      <p:ext uri="{BB962C8B-B14F-4D97-AF65-F5344CB8AC3E}">
        <p14:creationId xmlns="" xmlns:p14="http://schemas.microsoft.com/office/powerpoint/2010/main" val="35709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0"/>
            <a:ext cx="8382000" cy="4038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Distinguish the different forms of Innovation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Differentiate between the different types of innovation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965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382000" cy="510539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49D751FA-90B7-4384-842C-68CB4208A56E}"/>
              </a:ext>
            </a:extLst>
          </p:cNvPr>
          <p:cNvSpPr txBox="1">
            <a:spLocks/>
          </p:cNvSpPr>
          <p:nvPr/>
        </p:nvSpPr>
        <p:spPr>
          <a:xfrm>
            <a:off x="228600" y="2330355"/>
            <a:ext cx="83820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>
                <a:solidFill>
                  <a:schemeClr val="tx1"/>
                </a:solidFill>
              </a:rPr>
              <a:t>Intellectual Property Rights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Patents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Steps to Patent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Benefits of Obtaining Patents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Trademarks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Copyrights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94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73C5F3B-A29C-439F-B2A2-4C744CC29E97}"/>
              </a:ext>
            </a:extLst>
          </p:cNvPr>
          <p:cNvSpPr txBox="1"/>
          <p:nvPr/>
        </p:nvSpPr>
        <p:spPr>
          <a:xfrm>
            <a:off x="990600" y="2743200"/>
            <a:ext cx="510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Documentary- Bill Gates</a:t>
            </a:r>
          </a:p>
        </p:txBody>
      </p:sp>
    </p:spTree>
    <p:extLst>
      <p:ext uri="{BB962C8B-B14F-4D97-AF65-F5344CB8AC3E}">
        <p14:creationId xmlns="" xmlns:p14="http://schemas.microsoft.com/office/powerpoint/2010/main" val="161576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476B776-8607-40AD-8269-AC6F28173B93}"/>
              </a:ext>
            </a:extLst>
          </p:cNvPr>
          <p:cNvSpPr/>
          <p:nvPr/>
        </p:nvSpPr>
        <p:spPr>
          <a:xfrm>
            <a:off x="762000" y="2011689"/>
            <a:ext cx="6096000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Strategic  Management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Competitive Advantage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Core Competency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Strategic Management Process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Vision &amp; Mission Statement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SWOT Analysis</a:t>
            </a:r>
          </a:p>
        </p:txBody>
      </p:sp>
    </p:spTree>
    <p:extLst>
      <p:ext uri="{BB962C8B-B14F-4D97-AF65-F5344CB8AC3E}">
        <p14:creationId xmlns="" xmlns:p14="http://schemas.microsoft.com/office/powerpoint/2010/main" val="70656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476B776-8607-40AD-8269-AC6F28173B93}"/>
              </a:ext>
            </a:extLst>
          </p:cNvPr>
          <p:cNvSpPr/>
          <p:nvPr/>
        </p:nvSpPr>
        <p:spPr>
          <a:xfrm>
            <a:off x="762000" y="2011689"/>
            <a:ext cx="6096000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SWOT Analysis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PESTEL Analysis</a:t>
            </a:r>
          </a:p>
        </p:txBody>
      </p:sp>
    </p:spTree>
    <p:extLst>
      <p:ext uri="{BB962C8B-B14F-4D97-AF65-F5344CB8AC3E}">
        <p14:creationId xmlns="" xmlns:p14="http://schemas.microsoft.com/office/powerpoint/2010/main" val="100964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1C41E24D-10E9-4B6A-A4F2-6E0183F96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956177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Analyzing Competitors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Create Company Goals and Objectives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Formulate Strategy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Translate Strategies into Action Plan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Establishing Control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5445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1C41E24D-10E9-4B6A-A4F2-6E0183F96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956177"/>
            <a:ext cx="8382000" cy="4038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endParaRPr lang="en-US" dirty="0"/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TOWS MATRIX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Conducting a Feasibility Analysis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The Feasibility Study			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Five Forces Model			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Product or Service Feasibility Analysis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Financial Feasibility Analysis	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348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lvl="0" hangingPunct="0"/>
            <a:r>
              <a:rPr lang="en-US" dirty="0"/>
              <a:t>Explain the advantages and the disadvantages of the three major forms of ownership</a:t>
            </a:r>
          </a:p>
          <a:p>
            <a:pPr lvl="0" hangingPunct="0"/>
            <a:r>
              <a:rPr lang="en-US" dirty="0"/>
              <a:t>The Sole Proprietorship</a:t>
            </a:r>
          </a:p>
          <a:p>
            <a:pPr lvl="0" hangingPunct="0"/>
            <a:r>
              <a:rPr lang="en-US" dirty="0"/>
              <a:t>The Partnership</a:t>
            </a:r>
          </a:p>
          <a:p>
            <a:pPr lvl="0" hangingPunct="0"/>
            <a:r>
              <a:rPr lang="en-US" dirty="0"/>
              <a:t>The Corporation 			</a:t>
            </a:r>
          </a:p>
        </p:txBody>
      </p:sp>
    </p:spTree>
    <p:extLst>
      <p:ext uri="{BB962C8B-B14F-4D97-AF65-F5344CB8AC3E}">
        <p14:creationId xmlns="" xmlns:p14="http://schemas.microsoft.com/office/powerpoint/2010/main" val="9140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221" y="2094744"/>
            <a:ext cx="8382000" cy="4038600"/>
          </a:xfrm>
        </p:spPr>
        <p:txBody>
          <a:bodyPr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Define Franchising.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Explain the benefits and the drawbacks of buying a franchise.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Discuss the right way to buy a franchise.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Outline the major trends shaping franchising.	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9758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Myths &amp; Tips about Franchising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Understand the importance of preparing a financial plan.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Projected Financial Statements- Mistakes.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Understand the basic financial statements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Breakeven Chart</a:t>
            </a:r>
          </a:p>
          <a:p>
            <a:pPr hangingPunct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582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A508305-2FB9-4F96-92EB-618D25917C94}"/>
              </a:ext>
            </a:extLst>
          </p:cNvPr>
          <p:cNvSpPr/>
          <p:nvPr/>
        </p:nvSpPr>
        <p:spPr>
          <a:xfrm>
            <a:off x="609600" y="1457691"/>
            <a:ext cx="7772400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en-US" sz="2400" dirty="0"/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Explain the differences in the three types of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 capital small businesses require: fixed, working, and growth.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differences in equity capital and debt capital and the advantages and disadvantages of each.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various sources of equity capital available to entrepreneurs, including personal savings, friends and relatives, angels, partners, corporations, venture capital, and public stock offerings.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various sources of debt capital and the advantages and disadvantages of each.</a:t>
            </a:r>
          </a:p>
        </p:txBody>
      </p:sp>
    </p:spTree>
    <p:extLst>
      <p:ext uri="{BB962C8B-B14F-4D97-AF65-F5344CB8AC3E}">
        <p14:creationId xmlns="" xmlns:p14="http://schemas.microsoft.com/office/powerpoint/2010/main" val="240344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449263" y="328613"/>
            <a:ext cx="7772400" cy="1470025"/>
          </a:xfrm>
        </p:spPr>
        <p:txBody>
          <a:bodyPr/>
          <a:lstStyle/>
          <a:p>
            <a:r>
              <a:rPr lang="en-US" dirty="0"/>
              <a:t>Lecture No. 21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228600" y="2330450"/>
            <a:ext cx="8382000" cy="40386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31750"/>
            <a:ext cx="233045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375" y="1625600"/>
            <a:ext cx="8382000" cy="46990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Discuss the “four Ps” of marketing—product, place, price, and promotion—and their role in building a successful marketing strategy.</a:t>
            </a:r>
          </a:p>
          <a:p>
            <a:pPr hangingPunct="0"/>
            <a:r>
              <a:rPr lang="en-US" dirty="0"/>
              <a:t>Marketing Wheel of Fortune</a:t>
            </a:r>
          </a:p>
          <a:p>
            <a:pPr hangingPunct="0"/>
            <a:r>
              <a:rPr lang="en-US" dirty="0"/>
              <a:t>How Small Business Marketing differs from Corporations</a:t>
            </a:r>
          </a:p>
          <a:p>
            <a:pPr hangingPunct="0"/>
            <a:r>
              <a:rPr lang="en-US" dirty="0"/>
              <a:t>Small Business Marketing Advantage</a:t>
            </a:r>
          </a:p>
        </p:txBody>
      </p:sp>
    </p:spTree>
    <p:extLst>
      <p:ext uri="{BB962C8B-B14F-4D97-AF65-F5344CB8AC3E}">
        <p14:creationId xmlns="" xmlns:p14="http://schemas.microsoft.com/office/powerpoint/2010/main" val="373534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  <a:p>
            <a:pPr hangingPunct="0"/>
            <a:r>
              <a:rPr lang="en-US" dirty="0"/>
              <a:t>How Small Business Marketing differs from Corporations</a:t>
            </a:r>
          </a:p>
          <a:p>
            <a:pPr hangingPunct="0"/>
            <a:r>
              <a:rPr lang="en-US" dirty="0"/>
              <a:t>Small Business Marketing Advantage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One-to-One Marketing</a:t>
            </a:r>
          </a:p>
          <a:p>
            <a:pPr lvl="0"/>
            <a:r>
              <a:rPr lang="en-US" dirty="0"/>
              <a:t>Customer Sensitivity</a:t>
            </a:r>
          </a:p>
          <a:p>
            <a:pPr lvl="0"/>
            <a:r>
              <a:rPr lang="en-US" dirty="0"/>
              <a:t>Guerilla Marketing </a:t>
            </a:r>
          </a:p>
          <a:p>
            <a:pPr lvl="0"/>
            <a:r>
              <a:rPr lang="en-US" dirty="0"/>
              <a:t>Competitive Advantage Development through Customer Focus, Quality</a:t>
            </a:r>
          </a:p>
          <a:p>
            <a:pPr hangingPunct="0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1491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771811D-EA97-4432-A148-2B867140DD01}"/>
              </a:ext>
            </a:extLst>
          </p:cNvPr>
          <p:cNvSpPr/>
          <p:nvPr/>
        </p:nvSpPr>
        <p:spPr>
          <a:xfrm>
            <a:off x="906221" y="1969997"/>
            <a:ext cx="7315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Competitive Advantage Development through Convenience, Innovation, Service &amp; Speed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Understand the advantages and disadvantages of buying an existing business.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Define the steps involved in the right way to buy a business.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Critical Areas for Analyzing an Existing Business.</a:t>
            </a:r>
          </a:p>
        </p:txBody>
      </p:sp>
    </p:spTree>
    <p:extLst>
      <p:ext uri="{BB962C8B-B14F-4D97-AF65-F5344CB8AC3E}">
        <p14:creationId xmlns="" xmlns:p14="http://schemas.microsoft.com/office/powerpoint/2010/main" val="182635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2057399"/>
            <a:ext cx="838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07C820A-E099-406A-9869-A90B9185E8CE}"/>
              </a:ext>
            </a:extLst>
          </p:cNvPr>
          <p:cNvSpPr txBox="1"/>
          <p:nvPr/>
        </p:nvSpPr>
        <p:spPr>
          <a:xfrm>
            <a:off x="1132910" y="2506684"/>
            <a:ext cx="566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Steve Jobs- Video </a:t>
            </a:r>
            <a:r>
              <a:rPr lang="en-US" sz="3200" dirty="0" err="1"/>
              <a:t>Documentry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7054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5EBCBCB-6E34-4C6C-9E8E-7E7A8B8843BB}"/>
              </a:ext>
            </a:extLst>
          </p:cNvPr>
          <p:cNvSpPr/>
          <p:nvPr/>
        </p:nvSpPr>
        <p:spPr>
          <a:xfrm>
            <a:off x="838200" y="2753481"/>
            <a:ext cx="6858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Define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Types of Corporate Entrepreneurship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Compensation of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Barriers to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Freedom Factors attached to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Advantages/ Disadvantages of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Companies can support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Ten Commandments of Intrapreneurship</a:t>
            </a:r>
          </a:p>
        </p:txBody>
      </p:sp>
    </p:spTree>
    <p:extLst>
      <p:ext uri="{BB962C8B-B14F-4D97-AF65-F5344CB8AC3E}">
        <p14:creationId xmlns="" xmlns:p14="http://schemas.microsoft.com/office/powerpoint/2010/main" val="65338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077439"/>
            <a:ext cx="838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76845C3-41FF-4DDA-890A-81CCC6795E69}"/>
              </a:ext>
            </a:extLst>
          </p:cNvPr>
          <p:cNvSpPr txBox="1"/>
          <p:nvPr/>
        </p:nvSpPr>
        <p:spPr>
          <a:xfrm>
            <a:off x="304800" y="2057399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4000" dirty="0"/>
              <a:t>Stakeholder’s Management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385919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33E673C-1F10-4FD0-B841-50DD64BEE1B0}"/>
              </a:ext>
            </a:extLst>
          </p:cNvPr>
          <p:cNvSpPr txBox="1"/>
          <p:nvPr/>
        </p:nvSpPr>
        <p:spPr>
          <a:xfrm>
            <a:off x="449021" y="2362200"/>
            <a:ext cx="8382000" cy="310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Influencing and Bargaining 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GB" sz="3600" dirty="0">
                <a:latin typeface="Corbel" pitchFamily="34" charset="0"/>
              </a:rPr>
              <a:t>Identify the key attributes of a Social Enterprise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GB" sz="3600" dirty="0">
                <a:latin typeface="Corbel" pitchFamily="34" charset="0"/>
              </a:rPr>
              <a:t>Characteristics of Social Enterprise</a:t>
            </a:r>
          </a:p>
          <a:p>
            <a:pPr marL="355600" indent="-355600" defTabSz="293688">
              <a:lnSpc>
                <a:spcPts val="3000"/>
              </a:lnSpc>
              <a:spcAft>
                <a:spcPts val="600"/>
              </a:spcAft>
              <a:buFont typeface="Arial" charset="0"/>
              <a:buChar char="•"/>
              <a:defRPr/>
            </a:pPr>
            <a:r>
              <a:rPr lang="en-GB" sz="3600" dirty="0">
                <a:latin typeface="Corbel" pitchFamily="34" charset="0"/>
              </a:rPr>
              <a:t>Understand how social enterprise differ from other organisations</a:t>
            </a:r>
          </a:p>
        </p:txBody>
      </p:sp>
    </p:spTree>
    <p:extLst>
      <p:ext uri="{BB962C8B-B14F-4D97-AF65-F5344CB8AC3E}">
        <p14:creationId xmlns="" xmlns:p14="http://schemas.microsoft.com/office/powerpoint/2010/main" val="68012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2097B77-BB9F-4398-A6F3-46D1E461F7D7}"/>
              </a:ext>
            </a:extLst>
          </p:cNvPr>
          <p:cNvSpPr/>
          <p:nvPr/>
        </p:nvSpPr>
        <p:spPr>
          <a:xfrm>
            <a:off x="1066800" y="2413338"/>
            <a:ext cx="69342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Define Elevator Pitch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Elevator Pitch Must Haves &amp; Cautions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Elements of Pitch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Dragon’s Den Video</a:t>
            </a:r>
          </a:p>
        </p:txBody>
      </p:sp>
    </p:spTree>
    <p:extLst>
      <p:ext uri="{BB962C8B-B14F-4D97-AF65-F5344CB8AC3E}">
        <p14:creationId xmlns="" xmlns:p14="http://schemas.microsoft.com/office/powerpoint/2010/main" val="305586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29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2057399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4000" dirty="0"/>
              <a:t>Product Concept Presentations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152946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30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1686419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 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3D67671-6450-428F-8BDB-FBC89F745D91}"/>
              </a:ext>
            </a:extLst>
          </p:cNvPr>
          <p:cNvSpPr/>
          <p:nvPr/>
        </p:nvSpPr>
        <p:spPr>
          <a:xfrm>
            <a:off x="667643" y="2163926"/>
            <a:ext cx="755377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3200" dirty="0"/>
              <a:t>Why Develop a Business Plan?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The Elements of a Business Plan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What Lenders and Investors Look for in a Business Plan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Making the Business Plan Presentation  Concluding remarks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Business Plan Format</a:t>
            </a:r>
          </a:p>
        </p:txBody>
      </p:sp>
    </p:spTree>
    <p:extLst>
      <p:ext uri="{BB962C8B-B14F-4D97-AF65-F5344CB8AC3E}">
        <p14:creationId xmlns="" xmlns:p14="http://schemas.microsoft.com/office/powerpoint/2010/main" val="401598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2057399"/>
            <a:ext cx="868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Video- Undercover Boss</a:t>
            </a:r>
          </a:p>
        </p:txBody>
      </p:sp>
    </p:spTree>
    <p:extLst>
      <p:ext uri="{BB962C8B-B14F-4D97-AF65-F5344CB8AC3E}">
        <p14:creationId xmlns="" xmlns:p14="http://schemas.microsoft.com/office/powerpoint/2010/main" val="78825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5" y="152400"/>
            <a:ext cx="2696705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" y="2510287"/>
            <a:ext cx="815340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Course Review</a:t>
            </a:r>
          </a:p>
        </p:txBody>
      </p:sp>
    </p:spTree>
    <p:extLst>
      <p:ext uri="{BB962C8B-B14F-4D97-AF65-F5344CB8AC3E}">
        <p14:creationId xmlns="" xmlns:p14="http://schemas.microsoft.com/office/powerpoint/2010/main" val="186888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690</Words>
  <Application>Microsoft Office PowerPoint</Application>
  <PresentationFormat>On-screen Show (4:3)</PresentationFormat>
  <Paragraphs>229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ENTREPRENEURSHIP </vt:lpstr>
      <vt:lpstr>Lecture No. 1</vt:lpstr>
      <vt:lpstr>Lecture No. 2</vt:lpstr>
      <vt:lpstr>Lecture No. 3</vt:lpstr>
      <vt:lpstr>Lecture No. 4</vt:lpstr>
      <vt:lpstr>Lecture No. 5</vt:lpstr>
      <vt:lpstr>Lecture No. 6</vt:lpstr>
      <vt:lpstr>Lecture No. 7</vt:lpstr>
      <vt:lpstr>Lecture No. 8</vt:lpstr>
      <vt:lpstr>Lecture No. 9</vt:lpstr>
      <vt:lpstr>Lecture No. 10</vt:lpstr>
      <vt:lpstr>Lecture No. 11</vt:lpstr>
      <vt:lpstr>Lecture No. 12</vt:lpstr>
      <vt:lpstr>Lecture No. 13</vt:lpstr>
      <vt:lpstr>Lecture No. 14</vt:lpstr>
      <vt:lpstr>Lecture No. 15</vt:lpstr>
      <vt:lpstr>Lecture No. 16</vt:lpstr>
      <vt:lpstr>Lecture No. 17</vt:lpstr>
      <vt:lpstr>Lecture No. 18</vt:lpstr>
      <vt:lpstr>Lecture No. 19</vt:lpstr>
      <vt:lpstr>Lecture No. 20</vt:lpstr>
      <vt:lpstr>Lecture No. 21 </vt:lpstr>
      <vt:lpstr>Lecture No. 22</vt:lpstr>
      <vt:lpstr>Lecture No. 23</vt:lpstr>
      <vt:lpstr>Lecture No. 24</vt:lpstr>
      <vt:lpstr>Lecture No. 25</vt:lpstr>
      <vt:lpstr>Lecture No. 26</vt:lpstr>
      <vt:lpstr>Lecture No. 27</vt:lpstr>
      <vt:lpstr>Lecture No. 28</vt:lpstr>
      <vt:lpstr>Lecture No. 29</vt:lpstr>
      <vt:lpstr>Lecture No. 30 </vt:lpstr>
      <vt:lpstr>Lecture No. 31</vt:lpstr>
      <vt:lpstr>Lecture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</dc:title>
  <dc:creator>Malik Jawad Saboor</dc:creator>
  <cp:lastModifiedBy>NTS</cp:lastModifiedBy>
  <cp:revision>33</cp:revision>
  <dcterms:created xsi:type="dcterms:W3CDTF">2019-07-24T07:56:44Z</dcterms:created>
  <dcterms:modified xsi:type="dcterms:W3CDTF">2019-07-30T09:29:59Z</dcterms:modified>
</cp:coreProperties>
</file>