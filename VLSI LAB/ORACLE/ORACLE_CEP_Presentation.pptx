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4389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02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ORACLE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On-desk Responsive AI Companion with Local Environment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AI Voice Assistant for the Desktop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7315200" cy="3657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06040"/>
          <a:ext cx="502920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Faizan Ali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0C4D6"/>
                          </a:solidFill>
                        </a:rPr>
                        <a:t>FA22-BCE-002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Shallum Safdar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0C4D6"/>
                          </a:solidFill>
                        </a:rPr>
                        <a:t>FA22-BCE-008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Abdullah Laeeq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0C4D6"/>
                          </a:solidFill>
                        </a:rPr>
                        <a:t>FA22-BCE-026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Aliyan Ahmed Cheema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0C4D6"/>
                          </a:solidFill>
                        </a:rPr>
                        <a:t>FA22-BCE-028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0" y="26060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Computer Engineering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90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90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 |  May 2026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0233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Platform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ESP32-WROOM32 microcontroller integrating INMP441 MEMS I2S microphone, 128×64 SSD1306 OLED, PAM8403 Class-D audio amplifier, and a push-to-talk button in a single self-contained enclosure.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Pipeline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WebSocket protocol connecting to a Python cloud server that orchestrates Google Gemini API calls for STT, LLM inference, and TTS synthesis.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777240"/>
            <a:ext cx="40233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end-to-end latency of ~3.8 seconds. Deep-sleep power management enabling over 8 hours of battery life on a 2000 mAh LiPo cell.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Pipeline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16-bit PCM at 16 kHz, transmits binary audio to server, receives JSON text + streamed audio reply, renders on OLED, and plays TTS through built-in DAC.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777240"/>
            <a:ext cx="36576" cy="3657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Motivation &amp;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2606040" cy="30175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886968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886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Desk-Scale Utility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05740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affordable, open-source desk gadget provides LLM-powered Q&amp;A with ambient display in a single compact form factor.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841248"/>
            <a:ext cx="2606040" cy="30175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4528" y="886968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886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28416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Economy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28416" y="205740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context switch to a phone or browser costs cognitive overhead. A dedicated single-purpose device minimises this cost.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71616" y="841248"/>
            <a:ext cx="2606040" cy="30175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77456" y="886968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77456" y="886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81344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Learning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1344" y="205740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ORACLE exposes the team to the full embedded stack demanding VLSI-level thinking about power, signal integrity, and timing.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05072"/>
            <a:ext cx="82296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No low-cost, open-hardware desk gadget accepts voice queries, returns LLM answers with web-search grounding, displays on OLED, vocalises via neural TTS, and runs on a rechargeable battery — without a dedicated NPU or full Linux 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 — Core Components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402336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4114800"/>
              </a:tblGrid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ESP32-WROOM32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MHz, 520 KB SRAM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MCU; firmware, Wi-Fi, audio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MEMS Microphone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INMP441 (I2S)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16 kHz mono PCM audio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OLED 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SSD1306 128×64 I2C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text responses &amp;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Amplifier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PAM8403 Class-D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1W speaker from DAC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LiPo 2000 mAh + TP4056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Rechargeable with USB-C charging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Push-to-Talk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Tactile switch GPIO34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Initiates recording, avoids false triggers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Wake 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KY-037 GPIO35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Sound-triggered deep-sleep wakeup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WebSocket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 / LLM / TTS via Gemini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60604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Hardware 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16152"/>
            <a:ext cx="2606040" cy="30175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I2S Mic → ESP32-WROOM32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PAM8403 + Speaker (audio out)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OLED via I2C @400 kHz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KY-037 wake sensor + PTT button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+ TP4056 USB-C charger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71800" y="2377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606040" cy="411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046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Transport Layer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216152"/>
            <a:ext cx="2606040" cy="3017520"/>
          </a:xfrm>
          <a:prstGeom prst="rect">
            <a:avLst/>
          </a:prstGeom>
          <a:solidFill>
            <a:srgbClr val="112233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61872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Wi-Fi STA mode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Binary Protocol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framing: 0xAA 0x55 header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mDNS zero-conf discovery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keep-alive heartbeat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2377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35040" y="804672"/>
            <a:ext cx="260604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8046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Cloud Layer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216152"/>
            <a:ext cx="2606040" cy="3017520"/>
          </a:xfrm>
          <a:prstGeom prst="rect">
            <a:avLst/>
          </a:prstGeom>
          <a:solidFill>
            <a:srgbClr val="112233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61872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asyncio WebSocket Server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— STT + LLM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 — Neural TTS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24→16 kHz polyphase resample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grounding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0814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70832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Wake/PTT → Record PCM → WebSocket Stream → STT → LLM → TTS → OLED + Speaker → Idle/Sleep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Goals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G1. Design compact hardware prototype (MCU + mic + display + speaker)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G2. Implement voice-to-LLM-to-audio pipeline via WebSocket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G3. Integrate real-time weather via IP geolocation (no GPS)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G4. Achieve end-to-end latency &lt; 5 seconds on broadband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G5. Battery life &gt; 4 hours active on 2000 mAh LiPo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G6. Apply VLSI principles: CMOS, PUN/PDN, FSM, timing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0233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777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Objectives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170432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INMP441 I2S mic for 16-bit, 16 kHz PCM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WebSocket binary framing (0xAA 0x55 header)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STT — English + Roman Urdu bilingual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 with Google Search grounding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TTS 24→16 kHz, stream to I2S DAC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5-state firmware FSM with deep-sleep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inverter sizing, I2S timing, PUN/PDN analysis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44568" y="777240"/>
            <a:ext cx="36576" cy="4114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Complex Engineering Problem (CEP)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Accord WA2 — All 9 Attributes Addressed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97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640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WA2.1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Complexity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68249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Multi-discipline: digital hardware, analog signal integrity, real-time firmware, cloud AI, and UX design.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024128"/>
            <a:ext cx="2697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1024128"/>
            <a:ext cx="640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024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WA2.2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Knowledge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68249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VLSI, embedded systems, signal processing, networking, cloud APIs, and power electronics.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25896" y="1024128"/>
            <a:ext cx="2697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25896" y="1024128"/>
            <a:ext cx="640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5896" y="1024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WA2.3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99048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Requirements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9048" y="168249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vs. quality, battery life vs. always-on, privacy vs. convenience — all resolved with deliberate trade-offs.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286000"/>
            <a:ext cx="2697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286000"/>
            <a:ext cx="640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2860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WA2.4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Computation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" y="29443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buffer sizing, polyphase resampling ratios, battery life, CMOS inverter sizing, I2S timing margins.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2286000"/>
            <a:ext cx="2697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2968" y="2286000"/>
            <a:ext cx="640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72968" y="22860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WA2.5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29443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ESP32, Arduino IDE, Python asyncio, Logic Analyser, LTspice, Microwind, Gemini API, WebSocket.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25896" y="2286000"/>
            <a:ext cx="2697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25896" y="2286000"/>
            <a:ext cx="640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5896" y="22860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WA2.6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99048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Hardware-Software-User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99048" y="29443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wiring, 3-layer firmware, PTT UX validated over VAD, OLED state-machine feedback.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547872"/>
            <a:ext cx="2697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547872"/>
            <a:ext cx="640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5478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WA2.7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3192" y="3913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&amp; Sustainability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3192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$35 democratises AI; PTT ensures privacy; deep-sleep cuts idle power by 95%.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72968" y="3547872"/>
            <a:ext cx="2697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72968" y="3547872"/>
            <a:ext cx="640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72968" y="35478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WA2.8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46120" y="3913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Integration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46120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known combination of real-time WebSocket audio streaming + multi-model Gemini + deep-sleep ESP32.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25896" y="3547872"/>
            <a:ext cx="2697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25896" y="3547872"/>
            <a:ext cx="640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25896" y="35478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WA2.9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99048" y="3913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SDGs Addressed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99048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(clean energy efficiency), SDG 9 (affordable AI infra), SDG 11 (inclusive design).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 Calculations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63500" dist="25400" dir="8100000">
              <a:srgbClr val="7EC8E3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397764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Audio Buffer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= 16,000 Hz, bit depth = 16 bits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= 256 samples → 512 bytes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duration = 16 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 recording ≈ 156 KB raw PCM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82296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63500" dist="25400" dir="8100000">
              <a:srgbClr val="7EC8E3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822960"/>
            <a:ext cx="397764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822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Resampling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207008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output: 24,000 Hz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target: 16,000 Hz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 = 8000 → up=2, down=3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Kaiser-windowed FIR anti-alias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63500" dist="25400" dir="8100000">
              <a:srgbClr val="7EC8E3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52928"/>
            <a:ext cx="397764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Battery Life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36976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2000 mAh, η = 0.85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I_active = 210 mA → 8.1 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I_sleep = 12 µA → 142,000 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Mixed-use ≈ 15.3 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852928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63500" dist="25400" dir="8100000">
              <a:srgbClr val="7EC8E3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852928"/>
            <a:ext cx="397764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CMOS Inverter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3236976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(W/L)p / (W/L)n = 2.5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(W/L)n = 2, (W/L)p = 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t_p ≈ 200 ps at 10 fF load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BCLK period 977 ns &gt;&gt; 200 ps 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Results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416052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011680"/>
                <a:gridCol w="1828800"/>
              </a:tblGrid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 Latency (5 s clip)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1.5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– 1.2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Inference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2.0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– 1.8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TTS Synthesis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1.5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– 1.2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Round-Trip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5.0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– 4.8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Power Draw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300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 – 215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Deep-Sleep 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100 µA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 µA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Life (Active)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~8.1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 Accuracy (English)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 Accuracy (Roman Urdu)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Advantages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77640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Advantages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3794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BOM — under $35 total component cost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NPU — AI fully cloud-offloaded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Upgradeable LLM/TTS by server config change only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Privacy-first: PTT — no continuous audio streaming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STT — English + Roman Urdu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µA deep-sleep → months of standby battery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open-source firmware + server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777240"/>
            <a:ext cx="3977640" cy="3657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777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207008"/>
            <a:ext cx="3794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active Wi-Fi — no offline operation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Gemini API costs at sustained use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128×64 OLED limits visible text per screen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mic — degrades above ~65 dB ambient noise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geolocation ±30 km accuracy only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 spikes can breach 5-second target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multi-turn conversation memory per session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44568" y="777240"/>
            <a:ext cx="36576" cy="4114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011680" cy="16459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914400"/>
            <a:ext cx="548640" cy="548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Productivity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836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academic Q&amp;A without leaving the study desk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804672"/>
            <a:ext cx="2011680" cy="16459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14400"/>
            <a:ext cx="548640" cy="548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Workstation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8836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lookup of API docs, code explanations, commands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804672"/>
            <a:ext cx="2011680" cy="16459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914400"/>
            <a:ext cx="548640" cy="548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Info Hub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8836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weather, time &amp; data display on desk or shelf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804672"/>
            <a:ext cx="2011680" cy="16459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914400"/>
            <a:ext cx="548640" cy="548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8836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information for users with motor impairments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724912"/>
            <a:ext cx="2606040" cy="16459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48740" y="2834640"/>
            <a:ext cx="548640" cy="548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487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3456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Learning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80390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practice + pronunciation feedback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54680" y="2724912"/>
            <a:ext cx="2606040" cy="16459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83380" y="2834640"/>
            <a:ext cx="548640" cy="548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8338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46120" y="3456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Office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46120" y="380390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reminders, task readouts, quick calculations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89320" y="2724912"/>
            <a:ext cx="2606040" cy="16459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18020" y="2834640"/>
            <a:ext cx="548640" cy="548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180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80760" y="3456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Platform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380390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teaching tool for embedded AI &amp; VLSI courses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65176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Hardware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63500" dist="25400" dir="8100000">
              <a:srgbClr val="7EC8E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16152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PCB with dedicated audio/digital ground planes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3-mic INMP441 array with beamforming firmware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BME280 for local room temperature &amp; humidity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MAX98357A I2S digital amplifier to eliminate DAC noise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804672"/>
            <a:ext cx="265176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8046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Firmware / Software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72968" y="1170432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7EC8E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4408" y="1216152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 with 4-exchange sliding window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ESP-SR local wake-word on ESP32-S3 (hands-free)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AES-128 WebSocket audio encryption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firmware update mechanism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896" y="804672"/>
            <a:ext cx="2651760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25896" y="8046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&amp; Cloud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25896" y="1170432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63500" dist="25400" dir="8100000">
              <a:srgbClr val="7EC8E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17336" y="1216152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Anthropic Claude Haiku / OpenAI GPT-4o-mini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caching for time &amp; weather queries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llama.cpp fallback on Raspberry Pi Zero 2W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ORACLE mesh via MQTT broker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1188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~3.8s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1188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8.1h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Battery Life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20240" cy="1188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12µA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Deep-Sleep Current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960120"/>
            <a:ext cx="1920240" cy="1188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&lt;$35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Component Cost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proves that a fully-functional LLM-powered voice assistant can run on a $15 ESP32 with under $35 in components. All primary performance targets were met. The project reinforces core VLSI concepts — CMOS drivers, PUN/PDN logic, FSM design, I2S timing, and power estimation — while mapping cleanly to all 9 Washington Accord WA2 Complex Engineering Problem attributes.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fully open-source and replicable by any team with an ESP32 dev kit, a Python server, and a Google AI Studio API key — demonstrating that frontier AI fits in the palm of your hand.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029200"/>
            <a:ext cx="822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Department of Computer Engineering  |  COMSATS University  |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— CEP Project Report</dc:title>
  <dc:subject>PptxGenJS Presentation</dc:subject>
  <dc:creator>PptxGenJS</dc:creator>
  <cp:lastModifiedBy>PptxGenJS</cp:lastModifiedBy>
  <cp:revision>1</cp:revision>
  <dcterms:created xsi:type="dcterms:W3CDTF">2026-05-20T11:22:42Z</dcterms:created>
  <dcterms:modified xsi:type="dcterms:W3CDTF">2026-05-20T11:22:42Z</dcterms:modified>
</cp:coreProperties>
</file>